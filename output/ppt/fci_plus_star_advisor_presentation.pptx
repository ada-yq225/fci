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a387188f0e4261" /><Relationship Type="http://schemas.openxmlformats.org/officeDocument/2006/relationships/extended-properties" Target="/docProps/app.xml" Id="R370334608fef474b" /><Relationship Type="http://schemas.openxmlformats.org/officeDocument/2006/relationships/officeDocument" Target="/ppt/presentation.xml" Id="Ra0b806295ef4444a" /></Relationships>
</file>

<file path=ppt/presentation.xml><?xml version="1.0" encoding="utf-8"?>
<p:presentation xmlns:p="http://schemas.openxmlformats.org/presentationml/2006/main">
  <p:sldMasterIdLst>
    <p:sldMasterId xmlns:r="http://schemas.openxmlformats.org/officeDocument/2006/relationships" id="2147483648" r:id="Ra0c624e00f844674"/>
  </p:sldMasterIdLst>
  <p:notesMasterIdLst>
    <p:notesMasterId xmlns:r="http://schemas.openxmlformats.org/officeDocument/2006/relationships" r:id="Rddc9c44b768940b0"/>
  </p:notesMasterIdLst>
  <p:sldIdLst>
    <p:sldId xmlns:r="http://schemas.openxmlformats.org/officeDocument/2006/relationships" id="256" r:id="R4bb4e6541943499d"/>
    <p:sldId xmlns:r="http://schemas.openxmlformats.org/officeDocument/2006/relationships" id="257" r:id="R8ca72ac54ee34094"/>
    <p:sldId xmlns:r="http://schemas.openxmlformats.org/officeDocument/2006/relationships" id="258" r:id="R53e2c1cea51c4078"/>
    <p:sldId xmlns:r="http://schemas.openxmlformats.org/officeDocument/2006/relationships" id="259" r:id="R6d9a5679222241c2"/>
    <p:sldId xmlns:r="http://schemas.openxmlformats.org/officeDocument/2006/relationships" id="260" r:id="Rd58e861fbfa14bb4"/>
    <p:sldId xmlns:r="http://schemas.openxmlformats.org/officeDocument/2006/relationships" id="261" r:id="R729ebe0fa2514064"/>
    <p:sldId xmlns:r="http://schemas.openxmlformats.org/officeDocument/2006/relationships" id="262" r:id="R86e5b20386964b5c"/>
    <p:sldId xmlns:r="http://schemas.openxmlformats.org/officeDocument/2006/relationships" id="263" r:id="R0191c7b3690a453d"/>
    <p:sldId xmlns:r="http://schemas.openxmlformats.org/officeDocument/2006/relationships" id="264" r:id="Rcfa161999add4fa1"/>
    <p:sldId xmlns:r="http://schemas.openxmlformats.org/officeDocument/2006/relationships" id="265" r:id="R9406c52900604897"/>
    <p:sldId xmlns:r="http://schemas.openxmlformats.org/officeDocument/2006/relationships" id="266" r:id="Rb74ce04d87ad4fcf"/>
    <p:sldId xmlns:r="http://schemas.openxmlformats.org/officeDocument/2006/relationships" id="267" r:id="R342435fb99804300"/>
    <p:sldId xmlns:r="http://schemas.openxmlformats.org/officeDocument/2006/relationships" id="268" r:id="R884e314c3ca3483b"/>
    <p:sldId xmlns:r="http://schemas.openxmlformats.org/officeDocument/2006/relationships" id="269" r:id="R13bde751d2b845a5"/>
    <p:sldId xmlns:r="http://schemas.openxmlformats.org/officeDocument/2006/relationships" id="270" r:id="R311b5138167c49a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ab14661186b404b" /><Relationship Type="http://schemas.openxmlformats.org/officeDocument/2006/relationships/slideMaster" Target="/ppt/slideMasters/slideMaster1.xml" Id="Ra0c624e00f844674" /><Relationship Type="http://schemas.openxmlformats.org/officeDocument/2006/relationships/notesMaster" Target="/ppt/notesMasters/notesMaster1.xml" Id="Rddc9c44b768940b0" /><Relationship Type="http://schemas.openxmlformats.org/officeDocument/2006/relationships/presProps" Target="/ppt/presProps.xml" Id="R25caaf9c1e494f94" /><Relationship Type="http://schemas.openxmlformats.org/officeDocument/2006/relationships/viewProps" Target="/ppt/viewProps.xml" Id="R21c06b26e2924b60" /><Relationship Type="http://schemas.openxmlformats.org/officeDocument/2006/relationships/tableStyles" Target="/ppt/tableStyles.xml" Id="R49eb3ac179be4aef" /><Relationship Type="http://schemas.openxmlformats.org/officeDocument/2006/relationships/slide" Target="/ppt/slides/slide1.xml" Id="R4bb4e6541943499d" /><Relationship Type="http://schemas.openxmlformats.org/officeDocument/2006/relationships/slide" Target="/ppt/slides/slide2.xml" Id="R8ca72ac54ee34094" /><Relationship Type="http://schemas.openxmlformats.org/officeDocument/2006/relationships/slide" Target="/ppt/slides/slide3.xml" Id="R53e2c1cea51c4078" /><Relationship Type="http://schemas.openxmlformats.org/officeDocument/2006/relationships/slide" Target="/ppt/slides/slide4.xml" Id="R6d9a5679222241c2" /><Relationship Type="http://schemas.openxmlformats.org/officeDocument/2006/relationships/slide" Target="/ppt/slides/slide5.xml" Id="Rd58e861fbfa14bb4" /><Relationship Type="http://schemas.openxmlformats.org/officeDocument/2006/relationships/slide" Target="/ppt/slides/slide6.xml" Id="R729ebe0fa2514064" /><Relationship Type="http://schemas.openxmlformats.org/officeDocument/2006/relationships/slide" Target="/ppt/slides/slide7.xml" Id="R86e5b20386964b5c" /><Relationship Type="http://schemas.openxmlformats.org/officeDocument/2006/relationships/slide" Target="/ppt/slides/slide8.xml" Id="R0191c7b3690a453d" /><Relationship Type="http://schemas.openxmlformats.org/officeDocument/2006/relationships/slide" Target="/ppt/slides/slide9.xml" Id="Rcfa161999add4fa1" /><Relationship Type="http://schemas.openxmlformats.org/officeDocument/2006/relationships/slide" Target="/ppt/slides/slide10.xml" Id="R9406c52900604897" /><Relationship Type="http://schemas.openxmlformats.org/officeDocument/2006/relationships/slide" Target="/ppt/slides/slide11.xml" Id="Rb74ce04d87ad4fcf" /><Relationship Type="http://schemas.openxmlformats.org/officeDocument/2006/relationships/slide" Target="/ppt/slides/slide12.xml" Id="R342435fb99804300" /><Relationship Type="http://schemas.openxmlformats.org/officeDocument/2006/relationships/slide" Target="/ppt/slides/slide13.xml" Id="R884e314c3ca3483b" /><Relationship Type="http://schemas.openxmlformats.org/officeDocument/2006/relationships/slide" Target="/ppt/slides/slide14.xml" Id="R13bde751d2b845a5" /><Relationship Type="http://schemas.openxmlformats.org/officeDocument/2006/relationships/slide" Target="/ppt/slides/slide15.xml" Id="R311b5138167c49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5f5bf6815947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fci_plus_star_advisor_deck">
  <a:themeElements>
    <a:clrScheme name="fci_plus_star_advisor_deck">
      <a:dk1>
        <a:srgbClr val="1A2433"/>
      </a:dk1>
      <a:lt1>
        <a:srgbClr val="F7F5EF"/>
      </a:lt1>
      <a:dk2>
        <a:srgbClr val="1F497D"/>
      </a:dk2>
      <a:lt2>
        <a:srgbClr val="F7F5EF"/>
      </a:lt2>
      <a:accent1>
        <a:srgbClr val="183153"/>
      </a:accent1>
      <a:accent2>
        <a:srgbClr val="2F6BFF"/>
      </a:accent2>
      <a:accent3>
        <a:srgbClr val="E58A2B"/>
      </a:accent3>
      <a:accent4>
        <a:srgbClr val="183153"/>
      </a:accent4>
      <a:accent5>
        <a:srgbClr val="E9EDF5"/>
      </a:accent5>
      <a:accent6>
        <a:srgbClr val="1C9A8A"/>
      </a:accent6>
      <a:hlink>
        <a:srgbClr val="2F6BFF"/>
      </a:hlink>
      <a:folHlink>
        <a:srgbClr val="E58A2B"/>
      </a:folHlink>
    </a:clrScheme>
    <a:fontScheme name="fci_plus_star_advisor_deck">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ci_plus_star_advisor_de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6a929529264969" /><Relationship Type="http://schemas.openxmlformats.org/officeDocument/2006/relationships/notesMaster" Target="/ppt/notesMasters/notesMaster1.xml" Id="R164438ac9aa64b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b3b51cb5d149cb" /><Relationship Type="http://schemas.openxmlformats.org/officeDocument/2006/relationships/notesMaster" Target="/ppt/notesMasters/notesMaster1.xml" Id="Rd3405bce5d9c43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8db160d7bf485c" /><Relationship Type="http://schemas.openxmlformats.org/officeDocument/2006/relationships/notesMaster" Target="/ppt/notesMasters/notesMaster1.xml" Id="R2672cd31e6bf45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6d1ae5771b4767" /><Relationship Type="http://schemas.openxmlformats.org/officeDocument/2006/relationships/notesMaster" Target="/ppt/notesMasters/notesMaster1.xml" Id="Ra05243971f4347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9a6ac4dc46459c" /><Relationship Type="http://schemas.openxmlformats.org/officeDocument/2006/relationships/notesMaster" Target="/ppt/notesMasters/notesMaster1.xml" Id="Rc43f3d8af69d4c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acd4ff3fd141a9" /><Relationship Type="http://schemas.openxmlformats.org/officeDocument/2006/relationships/notesMaster" Target="/ppt/notesMasters/notesMaster1.xml" Id="Rce0d8bd7f8cb4b0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3ad2c1a5f74dea" /><Relationship Type="http://schemas.openxmlformats.org/officeDocument/2006/relationships/notesMaster" Target="/ppt/notesMasters/notesMaster1.xml" Id="R48bd382ca63e41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a9717c939e4d7d" /><Relationship Type="http://schemas.openxmlformats.org/officeDocument/2006/relationships/notesMaster" Target="/ppt/notesMasters/notesMaster1.xml" Id="Re0e6e2d5943f41a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cf621adf544ba9" /><Relationship Type="http://schemas.openxmlformats.org/officeDocument/2006/relationships/notesMaster" Target="/ppt/notesMasters/notesMaster1.xml" Id="Ra7478ea833b242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31cfb68f704ed3" /><Relationship Type="http://schemas.openxmlformats.org/officeDocument/2006/relationships/notesMaster" Target="/ppt/notesMasters/notesMaster1.xml" Id="R64569acfe68e42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fc71b8fad54230" /><Relationship Type="http://schemas.openxmlformats.org/officeDocument/2006/relationships/notesMaster" Target="/ppt/notesMasters/notesMaster1.xml" Id="R9326e67643b048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1f2809bc354fad" /><Relationship Type="http://schemas.openxmlformats.org/officeDocument/2006/relationships/notesMaster" Target="/ppt/notesMasters/notesMaster1.xml" Id="Rcf6a3d0b906d47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5f3294eef8a4970" /><Relationship Type="http://schemas.openxmlformats.org/officeDocument/2006/relationships/notesMaster" Target="/ppt/notesMasters/notesMaster1.xml" Id="R2d5a856dda8640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1c901429da4856" /><Relationship Type="http://schemas.openxmlformats.org/officeDocument/2006/relationships/notesMaster" Target="/ppt/notesMasters/notesMaster1.xml" Id="R0b6cdac4d3a64b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0d5854b736406c" /><Relationship Type="http://schemas.openxmlformats.org/officeDocument/2006/relationships/notesMaster" Target="/ppt/notesMasters/notesMaster1.xml" Id="R96330f81c42641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0:55]</a:t>
            </a:r>
          </a:p>
          <a:p xmlns:a="http://schemas.openxmlformats.org/drawingml/2006/main">
            <a:endParaRPr/>
          </a:p>
          <a:p xmlns:a="http://schemas.openxmlformats.org/drawingml/2006/main">
            <a:r>
              <a:t>This project makes one contribution across two deliberately separate tracks. On the algorithm track, I return to the original FCI and FCI+ sources, implement their stages independently in Python, and validate the implementation where the graphical truth is known. On the application track, I begin with the randomized design of Tennessee STAR, estimate transparent observed-arm contrasts, and use PAG discovery only as a secondary structural diagnostic. The evidence hierarchy on the right is the rule for the entire defense: the randomized assignment gives the observed-arm contrast its strongest design support, stable adjacencies can support a structural interpretation, and unresolved endpoints must remain uncertainty. Missing outcomes and unreconstructed blocks, switching, and compliance still limit selected-subset causal interpretation. The result is an auditable evidence chain, not a claim that observational data reveal one definitive causal DAG.</a:t>
            </a:r>
          </a:p>
          <a:p xmlns:a="http://schemas.openxmlformats.org/drawingml/2006/main">
            <a:endParaRPr/>
          </a:p>
          <a:p xmlns:a="http://schemas.openxmlformats.org/drawingml/2006/main">
            <a:r>
              <a:t>[Sources]</a:t>
            </a:r>
          </a:p>
          <a:p xmlns:a="http://schemas.openxmlformats.org/drawingml/2006/main">
            <a:r>
              <a:t>• `reports/research/fci_fci_plus_source_dossier.md`, sections “Spirtes, Glymour, and Scheines (2000)” and “Claassen, Mooij, and Heskes (2013).”</a:t>
            </a:r>
          </a:p>
          <a:p xmlns:a="http://schemas.openxmlformats.org/drawingml/2006/main">
            <a:r>
              <a:t>• `case_studies/tennessee_star/output/star_case_study_summary.json`, keys `cohorts`, `descriptives.contrasts`, and `robust_application_comparisons`.</a:t>
            </a:r>
          </a:p>
          <a:p xmlns:a="http://schemas.openxmlformats.org/drawingml/2006/main">
            <a:r>
              <a:t>• `reports/research/claim_evidence_matrix.csv`, claim IDs `FCI-STAGES`, `FCIPLUS-ALGO2`, `IMPL-AUDIT`, and `OUTPUT-SEMANTICS`.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endParaRPr/>
          </a:p>
          <a:p xmlns:a="http://schemas.openxmlformats.org/drawingml/2006/main">
            <a:r>
              <a:t>FCI is needed because the observed variables may be only a margin of the true causal system. In the schematic, an unobserved common cause affects X and Y, while conditioning on a selection variable can induce additional associations in the observed sample. After latent variables are marginalized and selection is represented, directed acyclic graphs over measured variables are generally the wrong output target. A partial ancestral graph, or PAG, instead represents an equivalence class of maximal ancestral graphs. A tail, arrowhead, or circle is an ancestral constraint, not an estimated direct effect; a circle explicitly reports that an endpoint is unresolved. I will also keep exact conditional-independence oracles separate from sample tests, because the source theorems assume the former while the STAR analysis must use the latter.</a:t>
            </a:r>
          </a:p>
          <a:p xmlns:a="http://schemas.openxmlformats.org/drawingml/2006/main">
            <a:endParaRPr/>
          </a:p>
          <a:p xmlns:a="http://schemas.openxmlformats.org/drawingml/2006/main">
            <a:r>
              <a:t>[Sources]</a:t>
            </a:r>
          </a:p>
          <a:p xmlns:a="http://schemas.openxmlformats.org/drawingml/2006/main">
            <a:r>
              <a:t>• Spirtes, Glymour, and Scheines, *Causation, Prediction, and Search*, 2nd ed. (2000), Chapter 6 §§6.3 and 6.5–6.7, printed pp. 129–145.</a:t>
            </a:r>
          </a:p>
          <a:p xmlns:a="http://schemas.openxmlformats.org/drawingml/2006/main">
            <a:r>
              <a:t>• Richardson and Spirtes (2002), *Annals of Statistics* 30(4), pp. 962–1030, DOI `10.1214/aos/1031689015`.</a:t>
            </a:r>
          </a:p>
          <a:p xmlns:a="http://schemas.openxmlformats.org/drawingml/2006/main">
            <a:r>
              <a:t>• `reports/research/claim_evidence_matrix.csv`, claim IDs `FCI-LATENT`, `PAG-MODERN`, and `OUTPUT-SEMANTICS`.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a:t>
            </a:r>
          </a:p>
          <a:p xmlns:a="http://schemas.openxmlformats.org/drawingml/2006/main">
            <a:endParaRPr/>
          </a:p>
          <a:p xmlns:a="http://schemas.openxmlformats.org/drawingml/2006/main">
            <a:r>
              <a:t>The project is evaluated through five questions rather than one vague claim that an algorithm is best. First, what do Spirtes and colleagues in 2000 and Claassen and colleagues in 2013 actually assume and prove? Second, where is every source stage implemented and tested? Third, what happens on graphs where the correct PAG is known independently? Fourth, which comparisons with existing software are technically fair after normalizing endpoints, tests, and profiles? Fifth, which STAR findings arise from random assignment, which are structurally stable, and which remain exploratory? The order matters: source fidelity precedes validation, and validation precedes application interpretation. A visually attractive real-data graph cannot substitute for any earlier layer.</a:t>
            </a:r>
          </a:p>
          <a:p xmlns:a="http://schemas.openxmlformats.org/drawingml/2006/main">
            <a:endParaRPr/>
          </a:p>
          <a:p xmlns:a="http://schemas.openxmlformats.org/drawingml/2006/main">
            <a:r>
              <a:t>[Sources]</a:t>
            </a:r>
          </a:p>
          <a:p xmlns:a="http://schemas.openxmlformats.org/drawingml/2006/main">
            <a:r>
              <a:t>• `reports/research/claim_evidence_matrix.csv`, complete claim inventory and locator columns.</a:t>
            </a:r>
          </a:p>
          <a:p xmlns:a="http://schemas.openxmlformats.org/drawingml/2006/main">
            <a:r>
              <a:t>• `reports/research/fci_fci_plus_source_dossier.md`, sections “Source-to-implementation mapping,” “Claims that require finite-sample qualification,” and “Software-comparison evidence policy.”</a:t>
            </a:r>
          </a:p>
          <a:p xmlns:a="http://schemas.openxmlformats.org/drawingml/2006/main">
            <a:r>
              <a:t>• `case_studies/tennessee_star/output/star_case_study_summary.json`, key `evidence_hierarchy`.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1:25]</a:t>
            </a:r>
          </a:p>
          <a:p xmlns:a="http://schemas.openxmlformats.org/drawingml/2006/main">
            <a:endParaRPr/>
          </a:p>
          <a:p xmlns:a="http://schemas.openxmlformats.org/drawingml/2006/main">
            <a:r>
              <a:t>The historical FCI schedule begins with a complete undirected graph, performs a PC-style adjacency search, stores separating sets, and orients unshielded colliders. The central non-local correction is Possible-D-SEP: for each endpoint order, FCI searches vertices reachable along paths whose intermediate triples are colliders or members of triangles. This computable set is a superset of the graphical D-SEP information that may contain a separating set missed by local neighborhoods. When a new independence is found, FCI removes the edge, resets marks, and runs its orientation phase again. Theorem 6.4 in the 2000 book is an oracle-scope soundness result under Faithfulness and correct conditional-independence decisions. It returns a partially oriented inducing-path graph; the same source explicitly did not establish that its historical rule schedule was maximally informative. Modern PAG orientation under Zhang’s later rule set is therefore a separate ingredient, not something retroactively attributed to the book.</a:t>
            </a:r>
          </a:p>
          <a:p xmlns:a="http://schemas.openxmlformats.org/drawingml/2006/main">
            <a:endParaRPr/>
          </a:p>
          <a:p xmlns:a="http://schemas.openxmlformats.org/drawingml/2006/main">
            <a:r>
              <a:t>[Sources]</a:t>
            </a:r>
          </a:p>
          <a:p xmlns:a="http://schemas.openxmlformats.org/drawingml/2006/main">
            <a:r>
              <a:t>• Spirtes, Glymour, and Scheines, *Causation, Prediction, and Search*, 2nd ed. (2000), Possible-D-SEP and Fast Causal Inference Algorithm, Chapter 6 §6.7, printed pp. 144–145.</a:t>
            </a:r>
          </a:p>
          <a:p xmlns:a="http://schemas.openxmlformats.org/drawingml/2006/main">
            <a:r>
              <a:t>• Spirtes et al. (2000), Theorem 6.4 and the immediately following paragraph, printed p. 145.</a:t>
            </a:r>
          </a:p>
          <a:p xmlns:a="http://schemas.openxmlformats.org/drawingml/2006/main">
            <a:r>
              <a:t>• Zhang (2008), *Artificial Intelligence* 172(16–17), §§3–4, pp. 1873–1896, DOI `10.1016/j.artint.2008.08.001`.</a:t>
            </a:r>
          </a:p>
          <a:p xmlns:a="http://schemas.openxmlformats.org/drawingml/2006/main">
            <a:r>
              <a:t>• `reports/research/claim_evidence_matrix.csv`, claim IDs `FCI-PDSEP`, `FCI-STAGES`, `FCI-SOUND`, and `FCI-INCOMPLETE`.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1:35]</a:t>
            </a:r>
          </a:p>
          <a:p xmlns:a="http://schemas.openxmlformats.org/drawingml/2006/main">
            <a:endParaRPr/>
          </a:p>
          <a:p xmlns:a="http://schemas.openxmlformats.org/drawingml/2006/main">
            <a:r>
              <a:t>FCI+ does not merely truncate Possible-D-SEP. Its contribution is a sparse logical characterization of the non-local edges that need attention. Algorithm 2 begins with a locally bounded PC skeleton, constructs an augmented skeleton whose temporary arrowheads encode particular dependence information, recognizes candidate D-SEP-link witnesses, and builds a recursive hierarchy from known separating sets and collider structure. It then tests and minimizes a targeted separator, removes a verified D-SEP link, revisits the candidate set, and finally applies the established Zhang-rule orientation schedule. Claassen and colleagues derive a query bound of O of N to the power two times k plus four, equivalently O of N to the two times open-parenthesis k plus two close-parenthesis. That statement requires a fixed degree bound k for the observed maximal ancestral graph, Faithfulness, and a constant-time exact oracle. It is not a finite-sample accuracy theorem and not a wall-clock guarantee. The supplement abstract contains a different exponent, but the main paper and the supplement’s theorem body support the exponent shown here, so the report documents the discrepancy rather than silently choosing one.</a:t>
            </a:r>
          </a:p>
          <a:p xmlns:a="http://schemas.openxmlformats.org/drawingml/2006/main">
            <a:endParaRPr/>
          </a:p>
          <a:p xmlns:a="http://schemas.openxmlformats.org/drawingml/2006/main">
            <a:r>
              <a:t>[Sources]</a:t>
            </a:r>
          </a:p>
          <a:p xmlns:a="http://schemas.openxmlformats.org/drawingml/2006/main">
            <a:r>
              <a:t>• Claassen, Mooij, and Heskes (2013), “Learning Sparse Causal Models is not NP-hard,” Algorithm 2, p. 178, and complexity analysis, p. 179.</a:t>
            </a:r>
          </a:p>
          <a:p xmlns:a="http://schemas.openxmlformats.org/drawingml/2006/main">
            <a:r>
              <a:t>• Claassen, Mooij, and Heskes proof supplement (2014), Theorem 1 and proof, PDF pp. 10–11; compare the arXiv abstract.</a:t>
            </a:r>
          </a:p>
          <a:p xmlns:a="http://schemas.openxmlformats.org/drawingml/2006/main">
            <a:r>
              <a:t>• `reports/research/claim_evidence_matrix.csv`, claim IDs `FCIPLUS-ORACLE`, `FCIPLUS-SPARSITY`, `FCIPLUS-AUGMENT`, `FCIPLUS-HIERARCHY`, `FCIPLUS-REVISIT`, `FCIPLUS-ALGO2`, `FCIPLUS-COMPLEXITY`, and `FCIPLUS-EXPONENT-CAVEAT`.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The implementation claim is inspectable at module and symbol level. Standard FCI is divided across the skeleton, Possible-D-SEP, orientation, and rule modules; the public fit method calls concrete functions such as possible_dsep and refine_skeleton_with_pdsep. FCI+ is separated into D-SEP and algorithm modules that expose the augmented skeleton, candidate D-SEP links, recursive hierarchy, and FCI+ skeleton refinement. These paths are checked by exact-oracle recovery fixtures, unit tests for the path and hierarchy logic, and regression tests for the historical and Zhang-rule orientation schedules. A third row is intentionally labeled as engineering rather than paper content: the PAG and result objects retain CI and orientation traces, the source of every separating set, per-edge explanations, invariants, stability audits, and exportable artifacts. The linked dossier contains twenty source-to-code-to-test rows. The package therefore offers simple fci and fci_plus entry points while preserving enough internal evidence for a user to audit how the result was obtained.</a:t>
            </a:r>
          </a:p>
          <a:p xmlns:a="http://schemas.openxmlformats.org/drawingml/2006/main">
            <a:endParaRPr/>
          </a:p>
          <a:p xmlns:a="http://schemas.openxmlformats.org/drawingml/2006/main">
            <a:r>
              <a:t>[Sources]</a:t>
            </a:r>
          </a:p>
          <a:p xmlns:a="http://schemas.openxmlformats.org/drawingml/2006/main">
            <a:r>
              <a:t>• `reports/research/fci_fci_plus_source_dossier.md`, table “Source-to-implementation mapping,” 20 data rows.</a:t>
            </a:r>
          </a:p>
          <a:p xmlns:a="http://schemas.openxmlformats.org/drawingml/2006/main">
            <a:r>
              <a:t>• `src/fci_engine/discovery/fci.py::FCI.fit`, `src/fci_engine/discovery/pdsep.py::possible_dsep`, and `src/fci_engine/discovery/pdsep.py::refine_skeleton_with_pdsep`.</a:t>
            </a:r>
          </a:p>
          <a:p xmlns:a="http://schemas.openxmlformats.org/drawingml/2006/main">
            <a:r>
              <a:t>• `src/fci_engine/discovery/dsep.py::build_augmented_skeleton`, `possible_dsep_links`, `hierarchy`, and `refine_skeleton_with_fci_plus_dsep`.</a:t>
            </a:r>
          </a:p>
          <a:p xmlns:a="http://schemas.openxmlformats.org/drawingml/2006/main">
            <a:r>
              <a:t>• `tests/test_pdsep.py`, `tests/test_fci_plus.py`, `tests/test_published_reference_graphs.py`, and `tests/test_result_exports.py`.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1:05]</a:t>
            </a:r>
          </a:p>
          <a:p xmlns:a="http://schemas.openxmlformats.org/drawingml/2006/main">
            <a:endParaRPr/>
          </a:p>
          <a:p xmlns:a="http://schemas.openxmlformats.org/drawingml/2006/main">
            <a:r>
              <a:t>The package keeps paper fidelity and practical robustness as distinct configurations. The paper FCI+ profile asks the user for k and follows the source-aligned sparse-search policy, including first-found separating sets and the standard Zhang-rule orientation path. The practical profile is a finite-sample engineering policy: it stabilizes the skeleton, selects maximum-p-value separating sets, treats collider evidence conservatively, restricts tail orientation, and adds cyclic-order and bootstrap diagnostics. This choice deliberately trades more conditional-independence work and more circle endpoints for stable skeletons and fewer brittle directions. It is not described as the paper’s FCI+, and it does not create a new correctness or completeness theorem. In STAR, I prefer it only under a predeclared stability-and-chronology criterion; another application could rationally prefer the literal paper profile.</a:t>
            </a:r>
          </a:p>
          <a:p xmlns:a="http://schemas.openxmlformats.org/drawingml/2006/main">
            <a:endParaRPr/>
          </a:p>
          <a:p xmlns:a="http://schemas.openxmlformats.org/drawingml/2006/main">
            <a:r>
              <a:t>[Sources]</a:t>
            </a:r>
          </a:p>
          <a:p xmlns:a="http://schemas.openxmlformats.org/drawingml/2006/main">
            <a:r>
              <a:t>• `src/fci_engine/config.py::FCIPlusConfig.paper` and `src/fci_engine/config.py::FCIPlusConfig.practical`.</a:t>
            </a:r>
          </a:p>
          <a:p xmlns:a="http://schemas.openxmlformats.org/drawingml/2006/main">
            <a:r>
              <a:t>• `reports/research/claim_evidence_matrix.csv`, claim IDs `IMPL-PAPER-FCIPLUS`, `IMPL-ROBUST`, and `FCIPLUS-FINITE`.</a:t>
            </a:r>
          </a:p>
          <a:p xmlns:a="http://schemas.openxmlformats.org/drawingml/2006/main">
            <a:r>
              <a:t>• `tests/test_robust_application_profile.py::test_practical_profile_improves_seeded_finite_sample_endpoint_recovery`.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1:25]</a:t>
            </a:r>
          </a:p>
          <a:p xmlns:a="http://schemas.openxmlformats.org/drawingml/2006/main">
            <a:endParaRPr/>
          </a:p>
          <a:p xmlns:a="http://schemas.openxmlformats.org/drawingml/2006/main">
            <a:r>
              <a:t>Known-truth validation separates implementation logic from sampling error. On the left is the graphical fixture based on Figure 4(b) of the FCI+ paper: the source supplies a maximal ancestral graph and exhibits the separator U, V, Z that removes a false X–Y adjacency. The repository independently specifies the corresponding PAG target rather than claiming that the paper printed one. With an exact oracle, both implemented pipelines recover their targets, and FCI+ uses sixty-three logical CI queries compared with one hundred two for FCI on this fixture. The right panel is a separate fixed-alpha regression: both paper and robust profiles use alpha zero point zero zero one across five graph families, three seeds, and two thousand five hundred observations. Skeleton F1 is zero point nine seven nine for both; endpoint-sensitive exact-edge F1 rises from zero point five three six to zero point seven zero three, while mean CI work rises from one hundred ninety-seven point one to three hundred eighty point seven. These values are not the automatic-alpha software benchmark on the next slides. Fewer oracle queries therefore cannot be converted into an automatic finite-sample superiority claim.</a:t>
            </a:r>
          </a:p>
          <a:p xmlns:a="http://schemas.openxmlformats.org/drawingml/2006/main">
            <a:endParaRPr/>
          </a:p>
          <a:p xmlns:a="http://schemas.openxmlformats.org/drawingml/2006/main">
            <a:r>
              <a:t>[Sources]</a:t>
            </a:r>
          </a:p>
          <a:p xmlns:a="http://schemas.openxmlformats.org/drawingml/2006/main">
            <a:r>
              <a:t>• Claassen, Mooij, and Heskes (2013), §3.2 and Figure 4(b), pp. 175–176.</a:t>
            </a:r>
          </a:p>
          <a:p xmlns:a="http://schemas.openxmlformats.org/drawingml/2006/main">
            <a:r>
              <a:t>• `tests/test_published_reference_graphs.py::test_fci_plus_removes_figure4_link_only_in_hierarchical_dsep_stage`.</a:t>
            </a:r>
          </a:p>
          <a:p xmlns:a="http://schemas.openxmlformats.org/drawingml/2006/main">
            <a:r>
              <a:t>• `tests/test_robust_application_profile.py::test_practical_profile_improves_seeded_finite_sample_endpoint_recovery`, using `src/fci_engine/simulation/oracle_cases.py::realistic_oracle_cases(n_repeats=3, n_samples=2500)` with each case’s fixed `alpha=0.001`.</a:t>
            </a:r>
          </a:p>
          <a:p xmlns:a="http://schemas.openxmlformats.org/drawingml/2006/main">
            <a:r>
              <a:t>• `reports/research/claim_evidence_matrix.csv`, claim IDs `FCIPLUS-FIG4` and `FCIPLUS-FINITE`.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endParaRPr/>
          </a:p>
          <a:p xmlns:a="http://schemas.openxmlformats.org/drawingml/2006/main">
            <a:r>
              <a:t>The software comparison distinguishes executed evidence from documentation. The local package, R pcalg version two point seven dash twelve, and causal-learn version zero point one point four point seven were executed. Tetrad version seven point six point ten was reviewed through its official documentation only because this environment did not include the required Java runtime. Pcalg provides public FCI and FCI-plus entry points; causal-learn provides standard FCI but no inspected public FCI-plus entry point; and Tetrad documents multiple FCI-family methods but was not benchmarked here. The local package’s distinctive feature is not a universal accuracy ranking. It is the combination of explicit paper profiles with structured CI and orientation traces, separating-set provenance, order and bootstrap audits, edge explanations, and artifact exports. Raw endpoint matrices, default tests, and selection conventions differ across packages, so comparisons require normalization before any exact graph statement is fair.</a:t>
            </a:r>
          </a:p>
          <a:p xmlns:a="http://schemas.openxmlformats.org/drawingml/2006/main">
            <a:endParaRPr/>
          </a:p>
          <a:p xmlns:a="http://schemas.openxmlformats.org/drawingml/2006/main">
            <a:r>
              <a:t>[Sources]</a:t>
            </a:r>
          </a:p>
          <a:p xmlns:a="http://schemas.openxmlformats.org/drawingml/2006/main">
            <a:r>
              <a:t>• `reports/data/software_feature_matrix.csv`, rows `fci_engine`, `pcalg`, `causal-learn`, and `Tetrad`, evidence date 2026-07-26.</a:t>
            </a:r>
          </a:p>
          <a:p xmlns:a="http://schemas.openxmlformats.org/drawingml/2006/main">
            <a:r>
              <a:t>• `reports/data/software_landscape.json`, per-tool `evidence_kind`, version, execution status, and official locators.</a:t>
            </a:r>
          </a:p>
          <a:p xmlns:a="http://schemas.openxmlformats.org/drawingml/2006/main">
            <a:r>
              <a:t>• `reports/research/claim_evidence_matrix.csv`, claim IDs `SW-PCALG`, `SW-CAUSALLEARN`, and `SW-TETRAD`.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endParaRPr/>
          </a:p>
          <a:p xmlns:a="http://schemas.openxmlformats.org/drawingml/2006/main">
            <a:r>
              <a:t>This matched benchmark executes five labeled configurations on five synthetic graph families, with three repeats and two thousand five hundred samples per case. All seventy-five requested runs completed. The dots show semantic edge F1 and endpoint accuracy on a common scale, while the right column reports CI calls where the API exposes them. The local paper FCI-plus profile uses about one hundred ninety-seven calls on average, compared with about four hundred fifty for historical FCI, and its recovery is close to the causal-learn and pcalg reference executions after normalization. The robust workflow reaches semantic F1 about zero point nine eight five and endpoint accuracy about zero point eight four, but it uses about four hundred two CI calls. The critical qualification is that robust uses the package’s automatic alpha, which equals zero point zero one at this sample size, whereas the paper and reference rows use zero point zero zero one. This is therefore evidence for a complete practical workflow, not an isolated claim that one algorithm definition dominates. Pcalg timing also includes R process startup, so wall-clock values are recorded for reproducibility rather than treated as a cross-language speed contest.</a:t>
            </a:r>
          </a:p>
          <a:p xmlns:a="http://schemas.openxmlformats.org/drawingml/2006/main">
            <a:endParaRPr/>
          </a:p>
          <a:p xmlns:a="http://schemas.openxmlformats.org/drawingml/2006/main">
            <a:r>
              <a:t>[Sources]</a:t>
            </a:r>
          </a:p>
          <a:p xmlns:a="http://schemas.openxmlformats.org/drawingml/2006/main">
            <a:r>
              <a:t>• `reports/data/software_benchmark_summary.csv`, all five algorithm rows; columns `n_requested`, `n_completed`, `mean_semantic_edge_f1`, `mean_endpoint_accuracy`, `mean_ci_test_count`, `alpha_policy`, and `effective_alpha`.</a:t>
            </a:r>
          </a:p>
          <a:p xmlns:a="http://schemas.openxmlformats.org/drawingml/2006/main">
            <a:r>
              <a:t>• `reports/data/software_benchmark_cases.csv`, 75 executed case rows.</a:t>
            </a:r>
          </a:p>
          <a:p xmlns:a="http://schemas.openxmlformats.org/drawingml/2006/main">
            <a:r>
              <a:t>• `reports/generate_software_comparison.py::build_algorithm_specs` and `::summarize_rows`.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
            </a:r>
            <a:endParaRPr/>
          </a:p>
          <a:p xmlns:a="http://schemas.openxmlformats.org/drawingml/2006/main">
            <a:r>
              <a:t>The official STAR record has eleven thousand six hundred one student rows. The analysis reconstructs a kindergarten assignment cohort of six thousand three hundred twenty-five students across seventy-nine schools, then creates three distinct discovery panels. The attrition panel contains five thousand seven hundred forty-four observations and nine variables, the longitudinal complete-case panel contains two thousand seven hundred eighty-seven observations and nine variables, and the focused treatment panel contains two thousand nine hundred seventy-six observations and eight variables. These panels answer different diagnostic questions and are not pooled into one causal analysis. The identification boundary is explicit: randomized kindergarten assignment supports the primary design-based arm comparison, while later complete-case panels can reflect conditioning and attrition. Because missing outcomes, original blocks, switching, and compliance were not reconstructed, the selected observed-arm contrast is not presented as a fully identified selected-subset causal effect. No temporal constraints were supplied to discovery, so chronology is used only as an external audit. The arm-contrast intervals use one thousand school-cluster resamples; the one hundred school-resample PAG bootstrap is an adjacency-stability diagnostic and is never presented as a treatment-effect procedure.</a:t>
            </a:r>
          </a:p>
          <a:p xmlns:a="http://schemas.openxmlformats.org/drawingml/2006/main">
            <a:r>
              <a:t/>
            </a:r>
            <a:endParaRPr/>
          </a:p>
          <a:p xmlns:a="http://schemas.openxmlformats.org/drawingml/2006/main">
            <a:r>
              <a:t>[Sources]</a:t>
            </a:r>
          </a:p>
          <a:p xmlns:a="http://schemas.openxmlformats.org/drawingml/2006/main">
            <a:r>
              <a:t>• `case_studies/tennessee_star/output/star_case_study_summary.json`, keys `cohorts.raw_rows`, `cohorts.kindergarten_rows`, `cohorts.kindergarten_schools`, and `cohorts.panels`.</a:t>
            </a:r>
          </a:p>
          <a:p xmlns:a="http://schemas.openxmlformats.org/drawingml/2006/main">
            <a:r>
              <a:t>• `case_studies/tennessee_star/study.py::prepare_study` and `::save_processed_panels`.</a:t>
            </a:r>
          </a:p>
          <a:p xmlns:a="http://schemas.openxmlformats.org/drawingml/2006/main">
            <a:r>
              <a:t>• Tennessee STAR Dataverse dataset, DOI `10.7910/DVN/SIWH9F`.</a:t>
            </a:r>
          </a:p>
          <a:p xmlns:a="http://schemas.openxmlformats.org/drawingml/2006/main">
            <a:r>
              <a:t>• `case_studies/tennessee_star/study.py::_cluster_bootstrap_arm_metrics` and `::cluster_bootstrap_adjacencies`.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endParaRPr/>
          </a:p>
          <a:p xmlns:a="http://schemas.openxmlformats.org/drawingml/2006/main">
            <a:r>
              <a:t>The strongest design-supported result here is the kindergarten observed-arm contrast. Small-class students with observed kindergarten outcomes score thirteen point nine points above regular-class students, with a school-cluster bootstrap interval from five point two one to twenty-two point zero seven. Random assignment makes this contrast consistent with a small-class benefit, but missing outcomes, original blocks, switching, and compliance were not reconstructed, so I do not treat it as a fully identified selected-subset causal effect. The regular-plus-aide arm differs from regular by only zero point three one points, with an interval from negative seven point four zero to seven point three eight, so there is no detectable aide advantage at this precision. Among students with observed grade-three outcomes, the small-minus-regular score contrast is eleven point six nine points with an interval from three point seven four to nineteen point three eight, but that is a descriptive follow-up in a selected observed sample. The corresponding grade-three observation-rate contrasts are plus one point five four percentage points for small versus regular, with an interval from negative one point seven three to four point five six, and negative two point zero five percentage points for aide versus regular, with an interval from negative five point three five to one point four one. Neither observation-rate interval excludes zero.</a:t>
            </a:r>
          </a:p>
          <a:p xmlns:a="http://schemas.openxmlformats.org/drawingml/2006/main">
            <a:endParaRPr/>
          </a:p>
          <a:p xmlns:a="http://schemas.openxmlformats.org/drawingml/2006/main">
            <a:r>
              <a:t>[Sources]</a:t>
            </a:r>
          </a:p>
          <a:p xmlns:a="http://schemas.openxmlformats.org/drawingml/2006/main">
            <a:r>
              <a:t>• `case_studies/tennessee_star/output/star_descriptive_contrasts.csv`, rows `kindergarten_score`, `grade3_score`, and `grade3_observed_rate` for both arm comparisons.</a:t>
            </a:r>
          </a:p>
          <a:p xmlns:a="http://schemas.openxmlformats.org/drawingml/2006/main">
            <a:r>
              <a:t>• `case_studies/tennessee_star/output/star_case_study_summary.json`, key `descriptives.contrasts`.</a:t>
            </a:r>
          </a:p>
          <a:p xmlns:a="http://schemas.openxmlformats.org/drawingml/2006/main">
            <a:r>
              <a:t>• `case_studies/tennessee_star/study.py::_cluster_bootstrap_arm_metrics`, 1,000 school-cluster resamples.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1:25]</a:t>
            </a:r>
          </a:p>
          <a:p xmlns:a="http://schemas.openxmlformats.org/drawingml/2006/main">
            <a:endParaRPr/>
          </a:p>
          <a:p xmlns:a="http://schemas.openxmlformats.org/drawingml/2006/main">
            <a:r>
              <a:t>The discovery evidence is more credible at the adjacency level than at the endpoint-direction level. Under cyclic column shifts, robust FCI+ reproduces its entire baseline PAG output in all twenty-six tested refits: nine of nine for attrition, nine of nine for longitudinal data, and eight of eight for the focused panel, with zero recorded temporal flags. Those twenty-six shifts are a finite audit, not a theorem of order invariance. The paper profile and standard FCI are less stable on some panels, and in the longitudinal graph both paper FCI+ and the executed pcalg FCI+ orient later achievement toward kindergarten achievement, which conflicts with chronology. The robust profile leaves the endpoints as circles instead. That is calibrated abstention, not extra identification. Early achievement to later achievement and early achievement to later observation are present in every local bootstrap sample, so those adjacencies deserve more confidence than their directions. The focused class-to-grade-three edge remains especially fragile because it disappears at alpha zero point zero one despite high baseline bootstrap adjacency frequency.</a:t>
            </a:r>
          </a:p>
          <a:p xmlns:a="http://schemas.openxmlformats.org/drawingml/2006/main">
            <a:endParaRPr/>
          </a:p>
          <a:p xmlns:a="http://schemas.openxmlformats.org/drawingml/2006/main">
            <a:r>
              <a:t>[Sources]</a:t>
            </a:r>
          </a:p>
          <a:p xmlns:a="http://schemas.openxmlformats.org/drawingml/2006/main">
            <a:r>
              <a:t>• `case_studies/tennessee_star/output/star_python_order_audit.csv`, all panel/profile exact-reproduction counts and temporal-flag counts.</a:t>
            </a:r>
          </a:p>
          <a:p xmlns:a="http://schemas.openxmlformats.org/drawingml/2006/main">
            <a:r>
              <a:t>• `case_studies/tennessee_star/output/star_bootstrap_adjacencies.csv`, 100% local bootstrap adjacency rows.</a:t>
            </a:r>
          </a:p>
          <a:p xmlns:a="http://schemas.openxmlformats.org/drawingml/2006/main">
            <a:r>
              <a:t>• `case_studies/tennessee_star/output/star_sensitivity.csv`, focused class-to-grade-three adjacency at `alpha=0.01`.</a:t>
            </a:r>
          </a:p>
          <a:p xmlns:a="http://schemas.openxmlformats.org/drawingml/2006/main">
            <a:r>
              <a:t>• `case_studies/tennessee_star/output/star_pcalg_runs.csv`, longitudinal endpoint comparison for `pcalg_fci_plus`.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1:05]</a:t>
            </a:r>
          </a:p>
          <a:p xmlns:a="http://schemas.openxmlformats.org/drawingml/2006/main">
            <a:r>
              <a:t/>
            </a:r>
            <a:endParaRPr/>
          </a:p>
          <a:p xmlns:a="http://schemas.openxmlformats.org/drawingml/2006/main">
            <a:r>
              <a:t>FCI+ reduces conditional-independence work on each STAR panel. In the attrition panel, paper FCI+ uses seven hundred ninety-three tests compared with one thousand seven hundred five for FCI, or forty-seven percent as many. In the longitudinal panel the comparison is three hundred thirty-five versus nine hundred sixty, or thirty-five percent. In the focused panel it is one hundred eighty-five versus two hundred ninety-one, or sixty-four percent. The runtime strip reports the same three-run medians in the order FCI, paper FCI+, robust FCI+, and R pcalg FCI+: attrition is five point six six, one point eight two, two point six one, and ten point three nine seconds; longitudinal is two point one four, zero point three three, zero point five five, and one point six five; focused is zero point three three, zero point one six, zero point two five, and zero point eight eight. These are implementation measurements, not a language leaderboard. Computational efficiency is useful engineering evidence; it does not increase the causal strength of an endpoint or identify a treatment effect.</a:t>
            </a:r>
          </a:p>
          <a:p xmlns:a="http://schemas.openxmlformats.org/drawingml/2006/main">
            <a:r>
              <a:t/>
            </a:r>
            <a:endParaRPr/>
          </a:p>
          <a:p xmlns:a="http://schemas.openxmlformats.org/drawingml/2006/main">
            <a:r>
              <a:t>[Sources]</a:t>
            </a:r>
          </a:p>
          <a:p xmlns:a="http://schemas.openxmlformats.org/drawingml/2006/main">
            <a:r>
              <a:t>• `case_studies/tennessee_star/output/star_benchmark.csv`, all 12 panel-by-algorithm rows; columns `ci_tests` and `median_elapsed_seconds`.</a:t>
            </a:r>
          </a:p>
          <a:p xmlns:a="http://schemas.openxmlformats.org/drawingml/2006/main">
            <a:r>
              <a:t>• `case_studies/tennessee_star/output/star_case_study_summary.json`, key `runs`.</a:t>
            </a:r>
          </a:p>
          <a:p xmlns:a="http://schemas.openxmlformats.org/drawingml/2006/main">
            <a:r>
              <a:t>• `case_studies/tennessee_star/run_case_study.py`, three-run benchmark loop and timing 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endParaRPr/>
          </a:p>
          <a:p xmlns:a="http://schemas.openxmlformats.org/drawingml/2006/main">
            <a:r>
              <a:t>The final conclusion follows the evidence ladder. At the design-based level, the observed kindergarten arm contrast favors small over regular classes and is consistent with benefit under random assignment, while no comparable aide advantage is detected at the available precision. Because missing outcomes, blocks, switching, and compliance were not reconstructed, this is not a fully identified selected-subset causal effect. At the structural level, early achievement is stably adjacent to later achievement and later observation. At the uncertain level, later endpoint directions and the focused class-to-grade-three adjacency depend on specification. The PAG does not identify a unique DAG, a particular latent cause, an adjustment set, or a treatment-effect magnitude. The completed contribution is the bridge across these layers: source-aligned FCI and FCI-plus profiles, a concrete source-to-code-to-test map, exact and simulated validation, executed software audits, and a reproducible STAR report with data, figures, slides, and notes. The next validation priorities are broader conditional-independence regimes, larger benchmarks, a formal reconstruction of the STAR randomized analysis, and external replication.</a:t>
            </a:r>
          </a:p>
          <a:p xmlns:a="http://schemas.openxmlformats.org/drawingml/2006/main">
            <a:endParaRPr/>
          </a:p>
          <a:p xmlns:a="http://schemas.openxmlformats.org/drawingml/2006/main">
            <a:r>
              <a:t>[Sources]</a:t>
            </a:r>
          </a:p>
          <a:p xmlns:a="http://schemas.openxmlformats.org/drawingml/2006/main">
            <a:r>
              <a:t>• `case_studies/tennessee_star/output/star_descriptive_contrasts.csv`, kindergarten score contrasts and grade-three descriptive follow-up rows.</a:t>
            </a:r>
          </a:p>
          <a:p xmlns:a="http://schemas.openxmlformats.org/drawingml/2006/main">
            <a:r>
              <a:t>• `case_studies/tennessee_star/output/star_python_order_audit.csv`, robust 26-of-26 exact reproduction audit.</a:t>
            </a:r>
          </a:p>
          <a:p xmlns:a="http://schemas.openxmlformats.org/drawingml/2006/main">
            <a:r>
              <a:t>• `case_studies/tennessee_star/output/star_sensitivity.csv` and `star_bootstrap_adjacencies.csv`, specification-sensitive versus stable adjacencies.</a:t>
            </a:r>
          </a:p>
          <a:p xmlns:a="http://schemas.openxmlformats.org/drawingml/2006/main">
            <a:r>
              <a:t>• `reports/research/claim_evidence_matrix.csv`, claim ID `OUTPUT-SEMANTICS`.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96c685223c4bcc" /></Relationships>
</file>

<file path=ppt/slideLayouts/slideLayout1.xml><?xml version="1.0" encoding="utf-8"?>
<p:sldLayout xmlns:p="http://schemas.openxmlformats.org/presentationml/2006/main" type="blank" preserve="1">
  <p:cSld name="fci_plus_star_advisor_deck — 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2513FA6-FB23-4CFF-8634-78A65D9F46C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EE0029D6-2A1E-451B-8E12-78F364AAFB9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50F571BC-DBEE-4B44-8385-B59F1F0182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5ac856bc5243e3" /><Relationship Type="http://schemas.openxmlformats.org/officeDocument/2006/relationships/slideLayout" Target="/ppt/slideLayouts/slideLayout1.xml" Id="R7795cbbf051e445b" /></Relationships>
</file>

<file path=ppt/slideMasters/slideMaster1.xml><?xml version="1.0" encoding="utf-8"?>
<p:sldMaster xmlns:p="http://schemas.openxmlformats.org/presentationml/2006/main">
  <p:cSld name="fci_plus_star_advisor_deck — Master">
    <p:bg>
      <p:bgRef idx="1001">
        <a:schemeClr xmlns:a="http://schemas.openxmlformats.org/drawingml/2006/main" val="bg1"/>
      </p:bgRef>
    </p:bg>
    <p:spTree>
      <p:nvGrpSpPr>
        <p:cNvPr id="1" name=""/>
        <p:cNvGrpSpPr/>
        <p:nvPr/>
      </p:nvGrpSpPr>
      <p:grpSpPr>
        <a:xfrm xmlns:a="http://schemas.openxmlformats.org/drawingml/2006/main"/>
      </p:grpSpPr>
      <p:sp>
        <p:nvSpPr>
          <p:cNvPr id="4" name="Date Placeholder 3">
            <a:extLst xmlns:a="http://schemas.openxmlformats.org/drawingml/2006/main">
              <a:ext uri="{FF2B5EF4-FFF2-40B4-BE49-F238E27FC236}">
                <a16:creationId xmlns:a16="http://schemas.microsoft.com/office/drawing/2014/main" id="{DD4C8C0F-A673-48FF-9F12-2781ABEE59BF}"/>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9F94BC8-93C7-49EF-80B3-25BCEC08D4D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5EA3F00-9E75-4EC4-89B1-EF0A4DEA2695}"/>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95cbbf051e445b"/>
  </p:sldLayoutIdLst>
  <p:txStyles>
    <p:titleStyle>
      <a:lvl1pPr xmlns:a="http://schemas.openxmlformats.org/drawingml/2006/main" algn="ctr" defTabSz="457200">
        <a:spcBef>
          <a:spcPct val="0"/>
        </a:spcBef>
        <a:buNone/>
        <a:defRPr sz="315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18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17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16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145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135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125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11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1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9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700" kern="1200">
          <a:solidFill>
            <a:schemeClr val="tx1"/>
          </a:solidFill>
          <a:latin typeface="+mn-lt"/>
          <a:ea typeface="+mn-lt"/>
          <a:cs typeface="+mn-lt"/>
        </a:defRPr>
      </a:lvl2pPr>
      <a:lvl3pPr xmlns:a="http://schemas.openxmlformats.org/drawingml/2006/main" marL="914400" algn="l" defTabSz="457200">
        <a:buNone/>
        <a:defRPr sz="1600" kern="1200">
          <a:solidFill>
            <a:schemeClr val="tx1"/>
          </a:solidFill>
          <a:latin typeface="+mn-lt"/>
          <a:ea typeface="+mn-lt"/>
          <a:cs typeface="+mn-lt"/>
        </a:defRPr>
      </a:lvl3pPr>
      <a:lvl4pPr xmlns:a="http://schemas.openxmlformats.org/drawingml/2006/main" marL="1371600" algn="l" defTabSz="457200">
        <a:buNone/>
        <a:defRPr sz="1450" kern="1200">
          <a:solidFill>
            <a:schemeClr val="tx1"/>
          </a:solidFill>
          <a:latin typeface="+mn-lt"/>
          <a:ea typeface="+mn-lt"/>
          <a:cs typeface="+mn-lt"/>
        </a:defRPr>
      </a:lvl4pPr>
      <a:lvl5pPr xmlns:a="http://schemas.openxmlformats.org/drawingml/2006/main" marL="1828800" algn="l" defTabSz="457200">
        <a:buNone/>
        <a:defRPr sz="1350" kern="1200">
          <a:solidFill>
            <a:schemeClr val="tx1"/>
          </a:solidFill>
          <a:latin typeface="+mn-lt"/>
          <a:ea typeface="+mn-lt"/>
          <a:cs typeface="+mn-lt"/>
        </a:defRPr>
      </a:lvl5pPr>
      <a:lvl6pPr xmlns:a="http://schemas.openxmlformats.org/drawingml/2006/main" marL="2286000" algn="l" defTabSz="457200">
        <a:buNone/>
        <a:defRPr sz="1250" kern="1200">
          <a:solidFill>
            <a:schemeClr val="tx1"/>
          </a:solidFill>
          <a:latin typeface="+mn-lt"/>
          <a:ea typeface="+mn-lt"/>
          <a:cs typeface="+mn-lt"/>
        </a:defRPr>
      </a:lvl6pPr>
      <a:lvl7pPr xmlns:a="http://schemas.openxmlformats.org/drawingml/2006/main" marL="2743200" algn="l" defTabSz="457200">
        <a:buNone/>
        <a:defRPr sz="1100" kern="1200">
          <a:solidFill>
            <a:schemeClr val="tx1"/>
          </a:solidFill>
          <a:latin typeface="+mn-lt"/>
          <a:ea typeface="+mn-lt"/>
          <a:cs typeface="+mn-lt"/>
        </a:defRPr>
      </a:lvl7pPr>
      <a:lvl8pPr xmlns:a="http://schemas.openxmlformats.org/drawingml/2006/main" marL="3200400" algn="l" defTabSz="457200">
        <a:buNone/>
        <a:defRPr sz="1000" kern="1200">
          <a:solidFill>
            <a:schemeClr val="tx1"/>
          </a:solidFill>
          <a:latin typeface="+mn-lt"/>
          <a:ea typeface="+mn-lt"/>
          <a:cs typeface="+mn-lt"/>
        </a:defRPr>
      </a:lvl8pPr>
      <a:lvl9pPr xmlns:a="http://schemas.openxmlformats.org/drawingml/2006/main" marL="3657600" algn="l" defTabSz="457200">
        <a:buNone/>
        <a:defRPr sz="9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fci_plus_star_advisor_deck">
  <a:themeElements>
    <a:clrScheme name="fci_plus_star_advisor_deck">
      <a:dk1>
        <a:srgbClr val="1A2433"/>
      </a:dk1>
      <a:lt1>
        <a:srgbClr val="F7F5EF"/>
      </a:lt1>
      <a:dk2>
        <a:srgbClr val="1F497D"/>
      </a:dk2>
      <a:lt2>
        <a:srgbClr val="F7F5EF"/>
      </a:lt2>
      <a:accent1>
        <a:srgbClr val="183153"/>
      </a:accent1>
      <a:accent2>
        <a:srgbClr val="2F6BFF"/>
      </a:accent2>
      <a:accent3>
        <a:srgbClr val="E58A2B"/>
      </a:accent3>
      <a:accent4>
        <a:srgbClr val="183153"/>
      </a:accent4>
      <a:accent5>
        <a:srgbClr val="E9EDF5"/>
      </a:accent5>
      <a:accent6>
        <a:srgbClr val="1C9A8A"/>
      </a:accent6>
      <a:hlink>
        <a:srgbClr val="2F6BFF"/>
      </a:hlink>
      <a:folHlink>
        <a:srgbClr val="E58A2B"/>
      </a:folHlink>
    </a:clrScheme>
    <a:fontScheme name="fci_plus_star_advisor_deck">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ci_plus_star_advisor_de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fc4777ef6964d4e" /><Relationship Type="http://schemas.openxmlformats.org/officeDocument/2006/relationships/notesSlide" Target="/ppt/notesSlides/notesSlide1.xml" Id="R20e67c1d280a45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cb67798654a4e2f" /><Relationship Type="http://schemas.openxmlformats.org/officeDocument/2006/relationships/notesSlide" Target="/ppt/notesSlides/notesSlide2.xml" Id="Rdfc2faecb7c142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a99ff179d545b1" /><Relationship Type="http://schemas.openxmlformats.org/officeDocument/2006/relationships/notesSlide" Target="/ppt/notesSlides/notesSlide3.xml" Id="R4cf6e116a2af43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77a4db0d8e24d1d" /><Relationship Type="http://schemas.openxmlformats.org/officeDocument/2006/relationships/notesSlide" Target="/ppt/notesSlides/notesSlide4.xml" Id="Ra098791e4d584d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fdbf91997e3490d" /><Relationship Type="http://schemas.openxmlformats.org/officeDocument/2006/relationships/notesSlide" Target="/ppt/notesSlides/notesSlide5.xml" Id="R401fa0703c1f4a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3450d8922d40d1" /><Relationship Type="http://schemas.openxmlformats.org/officeDocument/2006/relationships/notesSlide" Target="/ppt/notesSlides/notesSlide6.xml" Id="R381e79da2ee4478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9f9ba5a3e442ab" /><Relationship Type="http://schemas.openxmlformats.org/officeDocument/2006/relationships/notesSlide" Target="/ppt/notesSlides/notesSlide7.xml" Id="Ra9397cdc0dce43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33aafb9891a491a" /><Relationship Type="http://schemas.openxmlformats.org/officeDocument/2006/relationships/notesSlide" Target="/ppt/notesSlides/notesSlide8.xml" Id="R64894632532943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095bc4044944eaa" /><Relationship Type="http://schemas.openxmlformats.org/officeDocument/2006/relationships/notesSlide" Target="/ppt/notesSlides/notesSlide9.xml" Id="R045b8fcfed8547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cbebc070a0f4fbb" /><Relationship Type="http://schemas.openxmlformats.org/officeDocument/2006/relationships/notesSlide" Target="/ppt/notesSlides/notesSlide10.xml" Id="R82daef56736b44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65ad54ebd2c4b90" /><Relationship Type="http://schemas.openxmlformats.org/officeDocument/2006/relationships/notesSlide" Target="/ppt/notesSlides/notesSlide11.xml" Id="R8373e3152a7840e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fbd9262edc24fad" /><Relationship Type="http://schemas.openxmlformats.org/officeDocument/2006/relationships/notesSlide" Target="/ppt/notesSlides/notesSlide12.xml" Id="R00264fb072f4437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c6e9d2bb2ac4993" /><Relationship Type="http://schemas.openxmlformats.org/officeDocument/2006/relationships/notesSlide" Target="/ppt/notesSlides/notesSlide13.xml" Id="R00a43903e2a4484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25f43697b9f41d9" /><Relationship Type="http://schemas.openxmlformats.org/officeDocument/2006/relationships/notesSlide" Target="/ppt/notesSlides/notesSlide14.xml" Id="Rcf232099ede945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25dc70d2fb6437f" /><Relationship Type="http://schemas.openxmlformats.org/officeDocument/2006/relationships/notesSlide" Target="/ppt/notesSlides/notesSlide15.xml" Id="Rd40acab7b9b548e7" /></Relationships>
</file>

<file path=ppt/slides/slide1.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E612A441-A413-4A7B-B474-740055C449F2}"/>
              </a:ext>
            </a:extLst>
          </p:cNvPr>
          <p:cNvSpPr>
            <a:spLocks xmlns:a="http://schemas.openxmlformats.org/drawingml/2006/main" noGrp="1"/>
          </p:cNvSpPr>
          <p:nvPr/>
        </p:nvSpPr>
        <p:spPr>
          <a:xfrm xmlns:a="http://schemas.openxmlformats.org/drawingml/2006/main" rot="0" flipH="0" flipV="0">
            <a:off x="526542" y="406718"/>
            <a:ext cx="393020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RESEARCH PROJECT DEFENSE · 2026</a:t>
            </a:r>
          </a:p>
        </p:txBody>
      </p:sp>
      <p:sp>
        <p:nvSpPr>
          <p:cNvPr id="3" name="TextBox 3">
            <a:extLst xmlns:a="http://schemas.openxmlformats.org/drawingml/2006/main">
              <a:ext uri="{FF2B5EF4-FFF2-40B4-BE49-F238E27FC236}">
                <a16:creationId xmlns:a16="http://schemas.microsoft.com/office/drawing/2014/main" id="{9C65E673-2FE9-481F-B3A3-0E5184248A61}"/>
              </a:ext>
            </a:extLst>
          </p:cNvPr>
          <p:cNvSpPr>
            <a:spLocks xmlns:a="http://schemas.openxmlformats.org/drawingml/2006/main" noGrp="1"/>
          </p:cNvSpPr>
          <p:nvPr/>
        </p:nvSpPr>
        <p:spPr>
          <a:xfrm xmlns:a="http://schemas.openxmlformats.org/drawingml/2006/main" rot="0" flipH="0" flipV="0">
            <a:off x="10480327" y="406718"/>
            <a:ext cx="118513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FCI / FCI Plus</a:t>
            </a:r>
          </a:p>
        </p:txBody>
      </p:sp>
      <p:sp>
        <p:nvSpPr>
          <p:cNvPr id="5" name="TextBox 5">
            <a:extLst xmlns:a="http://schemas.openxmlformats.org/drawingml/2006/main">
              <a:ext uri="{FF2B5EF4-FFF2-40B4-BE49-F238E27FC236}">
                <a16:creationId xmlns:a16="http://schemas.microsoft.com/office/drawing/2014/main" id="{435D60E9-8398-4A5B-9A2F-EBADAD5E095E}"/>
              </a:ext>
            </a:extLst>
          </p:cNvPr>
          <p:cNvSpPr>
            <a:spLocks xmlns:a="http://schemas.openxmlformats.org/drawingml/2006/main" noGrp="1"/>
          </p:cNvSpPr>
          <p:nvPr/>
        </p:nvSpPr>
        <p:spPr>
          <a:xfrm xmlns:a="http://schemas.openxmlformats.org/drawingml/2006/main" rot="0" flipH="0" flipV="0">
            <a:off x="516636" y="901065"/>
            <a:ext cx="7109612" cy="6454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300" b="1">
                <a:solidFill>
                  <a:schemeClr val="accent1"/>
                </a:solidFill>
                <a:latin typeface="+mj-lt"/>
                <a:ea typeface="+mj-lt"/>
                <a:cs typeface="+mj-lt"/>
              </a:rPr>
              <a:t>Independent FCI and FCI Plus</a:t>
            </a:r>
          </a:p>
        </p:txBody>
      </p:sp>
      <p:sp>
        <p:nvSpPr>
          <p:cNvPr id="6" name="TextBox 6">
            <a:extLst xmlns:a="http://schemas.openxmlformats.org/drawingml/2006/main">
              <a:ext uri="{FF2B5EF4-FFF2-40B4-BE49-F238E27FC236}">
                <a16:creationId xmlns:a16="http://schemas.microsoft.com/office/drawing/2014/main" id="{70ED78C0-A72D-466E-BE8C-E29B5C620F9D}"/>
              </a:ext>
            </a:extLst>
          </p:cNvPr>
          <p:cNvSpPr>
            <a:spLocks xmlns:a="http://schemas.openxmlformats.org/drawingml/2006/main" noGrp="1"/>
          </p:cNvSpPr>
          <p:nvPr/>
        </p:nvSpPr>
        <p:spPr>
          <a:xfrm xmlns:a="http://schemas.openxmlformats.org/drawingml/2006/main" rot="0" flipH="0" flipV="0">
            <a:off x="516636" y="1453515"/>
            <a:ext cx="9875078" cy="64541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300" b="1">
                <a:solidFill>
                  <a:schemeClr val="accent1"/>
                </a:solidFill>
                <a:latin typeface="+mj-lt"/>
                <a:ea typeface="+mj-lt"/>
                <a:cs typeface="+mj-lt"/>
              </a:rPr>
              <a:t>from Source Fidelity to Tennessee STAR</a:t>
            </a:r>
          </a:p>
        </p:txBody>
      </p:sp>
      <p:sp>
        <p:nvSpPr>
          <p:cNvPr id="7" name="Rectangle 7">
            <a:extLst xmlns:a="http://schemas.openxmlformats.org/drawingml/2006/main">
              <a:ext uri="{FF2B5EF4-FFF2-40B4-BE49-F238E27FC236}">
                <a16:creationId xmlns:a16="http://schemas.microsoft.com/office/drawing/2014/main" id="{0FC48AA0-83F1-40DB-B821-5ADDB1447AAB}"/>
              </a:ext>
            </a:extLst>
          </p:cNvPr>
          <p:cNvSpPr>
            <a:spLocks xmlns:a="http://schemas.openxmlformats.org/drawingml/2006/main" noGrp="1"/>
          </p:cNvSpPr>
          <p:nvPr/>
        </p:nvSpPr>
        <p:spPr>
          <a:xfrm xmlns:a="http://schemas.openxmlformats.org/drawingml/2006/main" rot="0" flipH="0" flipV="0">
            <a:off x="533400" y="2038350"/>
            <a:ext cx="1657350" cy="66675"/>
          </a:xfrm>
          <a:prstGeom xmlns:a="http://schemas.openxmlformats.org/drawingml/2006/main" prst="roundRect">
            <a:avLst>
              <a:gd name="adj" fmla="val 50000"/>
            </a:avLst>
          </a:prstGeom>
          <a:solidFill xmlns:a="http://schemas.openxmlformats.org/drawingml/2006/main">
            <a:schemeClr val="accent2"/>
          </a:solidFill>
          <a:ln xmlns:a="http://schemas.openxmlformats.org/drawingml/2006/main">
            <a:noFill/>
          </a:ln>
        </p:spPr>
      </p:sp>
      <p:sp>
        <p:nvSpPr>
          <p:cNvPr id="8" name="Rectangle 8">
            <a:extLst xmlns:a="http://schemas.openxmlformats.org/drawingml/2006/main">
              <a:ext uri="{FF2B5EF4-FFF2-40B4-BE49-F238E27FC236}">
                <a16:creationId xmlns:a16="http://schemas.microsoft.com/office/drawing/2014/main" id="{33045133-561F-4796-932E-2D5C7724F19B}"/>
              </a:ext>
            </a:extLst>
          </p:cNvPr>
          <p:cNvSpPr>
            <a:spLocks xmlns:a="http://schemas.openxmlformats.org/drawingml/2006/main" noGrp="1"/>
          </p:cNvSpPr>
          <p:nvPr/>
        </p:nvSpPr>
        <p:spPr>
          <a:xfrm xmlns:a="http://schemas.openxmlformats.org/drawingml/2006/main" rot="0" flipH="0" flipV="0">
            <a:off x="2266950" y="2038350"/>
            <a:ext cx="1657350" cy="66675"/>
          </a:xfrm>
          <a:prstGeom xmlns:a="http://schemas.openxmlformats.org/drawingml/2006/main" prst="roundRect">
            <a:avLst>
              <a:gd name="adj" fmla="val 50000"/>
            </a:avLst>
          </a:prstGeom>
          <a:solidFill xmlns:a="http://schemas.openxmlformats.org/drawingml/2006/main">
            <a:schemeClr val="accent3"/>
          </a:solidFill>
          <a:ln xmlns:a="http://schemas.openxmlformats.org/drawingml/2006/main">
            <a:noFill/>
          </a:ln>
        </p:spPr>
      </p:sp>
      <p:sp>
        <p:nvSpPr>
          <p:cNvPr id="9" name="Rectangle 9">
            <a:extLst xmlns:a="http://schemas.openxmlformats.org/drawingml/2006/main">
              <a:ext uri="{FF2B5EF4-FFF2-40B4-BE49-F238E27FC236}">
                <a16:creationId xmlns:a16="http://schemas.microsoft.com/office/drawing/2014/main" id="{CA660A22-2171-4E9A-9175-FAE77DA7EFE7}"/>
              </a:ext>
            </a:extLst>
          </p:cNvPr>
          <p:cNvSpPr>
            <a:spLocks xmlns:a="http://schemas.openxmlformats.org/drawingml/2006/main" noGrp="1"/>
          </p:cNvSpPr>
          <p:nvPr/>
        </p:nvSpPr>
        <p:spPr>
          <a:xfrm xmlns:a="http://schemas.openxmlformats.org/drawingml/2006/main" rot="0" flipH="0" flipV="0">
            <a:off x="4000500" y="2038350"/>
            <a:ext cx="1657350" cy="66675"/>
          </a:xfrm>
          <a:prstGeom xmlns:a="http://schemas.openxmlformats.org/drawingml/2006/main" prst="roundRect">
            <a:avLst>
              <a:gd name="adj" fmla="val 50000"/>
            </a:avLst>
          </a:prstGeom>
          <a:solidFill xmlns:a="http://schemas.openxmlformats.org/drawingml/2006/main">
            <a:schemeClr val="accent6"/>
          </a:solidFill>
          <a:ln xmlns:a="http://schemas.openxmlformats.org/drawingml/2006/main">
            <a:noFill/>
          </a:ln>
        </p:spPr>
      </p:sp>
      <p:sp>
        <p:nvSpPr>
          <p:cNvPr id="11" name="TextBox 11">
            <a:extLst xmlns:a="http://schemas.openxmlformats.org/drawingml/2006/main">
              <a:ext uri="{FF2B5EF4-FFF2-40B4-BE49-F238E27FC236}">
                <a16:creationId xmlns:a16="http://schemas.microsoft.com/office/drawing/2014/main" id="{966C5E17-09A8-4782-BFA0-F1C6760126CC}"/>
              </a:ext>
            </a:extLst>
          </p:cNvPr>
          <p:cNvSpPr>
            <a:spLocks xmlns:a="http://schemas.openxmlformats.org/drawingml/2006/main" noGrp="1"/>
          </p:cNvSpPr>
          <p:nvPr/>
        </p:nvSpPr>
        <p:spPr>
          <a:xfrm xmlns:a="http://schemas.openxmlformats.org/drawingml/2006/main" rot="0" flipH="0" flipV="0">
            <a:off x="521970" y="2319338"/>
            <a:ext cx="7947450"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250" b="1">
                <a:solidFill>
                  <a:schemeClr val="dk1"/>
                </a:solidFill>
                <a:latin typeface="+mn-lt"/>
                <a:ea typeface="+mn-lt"/>
                <a:cs typeface="+mn-lt"/>
              </a:rPr>
              <a:t>Paper-aligned algorithms. Known-truth validation.</a:t>
            </a:r>
          </a:p>
        </p:txBody>
      </p:sp>
      <p:sp>
        <p:nvSpPr>
          <p:cNvPr id="12" name="TextBox 12">
            <a:extLst xmlns:a="http://schemas.openxmlformats.org/drawingml/2006/main">
              <a:ext uri="{FF2B5EF4-FFF2-40B4-BE49-F238E27FC236}">
                <a16:creationId xmlns:a16="http://schemas.microsoft.com/office/drawing/2014/main" id="{61833A19-BDD7-4B57-A9C3-8FF4837147E1}"/>
              </a:ext>
            </a:extLst>
          </p:cNvPr>
          <p:cNvSpPr>
            <a:spLocks xmlns:a="http://schemas.openxmlformats.org/drawingml/2006/main" noGrp="1"/>
          </p:cNvSpPr>
          <p:nvPr/>
        </p:nvSpPr>
        <p:spPr>
          <a:xfrm xmlns:a="http://schemas.openxmlformats.org/drawingml/2006/main" rot="0" flipH="0" flipV="0">
            <a:off x="521970" y="2662238"/>
            <a:ext cx="5073629"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250" b="1">
                <a:solidFill>
                  <a:schemeClr val="dk1"/>
                </a:solidFill>
                <a:latin typeface="+mn-lt"/>
                <a:ea typeface="+mn-lt"/>
                <a:cs typeface="+mn-lt"/>
              </a:rPr>
              <a:t>A cautious empirical application.</a:t>
            </a:r>
          </a:p>
        </p:txBody>
      </p:sp>
      <p:sp>
        <p:nvSpPr>
          <p:cNvPr id="13" name="TextBox 13">
            <a:extLst xmlns:a="http://schemas.openxmlformats.org/drawingml/2006/main">
              <a:ext uri="{FF2B5EF4-FFF2-40B4-BE49-F238E27FC236}">
                <a16:creationId xmlns:a16="http://schemas.microsoft.com/office/drawing/2014/main" id="{9CD78E17-ABBE-41E7-A5BC-C0F21A904180}"/>
              </a:ext>
            </a:extLst>
          </p:cNvPr>
          <p:cNvSpPr>
            <a:spLocks xmlns:a="http://schemas.openxmlformats.org/drawingml/2006/main" noGrp="1"/>
          </p:cNvSpPr>
          <p:nvPr/>
        </p:nvSpPr>
        <p:spPr>
          <a:xfrm xmlns:a="http://schemas.openxmlformats.org/drawingml/2006/main" rot="0" flipH="0" flipV="0">
            <a:off x="526542" y="3026092"/>
            <a:ext cx="515325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An auditable evidence chain—not one definitive causal DAG.</a:t>
            </a:r>
          </a:p>
        </p:txBody>
      </p:sp>
      <p:sp>
        <p:nvSpPr>
          <p:cNvPr id="15" name="Rectangle 15">
            <a:extLst xmlns:a="http://schemas.openxmlformats.org/drawingml/2006/main">
              <a:ext uri="{FF2B5EF4-FFF2-40B4-BE49-F238E27FC236}">
                <a16:creationId xmlns:a16="http://schemas.microsoft.com/office/drawing/2014/main" id="{A923AF12-EFF8-4B2A-905A-30297C476F77}"/>
              </a:ext>
            </a:extLst>
          </p:cNvPr>
          <p:cNvSpPr>
            <a:spLocks xmlns:a="http://schemas.openxmlformats.org/drawingml/2006/main" noGrp="1"/>
          </p:cNvSpPr>
          <p:nvPr/>
        </p:nvSpPr>
        <p:spPr>
          <a:xfrm xmlns:a="http://schemas.openxmlformats.org/drawingml/2006/main" rot="0" flipH="0" flipV="0">
            <a:off x="533400" y="3333750"/>
            <a:ext cx="7839075" cy="981075"/>
          </a:xfrm>
          <a:prstGeom xmlns:a="http://schemas.openxmlformats.org/drawingml/2006/main" prst="roundRect">
            <a:avLst>
              <a:gd name="adj" fmla="val 11650"/>
            </a:avLst>
          </a:prstGeom>
          <a:solidFill xmlns:a="http://schemas.openxmlformats.org/drawingml/2006/main">
            <a:srgbClr val="FFFFFF"/>
          </a:solidFill>
          <a:ln xmlns:a="http://schemas.openxmlformats.org/drawingml/2006/main" w="14288">
            <a:solidFill>
              <a:srgbClr val="CBD2DC"/>
            </a:solidFill>
          </a:ln>
        </p:spPr>
      </p:sp>
      <p:sp>
        <p:nvSpPr>
          <p:cNvPr id="16" name="Rectangle 16">
            <a:extLst xmlns:a="http://schemas.openxmlformats.org/drawingml/2006/main">
              <a:ext uri="{FF2B5EF4-FFF2-40B4-BE49-F238E27FC236}">
                <a16:creationId xmlns:a16="http://schemas.microsoft.com/office/drawing/2014/main" id="{820B517A-95D3-4881-B674-90F41AFBD01C}"/>
              </a:ext>
            </a:extLst>
          </p:cNvPr>
          <p:cNvSpPr>
            <a:spLocks xmlns:a="http://schemas.openxmlformats.org/drawingml/2006/main" noGrp="1"/>
          </p:cNvSpPr>
          <p:nvPr/>
        </p:nvSpPr>
        <p:spPr>
          <a:xfrm xmlns:a="http://schemas.openxmlformats.org/drawingml/2006/main" rot="0" flipH="0" flipV="0">
            <a:off x="533400" y="3333750"/>
            <a:ext cx="95250" cy="981075"/>
          </a:xfrm>
          <a:prstGeom xmlns:a="http://schemas.openxmlformats.org/drawingml/2006/main" prst="roundRect">
            <a:avLst>
              <a:gd name="adj" fmla="val 50000"/>
            </a:avLst>
          </a:prstGeom>
          <a:solidFill xmlns:a="http://schemas.openxmlformats.org/drawingml/2006/main">
            <a:schemeClr val="accent2"/>
          </a:solidFill>
          <a:ln xmlns:a="http://schemas.openxmlformats.org/drawingml/2006/main">
            <a:noFill/>
          </a:ln>
        </p:spPr>
      </p:sp>
      <p:sp>
        <p:nvSpPr>
          <p:cNvPr id="17" name="TextBox 17">
            <a:extLst xmlns:a="http://schemas.openxmlformats.org/drawingml/2006/main">
              <a:ext uri="{FF2B5EF4-FFF2-40B4-BE49-F238E27FC236}">
                <a16:creationId xmlns:a16="http://schemas.microsoft.com/office/drawing/2014/main" id="{B79370B2-EF3E-4DF0-9021-2003A933E289}"/>
              </a:ext>
            </a:extLst>
          </p:cNvPr>
          <p:cNvSpPr>
            <a:spLocks xmlns:a="http://schemas.openxmlformats.org/drawingml/2006/main" noGrp="1"/>
          </p:cNvSpPr>
          <p:nvPr/>
        </p:nvSpPr>
        <p:spPr>
          <a:xfrm xmlns:a="http://schemas.openxmlformats.org/drawingml/2006/main" rot="0" flipH="0" flipV="0">
            <a:off x="838200" y="3390900"/>
            <a:ext cx="228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chemeClr val="accent2"/>
                </a:solidFill>
                <a:latin typeface="+mn-lt"/>
                <a:ea typeface="+mn-lt"/>
                <a:cs typeface="+mn-lt"/>
              </a:rPr>
              <a:t>ALGORITHM EVIDENCE</a:t>
            </a:r>
          </a:p>
        </p:txBody>
      </p:sp>
      <p:sp>
        <p:nvSpPr>
          <p:cNvPr id="18" name="TextBox 18">
            <a:extLst xmlns:a="http://schemas.openxmlformats.org/drawingml/2006/main">
              <a:ext uri="{FF2B5EF4-FFF2-40B4-BE49-F238E27FC236}">
                <a16:creationId xmlns:a16="http://schemas.microsoft.com/office/drawing/2014/main" id="{D7AB284E-D1A9-418A-9E13-943290C1845C}"/>
              </a:ext>
            </a:extLst>
          </p:cNvPr>
          <p:cNvSpPr>
            <a:spLocks xmlns:a="http://schemas.openxmlformats.org/drawingml/2006/main" noGrp="1"/>
          </p:cNvSpPr>
          <p:nvPr/>
        </p:nvSpPr>
        <p:spPr>
          <a:xfrm xmlns:a="http://schemas.openxmlformats.org/drawingml/2006/main" rot="0" flipH="0" flipV="0">
            <a:off x="829056" y="3806190"/>
            <a:ext cx="206142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Original sources</a:t>
            </a:r>
          </a:p>
        </p:txBody>
      </p:sp>
      <p:sp>
        <p:nvSpPr>
          <p:cNvPr id="19" name="Line 19">
            <a:extLst xmlns:a="http://schemas.openxmlformats.org/drawingml/2006/main">
              <a:ext uri="{FF2B5EF4-FFF2-40B4-BE49-F238E27FC236}">
                <a16:creationId xmlns:a16="http://schemas.microsoft.com/office/drawing/2014/main" id="{25F48594-9138-4A12-922E-F755559B01E5}"/>
              </a:ext>
            </a:extLst>
          </p:cNvPr>
          <p:cNvSpPr>
            <a:spLocks xmlns:a="http://schemas.openxmlformats.org/drawingml/2006/main" noGrp="1"/>
          </p:cNvSpPr>
          <p:nvPr/>
        </p:nvSpPr>
        <p:spPr>
          <a:xfrm xmlns:a="http://schemas.openxmlformats.org/drawingml/2006/main" rot="0" flipH="0" flipV="0">
            <a:off x="2590800" y="3924300"/>
            <a:ext cx="7429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0" name="TextBox 20">
            <a:extLst xmlns:a="http://schemas.openxmlformats.org/drawingml/2006/main">
              <a:ext uri="{FF2B5EF4-FFF2-40B4-BE49-F238E27FC236}">
                <a16:creationId xmlns:a16="http://schemas.microsoft.com/office/drawing/2014/main" id="{A662A44F-65C7-46CC-96C0-02C543ACF098}"/>
              </a:ext>
            </a:extLst>
          </p:cNvPr>
          <p:cNvSpPr>
            <a:spLocks xmlns:a="http://schemas.openxmlformats.org/drawingml/2006/main" noGrp="1"/>
          </p:cNvSpPr>
          <p:nvPr/>
        </p:nvSpPr>
        <p:spPr>
          <a:xfrm xmlns:a="http://schemas.openxmlformats.org/drawingml/2006/main" rot="0" flipH="0" flipV="0">
            <a:off x="3515106" y="3806190"/>
            <a:ext cx="213804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Independent code</a:t>
            </a:r>
          </a:p>
        </p:txBody>
      </p:sp>
      <p:sp>
        <p:nvSpPr>
          <p:cNvPr id="21" name="Line 21">
            <a:extLst xmlns:a="http://schemas.openxmlformats.org/drawingml/2006/main">
              <a:ext uri="{FF2B5EF4-FFF2-40B4-BE49-F238E27FC236}">
                <a16:creationId xmlns:a16="http://schemas.microsoft.com/office/drawing/2014/main" id="{FAFD1093-8E6E-4F86-9289-7C28BFB7AACE}"/>
              </a:ext>
            </a:extLst>
          </p:cNvPr>
          <p:cNvSpPr>
            <a:spLocks xmlns:a="http://schemas.openxmlformats.org/drawingml/2006/main" noGrp="1"/>
          </p:cNvSpPr>
          <p:nvPr/>
        </p:nvSpPr>
        <p:spPr>
          <a:xfrm xmlns:a="http://schemas.openxmlformats.org/drawingml/2006/main" rot="0" flipH="0" flipV="0">
            <a:off x="5438775" y="3924300"/>
            <a:ext cx="7429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2" name="TextBox 22">
            <a:extLst xmlns:a="http://schemas.openxmlformats.org/drawingml/2006/main">
              <a:ext uri="{FF2B5EF4-FFF2-40B4-BE49-F238E27FC236}">
                <a16:creationId xmlns:a16="http://schemas.microsoft.com/office/drawing/2014/main" id="{A877AA44-D5E3-48E0-BF22-85AE87DD631C}"/>
              </a:ext>
            </a:extLst>
          </p:cNvPr>
          <p:cNvSpPr>
            <a:spLocks xmlns:a="http://schemas.openxmlformats.org/drawingml/2006/main" noGrp="1"/>
          </p:cNvSpPr>
          <p:nvPr/>
        </p:nvSpPr>
        <p:spPr>
          <a:xfrm xmlns:a="http://schemas.openxmlformats.org/drawingml/2006/main" rot="0" flipH="0" flipV="0">
            <a:off x="6363081" y="3806190"/>
            <a:ext cx="1553520"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Known truth</a:t>
            </a:r>
          </a:p>
        </p:txBody>
      </p:sp>
      <p:sp>
        <p:nvSpPr>
          <p:cNvPr id="24" name="Rectangle 24">
            <a:extLst xmlns:a="http://schemas.openxmlformats.org/drawingml/2006/main">
              <a:ext uri="{FF2B5EF4-FFF2-40B4-BE49-F238E27FC236}">
                <a16:creationId xmlns:a16="http://schemas.microsoft.com/office/drawing/2014/main" id="{BB072A91-0243-4921-B4DA-4120E7E73D1C}"/>
              </a:ext>
            </a:extLst>
          </p:cNvPr>
          <p:cNvSpPr>
            <a:spLocks xmlns:a="http://schemas.openxmlformats.org/drawingml/2006/main" noGrp="1"/>
          </p:cNvSpPr>
          <p:nvPr/>
        </p:nvSpPr>
        <p:spPr>
          <a:xfrm xmlns:a="http://schemas.openxmlformats.org/drawingml/2006/main" rot="0" flipH="0" flipV="0">
            <a:off x="533400" y="4524375"/>
            <a:ext cx="7839075" cy="981075"/>
          </a:xfrm>
          <a:prstGeom xmlns:a="http://schemas.openxmlformats.org/drawingml/2006/main" prst="roundRect">
            <a:avLst>
              <a:gd name="adj" fmla="val 11650"/>
            </a:avLst>
          </a:prstGeom>
          <a:solidFill xmlns:a="http://schemas.openxmlformats.org/drawingml/2006/main">
            <a:srgbClr val="FFFFFF"/>
          </a:solidFill>
          <a:ln xmlns:a="http://schemas.openxmlformats.org/drawingml/2006/main" w="14288">
            <a:solidFill>
              <a:srgbClr val="CBD2DC"/>
            </a:solidFill>
          </a:ln>
        </p:spPr>
      </p:sp>
      <p:sp>
        <p:nvSpPr>
          <p:cNvPr id="25" name="Rectangle 25">
            <a:extLst xmlns:a="http://schemas.openxmlformats.org/drawingml/2006/main">
              <a:ext uri="{FF2B5EF4-FFF2-40B4-BE49-F238E27FC236}">
                <a16:creationId xmlns:a16="http://schemas.microsoft.com/office/drawing/2014/main" id="{ED90B704-3A36-4AB9-9BDE-2BF64D61A9BE}"/>
              </a:ext>
            </a:extLst>
          </p:cNvPr>
          <p:cNvSpPr>
            <a:spLocks xmlns:a="http://schemas.openxmlformats.org/drawingml/2006/main" noGrp="1"/>
          </p:cNvSpPr>
          <p:nvPr/>
        </p:nvSpPr>
        <p:spPr>
          <a:xfrm xmlns:a="http://schemas.openxmlformats.org/drawingml/2006/main" rot="0" flipH="0" flipV="0">
            <a:off x="533400" y="4524375"/>
            <a:ext cx="95250" cy="981075"/>
          </a:xfrm>
          <a:prstGeom xmlns:a="http://schemas.openxmlformats.org/drawingml/2006/main" prst="roundRect">
            <a:avLst>
              <a:gd name="adj" fmla="val 50000"/>
            </a:avLst>
          </a:prstGeom>
          <a:solidFill xmlns:a="http://schemas.openxmlformats.org/drawingml/2006/main">
            <a:schemeClr val="accent6"/>
          </a:solidFill>
          <a:ln xmlns:a="http://schemas.openxmlformats.org/drawingml/2006/main">
            <a:noFill/>
          </a:ln>
        </p:spPr>
      </p:sp>
      <p:sp>
        <p:nvSpPr>
          <p:cNvPr id="26" name="TextBox 26">
            <a:extLst xmlns:a="http://schemas.openxmlformats.org/drawingml/2006/main">
              <a:ext uri="{FF2B5EF4-FFF2-40B4-BE49-F238E27FC236}">
                <a16:creationId xmlns:a16="http://schemas.microsoft.com/office/drawing/2014/main" id="{CB097639-E60E-47D1-9FBC-19CC29976939}"/>
              </a:ext>
            </a:extLst>
          </p:cNvPr>
          <p:cNvSpPr>
            <a:spLocks xmlns:a="http://schemas.openxmlformats.org/drawingml/2006/main" noGrp="1"/>
          </p:cNvSpPr>
          <p:nvPr/>
        </p:nvSpPr>
        <p:spPr>
          <a:xfrm xmlns:a="http://schemas.openxmlformats.org/drawingml/2006/main" rot="0" flipH="0" flipV="0">
            <a:off x="838200" y="4581525"/>
            <a:ext cx="2381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APPLICATION EVIDENCE</a:t>
            </a:r>
          </a:p>
        </p:txBody>
      </p:sp>
      <p:sp>
        <p:nvSpPr>
          <p:cNvPr id="27" name="TextBox 27">
            <a:extLst xmlns:a="http://schemas.openxmlformats.org/drawingml/2006/main">
              <a:ext uri="{FF2B5EF4-FFF2-40B4-BE49-F238E27FC236}">
                <a16:creationId xmlns:a16="http://schemas.microsoft.com/office/drawing/2014/main" id="{B99735C4-28C3-4A51-9AC3-756416AC539D}"/>
              </a:ext>
            </a:extLst>
          </p:cNvPr>
          <p:cNvSpPr>
            <a:spLocks xmlns:a="http://schemas.openxmlformats.org/drawingml/2006/main" noGrp="1"/>
          </p:cNvSpPr>
          <p:nvPr/>
        </p:nvSpPr>
        <p:spPr>
          <a:xfrm xmlns:a="http://schemas.openxmlformats.org/drawingml/2006/main" rot="0" flipH="0" flipV="0">
            <a:off x="829056" y="4996815"/>
            <a:ext cx="207373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STAR experiment</a:t>
            </a:r>
          </a:p>
        </p:txBody>
      </p:sp>
      <p:sp>
        <p:nvSpPr>
          <p:cNvPr id="28" name="Line 28">
            <a:extLst xmlns:a="http://schemas.openxmlformats.org/drawingml/2006/main">
              <a:ext uri="{FF2B5EF4-FFF2-40B4-BE49-F238E27FC236}">
                <a16:creationId xmlns:a16="http://schemas.microsoft.com/office/drawing/2014/main" id="{F2ED6CF0-1712-4D47-9A58-D3FDEB17A56E}"/>
              </a:ext>
            </a:extLst>
          </p:cNvPr>
          <p:cNvSpPr>
            <a:spLocks xmlns:a="http://schemas.openxmlformats.org/drawingml/2006/main" noGrp="1"/>
          </p:cNvSpPr>
          <p:nvPr/>
        </p:nvSpPr>
        <p:spPr>
          <a:xfrm xmlns:a="http://schemas.openxmlformats.org/drawingml/2006/main" rot="0" flipH="0" flipV="0">
            <a:off x="2590800" y="5114925"/>
            <a:ext cx="7429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9" name="TextBox 29">
            <a:extLst xmlns:a="http://schemas.openxmlformats.org/drawingml/2006/main">
              <a:ext uri="{FF2B5EF4-FFF2-40B4-BE49-F238E27FC236}">
                <a16:creationId xmlns:a16="http://schemas.microsoft.com/office/drawing/2014/main" id="{C52B28B5-33CB-4659-B034-70E981EC30D3}"/>
              </a:ext>
            </a:extLst>
          </p:cNvPr>
          <p:cNvSpPr>
            <a:spLocks xmlns:a="http://schemas.openxmlformats.org/drawingml/2006/main" noGrp="1"/>
          </p:cNvSpPr>
          <p:nvPr/>
        </p:nvSpPr>
        <p:spPr>
          <a:xfrm xmlns:a="http://schemas.openxmlformats.org/drawingml/2006/main" rot="0" flipH="0" flipV="0">
            <a:off x="3515106" y="4996815"/>
            <a:ext cx="183327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Arm contrasts</a:t>
            </a:r>
          </a:p>
        </p:txBody>
      </p:sp>
      <p:sp>
        <p:nvSpPr>
          <p:cNvPr id="30" name="Line 30">
            <a:extLst xmlns:a="http://schemas.openxmlformats.org/drawingml/2006/main">
              <a:ext uri="{FF2B5EF4-FFF2-40B4-BE49-F238E27FC236}">
                <a16:creationId xmlns:a16="http://schemas.microsoft.com/office/drawing/2014/main" id="{347F29C5-3A90-489C-9E28-84E1D2488F95}"/>
              </a:ext>
            </a:extLst>
          </p:cNvPr>
          <p:cNvSpPr>
            <a:spLocks xmlns:a="http://schemas.openxmlformats.org/drawingml/2006/main" noGrp="1"/>
          </p:cNvSpPr>
          <p:nvPr/>
        </p:nvSpPr>
        <p:spPr>
          <a:xfrm xmlns:a="http://schemas.openxmlformats.org/drawingml/2006/main" rot="0" flipH="0" flipV="0">
            <a:off x="5048250" y="5114925"/>
            <a:ext cx="7429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31" name="TextBox 31">
            <a:extLst xmlns:a="http://schemas.openxmlformats.org/drawingml/2006/main">
              <a:ext uri="{FF2B5EF4-FFF2-40B4-BE49-F238E27FC236}">
                <a16:creationId xmlns:a16="http://schemas.microsoft.com/office/drawing/2014/main" id="{91C003CB-A0A4-44F9-A2E6-9B981C8C20E0}"/>
              </a:ext>
            </a:extLst>
          </p:cNvPr>
          <p:cNvSpPr>
            <a:spLocks xmlns:a="http://schemas.openxmlformats.org/drawingml/2006/main" noGrp="1"/>
          </p:cNvSpPr>
          <p:nvPr/>
        </p:nvSpPr>
        <p:spPr>
          <a:xfrm xmlns:a="http://schemas.openxmlformats.org/drawingml/2006/main" rot="0" flipH="0" flipV="0">
            <a:off x="5972556" y="4996815"/>
            <a:ext cx="194967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PAG diagnostics</a:t>
            </a:r>
          </a:p>
        </p:txBody>
      </p:sp>
      <p:sp>
        <p:nvSpPr>
          <p:cNvPr id="33" name="Rectangle 33">
            <a:extLst xmlns:a="http://schemas.openxmlformats.org/drawingml/2006/main">
              <a:ext uri="{FF2B5EF4-FFF2-40B4-BE49-F238E27FC236}">
                <a16:creationId xmlns:a16="http://schemas.microsoft.com/office/drawing/2014/main" id="{AB26A31F-2808-48F8-A938-DC5643C8B808}"/>
              </a:ext>
            </a:extLst>
          </p:cNvPr>
          <p:cNvSpPr>
            <a:spLocks xmlns:a="http://schemas.openxmlformats.org/drawingml/2006/main" noGrp="1"/>
          </p:cNvSpPr>
          <p:nvPr/>
        </p:nvSpPr>
        <p:spPr>
          <a:xfrm xmlns:a="http://schemas.openxmlformats.org/drawingml/2006/main" rot="0" flipH="0" flipV="0">
            <a:off x="8667750" y="3333750"/>
            <a:ext cx="2990850" cy="2476500"/>
          </a:xfrm>
          <a:prstGeom xmlns:a="http://schemas.openxmlformats.org/drawingml/2006/main" prst="roundRect">
            <a:avLst>
              <a:gd name="adj" fmla="val 5385"/>
            </a:avLst>
          </a:prstGeom>
          <a:solidFill xmlns:a="http://schemas.openxmlformats.org/drawingml/2006/main">
            <a:schemeClr val="accent1"/>
          </a:solidFill>
          <a:ln xmlns:a="http://schemas.openxmlformats.org/drawingml/2006/main">
            <a:noFill/>
          </a:ln>
        </p:spPr>
      </p:sp>
      <p:sp>
        <p:nvSpPr>
          <p:cNvPr id="34" name="TextBox 34">
            <a:extLst xmlns:a="http://schemas.openxmlformats.org/drawingml/2006/main">
              <a:ext uri="{FF2B5EF4-FFF2-40B4-BE49-F238E27FC236}">
                <a16:creationId xmlns:a16="http://schemas.microsoft.com/office/drawing/2014/main" id="{B647F88D-7F17-4CCC-8F85-53BCAFF4DCEA}"/>
              </a:ext>
            </a:extLst>
          </p:cNvPr>
          <p:cNvSpPr>
            <a:spLocks xmlns:a="http://schemas.openxmlformats.org/drawingml/2006/main" noGrp="1"/>
          </p:cNvSpPr>
          <p:nvPr/>
        </p:nvSpPr>
        <p:spPr>
          <a:xfrm xmlns:a="http://schemas.openxmlformats.org/drawingml/2006/main" rot="0" flipH="0" flipV="0">
            <a:off x="8934450" y="3438525"/>
            <a:ext cx="23431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E9EDF5"/>
                </a:solidFill>
                <a:latin typeface="+mn-lt"/>
                <a:ea typeface="+mn-lt"/>
                <a:cs typeface="+mn-lt"/>
              </a:rPr>
              <a:t>EVIDENCE HIERARCHY</a:t>
            </a:r>
          </a:p>
        </p:txBody>
      </p:sp>
      <p:sp>
        <p:nvSpPr>
          <p:cNvPr id="35" name="Rectangle 35">
            <a:extLst xmlns:a="http://schemas.openxmlformats.org/drawingml/2006/main">
              <a:ext uri="{FF2B5EF4-FFF2-40B4-BE49-F238E27FC236}">
                <a16:creationId xmlns:a16="http://schemas.microsoft.com/office/drawing/2014/main" id="{B38A6EC1-C72D-4CD5-A586-63EA95FCF0CA}"/>
              </a:ext>
            </a:extLst>
          </p:cNvPr>
          <p:cNvSpPr>
            <a:spLocks xmlns:a="http://schemas.openxmlformats.org/drawingml/2006/main" noGrp="1"/>
          </p:cNvSpPr>
          <p:nvPr/>
        </p:nvSpPr>
        <p:spPr>
          <a:xfrm xmlns:a="http://schemas.openxmlformats.org/drawingml/2006/main" rot="0" flipH="0" flipV="0">
            <a:off x="8934450" y="3857625"/>
            <a:ext cx="2266950" cy="342900"/>
          </a:xfrm>
          <a:prstGeom xmlns:a="http://schemas.openxmlformats.org/drawingml/2006/main" prst="roundRect">
            <a:avLst>
              <a:gd name="adj" fmla="val 50000"/>
            </a:avLst>
          </a:prstGeom>
          <a:solidFill xmlns:a="http://schemas.openxmlformats.org/drawingml/2006/main">
            <a:srgbClr val="2E7D5B"/>
          </a:solidFill>
          <a:ln xmlns:a="http://schemas.openxmlformats.org/drawingml/2006/main">
            <a:noFill/>
          </a:ln>
        </p:spPr>
      </p:sp>
      <p:sp>
        <p:nvSpPr>
          <p:cNvPr id="36" name="TextBox 36">
            <a:extLst xmlns:a="http://schemas.openxmlformats.org/drawingml/2006/main">
              <a:ext uri="{FF2B5EF4-FFF2-40B4-BE49-F238E27FC236}">
                <a16:creationId xmlns:a16="http://schemas.microsoft.com/office/drawing/2014/main" id="{F7A4A6F6-2D55-4327-980D-66985F0C9507}"/>
              </a:ext>
            </a:extLst>
          </p:cNvPr>
          <p:cNvSpPr>
            <a:spLocks xmlns:a="http://schemas.openxmlformats.org/drawingml/2006/main" noGrp="1"/>
          </p:cNvSpPr>
          <p:nvPr/>
        </p:nvSpPr>
        <p:spPr>
          <a:xfrm xmlns:a="http://schemas.openxmlformats.org/drawingml/2006/main" rot="0" flipH="0" flipV="0">
            <a:off x="9089591" y="3940492"/>
            <a:ext cx="195666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Randomized contrast</a:t>
            </a:r>
          </a:p>
        </p:txBody>
      </p:sp>
      <p:sp>
        <p:nvSpPr>
          <p:cNvPr id="37" name="Rectangle 37">
            <a:extLst xmlns:a="http://schemas.openxmlformats.org/drawingml/2006/main">
              <a:ext uri="{FF2B5EF4-FFF2-40B4-BE49-F238E27FC236}">
                <a16:creationId xmlns:a16="http://schemas.microsoft.com/office/drawing/2014/main" id="{892DE602-7A87-4FD0-8C42-B5F360F57324}"/>
              </a:ext>
            </a:extLst>
          </p:cNvPr>
          <p:cNvSpPr>
            <a:spLocks xmlns:a="http://schemas.openxmlformats.org/drawingml/2006/main" noGrp="1"/>
          </p:cNvSpPr>
          <p:nvPr/>
        </p:nvSpPr>
        <p:spPr>
          <a:xfrm xmlns:a="http://schemas.openxmlformats.org/drawingml/2006/main" rot="0" flipH="0" flipV="0">
            <a:off x="9124950" y="4314825"/>
            <a:ext cx="1885950" cy="342900"/>
          </a:xfrm>
          <a:prstGeom xmlns:a="http://schemas.openxmlformats.org/drawingml/2006/main" prst="roundRect">
            <a:avLst>
              <a:gd name="adj" fmla="val 50000"/>
            </a:avLst>
          </a:prstGeom>
          <a:solidFill xmlns:a="http://schemas.openxmlformats.org/drawingml/2006/main">
            <a:schemeClr val="accent2"/>
          </a:solidFill>
          <a:ln xmlns:a="http://schemas.openxmlformats.org/drawingml/2006/main">
            <a:noFill/>
          </a:ln>
        </p:spPr>
      </p:sp>
      <p:sp>
        <p:nvSpPr>
          <p:cNvPr id="38" name="TextBox 38">
            <a:extLst xmlns:a="http://schemas.openxmlformats.org/drawingml/2006/main">
              <a:ext uri="{FF2B5EF4-FFF2-40B4-BE49-F238E27FC236}">
                <a16:creationId xmlns:a16="http://schemas.microsoft.com/office/drawing/2014/main" id="{BF49602D-4A7D-4084-A326-EC28A3B58890}"/>
              </a:ext>
            </a:extLst>
          </p:cNvPr>
          <p:cNvSpPr>
            <a:spLocks xmlns:a="http://schemas.openxmlformats.org/drawingml/2006/main" noGrp="1"/>
          </p:cNvSpPr>
          <p:nvPr/>
        </p:nvSpPr>
        <p:spPr>
          <a:xfrm xmlns:a="http://schemas.openxmlformats.org/drawingml/2006/main" rot="0" flipH="0" flipV="0">
            <a:off x="9290103" y="4397692"/>
            <a:ext cx="155564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Stable adjacency</a:t>
            </a:r>
          </a:p>
        </p:txBody>
      </p:sp>
      <p:sp>
        <p:nvSpPr>
          <p:cNvPr id="39" name="Rectangle 39">
            <a:extLst xmlns:a="http://schemas.openxmlformats.org/drawingml/2006/main">
              <a:ext uri="{FF2B5EF4-FFF2-40B4-BE49-F238E27FC236}">
                <a16:creationId xmlns:a16="http://schemas.microsoft.com/office/drawing/2014/main" id="{EB8EBADC-75BE-4FF3-BF40-1728FBB0349F}"/>
              </a:ext>
            </a:extLst>
          </p:cNvPr>
          <p:cNvSpPr>
            <a:spLocks xmlns:a="http://schemas.openxmlformats.org/drawingml/2006/main" noGrp="1"/>
          </p:cNvSpPr>
          <p:nvPr/>
        </p:nvSpPr>
        <p:spPr>
          <a:xfrm xmlns:a="http://schemas.openxmlformats.org/drawingml/2006/main" rot="0" flipH="0" flipV="0">
            <a:off x="9315450" y="4772025"/>
            <a:ext cx="1504950" cy="342900"/>
          </a:xfrm>
          <a:prstGeom xmlns:a="http://schemas.openxmlformats.org/drawingml/2006/main" prst="roundRect">
            <a:avLst>
              <a:gd name="adj" fmla="val 50000"/>
            </a:avLst>
          </a:prstGeom>
          <a:solidFill xmlns:a="http://schemas.openxmlformats.org/drawingml/2006/main">
            <a:schemeClr val="accent3"/>
          </a:solidFill>
          <a:ln xmlns:a="http://schemas.openxmlformats.org/drawingml/2006/main">
            <a:noFill/>
          </a:ln>
        </p:spPr>
      </p:sp>
      <p:sp>
        <p:nvSpPr>
          <p:cNvPr id="40" name="TextBox 40">
            <a:extLst xmlns:a="http://schemas.openxmlformats.org/drawingml/2006/main">
              <a:ext uri="{FF2B5EF4-FFF2-40B4-BE49-F238E27FC236}">
                <a16:creationId xmlns:a16="http://schemas.microsoft.com/office/drawing/2014/main" id="{91520F11-2B9D-4E7B-9831-C86787D779C0}"/>
              </a:ext>
            </a:extLst>
          </p:cNvPr>
          <p:cNvSpPr>
            <a:spLocks xmlns:a="http://schemas.openxmlformats.org/drawingml/2006/main" noGrp="1"/>
          </p:cNvSpPr>
          <p:nvPr/>
        </p:nvSpPr>
        <p:spPr>
          <a:xfrm xmlns:a="http://schemas.openxmlformats.org/drawingml/2006/main" rot="0" flipH="0" flipV="0">
            <a:off x="9247005" y="4854892"/>
            <a:ext cx="164183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Unresolved marks</a:t>
            </a:r>
          </a:p>
        </p:txBody>
      </p:sp>
      <p:sp>
        <p:nvSpPr>
          <p:cNvPr id="41" name="TextBox 41">
            <a:extLst xmlns:a="http://schemas.openxmlformats.org/drawingml/2006/main">
              <a:ext uri="{FF2B5EF4-FFF2-40B4-BE49-F238E27FC236}">
                <a16:creationId xmlns:a16="http://schemas.microsoft.com/office/drawing/2014/main" id="{93E8336D-009D-4D83-AFEB-3C91D22F90B3}"/>
              </a:ext>
            </a:extLst>
          </p:cNvPr>
          <p:cNvSpPr>
            <a:spLocks xmlns:a="http://schemas.openxmlformats.org/drawingml/2006/main" noGrp="1"/>
          </p:cNvSpPr>
          <p:nvPr/>
        </p:nvSpPr>
        <p:spPr>
          <a:xfrm xmlns:a="http://schemas.openxmlformats.org/drawingml/2006/main" rot="0" flipH="0" flipV="0">
            <a:off x="9267628" y="5175885"/>
            <a:ext cx="160059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200">
                <a:solidFill>
                  <a:srgbClr val="E9EDF5"/>
                </a:solidFill>
                <a:latin typeface="+mn-lt"/>
                <a:ea typeface="+mn-lt"/>
                <a:cs typeface="+mn-lt"/>
              </a:rPr>
              <a:t>Interpret downward</a:t>
            </a:r>
          </a:p>
        </p:txBody>
      </p:sp>
      <p:sp>
        <p:nvSpPr>
          <p:cNvPr id="42" name="TextBox 42">
            <a:extLst xmlns:a="http://schemas.openxmlformats.org/drawingml/2006/main">
              <a:ext uri="{FF2B5EF4-FFF2-40B4-BE49-F238E27FC236}">
                <a16:creationId xmlns:a16="http://schemas.microsoft.com/office/drawing/2014/main" id="{06F55067-FE96-4B50-BB27-0DD1B8C69A7E}"/>
              </a:ext>
            </a:extLst>
          </p:cNvPr>
          <p:cNvSpPr>
            <a:spLocks xmlns:a="http://schemas.openxmlformats.org/drawingml/2006/main" noGrp="1"/>
          </p:cNvSpPr>
          <p:nvPr/>
        </p:nvSpPr>
        <p:spPr>
          <a:xfrm xmlns:a="http://schemas.openxmlformats.org/drawingml/2006/main" rot="0" flipH="0" flipV="0">
            <a:off x="9145067" y="5347335"/>
            <a:ext cx="184571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200">
                <a:solidFill>
                  <a:srgbClr val="E9EDF5"/>
                </a:solidFill>
                <a:latin typeface="+mn-lt"/>
                <a:ea typeface="+mn-lt"/>
                <a:cs typeface="+mn-lt"/>
              </a:rPr>
              <a:t>with increasing caution</a:t>
            </a:r>
          </a:p>
        </p:txBody>
      </p:sp>
      <p:sp>
        <p:nvSpPr>
          <p:cNvPr id="44" name="Line 44">
            <a:extLst xmlns:a="http://schemas.openxmlformats.org/drawingml/2006/main">
              <a:ext uri="{FF2B5EF4-FFF2-40B4-BE49-F238E27FC236}">
                <a16:creationId xmlns:a16="http://schemas.microsoft.com/office/drawing/2014/main" id="{4CF6AD5E-9883-42C0-9CB5-EFBD9DA2810C}"/>
              </a:ext>
            </a:extLst>
          </p:cNvPr>
          <p:cNvSpPr>
            <a:spLocks xmlns:a="http://schemas.openxmlformats.org/drawingml/2006/main" noGrp="1"/>
          </p:cNvSpPr>
          <p:nvPr/>
        </p:nvSpPr>
        <p:spPr>
          <a:xfrm xmlns:a="http://schemas.openxmlformats.org/drawingml/2006/main" rot="0" flipH="0" flipV="0">
            <a:off x="533400" y="6048375"/>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45" name="TextBox 45">
            <a:extLst xmlns:a="http://schemas.openxmlformats.org/drawingml/2006/main">
              <a:ext uri="{FF2B5EF4-FFF2-40B4-BE49-F238E27FC236}">
                <a16:creationId xmlns:a16="http://schemas.microsoft.com/office/drawing/2014/main" id="{751009B0-E31A-494D-BFAA-815407BFF684}"/>
              </a:ext>
            </a:extLst>
          </p:cNvPr>
          <p:cNvSpPr>
            <a:spLocks xmlns:a="http://schemas.openxmlformats.org/drawingml/2006/main" noGrp="1"/>
          </p:cNvSpPr>
          <p:nvPr/>
        </p:nvSpPr>
        <p:spPr>
          <a:xfrm xmlns:a="http://schemas.openxmlformats.org/drawingml/2006/main" rot="0" flipH="0" flipV="0">
            <a:off x="527304" y="6185535"/>
            <a:ext cx="6940635"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Spirtes, Glymour &amp; Scheines (2000) · Claassen, Mooij &amp; Heskes (2013) · Tennessee STAR</a:t>
            </a:r>
          </a:p>
        </p:txBody>
      </p:sp>
      <p:sp>
        <p:nvSpPr>
          <p:cNvPr id="46" name="TextBox 46">
            <a:extLst xmlns:a="http://schemas.openxmlformats.org/drawingml/2006/main">
              <a:ext uri="{FF2B5EF4-FFF2-40B4-BE49-F238E27FC236}">
                <a16:creationId xmlns:a16="http://schemas.microsoft.com/office/drawing/2014/main" id="{7DADA714-1692-4C29-806B-ABD261A81B5F}"/>
              </a:ext>
            </a:extLst>
          </p:cNvPr>
          <p:cNvSpPr>
            <a:spLocks xmlns:a="http://schemas.openxmlformats.org/drawingml/2006/main" noGrp="1"/>
          </p:cNvSpPr>
          <p:nvPr/>
        </p:nvSpPr>
        <p:spPr>
          <a:xfrm xmlns:a="http://schemas.openxmlformats.org/drawingml/2006/main" rot="0" flipH="0" flipV="0">
            <a:off x="11111332" y="6185535"/>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01 / 15</a:t>
            </a:r>
          </a:p>
        </p:txBody>
      </p:sp>
    </p:spTree>
    <p:extLst>
      <p:ext uri="{BB962C8B-B14F-4D97-AF65-F5344CB8AC3E}">
        <p14:creationId xmlns:p14="http://schemas.microsoft.com/office/powerpoint/2010/main" val="2105255627"/>
      </p:ext>
    </p:extLst>
  </p:cSld>
</p:sld>
</file>

<file path=ppt/slides/slide2.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DBCCBDAA-125C-4FBD-90EA-59EB10DA4BEE}"/>
              </a:ext>
            </a:extLst>
          </p:cNvPr>
          <p:cNvSpPr>
            <a:spLocks xmlns:a="http://schemas.openxmlformats.org/drawingml/2006/main" noGrp="1"/>
          </p:cNvSpPr>
          <p:nvPr/>
        </p:nvSpPr>
        <p:spPr>
          <a:xfrm xmlns:a="http://schemas.openxmlformats.org/drawingml/2006/main" rot="0" flipH="0" flipV="0">
            <a:off x="518160" y="400050"/>
            <a:ext cx="11012195"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Latent Variables and Selection Change the Target</a:t>
            </a:r>
          </a:p>
        </p:txBody>
      </p:sp>
      <p:sp>
        <p:nvSpPr>
          <p:cNvPr id="3" name="TextBox 3">
            <a:extLst xmlns:a="http://schemas.openxmlformats.org/drawingml/2006/main">
              <a:ext uri="{FF2B5EF4-FFF2-40B4-BE49-F238E27FC236}">
                <a16:creationId xmlns:a16="http://schemas.microsoft.com/office/drawing/2014/main" id="{6CCDB224-45E1-4223-B620-46DABE556B28}"/>
              </a:ext>
            </a:extLst>
          </p:cNvPr>
          <p:cNvSpPr>
            <a:spLocks xmlns:a="http://schemas.openxmlformats.org/drawingml/2006/main" noGrp="1"/>
          </p:cNvSpPr>
          <p:nvPr/>
        </p:nvSpPr>
        <p:spPr>
          <a:xfrm xmlns:a="http://schemas.openxmlformats.org/drawingml/2006/main" rot="0" flipH="0" flipV="0">
            <a:off x="10211562" y="844868"/>
            <a:ext cx="145389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PROBLEM FRAME</a:t>
            </a:r>
          </a:p>
        </p:txBody>
      </p:sp>
      <p:sp>
        <p:nvSpPr>
          <p:cNvPr id="4" name="Line 4">
            <a:extLst xmlns:a="http://schemas.openxmlformats.org/drawingml/2006/main">
              <a:ext uri="{FF2B5EF4-FFF2-40B4-BE49-F238E27FC236}">
                <a16:creationId xmlns:a16="http://schemas.microsoft.com/office/drawing/2014/main" id="{38F18D98-21FC-4E39-974A-5BACBEAE0765}"/>
              </a:ext>
            </a:extLst>
          </p:cNvPr>
          <p:cNvSpPr>
            <a:spLocks xmlns:a="http://schemas.openxmlformats.org/drawingml/2006/main" noGrp="1"/>
          </p:cNvSpPr>
          <p:nvPr/>
        </p:nvSpPr>
        <p:spPr>
          <a:xfrm xmlns:a="http://schemas.openxmlformats.org/drawingml/2006/main" rot="0" flipH="0" flipV="0">
            <a:off x="533400" y="11430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TextBox 6">
            <a:extLst xmlns:a="http://schemas.openxmlformats.org/drawingml/2006/main">
              <a:ext uri="{FF2B5EF4-FFF2-40B4-BE49-F238E27FC236}">
                <a16:creationId xmlns:a16="http://schemas.microsoft.com/office/drawing/2014/main" id="{F52CDD82-8B7E-4EF3-B31F-4128113B0C5C}"/>
              </a:ext>
            </a:extLst>
          </p:cNvPr>
          <p:cNvSpPr>
            <a:spLocks xmlns:a="http://schemas.openxmlformats.org/drawingml/2006/main" noGrp="1"/>
          </p:cNvSpPr>
          <p:nvPr/>
        </p:nvSpPr>
        <p:spPr>
          <a:xfrm xmlns:a="http://schemas.openxmlformats.org/drawingml/2006/main" rot="0" flipH="0" flipV="0">
            <a:off x="526542" y="1416368"/>
            <a:ext cx="256427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UNDERLYING CAUSAL SYSTEM</a:t>
            </a:r>
          </a:p>
        </p:txBody>
      </p:sp>
      <p:sp>
        <p:nvSpPr>
          <p:cNvPr id="7" name="Ellipse 7">
            <a:extLst xmlns:a="http://schemas.openxmlformats.org/drawingml/2006/main">
              <a:ext uri="{FF2B5EF4-FFF2-40B4-BE49-F238E27FC236}">
                <a16:creationId xmlns:a16="http://schemas.microsoft.com/office/drawing/2014/main" id="{6AE4651E-A4FA-4236-8836-2A43AEB94636}"/>
              </a:ext>
            </a:extLst>
          </p:cNvPr>
          <p:cNvSpPr>
            <a:spLocks xmlns:a="http://schemas.openxmlformats.org/drawingml/2006/main" noGrp="1"/>
          </p:cNvSpPr>
          <p:nvPr/>
        </p:nvSpPr>
        <p:spPr>
          <a:xfrm xmlns:a="http://schemas.openxmlformats.org/drawingml/2006/main" rot="0" flipH="0" flipV="0">
            <a:off x="1609725" y="1971675"/>
            <a:ext cx="723900" cy="723900"/>
          </a:xfrm>
          <a:prstGeom xmlns:a="http://schemas.openxmlformats.org/drawingml/2006/main" prst="ellipse">
            <a:avLst/>
          </a:prstGeom>
          <a:solidFill xmlns:a="http://schemas.openxmlformats.org/drawingml/2006/main">
            <a:schemeClr val="accent5"/>
          </a:solidFill>
          <a:ln xmlns:a="http://schemas.openxmlformats.org/drawingml/2006/main" w="28575">
            <a:solidFill>
              <a:srgbClr val="7562A8"/>
            </a:solidFill>
          </a:ln>
        </p:spPr>
      </p:sp>
      <p:sp>
        <p:nvSpPr>
          <p:cNvPr id="8" name="TextBox 8">
            <a:extLst xmlns:a="http://schemas.openxmlformats.org/drawingml/2006/main">
              <a:ext uri="{FF2B5EF4-FFF2-40B4-BE49-F238E27FC236}">
                <a16:creationId xmlns:a16="http://schemas.microsoft.com/office/drawing/2014/main" id="{3E908987-AA4C-4CAE-8CAC-DF10BA36F15B}"/>
              </a:ext>
            </a:extLst>
          </p:cNvPr>
          <p:cNvSpPr>
            <a:spLocks xmlns:a="http://schemas.openxmlformats.org/drawingml/2006/main" noGrp="1"/>
          </p:cNvSpPr>
          <p:nvPr/>
        </p:nvSpPr>
        <p:spPr>
          <a:xfrm xmlns:a="http://schemas.openxmlformats.org/drawingml/2006/main" rot="0" flipH="0" flipV="0">
            <a:off x="1848031" y="2166938"/>
            <a:ext cx="247288"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2250" b="1">
                <a:solidFill>
                  <a:srgbClr val="7562A8"/>
                </a:solidFill>
                <a:latin typeface="+mj-lt"/>
                <a:ea typeface="+mj-lt"/>
                <a:cs typeface="+mj-lt"/>
              </a:rPr>
              <a:t>U</a:t>
            </a:r>
          </a:p>
        </p:txBody>
      </p:sp>
      <p:sp>
        <p:nvSpPr>
          <p:cNvPr id="9" name="TextBox 9">
            <a:extLst xmlns:a="http://schemas.openxmlformats.org/drawingml/2006/main">
              <a:ext uri="{FF2B5EF4-FFF2-40B4-BE49-F238E27FC236}">
                <a16:creationId xmlns:a16="http://schemas.microsoft.com/office/drawing/2014/main" id="{11DADCD8-8132-4350-B05C-AF70A91F50F5}"/>
              </a:ext>
            </a:extLst>
          </p:cNvPr>
          <p:cNvSpPr>
            <a:spLocks xmlns:a="http://schemas.openxmlformats.org/drawingml/2006/main" noGrp="1"/>
          </p:cNvSpPr>
          <p:nvPr/>
        </p:nvSpPr>
        <p:spPr>
          <a:xfrm xmlns:a="http://schemas.openxmlformats.org/drawingml/2006/main" rot="0" flipH="0" flipV="0">
            <a:off x="1465040" y="2711768"/>
            <a:ext cx="101327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unobserved</a:t>
            </a:r>
          </a:p>
        </p:txBody>
      </p:sp>
      <p:sp>
        <p:nvSpPr>
          <p:cNvPr id="10" name="Ellipse 10">
            <a:extLst xmlns:a="http://schemas.openxmlformats.org/drawingml/2006/main">
              <a:ext uri="{FF2B5EF4-FFF2-40B4-BE49-F238E27FC236}">
                <a16:creationId xmlns:a16="http://schemas.microsoft.com/office/drawing/2014/main" id="{A9E7DB27-E712-4C18-9621-E85F0693CCFC}"/>
              </a:ext>
            </a:extLst>
          </p:cNvPr>
          <p:cNvSpPr>
            <a:spLocks xmlns:a="http://schemas.openxmlformats.org/drawingml/2006/main" noGrp="1"/>
          </p:cNvSpPr>
          <p:nvPr/>
        </p:nvSpPr>
        <p:spPr>
          <a:xfrm xmlns:a="http://schemas.openxmlformats.org/drawingml/2006/main" rot="0" flipH="0" flipV="0">
            <a:off x="504825" y="3267075"/>
            <a:ext cx="857250" cy="857250"/>
          </a:xfrm>
          <a:prstGeom xmlns:a="http://schemas.openxmlformats.org/drawingml/2006/main" prst="ellipse">
            <a:avLst/>
          </a:prstGeom>
          <a:solidFill xmlns:a="http://schemas.openxmlformats.org/drawingml/2006/main">
            <a:srgbClr val="FFFFFF"/>
          </a:solidFill>
          <a:ln xmlns:a="http://schemas.openxmlformats.org/drawingml/2006/main" w="28575">
            <a:solidFill>
              <a:schemeClr val="accent2"/>
            </a:solidFill>
          </a:ln>
        </p:spPr>
      </p:sp>
      <p:sp>
        <p:nvSpPr>
          <p:cNvPr id="11" name="TextBox 11">
            <a:extLst xmlns:a="http://schemas.openxmlformats.org/drawingml/2006/main">
              <a:ext uri="{FF2B5EF4-FFF2-40B4-BE49-F238E27FC236}">
                <a16:creationId xmlns:a16="http://schemas.microsoft.com/office/drawing/2014/main" id="{6D8A979E-FF0C-460F-9B81-64FDC6566542}"/>
              </a:ext>
            </a:extLst>
          </p:cNvPr>
          <p:cNvSpPr>
            <a:spLocks xmlns:a="http://schemas.openxmlformats.org/drawingml/2006/main" noGrp="1"/>
          </p:cNvSpPr>
          <p:nvPr/>
        </p:nvSpPr>
        <p:spPr>
          <a:xfrm xmlns:a="http://schemas.openxmlformats.org/drawingml/2006/main" rot="0" flipH="0" flipV="0">
            <a:off x="850377" y="357759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X</a:t>
            </a:r>
          </a:p>
        </p:txBody>
      </p:sp>
      <p:sp>
        <p:nvSpPr>
          <p:cNvPr id="12" name="Ellipse 12">
            <a:extLst xmlns:a="http://schemas.openxmlformats.org/drawingml/2006/main">
              <a:ext uri="{FF2B5EF4-FFF2-40B4-BE49-F238E27FC236}">
                <a16:creationId xmlns:a16="http://schemas.microsoft.com/office/drawing/2014/main" id="{16B12526-F2D3-449E-B92C-2F0181E457CD}"/>
              </a:ext>
            </a:extLst>
          </p:cNvPr>
          <p:cNvSpPr>
            <a:spLocks xmlns:a="http://schemas.openxmlformats.org/drawingml/2006/main" noGrp="1"/>
          </p:cNvSpPr>
          <p:nvPr/>
        </p:nvSpPr>
        <p:spPr>
          <a:xfrm xmlns:a="http://schemas.openxmlformats.org/drawingml/2006/main" rot="0" flipH="0" flipV="0">
            <a:off x="2581275" y="3267075"/>
            <a:ext cx="857250" cy="857250"/>
          </a:xfrm>
          <a:prstGeom xmlns:a="http://schemas.openxmlformats.org/drawingml/2006/main" prst="ellipse">
            <a:avLst/>
          </a:prstGeom>
          <a:solidFill xmlns:a="http://schemas.openxmlformats.org/drawingml/2006/main">
            <a:srgbClr val="FFFFFF"/>
          </a:solidFill>
          <a:ln xmlns:a="http://schemas.openxmlformats.org/drawingml/2006/main" w="28575">
            <a:solidFill>
              <a:schemeClr val="accent2"/>
            </a:solidFill>
          </a:ln>
        </p:spPr>
      </p:sp>
      <p:sp>
        <p:nvSpPr>
          <p:cNvPr id="13" name="TextBox 13">
            <a:extLst xmlns:a="http://schemas.openxmlformats.org/drawingml/2006/main">
              <a:ext uri="{FF2B5EF4-FFF2-40B4-BE49-F238E27FC236}">
                <a16:creationId xmlns:a16="http://schemas.microsoft.com/office/drawing/2014/main" id="{FC16058C-7A1F-4E0B-9CD1-93AACB2C456F}"/>
              </a:ext>
            </a:extLst>
          </p:cNvPr>
          <p:cNvSpPr>
            <a:spLocks xmlns:a="http://schemas.openxmlformats.org/drawingml/2006/main" noGrp="1"/>
          </p:cNvSpPr>
          <p:nvPr/>
        </p:nvSpPr>
        <p:spPr>
          <a:xfrm xmlns:a="http://schemas.openxmlformats.org/drawingml/2006/main" rot="0" flipH="0" flipV="0">
            <a:off x="2926827" y="357759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Y</a:t>
            </a:r>
          </a:p>
        </p:txBody>
      </p:sp>
      <p:sp>
        <p:nvSpPr>
          <p:cNvPr id="14" name="Ellipse 14">
            <a:extLst xmlns:a="http://schemas.openxmlformats.org/drawingml/2006/main">
              <a:ext uri="{FF2B5EF4-FFF2-40B4-BE49-F238E27FC236}">
                <a16:creationId xmlns:a16="http://schemas.microsoft.com/office/drawing/2014/main" id="{3FE29834-CC5D-4399-BBA1-5FBFF24D3C3A}"/>
              </a:ext>
            </a:extLst>
          </p:cNvPr>
          <p:cNvSpPr>
            <a:spLocks xmlns:a="http://schemas.openxmlformats.org/drawingml/2006/main" noGrp="1"/>
          </p:cNvSpPr>
          <p:nvPr/>
        </p:nvSpPr>
        <p:spPr>
          <a:xfrm xmlns:a="http://schemas.openxmlformats.org/drawingml/2006/main" rot="0" flipH="0" flipV="0">
            <a:off x="4524375" y="3267075"/>
            <a:ext cx="857250" cy="857250"/>
          </a:xfrm>
          <a:prstGeom xmlns:a="http://schemas.openxmlformats.org/drawingml/2006/main" prst="ellipse">
            <a:avLst/>
          </a:prstGeom>
          <a:solidFill xmlns:a="http://schemas.openxmlformats.org/drawingml/2006/main">
            <a:srgbClr val="FFF7ED"/>
          </a:solidFill>
          <a:ln xmlns:a="http://schemas.openxmlformats.org/drawingml/2006/main" w="28575">
            <a:solidFill>
              <a:srgbClr val="B45F4A"/>
            </a:solidFill>
          </a:ln>
        </p:spPr>
      </p:sp>
      <p:sp>
        <p:nvSpPr>
          <p:cNvPr id="15" name="TextBox 15">
            <a:extLst xmlns:a="http://schemas.openxmlformats.org/drawingml/2006/main">
              <a:ext uri="{FF2B5EF4-FFF2-40B4-BE49-F238E27FC236}">
                <a16:creationId xmlns:a16="http://schemas.microsoft.com/office/drawing/2014/main" id="{59E01084-7B37-4EE6-8F28-D41DAB63C29F}"/>
              </a:ext>
            </a:extLst>
          </p:cNvPr>
          <p:cNvSpPr>
            <a:spLocks xmlns:a="http://schemas.openxmlformats.org/drawingml/2006/main" noGrp="1"/>
          </p:cNvSpPr>
          <p:nvPr/>
        </p:nvSpPr>
        <p:spPr>
          <a:xfrm xmlns:a="http://schemas.openxmlformats.org/drawingml/2006/main" rot="0" flipH="0" flipV="0">
            <a:off x="4869927" y="357759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S</a:t>
            </a:r>
          </a:p>
        </p:txBody>
      </p:sp>
      <p:sp>
        <p:nvSpPr>
          <p:cNvPr id="16" name="TextBox 16">
            <a:extLst xmlns:a="http://schemas.openxmlformats.org/drawingml/2006/main">
              <a:ext uri="{FF2B5EF4-FFF2-40B4-BE49-F238E27FC236}">
                <a16:creationId xmlns:a16="http://schemas.microsoft.com/office/drawing/2014/main" id="{36B66D30-6522-4245-94A4-D9C748CAC350}"/>
              </a:ext>
            </a:extLst>
          </p:cNvPr>
          <p:cNvSpPr>
            <a:spLocks xmlns:a="http://schemas.openxmlformats.org/drawingml/2006/main" noGrp="1"/>
          </p:cNvSpPr>
          <p:nvPr/>
        </p:nvSpPr>
        <p:spPr>
          <a:xfrm xmlns:a="http://schemas.openxmlformats.org/drawingml/2006/main" rot="0" flipH="0" flipV="0">
            <a:off x="4010196" y="4188142"/>
            <a:ext cx="188560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B45F4A"/>
                </a:solidFill>
                <a:latin typeface="+mn-lt"/>
                <a:ea typeface="+mn-lt"/>
                <a:cs typeface="+mn-lt"/>
              </a:rPr>
              <a:t>conditioned selection</a:t>
            </a:r>
          </a:p>
        </p:txBody>
      </p:sp>
      <p:sp>
        <p:nvSpPr>
          <p:cNvPr id="17" name="Line 17">
            <a:extLst xmlns:a="http://schemas.openxmlformats.org/drawingml/2006/main">
              <a:ext uri="{FF2B5EF4-FFF2-40B4-BE49-F238E27FC236}">
                <a16:creationId xmlns:a16="http://schemas.microsoft.com/office/drawing/2014/main" id="{46BF7BF4-8250-4E36-B577-FE93023366C6}"/>
              </a:ext>
            </a:extLst>
          </p:cNvPr>
          <p:cNvSpPr>
            <a:spLocks xmlns:a="http://schemas.openxmlformats.org/drawingml/2006/main" noGrp="1"/>
          </p:cNvSpPr>
          <p:nvPr/>
        </p:nvSpPr>
        <p:spPr>
          <a:xfrm xmlns:a="http://schemas.openxmlformats.org/drawingml/2006/main" rot="0" flipH="1" flipV="0">
            <a:off x="1190625" y="2619375"/>
            <a:ext cx="552450" cy="685800"/>
          </a:xfrm>
          <a:prstGeom xmlns:a="http://schemas.openxmlformats.org/drawingml/2006/main" prst="line">
            <a:avLst/>
          </a:prstGeom>
          <a:noFill xmlns:a="http://schemas.openxmlformats.org/drawingml/2006/main"/>
          <a:ln xmlns:a="http://schemas.openxmlformats.org/drawingml/2006/main" w="28575">
            <a:solidFill>
              <a:srgbClr val="7562A8"/>
            </a:solidFill>
            <a:tailEnd type="triangle" w="lg" len="lg"/>
          </a:ln>
        </p:spPr>
      </p:sp>
      <p:sp>
        <p:nvSpPr>
          <p:cNvPr id="18" name="Line 18">
            <a:extLst xmlns:a="http://schemas.openxmlformats.org/drawingml/2006/main">
              <a:ext uri="{FF2B5EF4-FFF2-40B4-BE49-F238E27FC236}">
                <a16:creationId xmlns:a16="http://schemas.microsoft.com/office/drawing/2014/main" id="{2BA50E61-398B-40EB-B352-6574D7D9DE78}"/>
              </a:ext>
            </a:extLst>
          </p:cNvPr>
          <p:cNvSpPr>
            <a:spLocks xmlns:a="http://schemas.openxmlformats.org/drawingml/2006/main" noGrp="1"/>
          </p:cNvSpPr>
          <p:nvPr/>
        </p:nvSpPr>
        <p:spPr>
          <a:xfrm xmlns:a="http://schemas.openxmlformats.org/drawingml/2006/main" rot="0" flipH="0" flipV="0">
            <a:off x="2200275" y="2619375"/>
            <a:ext cx="552450" cy="685800"/>
          </a:xfrm>
          <a:prstGeom xmlns:a="http://schemas.openxmlformats.org/drawingml/2006/main" prst="line">
            <a:avLst/>
          </a:prstGeom>
          <a:noFill xmlns:a="http://schemas.openxmlformats.org/drawingml/2006/main"/>
          <a:ln xmlns:a="http://schemas.openxmlformats.org/drawingml/2006/main" w="28575">
            <a:solidFill>
              <a:srgbClr val="7562A8"/>
            </a:solidFill>
            <a:tailEnd type="triangle" w="lg" len="lg"/>
          </a:ln>
        </p:spPr>
      </p:sp>
      <p:sp>
        <p:nvSpPr>
          <p:cNvPr id="19" name="Line 19">
            <a:extLst xmlns:a="http://schemas.openxmlformats.org/drawingml/2006/main">
              <a:ext uri="{FF2B5EF4-FFF2-40B4-BE49-F238E27FC236}">
                <a16:creationId xmlns:a16="http://schemas.microsoft.com/office/drawing/2014/main" id="{9CED1D8D-574E-4D68-8256-65A61063A7EC}"/>
              </a:ext>
            </a:extLst>
          </p:cNvPr>
          <p:cNvSpPr>
            <a:spLocks xmlns:a="http://schemas.openxmlformats.org/drawingml/2006/main" noGrp="1"/>
          </p:cNvSpPr>
          <p:nvPr/>
        </p:nvSpPr>
        <p:spPr>
          <a:xfrm xmlns:a="http://schemas.openxmlformats.org/drawingml/2006/main" rot="0" flipH="0" flipV="0">
            <a:off x="1323975" y="3695700"/>
            <a:ext cx="3143250" cy="1"/>
          </a:xfrm>
          <a:prstGeom xmlns:a="http://schemas.openxmlformats.org/drawingml/2006/main" prst="line">
            <a:avLst/>
          </a:prstGeom>
          <a:noFill xmlns:a="http://schemas.openxmlformats.org/drawingml/2006/main"/>
          <a:ln xmlns:a="http://schemas.openxmlformats.org/drawingml/2006/main" w="28575">
            <a:solidFill>
              <a:srgbClr val="B45F4A"/>
            </a:solidFill>
            <a:tailEnd type="triangle" w="lg" len="lg"/>
          </a:ln>
        </p:spPr>
      </p:sp>
      <p:sp>
        <p:nvSpPr>
          <p:cNvPr id="20" name="Line 20">
            <a:extLst xmlns:a="http://schemas.openxmlformats.org/drawingml/2006/main">
              <a:ext uri="{FF2B5EF4-FFF2-40B4-BE49-F238E27FC236}">
                <a16:creationId xmlns:a16="http://schemas.microsoft.com/office/drawing/2014/main" id="{9AF4A416-0F92-4AB7-A890-161D6B0F8B19}"/>
              </a:ext>
            </a:extLst>
          </p:cNvPr>
          <p:cNvSpPr>
            <a:spLocks xmlns:a="http://schemas.openxmlformats.org/drawingml/2006/main" noGrp="1"/>
          </p:cNvSpPr>
          <p:nvPr/>
        </p:nvSpPr>
        <p:spPr>
          <a:xfrm xmlns:a="http://schemas.openxmlformats.org/drawingml/2006/main" rot="0" flipH="0" flipV="1">
            <a:off x="3438525" y="3390900"/>
            <a:ext cx="1057275" cy="171450"/>
          </a:xfrm>
          <a:prstGeom xmlns:a="http://schemas.openxmlformats.org/drawingml/2006/main" prst="line">
            <a:avLst/>
          </a:prstGeom>
          <a:noFill xmlns:a="http://schemas.openxmlformats.org/drawingml/2006/main"/>
          <a:ln xmlns:a="http://schemas.openxmlformats.org/drawingml/2006/main" w="28575">
            <a:solidFill>
              <a:srgbClr val="B45F4A"/>
            </a:solidFill>
            <a:tailEnd type="triangle" w="lg" len="lg"/>
          </a:ln>
        </p:spPr>
      </p:sp>
      <p:sp>
        <p:nvSpPr>
          <p:cNvPr id="21" name="TextBox 21">
            <a:extLst xmlns:a="http://schemas.openxmlformats.org/drawingml/2006/main">
              <a:ext uri="{FF2B5EF4-FFF2-40B4-BE49-F238E27FC236}">
                <a16:creationId xmlns:a16="http://schemas.microsoft.com/office/drawing/2014/main" id="{5B625B1C-07D0-427C-8D5C-6619E41FF40B}"/>
              </a:ext>
            </a:extLst>
          </p:cNvPr>
          <p:cNvSpPr>
            <a:spLocks xmlns:a="http://schemas.openxmlformats.org/drawingml/2006/main" noGrp="1"/>
          </p:cNvSpPr>
          <p:nvPr/>
        </p:nvSpPr>
        <p:spPr>
          <a:xfrm xmlns:a="http://schemas.openxmlformats.org/drawingml/2006/main" rot="0" flipH="0" flipV="0">
            <a:off x="525018" y="4632008"/>
            <a:ext cx="5302363"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a:solidFill>
                  <a:schemeClr val="dk1"/>
                </a:solidFill>
                <a:latin typeface="+mn-lt"/>
                <a:ea typeface="+mn-lt"/>
                <a:cs typeface="+mn-lt"/>
              </a:rPr>
              <a:t>Marginalizing U and conditioning on S can induce a</a:t>
            </a:r>
          </a:p>
        </p:txBody>
      </p:sp>
      <p:sp>
        <p:nvSpPr>
          <p:cNvPr id="22" name="TextBox 22">
            <a:extLst xmlns:a="http://schemas.openxmlformats.org/drawingml/2006/main">
              <a:ext uri="{FF2B5EF4-FFF2-40B4-BE49-F238E27FC236}">
                <a16:creationId xmlns:a16="http://schemas.microsoft.com/office/drawing/2014/main" id="{59ED88FE-FB07-45BE-8317-6E16E17DD516}"/>
              </a:ext>
            </a:extLst>
          </p:cNvPr>
          <p:cNvSpPr>
            <a:spLocks xmlns:a="http://schemas.openxmlformats.org/drawingml/2006/main" noGrp="1"/>
          </p:cNvSpPr>
          <p:nvPr/>
        </p:nvSpPr>
        <p:spPr>
          <a:xfrm xmlns:a="http://schemas.openxmlformats.org/drawingml/2006/main" rot="0" flipH="0" flipV="0">
            <a:off x="525018" y="4898708"/>
            <a:ext cx="5603157"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a:solidFill>
                  <a:schemeClr val="dk1"/>
                </a:solidFill>
                <a:latin typeface="+mn-lt"/>
                <a:ea typeface="+mn-lt"/>
                <a:cs typeface="+mn-lt"/>
              </a:rPr>
              <a:t>mixed ancestral relation among observed variables.</a:t>
            </a:r>
          </a:p>
        </p:txBody>
      </p:sp>
      <p:sp>
        <p:nvSpPr>
          <p:cNvPr id="24" name="Rectangle 24">
            <a:extLst xmlns:a="http://schemas.openxmlformats.org/drawingml/2006/main">
              <a:ext uri="{FF2B5EF4-FFF2-40B4-BE49-F238E27FC236}">
                <a16:creationId xmlns:a16="http://schemas.microsoft.com/office/drawing/2014/main" id="{0A0C3DAB-418E-4D64-A1DF-8EA31BAC5834}"/>
              </a:ext>
            </a:extLst>
          </p:cNvPr>
          <p:cNvSpPr>
            <a:spLocks xmlns:a="http://schemas.openxmlformats.org/drawingml/2006/main" noGrp="1"/>
          </p:cNvSpPr>
          <p:nvPr/>
        </p:nvSpPr>
        <p:spPr>
          <a:xfrm xmlns:a="http://schemas.openxmlformats.org/drawingml/2006/main" rot="0" flipH="0" flipV="0">
            <a:off x="6819900" y="1352550"/>
            <a:ext cx="4838700" cy="3676650"/>
          </a:xfrm>
          <a:prstGeom xmlns:a="http://schemas.openxmlformats.org/drawingml/2006/main" prst="roundRect">
            <a:avLst>
              <a:gd name="adj" fmla="val 4145"/>
            </a:avLst>
          </a:prstGeom>
          <a:solidFill xmlns:a="http://schemas.openxmlformats.org/drawingml/2006/main">
            <a:schemeClr val="accent1"/>
          </a:solidFill>
          <a:ln xmlns:a="http://schemas.openxmlformats.org/drawingml/2006/main">
            <a:noFill/>
          </a:ln>
        </p:spPr>
      </p:sp>
      <p:sp>
        <p:nvSpPr>
          <p:cNvPr id="25" name="TextBox 25">
            <a:extLst xmlns:a="http://schemas.openxmlformats.org/drawingml/2006/main">
              <a:ext uri="{FF2B5EF4-FFF2-40B4-BE49-F238E27FC236}">
                <a16:creationId xmlns:a16="http://schemas.microsoft.com/office/drawing/2014/main" id="{54C723DD-81F6-4748-92BF-05D49334821F}"/>
              </a:ext>
            </a:extLst>
          </p:cNvPr>
          <p:cNvSpPr>
            <a:spLocks xmlns:a="http://schemas.openxmlformats.org/drawingml/2006/main" noGrp="1"/>
          </p:cNvSpPr>
          <p:nvPr/>
        </p:nvSpPr>
        <p:spPr>
          <a:xfrm xmlns:a="http://schemas.openxmlformats.org/drawingml/2006/main" rot="0" flipH="0" flipV="0">
            <a:off x="7098792" y="1540192"/>
            <a:ext cx="200980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E9EDF5"/>
                </a:solidFill>
                <a:latin typeface="+mn-lt"/>
                <a:ea typeface="+mn-lt"/>
                <a:cs typeface="+mn-lt"/>
              </a:rPr>
              <a:t>RIGHT OUTPUT TARGET</a:t>
            </a:r>
          </a:p>
        </p:txBody>
      </p:sp>
      <p:sp>
        <p:nvSpPr>
          <p:cNvPr id="26" name="TextBox 26">
            <a:extLst xmlns:a="http://schemas.openxmlformats.org/drawingml/2006/main">
              <a:ext uri="{FF2B5EF4-FFF2-40B4-BE49-F238E27FC236}">
                <a16:creationId xmlns:a16="http://schemas.microsoft.com/office/drawing/2014/main" id="{4D36537A-71F3-406D-91D8-F70F6C4C7D1A}"/>
              </a:ext>
            </a:extLst>
          </p:cNvPr>
          <p:cNvSpPr>
            <a:spLocks xmlns:a="http://schemas.openxmlformats.org/drawingml/2006/main" noGrp="1"/>
          </p:cNvSpPr>
          <p:nvPr/>
        </p:nvSpPr>
        <p:spPr>
          <a:xfrm xmlns:a="http://schemas.openxmlformats.org/drawingml/2006/main" rot="0" flipH="0" flipV="0">
            <a:off x="7093458" y="1864995"/>
            <a:ext cx="4402531" cy="469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400" b="1">
                <a:solidFill>
                  <a:srgbClr val="FFFFFF"/>
                </a:solidFill>
                <a:latin typeface="+mj-lt"/>
                <a:ea typeface="+mj-lt"/>
                <a:cs typeface="+mj-lt"/>
              </a:rPr>
              <a:t>PAG, not one unique DAG</a:t>
            </a:r>
          </a:p>
        </p:txBody>
      </p:sp>
      <p:sp>
        <p:nvSpPr>
          <p:cNvPr id="27" name="Line 27">
            <a:extLst xmlns:a="http://schemas.openxmlformats.org/drawingml/2006/main">
              <a:ext uri="{FF2B5EF4-FFF2-40B4-BE49-F238E27FC236}">
                <a16:creationId xmlns:a16="http://schemas.microsoft.com/office/drawing/2014/main" id="{637FD57F-C670-44F7-825D-E1DBE5632315}"/>
              </a:ext>
            </a:extLst>
          </p:cNvPr>
          <p:cNvSpPr>
            <a:spLocks xmlns:a="http://schemas.openxmlformats.org/drawingml/2006/main" noGrp="1"/>
          </p:cNvSpPr>
          <p:nvPr/>
        </p:nvSpPr>
        <p:spPr>
          <a:xfrm xmlns:a="http://schemas.openxmlformats.org/drawingml/2006/main" rot="0" flipH="0" flipV="0">
            <a:off x="7191375" y="2724150"/>
            <a:ext cx="1381125" cy="9525"/>
          </a:xfrm>
          <a:custGeom xmlns:a="http://schemas.openxmlformats.org/drawingml/2006/main">
            <a:rect l="l" t="t" r="r" b="b"/>
            <a:pathLst>
              <a:path w="1381125" h="9525">
                <a:moveTo>
                  <a:pt x="0" y="0"/>
                </a:moveTo>
                <a:lnTo>
                  <a:pt x="1381125" y="0"/>
                </a:lnTo>
              </a:path>
            </a:pathLst>
          </a:custGeom>
          <a:noFill xmlns:a="http://schemas.openxmlformats.org/drawingml/2006/main"/>
          <a:ln xmlns:a="http://schemas.openxmlformats.org/drawingml/2006/main" w="28575">
            <a:solidFill>
              <a:srgbClr val="FFFFFF"/>
            </a:solidFill>
          </a:ln>
        </p:spPr>
      </p:sp>
      <p:sp>
        <p:nvSpPr>
          <p:cNvPr id="28" name="Ellipse 28">
            <a:extLst xmlns:a="http://schemas.openxmlformats.org/drawingml/2006/main">
              <a:ext uri="{FF2B5EF4-FFF2-40B4-BE49-F238E27FC236}">
                <a16:creationId xmlns:a16="http://schemas.microsoft.com/office/drawing/2014/main" id="{5BF888AA-A449-4D1F-9C8C-AA0D7F3902A0}"/>
              </a:ext>
            </a:extLst>
          </p:cNvPr>
          <p:cNvSpPr>
            <a:spLocks xmlns:a="http://schemas.openxmlformats.org/drawingml/2006/main" noGrp="1"/>
          </p:cNvSpPr>
          <p:nvPr/>
        </p:nvSpPr>
        <p:spPr>
          <a:xfrm xmlns:a="http://schemas.openxmlformats.org/drawingml/2006/main" rot="0" flipH="0" flipV="0">
            <a:off x="7115175" y="2647950"/>
            <a:ext cx="152400" cy="152400"/>
          </a:xfrm>
          <a:prstGeom xmlns:a="http://schemas.openxmlformats.org/drawingml/2006/main" prst="ellipse">
            <a:avLst/>
          </a:prstGeom>
          <a:solidFill xmlns:a="http://schemas.openxmlformats.org/drawingml/2006/main">
            <a:schemeClr val="accent1"/>
          </a:solidFill>
          <a:ln xmlns:a="http://schemas.openxmlformats.org/drawingml/2006/main" w="28575">
            <a:solidFill>
              <a:srgbClr val="FFFFFF"/>
            </a:solidFill>
          </a:ln>
        </p:spPr>
      </p:sp>
      <p:sp>
        <p:nvSpPr>
          <p:cNvPr id="29" name="Polygon 29">
            <a:extLst xmlns:a="http://schemas.openxmlformats.org/drawingml/2006/main">
              <a:ext uri="{FF2B5EF4-FFF2-40B4-BE49-F238E27FC236}">
                <a16:creationId xmlns:a16="http://schemas.microsoft.com/office/drawing/2014/main" id="{17382457-9FC6-42A8-B5AA-36A115E55363}"/>
              </a:ext>
            </a:extLst>
          </p:cNvPr>
          <p:cNvSpPr>
            <a:spLocks xmlns:a="http://schemas.openxmlformats.org/drawingml/2006/main" noGrp="1"/>
          </p:cNvSpPr>
          <p:nvPr/>
        </p:nvSpPr>
        <p:spPr>
          <a:xfrm xmlns:a="http://schemas.openxmlformats.org/drawingml/2006/main" rot="0" flipH="0" flipV="0">
            <a:off x="8401050" y="2628900"/>
            <a:ext cx="171450" cy="190500"/>
          </a:xfrm>
          <a:custGeom xmlns:a="http://schemas.openxmlformats.org/drawingml/2006/main">
            <a:rect l="l" t="t" r="r" b="b"/>
            <a:pathLst>
              <a:path w="171450" h="190500">
                <a:moveTo>
                  <a:pt x="171450" y="95250"/>
                </a:moveTo>
                <a:lnTo>
                  <a:pt x="0" y="0"/>
                </a:lnTo>
                <a:lnTo>
                  <a:pt x="0" y="190500"/>
                </a:lnTo>
                <a:close/>
              </a:path>
            </a:pathLst>
          </a:custGeom>
          <a:solidFill xmlns:a="http://schemas.openxmlformats.org/drawingml/2006/main">
            <a:srgbClr val="FFFFFF"/>
          </a:solidFill>
          <a:ln xmlns:a="http://schemas.openxmlformats.org/drawingml/2006/main">
            <a:noFill/>
          </a:ln>
        </p:spPr>
      </p:sp>
      <p:sp>
        <p:nvSpPr>
          <p:cNvPr id="30" name="TextBox 30">
            <a:extLst xmlns:a="http://schemas.openxmlformats.org/drawingml/2006/main">
              <a:ext uri="{FF2B5EF4-FFF2-40B4-BE49-F238E27FC236}">
                <a16:creationId xmlns:a16="http://schemas.microsoft.com/office/drawing/2014/main" id="{54A20DA6-7EF3-4C90-8CB2-6C65ECB53789}"/>
              </a:ext>
            </a:extLst>
          </p:cNvPr>
          <p:cNvSpPr>
            <a:spLocks xmlns:a="http://schemas.openxmlformats.org/drawingml/2006/main" noGrp="1"/>
          </p:cNvSpPr>
          <p:nvPr/>
        </p:nvSpPr>
        <p:spPr>
          <a:xfrm xmlns:a="http://schemas.openxmlformats.org/drawingml/2006/main" rot="0" flipH="0" flipV="0">
            <a:off x="8839581" y="2606040"/>
            <a:ext cx="1690268"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a:solidFill>
                  <a:srgbClr val="FFFFFF"/>
                </a:solidFill>
                <a:latin typeface="+mn-lt"/>
                <a:ea typeface="+mn-lt"/>
                <a:cs typeface="+mn-lt"/>
              </a:rPr>
              <a:t>circle → arrow</a:t>
            </a:r>
          </a:p>
        </p:txBody>
      </p:sp>
      <p:sp>
        <p:nvSpPr>
          <p:cNvPr id="31" name="Line 31">
            <a:extLst xmlns:a="http://schemas.openxmlformats.org/drawingml/2006/main">
              <a:ext uri="{FF2B5EF4-FFF2-40B4-BE49-F238E27FC236}">
                <a16:creationId xmlns:a16="http://schemas.microsoft.com/office/drawing/2014/main" id="{96E67C2B-6B8E-4468-AF72-6E1341341277}"/>
              </a:ext>
            </a:extLst>
          </p:cNvPr>
          <p:cNvSpPr>
            <a:spLocks xmlns:a="http://schemas.openxmlformats.org/drawingml/2006/main" noGrp="1"/>
          </p:cNvSpPr>
          <p:nvPr/>
        </p:nvSpPr>
        <p:spPr>
          <a:xfrm xmlns:a="http://schemas.openxmlformats.org/drawingml/2006/main" rot="0" flipH="0" flipV="0">
            <a:off x="7191375" y="3276600"/>
            <a:ext cx="1381125" cy="9525"/>
          </a:xfrm>
          <a:custGeom xmlns:a="http://schemas.openxmlformats.org/drawingml/2006/main">
            <a:rect l="l" t="t" r="r" b="b"/>
            <a:pathLst>
              <a:path w="1381125" h="9525">
                <a:moveTo>
                  <a:pt x="0" y="0"/>
                </a:moveTo>
                <a:lnTo>
                  <a:pt x="1381125" y="0"/>
                </a:lnTo>
              </a:path>
            </a:pathLst>
          </a:custGeom>
          <a:noFill xmlns:a="http://schemas.openxmlformats.org/drawingml/2006/main"/>
          <a:ln xmlns:a="http://schemas.openxmlformats.org/drawingml/2006/main" w="28575">
            <a:solidFill>
              <a:srgbClr val="FFFFFF"/>
            </a:solidFill>
          </a:ln>
        </p:spPr>
      </p:sp>
      <p:sp>
        <p:nvSpPr>
          <p:cNvPr id="32" name="Line 32">
            <a:extLst xmlns:a="http://schemas.openxmlformats.org/drawingml/2006/main">
              <a:ext uri="{FF2B5EF4-FFF2-40B4-BE49-F238E27FC236}">
                <a16:creationId xmlns:a16="http://schemas.microsoft.com/office/drawing/2014/main" id="{AD712C73-D194-48DE-957C-C9E3816FCC1B}"/>
              </a:ext>
            </a:extLst>
          </p:cNvPr>
          <p:cNvSpPr>
            <a:spLocks xmlns:a="http://schemas.openxmlformats.org/drawingml/2006/main" noGrp="1"/>
          </p:cNvSpPr>
          <p:nvPr/>
        </p:nvSpPr>
        <p:spPr>
          <a:xfrm xmlns:a="http://schemas.openxmlformats.org/drawingml/2006/main" rot="0" flipH="0" flipV="0">
            <a:off x="7191375" y="3143250"/>
            <a:ext cx="9525" cy="266700"/>
          </a:xfrm>
          <a:custGeom xmlns:a="http://schemas.openxmlformats.org/drawingml/2006/main">
            <a:rect l="l" t="t" r="r" b="b"/>
            <a:pathLst>
              <a:path w="9525" h="266700">
                <a:moveTo>
                  <a:pt x="0" y="0"/>
                </a:moveTo>
                <a:lnTo>
                  <a:pt x="0" y="266700"/>
                </a:lnTo>
              </a:path>
            </a:pathLst>
          </a:custGeom>
          <a:noFill xmlns:a="http://schemas.openxmlformats.org/drawingml/2006/main"/>
          <a:ln xmlns:a="http://schemas.openxmlformats.org/drawingml/2006/main" w="28575">
            <a:solidFill>
              <a:srgbClr val="FFFFFF"/>
            </a:solidFill>
          </a:ln>
        </p:spPr>
      </p:sp>
      <p:sp>
        <p:nvSpPr>
          <p:cNvPr id="33" name="Polygon 33">
            <a:extLst xmlns:a="http://schemas.openxmlformats.org/drawingml/2006/main">
              <a:ext uri="{FF2B5EF4-FFF2-40B4-BE49-F238E27FC236}">
                <a16:creationId xmlns:a16="http://schemas.microsoft.com/office/drawing/2014/main" id="{6BBA5984-6224-41CC-870A-4FB62D8F1F13}"/>
              </a:ext>
            </a:extLst>
          </p:cNvPr>
          <p:cNvSpPr>
            <a:spLocks xmlns:a="http://schemas.openxmlformats.org/drawingml/2006/main" noGrp="1"/>
          </p:cNvSpPr>
          <p:nvPr/>
        </p:nvSpPr>
        <p:spPr>
          <a:xfrm xmlns:a="http://schemas.openxmlformats.org/drawingml/2006/main" rot="0" flipH="0" flipV="0">
            <a:off x="8401050" y="3181350"/>
            <a:ext cx="171450" cy="190500"/>
          </a:xfrm>
          <a:custGeom xmlns:a="http://schemas.openxmlformats.org/drawingml/2006/main">
            <a:rect l="l" t="t" r="r" b="b"/>
            <a:pathLst>
              <a:path w="171450" h="190500">
                <a:moveTo>
                  <a:pt x="171450" y="95250"/>
                </a:moveTo>
                <a:lnTo>
                  <a:pt x="0" y="0"/>
                </a:lnTo>
                <a:lnTo>
                  <a:pt x="0" y="190500"/>
                </a:lnTo>
                <a:close/>
              </a:path>
            </a:pathLst>
          </a:custGeom>
          <a:solidFill xmlns:a="http://schemas.openxmlformats.org/drawingml/2006/main">
            <a:srgbClr val="FFFFFF"/>
          </a:solidFill>
          <a:ln xmlns:a="http://schemas.openxmlformats.org/drawingml/2006/main">
            <a:noFill/>
          </a:ln>
        </p:spPr>
      </p:sp>
      <p:sp>
        <p:nvSpPr>
          <p:cNvPr id="34" name="TextBox 34">
            <a:extLst xmlns:a="http://schemas.openxmlformats.org/drawingml/2006/main">
              <a:ext uri="{FF2B5EF4-FFF2-40B4-BE49-F238E27FC236}">
                <a16:creationId xmlns:a16="http://schemas.microsoft.com/office/drawing/2014/main" id="{1D37B127-0514-4D25-A659-7C7937D147A2}"/>
              </a:ext>
            </a:extLst>
          </p:cNvPr>
          <p:cNvSpPr>
            <a:spLocks xmlns:a="http://schemas.openxmlformats.org/drawingml/2006/main" noGrp="1"/>
          </p:cNvSpPr>
          <p:nvPr/>
        </p:nvSpPr>
        <p:spPr>
          <a:xfrm xmlns:a="http://schemas.openxmlformats.org/drawingml/2006/main" rot="0" flipH="0" flipV="0">
            <a:off x="8839581" y="3158490"/>
            <a:ext cx="142372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a:solidFill>
                  <a:srgbClr val="FFFFFF"/>
                </a:solidFill>
                <a:latin typeface="+mn-lt"/>
                <a:ea typeface="+mn-lt"/>
                <a:cs typeface="+mn-lt"/>
              </a:rPr>
              <a:t>tail → arrow</a:t>
            </a:r>
          </a:p>
        </p:txBody>
      </p:sp>
      <p:sp>
        <p:nvSpPr>
          <p:cNvPr id="35" name="Line 35">
            <a:extLst xmlns:a="http://schemas.openxmlformats.org/drawingml/2006/main">
              <a:ext uri="{FF2B5EF4-FFF2-40B4-BE49-F238E27FC236}">
                <a16:creationId xmlns:a16="http://schemas.microsoft.com/office/drawing/2014/main" id="{69ED14AD-9985-42F7-AD9B-EE53FE9100B2}"/>
              </a:ext>
            </a:extLst>
          </p:cNvPr>
          <p:cNvSpPr>
            <a:spLocks xmlns:a="http://schemas.openxmlformats.org/drawingml/2006/main" noGrp="1"/>
          </p:cNvSpPr>
          <p:nvPr/>
        </p:nvSpPr>
        <p:spPr>
          <a:xfrm xmlns:a="http://schemas.openxmlformats.org/drawingml/2006/main" rot="0" flipH="0" flipV="0">
            <a:off x="7191375" y="3829050"/>
            <a:ext cx="1381125" cy="9525"/>
          </a:xfrm>
          <a:custGeom xmlns:a="http://schemas.openxmlformats.org/drawingml/2006/main">
            <a:rect l="l" t="t" r="r" b="b"/>
            <a:pathLst>
              <a:path w="1381125" h="9525">
                <a:moveTo>
                  <a:pt x="0" y="0"/>
                </a:moveTo>
                <a:lnTo>
                  <a:pt x="1381125" y="0"/>
                </a:lnTo>
              </a:path>
            </a:pathLst>
          </a:custGeom>
          <a:noFill xmlns:a="http://schemas.openxmlformats.org/drawingml/2006/main"/>
          <a:ln xmlns:a="http://schemas.openxmlformats.org/drawingml/2006/main" w="28575">
            <a:solidFill>
              <a:srgbClr val="FFFFFF"/>
            </a:solidFill>
          </a:ln>
        </p:spPr>
      </p:sp>
      <p:sp>
        <p:nvSpPr>
          <p:cNvPr id="36" name="Polygon 36">
            <a:extLst xmlns:a="http://schemas.openxmlformats.org/drawingml/2006/main">
              <a:ext uri="{FF2B5EF4-FFF2-40B4-BE49-F238E27FC236}">
                <a16:creationId xmlns:a16="http://schemas.microsoft.com/office/drawing/2014/main" id="{74E6484C-C4CB-4DF3-9B2C-DBDCE33B2F89}"/>
              </a:ext>
            </a:extLst>
          </p:cNvPr>
          <p:cNvSpPr>
            <a:spLocks xmlns:a="http://schemas.openxmlformats.org/drawingml/2006/main" noGrp="1"/>
          </p:cNvSpPr>
          <p:nvPr/>
        </p:nvSpPr>
        <p:spPr>
          <a:xfrm xmlns:a="http://schemas.openxmlformats.org/drawingml/2006/main" rot="0" flipH="0" flipV="0">
            <a:off x="7191375" y="3733800"/>
            <a:ext cx="171450" cy="190500"/>
          </a:xfrm>
          <a:custGeom xmlns:a="http://schemas.openxmlformats.org/drawingml/2006/main">
            <a:rect l="l" t="t" r="r" b="b"/>
            <a:pathLst>
              <a:path w="171450" h="190500">
                <a:moveTo>
                  <a:pt x="0" y="95250"/>
                </a:moveTo>
                <a:lnTo>
                  <a:pt x="171450" y="0"/>
                </a:lnTo>
                <a:lnTo>
                  <a:pt x="171450" y="190500"/>
                </a:lnTo>
                <a:close/>
              </a:path>
            </a:pathLst>
          </a:custGeom>
          <a:solidFill xmlns:a="http://schemas.openxmlformats.org/drawingml/2006/main">
            <a:srgbClr val="FFFFFF"/>
          </a:solidFill>
          <a:ln xmlns:a="http://schemas.openxmlformats.org/drawingml/2006/main">
            <a:noFill/>
          </a:ln>
        </p:spPr>
      </p:sp>
      <p:sp>
        <p:nvSpPr>
          <p:cNvPr id="37" name="Polygon 37">
            <a:extLst xmlns:a="http://schemas.openxmlformats.org/drawingml/2006/main">
              <a:ext uri="{FF2B5EF4-FFF2-40B4-BE49-F238E27FC236}">
                <a16:creationId xmlns:a16="http://schemas.microsoft.com/office/drawing/2014/main" id="{B36D94D0-9436-49CB-8ED2-3B7A043101B2}"/>
              </a:ext>
            </a:extLst>
          </p:cNvPr>
          <p:cNvSpPr>
            <a:spLocks xmlns:a="http://schemas.openxmlformats.org/drawingml/2006/main" noGrp="1"/>
          </p:cNvSpPr>
          <p:nvPr/>
        </p:nvSpPr>
        <p:spPr>
          <a:xfrm xmlns:a="http://schemas.openxmlformats.org/drawingml/2006/main" rot="0" flipH="0" flipV="0">
            <a:off x="8401050" y="3733800"/>
            <a:ext cx="171450" cy="190500"/>
          </a:xfrm>
          <a:custGeom xmlns:a="http://schemas.openxmlformats.org/drawingml/2006/main">
            <a:rect l="l" t="t" r="r" b="b"/>
            <a:pathLst>
              <a:path w="171450" h="190500">
                <a:moveTo>
                  <a:pt x="171450" y="95250"/>
                </a:moveTo>
                <a:lnTo>
                  <a:pt x="0" y="0"/>
                </a:lnTo>
                <a:lnTo>
                  <a:pt x="0" y="190500"/>
                </a:lnTo>
                <a:close/>
              </a:path>
            </a:pathLst>
          </a:custGeom>
          <a:solidFill xmlns:a="http://schemas.openxmlformats.org/drawingml/2006/main">
            <a:srgbClr val="FFFFFF"/>
          </a:solidFill>
          <a:ln xmlns:a="http://schemas.openxmlformats.org/drawingml/2006/main">
            <a:noFill/>
          </a:ln>
        </p:spPr>
      </p:sp>
      <p:sp>
        <p:nvSpPr>
          <p:cNvPr id="38" name="TextBox 38">
            <a:extLst xmlns:a="http://schemas.openxmlformats.org/drawingml/2006/main">
              <a:ext uri="{FF2B5EF4-FFF2-40B4-BE49-F238E27FC236}">
                <a16:creationId xmlns:a16="http://schemas.microsoft.com/office/drawing/2014/main" id="{1704F333-C5F5-4C9B-8951-5A9C32A8D8A1}"/>
              </a:ext>
            </a:extLst>
          </p:cNvPr>
          <p:cNvSpPr>
            <a:spLocks xmlns:a="http://schemas.openxmlformats.org/drawingml/2006/main" noGrp="1"/>
          </p:cNvSpPr>
          <p:nvPr/>
        </p:nvSpPr>
        <p:spPr>
          <a:xfrm xmlns:a="http://schemas.openxmlformats.org/drawingml/2006/main" rot="0" flipH="0" flipV="0">
            <a:off x="8839581" y="3710940"/>
            <a:ext cx="1229868"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a:solidFill>
                  <a:srgbClr val="FFFFFF"/>
                </a:solidFill>
                <a:latin typeface="+mn-lt"/>
                <a:ea typeface="+mn-lt"/>
                <a:cs typeface="+mn-lt"/>
              </a:rPr>
              <a:t>bidirected</a:t>
            </a:r>
          </a:p>
        </p:txBody>
      </p:sp>
      <p:sp>
        <p:nvSpPr>
          <p:cNvPr id="39" name="TextBox 39">
            <a:extLst xmlns:a="http://schemas.openxmlformats.org/drawingml/2006/main">
              <a:ext uri="{FF2B5EF4-FFF2-40B4-BE49-F238E27FC236}">
                <a16:creationId xmlns:a16="http://schemas.microsoft.com/office/drawing/2014/main" id="{B8483FDB-2209-4213-ACD0-C2195B8B8ECD}"/>
              </a:ext>
            </a:extLst>
          </p:cNvPr>
          <p:cNvSpPr>
            <a:spLocks xmlns:a="http://schemas.openxmlformats.org/drawingml/2006/main" noGrp="1"/>
          </p:cNvSpPr>
          <p:nvPr/>
        </p:nvSpPr>
        <p:spPr>
          <a:xfrm xmlns:a="http://schemas.openxmlformats.org/drawingml/2006/main" rot="0" flipH="0" flipV="0">
            <a:off x="7098792" y="4264342"/>
            <a:ext cx="229155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Adjacency ≠ direct effect</a:t>
            </a:r>
          </a:p>
        </p:txBody>
      </p:sp>
      <p:sp>
        <p:nvSpPr>
          <p:cNvPr id="40" name="TextBox 40">
            <a:extLst xmlns:a="http://schemas.openxmlformats.org/drawingml/2006/main">
              <a:ext uri="{FF2B5EF4-FFF2-40B4-BE49-F238E27FC236}">
                <a16:creationId xmlns:a16="http://schemas.microsoft.com/office/drawing/2014/main" id="{FA04D42D-F7D1-420E-8512-837BEE801A48}"/>
              </a:ext>
            </a:extLst>
          </p:cNvPr>
          <p:cNvSpPr>
            <a:spLocks xmlns:a="http://schemas.openxmlformats.org/drawingml/2006/main" noGrp="1"/>
          </p:cNvSpPr>
          <p:nvPr/>
        </p:nvSpPr>
        <p:spPr>
          <a:xfrm xmlns:a="http://schemas.openxmlformats.org/drawingml/2006/main" rot="0" flipH="0" flipV="0">
            <a:off x="7098792" y="4511992"/>
            <a:ext cx="250027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Circle = unresolved endpoint</a:t>
            </a:r>
          </a:p>
        </p:txBody>
      </p:sp>
      <p:sp>
        <p:nvSpPr>
          <p:cNvPr id="41" name="TextBox 41">
            <a:extLst xmlns:a="http://schemas.openxmlformats.org/drawingml/2006/main">
              <a:ext uri="{FF2B5EF4-FFF2-40B4-BE49-F238E27FC236}">
                <a16:creationId xmlns:a16="http://schemas.microsoft.com/office/drawing/2014/main" id="{A2804CAF-6B59-4FF5-9973-6E2921BEC570}"/>
              </a:ext>
            </a:extLst>
          </p:cNvPr>
          <p:cNvSpPr>
            <a:spLocks xmlns:a="http://schemas.openxmlformats.org/drawingml/2006/main" noGrp="1"/>
          </p:cNvSpPr>
          <p:nvPr/>
        </p:nvSpPr>
        <p:spPr>
          <a:xfrm xmlns:a="http://schemas.openxmlformats.org/drawingml/2006/main" rot="0" flipH="0" flipV="0">
            <a:off x="7098792" y="4759642"/>
            <a:ext cx="260428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Sample CI test ≠ exact oracle</a:t>
            </a:r>
          </a:p>
        </p:txBody>
      </p:sp>
      <p:sp>
        <p:nvSpPr>
          <p:cNvPr id="43" name="Rectangle 43">
            <a:extLst xmlns:a="http://schemas.openxmlformats.org/drawingml/2006/main">
              <a:ext uri="{FF2B5EF4-FFF2-40B4-BE49-F238E27FC236}">
                <a16:creationId xmlns:a16="http://schemas.microsoft.com/office/drawing/2014/main" id="{E00443F9-A568-4F12-9A04-DC382BC29525}"/>
              </a:ext>
            </a:extLst>
          </p:cNvPr>
          <p:cNvSpPr>
            <a:spLocks xmlns:a="http://schemas.openxmlformats.org/drawingml/2006/main" noGrp="1"/>
          </p:cNvSpPr>
          <p:nvPr/>
        </p:nvSpPr>
        <p:spPr>
          <a:xfrm xmlns:a="http://schemas.openxmlformats.org/drawingml/2006/main" rot="0" flipH="0" flipV="0">
            <a:off x="533400" y="5314950"/>
            <a:ext cx="11125200" cy="723900"/>
          </a:xfrm>
          <a:prstGeom xmlns:a="http://schemas.openxmlformats.org/drawingml/2006/main" prst="roundRect">
            <a:avLst>
              <a:gd name="adj" fmla="val 15789"/>
            </a:avLst>
          </a:prstGeom>
          <a:solidFill xmlns:a="http://schemas.openxmlformats.org/drawingml/2006/main">
            <a:schemeClr val="accent5"/>
          </a:solidFill>
          <a:ln xmlns:a="http://schemas.openxmlformats.org/drawingml/2006/main">
            <a:noFill/>
          </a:ln>
        </p:spPr>
      </p:sp>
      <p:sp>
        <p:nvSpPr>
          <p:cNvPr id="44" name="TextBox 44">
            <a:extLst xmlns:a="http://schemas.openxmlformats.org/drawingml/2006/main">
              <a:ext uri="{FF2B5EF4-FFF2-40B4-BE49-F238E27FC236}">
                <a16:creationId xmlns:a16="http://schemas.microsoft.com/office/drawing/2014/main" id="{FBFD7A90-6501-4D6E-B325-63294AB8B31E}"/>
              </a:ext>
            </a:extLst>
          </p:cNvPr>
          <p:cNvSpPr>
            <a:spLocks xmlns:a="http://schemas.openxmlformats.org/drawingml/2006/main" noGrp="1"/>
          </p:cNvSpPr>
          <p:nvPr/>
        </p:nvSpPr>
        <p:spPr>
          <a:xfrm xmlns:a="http://schemas.openxmlformats.org/drawingml/2006/main" rot="0" flipH="0" flipV="0">
            <a:off x="751332" y="5345430"/>
            <a:ext cx="7526115" cy="41071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100" b="1">
                <a:solidFill>
                  <a:schemeClr val="accent1"/>
                </a:solidFill>
                <a:latin typeface="+mn-lt"/>
                <a:ea typeface="+mn-lt"/>
                <a:cs typeface="+mn-lt"/>
              </a:rPr>
              <a:t>The graph records invariant ancestral constraints—</a:t>
            </a:r>
          </a:p>
        </p:txBody>
      </p:sp>
      <p:sp>
        <p:nvSpPr>
          <p:cNvPr id="45" name="TextBox 45">
            <a:extLst xmlns:a="http://schemas.openxmlformats.org/drawingml/2006/main">
              <a:ext uri="{FF2B5EF4-FFF2-40B4-BE49-F238E27FC236}">
                <a16:creationId xmlns:a16="http://schemas.microsoft.com/office/drawing/2014/main" id="{4A791210-D2ED-409C-8583-4BA319E19E5D}"/>
              </a:ext>
            </a:extLst>
          </p:cNvPr>
          <p:cNvSpPr>
            <a:spLocks xmlns:a="http://schemas.openxmlformats.org/drawingml/2006/main" noGrp="1"/>
          </p:cNvSpPr>
          <p:nvPr/>
        </p:nvSpPr>
        <p:spPr>
          <a:xfrm xmlns:a="http://schemas.openxmlformats.org/drawingml/2006/main" rot="0" flipH="0" flipV="0">
            <a:off x="751332" y="5640705"/>
            <a:ext cx="8392142" cy="41071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100" b="1">
                <a:solidFill>
                  <a:schemeClr val="accent1"/>
                </a:solidFill>
                <a:latin typeface="+mn-lt"/>
                <a:ea typeface="+mn-lt"/>
                <a:cs typeface="+mn-lt"/>
              </a:rPr>
              <a:t>and preserves uncertainty where the data cannot decide.</a:t>
            </a:r>
          </a:p>
        </p:txBody>
      </p:sp>
      <p:sp>
        <p:nvSpPr>
          <p:cNvPr id="47" name="TextBox 47">
            <a:extLst xmlns:a="http://schemas.openxmlformats.org/drawingml/2006/main">
              <a:ext uri="{FF2B5EF4-FFF2-40B4-BE49-F238E27FC236}">
                <a16:creationId xmlns:a16="http://schemas.microsoft.com/office/drawing/2014/main" id="{BE7BEC63-79E9-4DC4-9C77-F89781120B8C}"/>
              </a:ext>
            </a:extLst>
          </p:cNvPr>
          <p:cNvSpPr>
            <a:spLocks xmlns:a="http://schemas.openxmlformats.org/drawingml/2006/main" noGrp="1"/>
          </p:cNvSpPr>
          <p:nvPr/>
        </p:nvSpPr>
        <p:spPr>
          <a:xfrm xmlns:a="http://schemas.openxmlformats.org/drawingml/2006/main" rot="0" flipH="0" flipV="0">
            <a:off x="527304" y="6290310"/>
            <a:ext cx="5858517"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Spirtes et al. (2000), Ch. 6 · Richardson &amp; Spirtes (2002) · Zhang (2008)</a:t>
            </a:r>
          </a:p>
        </p:txBody>
      </p:sp>
      <p:sp>
        <p:nvSpPr>
          <p:cNvPr id="48" name="TextBox 48">
            <a:extLst xmlns:a="http://schemas.openxmlformats.org/drawingml/2006/main">
              <a:ext uri="{FF2B5EF4-FFF2-40B4-BE49-F238E27FC236}">
                <a16:creationId xmlns:a16="http://schemas.microsoft.com/office/drawing/2014/main" id="{56321991-5F35-4F4A-8EB9-C7B8C43BA3E4}"/>
              </a:ext>
            </a:extLst>
          </p:cNvPr>
          <p:cNvSpPr>
            <a:spLocks xmlns:a="http://schemas.openxmlformats.org/drawingml/2006/main" noGrp="1"/>
          </p:cNvSpPr>
          <p:nvPr/>
        </p:nvSpPr>
        <p:spPr>
          <a:xfrm xmlns:a="http://schemas.openxmlformats.org/drawingml/2006/main" rot="0" flipH="0" flipV="0">
            <a:off x="11111332" y="62903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02 / 15</a:t>
            </a:r>
          </a:p>
        </p:txBody>
      </p:sp>
    </p:spTree>
    <p:extLst>
      <p:ext uri="{BB962C8B-B14F-4D97-AF65-F5344CB8AC3E}">
        <p14:creationId xmlns:p14="http://schemas.microsoft.com/office/powerpoint/2010/main" val="37953106"/>
      </p:ext>
    </p:extLst>
  </p:cSld>
</p:sld>
</file>

<file path=ppt/slides/slide3.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BD4BB468-0B22-425E-B30A-C63C00E73A4B}"/>
              </a:ext>
            </a:extLst>
          </p:cNvPr>
          <p:cNvSpPr>
            <a:spLocks xmlns:a="http://schemas.openxmlformats.org/drawingml/2006/main" noGrp="1"/>
          </p:cNvSpPr>
          <p:nvPr/>
        </p:nvSpPr>
        <p:spPr>
          <a:xfrm xmlns:a="http://schemas.openxmlformats.org/drawingml/2006/main" rot="0" flipH="0" flipV="0">
            <a:off x="517398" y="383858"/>
            <a:ext cx="9899037" cy="6160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150" b="1">
                <a:solidFill>
                  <a:schemeClr val="accent1"/>
                </a:solidFill>
                <a:latin typeface="+mj-lt"/>
                <a:ea typeface="+mj-lt"/>
                <a:cs typeface="+mj-lt"/>
              </a:rPr>
              <a:t>The Project Asks Five Auditable Questions</a:t>
            </a:r>
          </a:p>
        </p:txBody>
      </p:sp>
      <p:sp>
        <p:nvSpPr>
          <p:cNvPr id="3" name="TextBox 3">
            <a:extLst xmlns:a="http://schemas.openxmlformats.org/drawingml/2006/main">
              <a:ext uri="{FF2B5EF4-FFF2-40B4-BE49-F238E27FC236}">
                <a16:creationId xmlns:a16="http://schemas.microsoft.com/office/drawing/2014/main" id="{F5AD707A-8375-4794-B2D3-C7549BFED070}"/>
              </a:ext>
            </a:extLst>
          </p:cNvPr>
          <p:cNvSpPr>
            <a:spLocks xmlns:a="http://schemas.openxmlformats.org/drawingml/2006/main" noGrp="1"/>
          </p:cNvSpPr>
          <p:nvPr/>
        </p:nvSpPr>
        <p:spPr>
          <a:xfrm xmlns:a="http://schemas.openxmlformats.org/drawingml/2006/main" rot="0" flipH="0" flipV="0">
            <a:off x="10029139" y="406718"/>
            <a:ext cx="163631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EVALUATION LOGIC</a:t>
            </a:r>
          </a:p>
        </p:txBody>
      </p:sp>
      <p:sp>
        <p:nvSpPr>
          <p:cNvPr id="4" name="Line 4">
            <a:extLst xmlns:a="http://schemas.openxmlformats.org/drawingml/2006/main">
              <a:ext uri="{FF2B5EF4-FFF2-40B4-BE49-F238E27FC236}">
                <a16:creationId xmlns:a16="http://schemas.microsoft.com/office/drawing/2014/main" id="{EC4DCB13-A99C-4615-8481-76D61A06EC7C}"/>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Line 6">
            <a:extLst xmlns:a="http://schemas.openxmlformats.org/drawingml/2006/main">
              <a:ext uri="{FF2B5EF4-FFF2-40B4-BE49-F238E27FC236}">
                <a16:creationId xmlns:a16="http://schemas.microsoft.com/office/drawing/2014/main" id="{A3B5CD65-743F-492F-A4A5-2623CA6FAAFA}"/>
              </a:ext>
            </a:extLst>
          </p:cNvPr>
          <p:cNvSpPr>
            <a:spLocks xmlns:a="http://schemas.openxmlformats.org/drawingml/2006/main" noGrp="1"/>
          </p:cNvSpPr>
          <p:nvPr/>
        </p:nvSpPr>
        <p:spPr>
          <a:xfrm xmlns:a="http://schemas.openxmlformats.org/drawingml/2006/main" rot="0" flipH="0" flipV="0">
            <a:off x="1428750" y="1666875"/>
            <a:ext cx="9525" cy="3581400"/>
          </a:xfrm>
          <a:custGeom xmlns:a="http://schemas.openxmlformats.org/drawingml/2006/main">
            <a:rect l="l" t="t" r="r" b="b"/>
            <a:pathLst>
              <a:path w="9525" h="3581400">
                <a:moveTo>
                  <a:pt x="0" y="0"/>
                </a:moveTo>
                <a:lnTo>
                  <a:pt x="0" y="3581400"/>
                </a:lnTo>
              </a:path>
            </a:pathLst>
          </a:custGeom>
          <a:noFill xmlns:a="http://schemas.openxmlformats.org/drawingml/2006/main"/>
          <a:ln xmlns:a="http://schemas.openxmlformats.org/drawingml/2006/main" w="57150">
            <a:solidFill>
              <a:srgbClr val="CBD2DC"/>
            </a:solidFill>
          </a:ln>
        </p:spPr>
      </p:sp>
      <p:sp>
        <p:nvSpPr>
          <p:cNvPr id="7" name="Ellipse 7">
            <a:extLst xmlns:a="http://schemas.openxmlformats.org/drawingml/2006/main">
              <a:ext uri="{FF2B5EF4-FFF2-40B4-BE49-F238E27FC236}">
                <a16:creationId xmlns:a16="http://schemas.microsoft.com/office/drawing/2014/main" id="{7B92F989-472A-442A-BACD-3BB3349AA8C2}"/>
              </a:ext>
            </a:extLst>
          </p:cNvPr>
          <p:cNvSpPr>
            <a:spLocks xmlns:a="http://schemas.openxmlformats.org/drawingml/2006/main" noGrp="1"/>
          </p:cNvSpPr>
          <p:nvPr/>
        </p:nvSpPr>
        <p:spPr>
          <a:xfrm xmlns:a="http://schemas.openxmlformats.org/drawingml/2006/main" rot="0" flipH="0" flipV="0">
            <a:off x="1143000" y="1428750"/>
            <a:ext cx="571500" cy="571500"/>
          </a:xfrm>
          <a:prstGeom xmlns:a="http://schemas.openxmlformats.org/drawingml/2006/main" prst="ellipse">
            <a:avLst/>
          </a:prstGeom>
          <a:solidFill xmlns:a="http://schemas.openxmlformats.org/drawingml/2006/main">
            <a:schemeClr val="accent2"/>
          </a:solidFill>
          <a:ln xmlns:a="http://schemas.openxmlformats.org/drawingml/2006/main">
            <a:noFill/>
          </a:ln>
        </p:spPr>
      </p:sp>
      <p:sp>
        <p:nvSpPr>
          <p:cNvPr id="8" name="TextBox 8">
            <a:extLst xmlns:a="http://schemas.openxmlformats.org/drawingml/2006/main">
              <a:ext uri="{FF2B5EF4-FFF2-40B4-BE49-F238E27FC236}">
                <a16:creationId xmlns:a16="http://schemas.microsoft.com/office/drawing/2014/main" id="{0BB472A4-0D49-460F-8A84-960DF2E329F6}"/>
              </a:ext>
            </a:extLst>
          </p:cNvPr>
          <p:cNvSpPr>
            <a:spLocks xmlns:a="http://schemas.openxmlformats.org/drawingml/2006/main" noGrp="1"/>
          </p:cNvSpPr>
          <p:nvPr/>
        </p:nvSpPr>
        <p:spPr>
          <a:xfrm xmlns:a="http://schemas.openxmlformats.org/drawingml/2006/main" rot="0" flipH="0" flipV="0">
            <a:off x="1349637" y="1615440"/>
            <a:ext cx="15822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FFFFFF"/>
                </a:solidFill>
                <a:latin typeface="Consolas"/>
                <a:ea typeface="Consolas"/>
                <a:cs typeface="Consolas"/>
              </a:rPr>
              <a:t>1</a:t>
            </a:r>
          </a:p>
        </p:txBody>
      </p:sp>
      <p:sp>
        <p:nvSpPr>
          <p:cNvPr id="9" name="TextBox 9">
            <a:extLst xmlns:a="http://schemas.openxmlformats.org/drawingml/2006/main">
              <a:ext uri="{FF2B5EF4-FFF2-40B4-BE49-F238E27FC236}">
                <a16:creationId xmlns:a16="http://schemas.microsoft.com/office/drawing/2014/main" id="{531A4F0B-8113-4D20-88BF-F9EA452C9B11}"/>
              </a:ext>
            </a:extLst>
          </p:cNvPr>
          <p:cNvSpPr>
            <a:spLocks xmlns:a="http://schemas.openxmlformats.org/drawingml/2006/main" noGrp="1"/>
          </p:cNvSpPr>
          <p:nvPr/>
        </p:nvSpPr>
        <p:spPr>
          <a:xfrm xmlns:a="http://schemas.openxmlformats.org/drawingml/2006/main" rot="0" flipH="0" flipV="0">
            <a:off x="1952625" y="1419225"/>
            <a:ext cx="1809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chemeClr val="accent2"/>
                </a:solidFill>
                <a:latin typeface="+mn-lt"/>
                <a:ea typeface="+mn-lt"/>
                <a:cs typeface="+mn-lt"/>
              </a:rPr>
              <a:t>THEORY</a:t>
            </a:r>
          </a:p>
        </p:txBody>
      </p:sp>
      <p:sp>
        <p:nvSpPr>
          <p:cNvPr id="10" name="TextBox 10">
            <a:extLst xmlns:a="http://schemas.openxmlformats.org/drawingml/2006/main">
              <a:ext uri="{FF2B5EF4-FFF2-40B4-BE49-F238E27FC236}">
                <a16:creationId xmlns:a16="http://schemas.microsoft.com/office/drawing/2014/main" id="{E8AEDD06-D8B8-4F7D-A662-A124036F449C}"/>
              </a:ext>
            </a:extLst>
          </p:cNvPr>
          <p:cNvSpPr>
            <a:spLocks xmlns:a="http://schemas.openxmlformats.org/drawingml/2006/main" noGrp="1"/>
          </p:cNvSpPr>
          <p:nvPr/>
        </p:nvSpPr>
        <p:spPr>
          <a:xfrm xmlns:a="http://schemas.openxmlformats.org/drawingml/2006/main" rot="0" flipH="0" flipV="0">
            <a:off x="1952625" y="1695450"/>
            <a:ext cx="9144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4288" rIns="0" bIns="0" anchor="t">
            <a:noAutofit/>
          </a:bodyPr>
          <a:lstStyle xmlns:a="http://schemas.openxmlformats.org/drawingml/2006/main"/>
          <a:p xmlns:a="http://schemas.openxmlformats.org/drawingml/2006/main">
            <a:pPr algn="l">
              <a:buNone/>
            </a:pPr>
            <a:r>
              <a:rPr sz="2250" b="1">
                <a:solidFill>
                  <a:schemeClr val="dk1"/>
                </a:solidFill>
                <a:latin typeface="+mn-lt"/>
                <a:ea typeface="+mn-lt"/>
                <a:cs typeface="+mn-lt"/>
              </a:rPr>
              <a:t>What do the two original sources actually assume and prove?</a:t>
            </a:r>
          </a:p>
        </p:txBody>
      </p:sp>
      <p:sp>
        <p:nvSpPr>
          <p:cNvPr id="11" name="Ellipse 11">
            <a:extLst xmlns:a="http://schemas.openxmlformats.org/drawingml/2006/main">
              <a:ext uri="{FF2B5EF4-FFF2-40B4-BE49-F238E27FC236}">
                <a16:creationId xmlns:a16="http://schemas.microsoft.com/office/drawing/2014/main" id="{B945EB03-F8BC-4946-9C6C-829DB8507DD4}"/>
              </a:ext>
            </a:extLst>
          </p:cNvPr>
          <p:cNvSpPr>
            <a:spLocks xmlns:a="http://schemas.openxmlformats.org/drawingml/2006/main" noGrp="1"/>
          </p:cNvSpPr>
          <p:nvPr/>
        </p:nvSpPr>
        <p:spPr>
          <a:xfrm xmlns:a="http://schemas.openxmlformats.org/drawingml/2006/main" rot="0" flipH="0" flipV="0">
            <a:off x="1143000" y="2305050"/>
            <a:ext cx="571500" cy="571500"/>
          </a:xfrm>
          <a:prstGeom xmlns:a="http://schemas.openxmlformats.org/drawingml/2006/main" prst="ellipse">
            <a:avLst/>
          </a:prstGeom>
          <a:solidFill xmlns:a="http://schemas.openxmlformats.org/drawingml/2006/main">
            <a:schemeClr val="accent2"/>
          </a:solidFill>
          <a:ln xmlns:a="http://schemas.openxmlformats.org/drawingml/2006/main">
            <a:noFill/>
          </a:ln>
        </p:spPr>
      </p:sp>
      <p:sp>
        <p:nvSpPr>
          <p:cNvPr id="12" name="TextBox 12">
            <a:extLst xmlns:a="http://schemas.openxmlformats.org/drawingml/2006/main">
              <a:ext uri="{FF2B5EF4-FFF2-40B4-BE49-F238E27FC236}">
                <a16:creationId xmlns:a16="http://schemas.microsoft.com/office/drawing/2014/main" id="{D050FC1E-7CFE-42B3-8BB5-8EDBC0CF9355}"/>
              </a:ext>
            </a:extLst>
          </p:cNvPr>
          <p:cNvSpPr>
            <a:spLocks xmlns:a="http://schemas.openxmlformats.org/drawingml/2006/main" noGrp="1"/>
          </p:cNvSpPr>
          <p:nvPr/>
        </p:nvSpPr>
        <p:spPr>
          <a:xfrm xmlns:a="http://schemas.openxmlformats.org/drawingml/2006/main" rot="0" flipH="0" flipV="0">
            <a:off x="1349637" y="2491740"/>
            <a:ext cx="15822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FFFFFF"/>
                </a:solidFill>
                <a:latin typeface="Consolas"/>
                <a:ea typeface="Consolas"/>
                <a:cs typeface="Consolas"/>
              </a:rPr>
              <a:t>2</a:t>
            </a:r>
          </a:p>
        </p:txBody>
      </p:sp>
      <p:sp>
        <p:nvSpPr>
          <p:cNvPr id="13" name="TextBox 13">
            <a:extLst xmlns:a="http://schemas.openxmlformats.org/drawingml/2006/main">
              <a:ext uri="{FF2B5EF4-FFF2-40B4-BE49-F238E27FC236}">
                <a16:creationId xmlns:a16="http://schemas.microsoft.com/office/drawing/2014/main" id="{D17E5D92-D2B8-480D-8851-FFADAD3477FA}"/>
              </a:ext>
            </a:extLst>
          </p:cNvPr>
          <p:cNvSpPr>
            <a:spLocks xmlns:a="http://schemas.openxmlformats.org/drawingml/2006/main" noGrp="1"/>
          </p:cNvSpPr>
          <p:nvPr/>
        </p:nvSpPr>
        <p:spPr>
          <a:xfrm xmlns:a="http://schemas.openxmlformats.org/drawingml/2006/main" rot="0" flipH="0" flipV="0">
            <a:off x="1952625" y="2295525"/>
            <a:ext cx="1809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chemeClr val="accent2"/>
                </a:solidFill>
                <a:latin typeface="+mn-lt"/>
                <a:ea typeface="+mn-lt"/>
                <a:cs typeface="+mn-lt"/>
              </a:rPr>
              <a:t>TRACEABILITY</a:t>
            </a:r>
          </a:p>
        </p:txBody>
      </p:sp>
      <p:sp>
        <p:nvSpPr>
          <p:cNvPr id="14" name="TextBox 14">
            <a:extLst xmlns:a="http://schemas.openxmlformats.org/drawingml/2006/main">
              <a:ext uri="{FF2B5EF4-FFF2-40B4-BE49-F238E27FC236}">
                <a16:creationId xmlns:a16="http://schemas.microsoft.com/office/drawing/2014/main" id="{40200AAA-98E2-4C94-8C75-A890FDDC8ACA}"/>
              </a:ext>
            </a:extLst>
          </p:cNvPr>
          <p:cNvSpPr>
            <a:spLocks xmlns:a="http://schemas.openxmlformats.org/drawingml/2006/main" noGrp="1"/>
          </p:cNvSpPr>
          <p:nvPr/>
        </p:nvSpPr>
        <p:spPr>
          <a:xfrm xmlns:a="http://schemas.openxmlformats.org/drawingml/2006/main" rot="0" flipH="0" flipV="0">
            <a:off x="1952625" y="2571750"/>
            <a:ext cx="9144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4288" rIns="0" bIns="0" anchor="t">
            <a:noAutofit/>
          </a:bodyPr>
          <a:lstStyle xmlns:a="http://schemas.openxmlformats.org/drawingml/2006/main"/>
          <a:p xmlns:a="http://schemas.openxmlformats.org/drawingml/2006/main">
            <a:pPr algn="l">
              <a:buNone/>
            </a:pPr>
            <a:r>
              <a:rPr sz="2250" b="1">
                <a:solidFill>
                  <a:schemeClr val="dk1"/>
                </a:solidFill>
                <a:latin typeface="+mn-lt"/>
                <a:ea typeface="+mn-lt"/>
                <a:cs typeface="+mn-lt"/>
              </a:rPr>
              <a:t>Where is each paper stage implemented and tested?</a:t>
            </a:r>
          </a:p>
        </p:txBody>
      </p:sp>
      <p:sp>
        <p:nvSpPr>
          <p:cNvPr id="15" name="Ellipse 15">
            <a:extLst xmlns:a="http://schemas.openxmlformats.org/drawingml/2006/main">
              <a:ext uri="{FF2B5EF4-FFF2-40B4-BE49-F238E27FC236}">
                <a16:creationId xmlns:a16="http://schemas.microsoft.com/office/drawing/2014/main" id="{173527FC-0F30-42DB-98AD-D72486F463CF}"/>
              </a:ext>
            </a:extLst>
          </p:cNvPr>
          <p:cNvSpPr>
            <a:spLocks xmlns:a="http://schemas.openxmlformats.org/drawingml/2006/main" noGrp="1"/>
          </p:cNvSpPr>
          <p:nvPr/>
        </p:nvSpPr>
        <p:spPr>
          <a:xfrm xmlns:a="http://schemas.openxmlformats.org/drawingml/2006/main" rot="0" flipH="0" flipV="0">
            <a:off x="1143000" y="3181350"/>
            <a:ext cx="571500" cy="571500"/>
          </a:xfrm>
          <a:prstGeom xmlns:a="http://schemas.openxmlformats.org/drawingml/2006/main" prst="ellipse">
            <a:avLst/>
          </a:prstGeom>
          <a:solidFill xmlns:a="http://schemas.openxmlformats.org/drawingml/2006/main">
            <a:schemeClr val="accent3"/>
          </a:solidFill>
          <a:ln xmlns:a="http://schemas.openxmlformats.org/drawingml/2006/main">
            <a:noFill/>
          </a:ln>
        </p:spPr>
      </p:sp>
      <p:sp>
        <p:nvSpPr>
          <p:cNvPr id="16" name="TextBox 16">
            <a:extLst xmlns:a="http://schemas.openxmlformats.org/drawingml/2006/main">
              <a:ext uri="{FF2B5EF4-FFF2-40B4-BE49-F238E27FC236}">
                <a16:creationId xmlns:a16="http://schemas.microsoft.com/office/drawing/2014/main" id="{C4A2D837-0E9E-4AC4-9434-C518552814A3}"/>
              </a:ext>
            </a:extLst>
          </p:cNvPr>
          <p:cNvSpPr>
            <a:spLocks xmlns:a="http://schemas.openxmlformats.org/drawingml/2006/main" noGrp="1"/>
          </p:cNvSpPr>
          <p:nvPr/>
        </p:nvSpPr>
        <p:spPr>
          <a:xfrm xmlns:a="http://schemas.openxmlformats.org/drawingml/2006/main" rot="0" flipH="0" flipV="0">
            <a:off x="1349637" y="3368040"/>
            <a:ext cx="15822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FFFFFF"/>
                </a:solidFill>
                <a:latin typeface="Consolas"/>
                <a:ea typeface="Consolas"/>
                <a:cs typeface="Consolas"/>
              </a:rPr>
              <a:t>3</a:t>
            </a:r>
          </a:p>
        </p:txBody>
      </p:sp>
      <p:sp>
        <p:nvSpPr>
          <p:cNvPr id="17" name="TextBox 17">
            <a:extLst xmlns:a="http://schemas.openxmlformats.org/drawingml/2006/main">
              <a:ext uri="{FF2B5EF4-FFF2-40B4-BE49-F238E27FC236}">
                <a16:creationId xmlns:a16="http://schemas.microsoft.com/office/drawing/2014/main" id="{5D141287-8A7F-43A7-A079-2BBB6D8CFB82}"/>
              </a:ext>
            </a:extLst>
          </p:cNvPr>
          <p:cNvSpPr>
            <a:spLocks xmlns:a="http://schemas.openxmlformats.org/drawingml/2006/main" noGrp="1"/>
          </p:cNvSpPr>
          <p:nvPr/>
        </p:nvSpPr>
        <p:spPr>
          <a:xfrm xmlns:a="http://schemas.openxmlformats.org/drawingml/2006/main" rot="0" flipH="0" flipV="0">
            <a:off x="1952625" y="3171825"/>
            <a:ext cx="1809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KNOWN TRUTH</a:t>
            </a:r>
          </a:p>
        </p:txBody>
      </p:sp>
      <p:sp>
        <p:nvSpPr>
          <p:cNvPr id="18" name="TextBox 18">
            <a:extLst xmlns:a="http://schemas.openxmlformats.org/drawingml/2006/main">
              <a:ext uri="{FF2B5EF4-FFF2-40B4-BE49-F238E27FC236}">
                <a16:creationId xmlns:a16="http://schemas.microsoft.com/office/drawing/2014/main" id="{AC5788ED-F8CD-4113-867B-53D9B774F11C}"/>
              </a:ext>
            </a:extLst>
          </p:cNvPr>
          <p:cNvSpPr>
            <a:spLocks xmlns:a="http://schemas.openxmlformats.org/drawingml/2006/main" noGrp="1"/>
          </p:cNvSpPr>
          <p:nvPr/>
        </p:nvSpPr>
        <p:spPr>
          <a:xfrm xmlns:a="http://schemas.openxmlformats.org/drawingml/2006/main" rot="0" flipH="0" flipV="0">
            <a:off x="1952625" y="3448050"/>
            <a:ext cx="9144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4288" rIns="0" bIns="0" anchor="t">
            <a:noAutofit/>
          </a:bodyPr>
          <a:lstStyle xmlns:a="http://schemas.openxmlformats.org/drawingml/2006/main"/>
          <a:p xmlns:a="http://schemas.openxmlformats.org/drawingml/2006/main">
            <a:pPr algn="l">
              <a:buNone/>
            </a:pPr>
            <a:r>
              <a:rPr sz="2250" b="1">
                <a:solidFill>
                  <a:schemeClr val="dk1"/>
                </a:solidFill>
                <a:latin typeface="+mn-lt"/>
                <a:ea typeface="+mn-lt"/>
                <a:cs typeface="+mn-lt"/>
              </a:rPr>
              <a:t>What happens when the correct graph is known?</a:t>
            </a:r>
          </a:p>
        </p:txBody>
      </p:sp>
      <p:sp>
        <p:nvSpPr>
          <p:cNvPr id="19" name="Ellipse 19">
            <a:extLst xmlns:a="http://schemas.openxmlformats.org/drawingml/2006/main">
              <a:ext uri="{FF2B5EF4-FFF2-40B4-BE49-F238E27FC236}">
                <a16:creationId xmlns:a16="http://schemas.microsoft.com/office/drawing/2014/main" id="{14AB49E8-FDC4-4DF0-8E47-E8B2D53E519A}"/>
              </a:ext>
            </a:extLst>
          </p:cNvPr>
          <p:cNvSpPr>
            <a:spLocks xmlns:a="http://schemas.openxmlformats.org/drawingml/2006/main" noGrp="1"/>
          </p:cNvSpPr>
          <p:nvPr/>
        </p:nvSpPr>
        <p:spPr>
          <a:xfrm xmlns:a="http://schemas.openxmlformats.org/drawingml/2006/main" rot="0" flipH="0" flipV="0">
            <a:off x="1143000" y="4057650"/>
            <a:ext cx="571500" cy="571500"/>
          </a:xfrm>
          <a:prstGeom xmlns:a="http://schemas.openxmlformats.org/drawingml/2006/main" prst="ellipse">
            <a:avLst/>
          </a:prstGeom>
          <a:solidFill xmlns:a="http://schemas.openxmlformats.org/drawingml/2006/main">
            <a:srgbClr val="7562A8"/>
          </a:solidFill>
          <a:ln xmlns:a="http://schemas.openxmlformats.org/drawingml/2006/main">
            <a:noFill/>
          </a:ln>
        </p:spPr>
      </p:sp>
      <p:sp>
        <p:nvSpPr>
          <p:cNvPr id="20" name="TextBox 20">
            <a:extLst xmlns:a="http://schemas.openxmlformats.org/drawingml/2006/main">
              <a:ext uri="{FF2B5EF4-FFF2-40B4-BE49-F238E27FC236}">
                <a16:creationId xmlns:a16="http://schemas.microsoft.com/office/drawing/2014/main" id="{E0D44325-2D72-473B-BAA2-1DF5E6430C1D}"/>
              </a:ext>
            </a:extLst>
          </p:cNvPr>
          <p:cNvSpPr>
            <a:spLocks xmlns:a="http://schemas.openxmlformats.org/drawingml/2006/main" noGrp="1"/>
          </p:cNvSpPr>
          <p:nvPr/>
        </p:nvSpPr>
        <p:spPr>
          <a:xfrm xmlns:a="http://schemas.openxmlformats.org/drawingml/2006/main" rot="0" flipH="0" flipV="0">
            <a:off x="1349637" y="4244340"/>
            <a:ext cx="15822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FFFFFF"/>
                </a:solidFill>
                <a:latin typeface="Consolas"/>
                <a:ea typeface="Consolas"/>
                <a:cs typeface="Consolas"/>
              </a:rPr>
              <a:t>4</a:t>
            </a:r>
          </a:p>
        </p:txBody>
      </p:sp>
      <p:sp>
        <p:nvSpPr>
          <p:cNvPr id="21" name="TextBox 21">
            <a:extLst xmlns:a="http://schemas.openxmlformats.org/drawingml/2006/main">
              <a:ext uri="{FF2B5EF4-FFF2-40B4-BE49-F238E27FC236}">
                <a16:creationId xmlns:a16="http://schemas.microsoft.com/office/drawing/2014/main" id="{B56DCA79-AB72-4386-8E89-FA19E35785F6}"/>
              </a:ext>
            </a:extLst>
          </p:cNvPr>
          <p:cNvSpPr>
            <a:spLocks xmlns:a="http://schemas.openxmlformats.org/drawingml/2006/main" noGrp="1"/>
          </p:cNvSpPr>
          <p:nvPr/>
        </p:nvSpPr>
        <p:spPr>
          <a:xfrm xmlns:a="http://schemas.openxmlformats.org/drawingml/2006/main" rot="0" flipH="0" flipV="0">
            <a:off x="1952625" y="4048125"/>
            <a:ext cx="1809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7562A8"/>
                </a:solidFill>
                <a:latin typeface="+mn-lt"/>
                <a:ea typeface="+mn-lt"/>
                <a:cs typeface="+mn-lt"/>
              </a:rPr>
              <a:t>SOFTWARE</a:t>
            </a:r>
          </a:p>
        </p:txBody>
      </p:sp>
      <p:sp>
        <p:nvSpPr>
          <p:cNvPr id="22" name="TextBox 22">
            <a:extLst xmlns:a="http://schemas.openxmlformats.org/drawingml/2006/main">
              <a:ext uri="{FF2B5EF4-FFF2-40B4-BE49-F238E27FC236}">
                <a16:creationId xmlns:a16="http://schemas.microsoft.com/office/drawing/2014/main" id="{2851A0EA-E4F4-4E01-9045-43E56975EE18}"/>
              </a:ext>
            </a:extLst>
          </p:cNvPr>
          <p:cNvSpPr>
            <a:spLocks xmlns:a="http://schemas.openxmlformats.org/drawingml/2006/main" noGrp="1"/>
          </p:cNvSpPr>
          <p:nvPr/>
        </p:nvSpPr>
        <p:spPr>
          <a:xfrm xmlns:a="http://schemas.openxmlformats.org/drawingml/2006/main" rot="0" flipH="0" flipV="0">
            <a:off x="1952625" y="4324350"/>
            <a:ext cx="9144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4288" rIns="0" bIns="0" anchor="t">
            <a:noAutofit/>
          </a:bodyPr>
          <a:lstStyle xmlns:a="http://schemas.openxmlformats.org/drawingml/2006/main"/>
          <a:p xmlns:a="http://schemas.openxmlformats.org/drawingml/2006/main">
            <a:pPr algn="l">
              <a:buNone/>
            </a:pPr>
            <a:r>
              <a:rPr sz="2250" b="1">
                <a:solidFill>
                  <a:schemeClr val="dk1"/>
                </a:solidFill>
                <a:latin typeface="+mn-lt"/>
                <a:ea typeface="+mn-lt"/>
                <a:cs typeface="+mn-lt"/>
              </a:rPr>
              <a:t>Which comparisons across implementations are fair?</a:t>
            </a:r>
          </a:p>
        </p:txBody>
      </p:sp>
      <p:sp>
        <p:nvSpPr>
          <p:cNvPr id="23" name="Ellipse 23">
            <a:extLst xmlns:a="http://schemas.openxmlformats.org/drawingml/2006/main">
              <a:ext uri="{FF2B5EF4-FFF2-40B4-BE49-F238E27FC236}">
                <a16:creationId xmlns:a16="http://schemas.microsoft.com/office/drawing/2014/main" id="{B237EA12-8D47-42EE-958D-D94E85AEA1A0}"/>
              </a:ext>
            </a:extLst>
          </p:cNvPr>
          <p:cNvSpPr>
            <a:spLocks xmlns:a="http://schemas.openxmlformats.org/drawingml/2006/main" noGrp="1"/>
          </p:cNvSpPr>
          <p:nvPr/>
        </p:nvSpPr>
        <p:spPr>
          <a:xfrm xmlns:a="http://schemas.openxmlformats.org/drawingml/2006/main" rot="0" flipH="0" flipV="0">
            <a:off x="1143000" y="4933950"/>
            <a:ext cx="571500" cy="571500"/>
          </a:xfrm>
          <a:prstGeom xmlns:a="http://schemas.openxmlformats.org/drawingml/2006/main" prst="ellipse">
            <a:avLst/>
          </a:prstGeom>
          <a:solidFill xmlns:a="http://schemas.openxmlformats.org/drawingml/2006/main">
            <a:schemeClr val="accent6"/>
          </a:solidFill>
          <a:ln xmlns:a="http://schemas.openxmlformats.org/drawingml/2006/main">
            <a:noFill/>
          </a:ln>
        </p:spPr>
      </p:sp>
      <p:sp>
        <p:nvSpPr>
          <p:cNvPr id="24" name="TextBox 24">
            <a:extLst xmlns:a="http://schemas.openxmlformats.org/drawingml/2006/main">
              <a:ext uri="{FF2B5EF4-FFF2-40B4-BE49-F238E27FC236}">
                <a16:creationId xmlns:a16="http://schemas.microsoft.com/office/drawing/2014/main" id="{8282B5B5-0EB4-4351-8080-04E3CF6AEAB6}"/>
              </a:ext>
            </a:extLst>
          </p:cNvPr>
          <p:cNvSpPr>
            <a:spLocks xmlns:a="http://schemas.openxmlformats.org/drawingml/2006/main" noGrp="1"/>
          </p:cNvSpPr>
          <p:nvPr/>
        </p:nvSpPr>
        <p:spPr>
          <a:xfrm xmlns:a="http://schemas.openxmlformats.org/drawingml/2006/main" rot="0" flipH="0" flipV="0">
            <a:off x="1349637" y="5120640"/>
            <a:ext cx="15822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FFFFFF"/>
                </a:solidFill>
                <a:latin typeface="Consolas"/>
                <a:ea typeface="Consolas"/>
                <a:cs typeface="Consolas"/>
              </a:rPr>
              <a:t>5</a:t>
            </a:r>
          </a:p>
        </p:txBody>
      </p:sp>
      <p:sp>
        <p:nvSpPr>
          <p:cNvPr id="25" name="TextBox 25">
            <a:extLst xmlns:a="http://schemas.openxmlformats.org/drawingml/2006/main">
              <a:ext uri="{FF2B5EF4-FFF2-40B4-BE49-F238E27FC236}">
                <a16:creationId xmlns:a16="http://schemas.microsoft.com/office/drawing/2014/main" id="{59D17A3E-A870-42B8-847C-8BC9DAED97B0}"/>
              </a:ext>
            </a:extLst>
          </p:cNvPr>
          <p:cNvSpPr>
            <a:spLocks xmlns:a="http://schemas.openxmlformats.org/drawingml/2006/main" noGrp="1"/>
          </p:cNvSpPr>
          <p:nvPr/>
        </p:nvSpPr>
        <p:spPr>
          <a:xfrm xmlns:a="http://schemas.openxmlformats.org/drawingml/2006/main" rot="0" flipH="0" flipV="0">
            <a:off x="1952625" y="4924425"/>
            <a:ext cx="1809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3" rIns="0" bIns="0" anchor="t">
            <a:no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APPLICATION</a:t>
            </a:r>
          </a:p>
        </p:txBody>
      </p:sp>
      <p:sp>
        <p:nvSpPr>
          <p:cNvPr id="26" name="TextBox 26">
            <a:extLst xmlns:a="http://schemas.openxmlformats.org/drawingml/2006/main">
              <a:ext uri="{FF2B5EF4-FFF2-40B4-BE49-F238E27FC236}">
                <a16:creationId xmlns:a16="http://schemas.microsoft.com/office/drawing/2014/main" id="{E9AAE6F0-C1C8-4479-BFB6-0AF5180681CC}"/>
              </a:ext>
            </a:extLst>
          </p:cNvPr>
          <p:cNvSpPr>
            <a:spLocks xmlns:a="http://schemas.openxmlformats.org/drawingml/2006/main" noGrp="1"/>
          </p:cNvSpPr>
          <p:nvPr/>
        </p:nvSpPr>
        <p:spPr>
          <a:xfrm xmlns:a="http://schemas.openxmlformats.org/drawingml/2006/main" rot="0" flipH="0" flipV="0">
            <a:off x="1952625" y="5200650"/>
            <a:ext cx="9144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4288" rIns="0" bIns="0" anchor="t">
            <a:noAutofit/>
          </a:bodyPr>
          <a:lstStyle xmlns:a="http://schemas.openxmlformats.org/drawingml/2006/main"/>
          <a:p xmlns:a="http://schemas.openxmlformats.org/drawingml/2006/main">
            <a:pPr algn="l">
              <a:buNone/>
            </a:pPr>
            <a:r>
              <a:rPr sz="2250" b="1">
                <a:solidFill>
                  <a:schemeClr val="dk1"/>
                </a:solidFill>
                <a:latin typeface="+mn-lt"/>
                <a:ea typeface="+mn-lt"/>
                <a:cs typeface="+mn-lt"/>
              </a:rPr>
              <a:t>Which STAR findings are randomized, stable, or exploratory?</a:t>
            </a:r>
          </a:p>
        </p:txBody>
      </p:sp>
      <p:sp>
        <p:nvSpPr>
          <p:cNvPr id="28" name="TextBox 28">
            <a:extLst xmlns:a="http://schemas.openxmlformats.org/drawingml/2006/main">
              <a:ext uri="{FF2B5EF4-FFF2-40B4-BE49-F238E27FC236}">
                <a16:creationId xmlns:a16="http://schemas.microsoft.com/office/drawing/2014/main" id="{EE9AAC82-565B-4023-A693-DBC775137769}"/>
              </a:ext>
            </a:extLst>
          </p:cNvPr>
          <p:cNvSpPr>
            <a:spLocks xmlns:a="http://schemas.openxmlformats.org/drawingml/2006/main" noGrp="1"/>
          </p:cNvSpPr>
          <p:nvPr/>
        </p:nvSpPr>
        <p:spPr>
          <a:xfrm xmlns:a="http://schemas.openxmlformats.org/drawingml/2006/main" rot="0" flipH="0" flipV="0">
            <a:off x="525018" y="5755958"/>
            <a:ext cx="6473000"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accent1"/>
                </a:solidFill>
                <a:latin typeface="+mn-lt"/>
                <a:ea typeface="+mn-lt"/>
                <a:cs typeface="+mn-lt"/>
              </a:rPr>
              <a:t>Source fidelity → validation → application interpretation.</a:t>
            </a:r>
          </a:p>
        </p:txBody>
      </p:sp>
      <p:sp>
        <p:nvSpPr>
          <p:cNvPr id="29" name="TextBox 29">
            <a:extLst xmlns:a="http://schemas.openxmlformats.org/drawingml/2006/main">
              <a:ext uri="{FF2B5EF4-FFF2-40B4-BE49-F238E27FC236}">
                <a16:creationId xmlns:a16="http://schemas.microsoft.com/office/drawing/2014/main" id="{818F69A4-5D13-4923-9128-BCA32C7B17F6}"/>
              </a:ext>
            </a:extLst>
          </p:cNvPr>
          <p:cNvSpPr>
            <a:spLocks xmlns:a="http://schemas.openxmlformats.org/drawingml/2006/main" noGrp="1"/>
          </p:cNvSpPr>
          <p:nvPr/>
        </p:nvSpPr>
        <p:spPr>
          <a:xfrm xmlns:a="http://schemas.openxmlformats.org/drawingml/2006/main" rot="0" flipH="0" flipV="0">
            <a:off x="525018" y="6013132"/>
            <a:ext cx="6625098"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accent1"/>
                </a:solidFill>
                <a:latin typeface="+mn-lt"/>
                <a:ea typeface="+mn-lt"/>
                <a:cs typeface="+mn-lt"/>
              </a:rPr>
              <a:t>An attractive real-data graph cannot reverse this order.</a:t>
            </a:r>
          </a:p>
        </p:txBody>
      </p:sp>
      <p:sp>
        <p:nvSpPr>
          <p:cNvPr id="31" name="TextBox 31">
            <a:extLst xmlns:a="http://schemas.openxmlformats.org/drawingml/2006/main">
              <a:ext uri="{FF2B5EF4-FFF2-40B4-BE49-F238E27FC236}">
                <a16:creationId xmlns:a16="http://schemas.microsoft.com/office/drawing/2014/main" id="{BE10CAC9-B8BF-4D79-9294-F891A3CF0017}"/>
              </a:ext>
            </a:extLst>
          </p:cNvPr>
          <p:cNvSpPr>
            <a:spLocks xmlns:a="http://schemas.openxmlformats.org/drawingml/2006/main" noGrp="1"/>
          </p:cNvSpPr>
          <p:nvPr/>
        </p:nvSpPr>
        <p:spPr>
          <a:xfrm xmlns:a="http://schemas.openxmlformats.org/drawingml/2006/main" rot="0" flipH="0" flipV="0">
            <a:off x="527304" y="6337935"/>
            <a:ext cx="631757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Evaluation framework used throughout the report and reproducibility artifacts</a:t>
            </a:r>
          </a:p>
        </p:txBody>
      </p:sp>
      <p:sp>
        <p:nvSpPr>
          <p:cNvPr id="32" name="TextBox 32">
            <a:extLst xmlns:a="http://schemas.openxmlformats.org/drawingml/2006/main">
              <a:ext uri="{FF2B5EF4-FFF2-40B4-BE49-F238E27FC236}">
                <a16:creationId xmlns:a16="http://schemas.microsoft.com/office/drawing/2014/main" id="{C5B0AC9A-ADC1-4BE3-97E1-F48EA032BDD8}"/>
              </a:ext>
            </a:extLst>
          </p:cNvPr>
          <p:cNvSpPr>
            <a:spLocks xmlns:a="http://schemas.openxmlformats.org/drawingml/2006/main" noGrp="1"/>
          </p:cNvSpPr>
          <p:nvPr/>
        </p:nvSpPr>
        <p:spPr>
          <a:xfrm xmlns:a="http://schemas.openxmlformats.org/drawingml/2006/main" rot="0" flipH="0" flipV="0">
            <a:off x="11111332" y="6337935"/>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03 / 15</a:t>
            </a:r>
          </a:p>
        </p:txBody>
      </p:sp>
    </p:spTree>
    <p:extLst>
      <p:ext uri="{BB962C8B-B14F-4D97-AF65-F5344CB8AC3E}">
        <p14:creationId xmlns:p14="http://schemas.microsoft.com/office/powerpoint/2010/main" val="917280146"/>
      </p:ext>
    </p:extLst>
  </p:cSld>
</p:sld>
</file>

<file path=ppt/slides/slide4.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3D745815-A37C-44FA-9DE6-BB11451EADF4}"/>
              </a:ext>
            </a:extLst>
          </p:cNvPr>
          <p:cNvSpPr>
            <a:spLocks xmlns:a="http://schemas.openxmlformats.org/drawingml/2006/main" noGrp="1"/>
          </p:cNvSpPr>
          <p:nvPr/>
        </p:nvSpPr>
        <p:spPr>
          <a:xfrm xmlns:a="http://schemas.openxmlformats.org/drawingml/2006/main" rot="0" flipH="0" flipV="0">
            <a:off x="517398" y="364808"/>
            <a:ext cx="9889236" cy="6160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150" b="1">
                <a:solidFill>
                  <a:schemeClr val="accent1"/>
                </a:solidFill>
                <a:latin typeface="+mj-lt"/>
                <a:ea typeface="+mj-lt"/>
                <a:cs typeface="+mj-lt"/>
              </a:rPr>
              <a:t>Original FCI Closes Non-Local Separations</a:t>
            </a:r>
          </a:p>
        </p:txBody>
      </p:sp>
      <p:sp>
        <p:nvSpPr>
          <p:cNvPr id="3" name="TextBox 3">
            <a:extLst xmlns:a="http://schemas.openxmlformats.org/drawingml/2006/main">
              <a:ext uri="{FF2B5EF4-FFF2-40B4-BE49-F238E27FC236}">
                <a16:creationId xmlns:a16="http://schemas.microsoft.com/office/drawing/2014/main" id="{141B4CA1-DD85-4F53-BDAE-BA51F4D7201A}"/>
              </a:ext>
            </a:extLst>
          </p:cNvPr>
          <p:cNvSpPr>
            <a:spLocks xmlns:a="http://schemas.openxmlformats.org/drawingml/2006/main" noGrp="1"/>
          </p:cNvSpPr>
          <p:nvPr/>
        </p:nvSpPr>
        <p:spPr>
          <a:xfrm xmlns:a="http://schemas.openxmlformats.org/drawingml/2006/main" rot="0" flipH="0" flipV="0">
            <a:off x="9837115" y="397192"/>
            <a:ext cx="182834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chemeClr val="accent2"/>
                </a:solidFill>
                <a:latin typeface="Consolas"/>
                <a:ea typeface="Consolas"/>
                <a:cs typeface="Consolas"/>
              </a:rPr>
              <a:t>SPIRTES ET AL. 2000</a:t>
            </a:r>
          </a:p>
        </p:txBody>
      </p:sp>
      <p:sp>
        <p:nvSpPr>
          <p:cNvPr id="4" name="Line 4">
            <a:extLst xmlns:a="http://schemas.openxmlformats.org/drawingml/2006/main">
              <a:ext uri="{FF2B5EF4-FFF2-40B4-BE49-F238E27FC236}">
                <a16:creationId xmlns:a16="http://schemas.microsoft.com/office/drawing/2014/main" id="{E16BA6B7-1B71-492E-BFF5-13D40D687808}"/>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TextBox 6">
            <a:extLst xmlns:a="http://schemas.openxmlformats.org/drawingml/2006/main">
              <a:ext uri="{FF2B5EF4-FFF2-40B4-BE49-F238E27FC236}">
                <a16:creationId xmlns:a16="http://schemas.microsoft.com/office/drawing/2014/main" id="{CE5BE89D-AC2D-4ECA-B41C-ACB9CAF87EF0}"/>
              </a:ext>
            </a:extLst>
          </p:cNvPr>
          <p:cNvSpPr>
            <a:spLocks xmlns:a="http://schemas.openxmlformats.org/drawingml/2006/main" noGrp="1"/>
          </p:cNvSpPr>
          <p:nvPr/>
        </p:nvSpPr>
        <p:spPr>
          <a:xfrm xmlns:a="http://schemas.openxmlformats.org/drawingml/2006/main" rot="0" flipH="0" flipV="0">
            <a:off x="526542" y="1406842"/>
            <a:ext cx="301793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2"/>
                </a:solidFill>
                <a:latin typeface="+mn-lt"/>
                <a:ea typeface="+mn-lt"/>
                <a:cs typeface="+mn-lt"/>
              </a:rPr>
              <a:t>HISTORICAL SIX-STAGE SCHEDULE</a:t>
            </a:r>
          </a:p>
        </p:txBody>
      </p:sp>
      <p:sp>
        <p:nvSpPr>
          <p:cNvPr id="7" name="Rectangle 7">
            <a:extLst xmlns:a="http://schemas.openxmlformats.org/drawingml/2006/main">
              <a:ext uri="{FF2B5EF4-FFF2-40B4-BE49-F238E27FC236}">
                <a16:creationId xmlns:a16="http://schemas.microsoft.com/office/drawing/2014/main" id="{EA0AC14B-5E15-498A-8361-F63E5C4EDB4A}"/>
              </a:ext>
            </a:extLst>
          </p:cNvPr>
          <p:cNvSpPr>
            <a:spLocks xmlns:a="http://schemas.openxmlformats.org/drawingml/2006/main" noGrp="1"/>
          </p:cNvSpPr>
          <p:nvPr/>
        </p:nvSpPr>
        <p:spPr>
          <a:xfrm xmlns:a="http://schemas.openxmlformats.org/drawingml/2006/main" rot="0" flipH="0" flipV="0">
            <a:off x="533400" y="1790700"/>
            <a:ext cx="150495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19050">
            <a:solidFill>
              <a:schemeClr val="accent2"/>
            </a:solidFill>
          </a:ln>
        </p:spPr>
      </p:sp>
      <p:sp>
        <p:nvSpPr>
          <p:cNvPr id="8" name="TextBox 8">
            <a:extLst xmlns:a="http://schemas.openxmlformats.org/drawingml/2006/main">
              <a:ext uri="{FF2B5EF4-FFF2-40B4-BE49-F238E27FC236}">
                <a16:creationId xmlns:a16="http://schemas.microsoft.com/office/drawing/2014/main" id="{8565044B-92C6-49D4-9F60-D966B321C2CC}"/>
              </a:ext>
            </a:extLst>
          </p:cNvPr>
          <p:cNvSpPr>
            <a:spLocks xmlns:a="http://schemas.openxmlformats.org/drawingml/2006/main" noGrp="1"/>
          </p:cNvSpPr>
          <p:nvPr/>
        </p:nvSpPr>
        <p:spPr>
          <a:xfrm xmlns:a="http://schemas.openxmlformats.org/drawingml/2006/main" rot="0" flipH="0" flipV="0">
            <a:off x="1161640" y="19526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01</a:t>
            </a:r>
          </a:p>
        </p:txBody>
      </p:sp>
      <p:sp>
        <p:nvSpPr>
          <p:cNvPr id="9" name="TextBox 9">
            <a:extLst xmlns:a="http://schemas.openxmlformats.org/drawingml/2006/main">
              <a:ext uri="{FF2B5EF4-FFF2-40B4-BE49-F238E27FC236}">
                <a16:creationId xmlns:a16="http://schemas.microsoft.com/office/drawing/2014/main" id="{9BF97277-DFA5-4A1E-ADEF-78884D62D894}"/>
              </a:ext>
            </a:extLst>
          </p:cNvPr>
          <p:cNvSpPr>
            <a:spLocks xmlns:a="http://schemas.openxmlformats.org/drawingml/2006/main" noGrp="1"/>
          </p:cNvSpPr>
          <p:nvPr/>
        </p:nvSpPr>
        <p:spPr>
          <a:xfrm xmlns:a="http://schemas.openxmlformats.org/drawingml/2006/main" rot="0" flipH="0" flipV="0">
            <a:off x="766630" y="2231708"/>
            <a:ext cx="103848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Complete</a:t>
            </a:r>
          </a:p>
        </p:txBody>
      </p:sp>
      <p:sp>
        <p:nvSpPr>
          <p:cNvPr id="10" name="TextBox 10">
            <a:extLst xmlns:a="http://schemas.openxmlformats.org/drawingml/2006/main">
              <a:ext uri="{FF2B5EF4-FFF2-40B4-BE49-F238E27FC236}">
                <a16:creationId xmlns:a16="http://schemas.microsoft.com/office/drawing/2014/main" id="{604E301F-2445-4709-BEFF-96E5715BCE36}"/>
              </a:ext>
            </a:extLst>
          </p:cNvPr>
          <p:cNvSpPr>
            <a:spLocks xmlns:a="http://schemas.openxmlformats.org/drawingml/2006/main" noGrp="1"/>
          </p:cNvSpPr>
          <p:nvPr/>
        </p:nvSpPr>
        <p:spPr>
          <a:xfrm xmlns:a="http://schemas.openxmlformats.org/drawingml/2006/main" rot="0" flipH="0" flipV="0">
            <a:off x="956803" y="2488882"/>
            <a:ext cx="658144"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graph</a:t>
            </a:r>
          </a:p>
        </p:txBody>
      </p:sp>
      <p:sp>
        <p:nvSpPr>
          <p:cNvPr id="11" name="Line 11">
            <a:extLst xmlns:a="http://schemas.openxmlformats.org/drawingml/2006/main">
              <a:ext uri="{FF2B5EF4-FFF2-40B4-BE49-F238E27FC236}">
                <a16:creationId xmlns:a16="http://schemas.microsoft.com/office/drawing/2014/main" id="{45DF32B3-C871-4583-BE8F-42343EBF385A}"/>
              </a:ext>
            </a:extLst>
          </p:cNvPr>
          <p:cNvSpPr>
            <a:spLocks xmlns:a="http://schemas.openxmlformats.org/drawingml/2006/main" noGrp="1"/>
          </p:cNvSpPr>
          <p:nvPr/>
        </p:nvSpPr>
        <p:spPr>
          <a:xfrm xmlns:a="http://schemas.openxmlformats.org/drawingml/2006/main" rot="0" flipH="0" flipV="0">
            <a:off x="2038350" y="2324100"/>
            <a:ext cx="2857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12" name="Rectangle 12">
            <a:extLst xmlns:a="http://schemas.openxmlformats.org/drawingml/2006/main">
              <a:ext uri="{FF2B5EF4-FFF2-40B4-BE49-F238E27FC236}">
                <a16:creationId xmlns:a16="http://schemas.microsoft.com/office/drawing/2014/main" id="{29FECA0E-C6D1-4A0B-8AE6-C45ACE8A875F}"/>
              </a:ext>
            </a:extLst>
          </p:cNvPr>
          <p:cNvSpPr>
            <a:spLocks xmlns:a="http://schemas.openxmlformats.org/drawingml/2006/main" noGrp="1"/>
          </p:cNvSpPr>
          <p:nvPr/>
        </p:nvSpPr>
        <p:spPr>
          <a:xfrm xmlns:a="http://schemas.openxmlformats.org/drawingml/2006/main" rot="0" flipH="0" flipV="0">
            <a:off x="2419350" y="1790700"/>
            <a:ext cx="150495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19050">
            <a:solidFill>
              <a:schemeClr val="accent2"/>
            </a:solidFill>
          </a:ln>
        </p:spPr>
      </p:sp>
      <p:sp>
        <p:nvSpPr>
          <p:cNvPr id="13" name="TextBox 13">
            <a:extLst xmlns:a="http://schemas.openxmlformats.org/drawingml/2006/main">
              <a:ext uri="{FF2B5EF4-FFF2-40B4-BE49-F238E27FC236}">
                <a16:creationId xmlns:a16="http://schemas.microsoft.com/office/drawing/2014/main" id="{33F6045E-F900-4C29-9775-3CB2C7ABE093}"/>
              </a:ext>
            </a:extLst>
          </p:cNvPr>
          <p:cNvSpPr>
            <a:spLocks xmlns:a="http://schemas.openxmlformats.org/drawingml/2006/main" noGrp="1"/>
          </p:cNvSpPr>
          <p:nvPr/>
        </p:nvSpPr>
        <p:spPr>
          <a:xfrm xmlns:a="http://schemas.openxmlformats.org/drawingml/2006/main" rot="0" flipH="0" flipV="0">
            <a:off x="3047590" y="19526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02</a:t>
            </a:r>
          </a:p>
        </p:txBody>
      </p:sp>
      <p:sp>
        <p:nvSpPr>
          <p:cNvPr id="14" name="TextBox 14">
            <a:extLst xmlns:a="http://schemas.openxmlformats.org/drawingml/2006/main">
              <a:ext uri="{FF2B5EF4-FFF2-40B4-BE49-F238E27FC236}">
                <a16:creationId xmlns:a16="http://schemas.microsoft.com/office/drawing/2014/main" id="{BDEEFFA9-AE53-480B-9E8D-E46CB77F5D68}"/>
              </a:ext>
            </a:extLst>
          </p:cNvPr>
          <p:cNvSpPr>
            <a:spLocks xmlns:a="http://schemas.openxmlformats.org/drawingml/2006/main" noGrp="1"/>
          </p:cNvSpPr>
          <p:nvPr/>
        </p:nvSpPr>
        <p:spPr>
          <a:xfrm xmlns:a="http://schemas.openxmlformats.org/drawingml/2006/main" rot="0" flipH="0" flipV="0">
            <a:off x="2611907" y="2231708"/>
            <a:ext cx="1119835"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Adjacency</a:t>
            </a:r>
          </a:p>
        </p:txBody>
      </p:sp>
      <p:sp>
        <p:nvSpPr>
          <p:cNvPr id="15" name="TextBox 15">
            <a:extLst xmlns:a="http://schemas.openxmlformats.org/drawingml/2006/main">
              <a:ext uri="{FF2B5EF4-FFF2-40B4-BE49-F238E27FC236}">
                <a16:creationId xmlns:a16="http://schemas.microsoft.com/office/drawing/2014/main" id="{8AA1F3FB-2A9E-46B0-9DDA-412130020CB8}"/>
              </a:ext>
            </a:extLst>
          </p:cNvPr>
          <p:cNvSpPr>
            <a:spLocks xmlns:a="http://schemas.openxmlformats.org/drawingml/2006/main" noGrp="1"/>
          </p:cNvSpPr>
          <p:nvPr/>
        </p:nvSpPr>
        <p:spPr>
          <a:xfrm xmlns:a="http://schemas.openxmlformats.org/drawingml/2006/main" rot="0" flipH="0" flipV="0">
            <a:off x="2615354" y="2488882"/>
            <a:ext cx="1112941"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 sepsets</a:t>
            </a:r>
          </a:p>
        </p:txBody>
      </p:sp>
      <p:sp>
        <p:nvSpPr>
          <p:cNvPr id="16" name="Line 16">
            <a:extLst xmlns:a="http://schemas.openxmlformats.org/drawingml/2006/main">
              <a:ext uri="{FF2B5EF4-FFF2-40B4-BE49-F238E27FC236}">
                <a16:creationId xmlns:a16="http://schemas.microsoft.com/office/drawing/2014/main" id="{E9495076-6464-427F-8BB8-343A3CD8DE5F}"/>
              </a:ext>
            </a:extLst>
          </p:cNvPr>
          <p:cNvSpPr>
            <a:spLocks xmlns:a="http://schemas.openxmlformats.org/drawingml/2006/main" noGrp="1"/>
          </p:cNvSpPr>
          <p:nvPr/>
        </p:nvSpPr>
        <p:spPr>
          <a:xfrm xmlns:a="http://schemas.openxmlformats.org/drawingml/2006/main" rot="0" flipH="0" flipV="0">
            <a:off x="3924300" y="2324100"/>
            <a:ext cx="2857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17" name="Rectangle 17">
            <a:extLst xmlns:a="http://schemas.openxmlformats.org/drawingml/2006/main">
              <a:ext uri="{FF2B5EF4-FFF2-40B4-BE49-F238E27FC236}">
                <a16:creationId xmlns:a16="http://schemas.microsoft.com/office/drawing/2014/main" id="{B7393B97-0D91-478E-920F-402FD508305E}"/>
              </a:ext>
            </a:extLst>
          </p:cNvPr>
          <p:cNvSpPr>
            <a:spLocks xmlns:a="http://schemas.openxmlformats.org/drawingml/2006/main" noGrp="1"/>
          </p:cNvSpPr>
          <p:nvPr/>
        </p:nvSpPr>
        <p:spPr>
          <a:xfrm xmlns:a="http://schemas.openxmlformats.org/drawingml/2006/main" rot="0" flipH="0" flipV="0">
            <a:off x="4305300" y="1790700"/>
            <a:ext cx="150495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19050">
            <a:solidFill>
              <a:schemeClr val="accent2"/>
            </a:solidFill>
          </a:ln>
        </p:spPr>
      </p:sp>
      <p:sp>
        <p:nvSpPr>
          <p:cNvPr id="18" name="TextBox 18">
            <a:extLst xmlns:a="http://schemas.openxmlformats.org/drawingml/2006/main">
              <a:ext uri="{FF2B5EF4-FFF2-40B4-BE49-F238E27FC236}">
                <a16:creationId xmlns:a16="http://schemas.microsoft.com/office/drawing/2014/main" id="{FD8E94A6-6DB8-4B17-977F-948C57DF9F2B}"/>
              </a:ext>
            </a:extLst>
          </p:cNvPr>
          <p:cNvSpPr>
            <a:spLocks xmlns:a="http://schemas.openxmlformats.org/drawingml/2006/main" noGrp="1"/>
          </p:cNvSpPr>
          <p:nvPr/>
        </p:nvSpPr>
        <p:spPr>
          <a:xfrm xmlns:a="http://schemas.openxmlformats.org/drawingml/2006/main" rot="0" flipH="0" flipV="0">
            <a:off x="4933540" y="19526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03</a:t>
            </a:r>
          </a:p>
        </p:txBody>
      </p:sp>
      <p:sp>
        <p:nvSpPr>
          <p:cNvPr id="19" name="TextBox 19">
            <a:extLst xmlns:a="http://schemas.openxmlformats.org/drawingml/2006/main">
              <a:ext uri="{FF2B5EF4-FFF2-40B4-BE49-F238E27FC236}">
                <a16:creationId xmlns:a16="http://schemas.microsoft.com/office/drawing/2014/main" id="{EB7AAC64-9145-4A58-9A35-03E6229EFC9A}"/>
              </a:ext>
            </a:extLst>
          </p:cNvPr>
          <p:cNvSpPr>
            <a:spLocks xmlns:a="http://schemas.openxmlformats.org/drawingml/2006/main" noGrp="1"/>
          </p:cNvSpPr>
          <p:nvPr/>
        </p:nvSpPr>
        <p:spPr>
          <a:xfrm xmlns:a="http://schemas.openxmlformats.org/drawingml/2006/main" rot="0" flipH="0" flipV="0">
            <a:off x="4517088" y="2247900"/>
            <a:ext cx="108137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dk1"/>
                </a:solidFill>
                <a:latin typeface="+mn-lt"/>
                <a:ea typeface="+mn-lt"/>
                <a:cs typeface="+mn-lt"/>
              </a:rPr>
              <a:t>Unshielded</a:t>
            </a:r>
          </a:p>
        </p:txBody>
      </p:sp>
      <p:sp>
        <p:nvSpPr>
          <p:cNvPr id="20" name="TextBox 20">
            <a:extLst xmlns:a="http://schemas.openxmlformats.org/drawingml/2006/main">
              <a:ext uri="{FF2B5EF4-FFF2-40B4-BE49-F238E27FC236}">
                <a16:creationId xmlns:a16="http://schemas.microsoft.com/office/drawing/2014/main" id="{A548D79E-6520-4221-A903-4260F19AEF77}"/>
              </a:ext>
            </a:extLst>
          </p:cNvPr>
          <p:cNvSpPr>
            <a:spLocks xmlns:a="http://schemas.openxmlformats.org/drawingml/2006/main" noGrp="1"/>
          </p:cNvSpPr>
          <p:nvPr/>
        </p:nvSpPr>
        <p:spPr>
          <a:xfrm xmlns:a="http://schemas.openxmlformats.org/drawingml/2006/main" rot="0" flipH="0" flipV="0">
            <a:off x="4604899" y="2505075"/>
            <a:ext cx="905751"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dk1"/>
                </a:solidFill>
                <a:latin typeface="+mn-lt"/>
                <a:ea typeface="+mn-lt"/>
                <a:cs typeface="+mn-lt"/>
              </a:rPr>
              <a:t>colliders</a:t>
            </a:r>
          </a:p>
        </p:txBody>
      </p:sp>
      <p:sp>
        <p:nvSpPr>
          <p:cNvPr id="21" name="Line 21">
            <a:extLst xmlns:a="http://schemas.openxmlformats.org/drawingml/2006/main">
              <a:ext uri="{FF2B5EF4-FFF2-40B4-BE49-F238E27FC236}">
                <a16:creationId xmlns:a16="http://schemas.microsoft.com/office/drawing/2014/main" id="{82A9B2B2-7F1D-4E22-9B90-51EDCFD17A59}"/>
              </a:ext>
            </a:extLst>
          </p:cNvPr>
          <p:cNvSpPr>
            <a:spLocks xmlns:a="http://schemas.openxmlformats.org/drawingml/2006/main" noGrp="1"/>
          </p:cNvSpPr>
          <p:nvPr/>
        </p:nvSpPr>
        <p:spPr>
          <a:xfrm xmlns:a="http://schemas.openxmlformats.org/drawingml/2006/main" rot="0" flipH="0" flipV="0">
            <a:off x="5810250" y="2324100"/>
            <a:ext cx="2857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2" name="Rectangle 22">
            <a:extLst xmlns:a="http://schemas.openxmlformats.org/drawingml/2006/main">
              <a:ext uri="{FF2B5EF4-FFF2-40B4-BE49-F238E27FC236}">
                <a16:creationId xmlns:a16="http://schemas.microsoft.com/office/drawing/2014/main" id="{68F9D871-420A-4C8C-89CF-990E8CD5C0A0}"/>
              </a:ext>
            </a:extLst>
          </p:cNvPr>
          <p:cNvSpPr>
            <a:spLocks xmlns:a="http://schemas.openxmlformats.org/drawingml/2006/main" noGrp="1"/>
          </p:cNvSpPr>
          <p:nvPr/>
        </p:nvSpPr>
        <p:spPr>
          <a:xfrm xmlns:a="http://schemas.openxmlformats.org/drawingml/2006/main" rot="0" flipH="0" flipV="0">
            <a:off x="6191250" y="1676400"/>
            <a:ext cx="1695450" cy="1295400"/>
          </a:xfrm>
          <a:prstGeom xmlns:a="http://schemas.openxmlformats.org/drawingml/2006/main" prst="roundRect">
            <a:avLst>
              <a:gd name="adj" fmla="val 8824"/>
            </a:avLst>
          </a:prstGeom>
          <a:solidFill xmlns:a="http://schemas.openxmlformats.org/drawingml/2006/main">
            <a:srgbClr val="E8F0FF"/>
          </a:solidFill>
          <a:ln xmlns:a="http://schemas.openxmlformats.org/drawingml/2006/main" w="28575">
            <a:solidFill>
              <a:schemeClr val="accent2"/>
            </a:solidFill>
          </a:ln>
        </p:spPr>
      </p:sp>
      <p:sp>
        <p:nvSpPr>
          <p:cNvPr id="23" name="TextBox 23">
            <a:extLst xmlns:a="http://schemas.openxmlformats.org/drawingml/2006/main">
              <a:ext uri="{FF2B5EF4-FFF2-40B4-BE49-F238E27FC236}">
                <a16:creationId xmlns:a16="http://schemas.microsoft.com/office/drawing/2014/main" id="{3AECA213-5073-4C82-BE7E-6EA85C6FC1D2}"/>
              </a:ext>
            </a:extLst>
          </p:cNvPr>
          <p:cNvSpPr>
            <a:spLocks xmlns:a="http://schemas.openxmlformats.org/drawingml/2006/main" noGrp="1"/>
          </p:cNvSpPr>
          <p:nvPr/>
        </p:nvSpPr>
        <p:spPr>
          <a:xfrm xmlns:a="http://schemas.openxmlformats.org/drawingml/2006/main" rot="0" flipH="0" flipV="0">
            <a:off x="6914740" y="18764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04</a:t>
            </a:r>
          </a:p>
        </p:txBody>
      </p:sp>
      <p:sp>
        <p:nvSpPr>
          <p:cNvPr id="24" name="TextBox 24">
            <a:extLst xmlns:a="http://schemas.openxmlformats.org/drawingml/2006/main">
              <a:ext uri="{FF2B5EF4-FFF2-40B4-BE49-F238E27FC236}">
                <a16:creationId xmlns:a16="http://schemas.microsoft.com/office/drawing/2014/main" id="{CB3C5BC2-F369-4B7F-AE01-4EFD4E078225}"/>
              </a:ext>
            </a:extLst>
          </p:cNvPr>
          <p:cNvSpPr>
            <a:spLocks xmlns:a="http://schemas.openxmlformats.org/drawingml/2006/main" noGrp="1"/>
          </p:cNvSpPr>
          <p:nvPr/>
        </p:nvSpPr>
        <p:spPr>
          <a:xfrm xmlns:a="http://schemas.openxmlformats.org/drawingml/2006/main" rot="0" flipH="0" flipV="0">
            <a:off x="6257925" y="2143125"/>
            <a:ext cx="1562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ctr">
              <a:buNone/>
            </a:pPr>
            <a:r>
              <a:rPr sz="1350" b="1">
                <a:solidFill>
                  <a:schemeClr val="accent1"/>
                </a:solidFill>
                <a:latin typeface="+mn-lt"/>
                <a:ea typeface="+mn-lt"/>
                <a:cs typeface="+mn-lt"/>
              </a:rPr>
              <a:t>Possible-D-SEP</a:t>
            </a:r>
          </a:p>
        </p:txBody>
      </p:sp>
      <p:sp>
        <p:nvSpPr>
          <p:cNvPr id="25" name="TextBox 25">
            <a:extLst xmlns:a="http://schemas.openxmlformats.org/drawingml/2006/main">
              <a:ext uri="{FF2B5EF4-FFF2-40B4-BE49-F238E27FC236}">
                <a16:creationId xmlns:a16="http://schemas.microsoft.com/office/drawing/2014/main" id="{094FF31C-B516-448B-9E55-22C5FD582562}"/>
              </a:ext>
            </a:extLst>
          </p:cNvPr>
          <p:cNvSpPr>
            <a:spLocks xmlns:a="http://schemas.openxmlformats.org/drawingml/2006/main" noGrp="1"/>
          </p:cNvSpPr>
          <p:nvPr/>
        </p:nvSpPr>
        <p:spPr>
          <a:xfrm xmlns:a="http://schemas.openxmlformats.org/drawingml/2006/main" rot="0" flipH="0" flipV="0">
            <a:off x="6257925" y="2438400"/>
            <a:ext cx="15621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65246" rIns="0" bIns="0" anchor="t">
            <a:noAutofit/>
          </a:bodyPr>
          <a:lstStyle xmlns:a="http://schemas.openxmlformats.org/drawingml/2006/main"/>
          <a:p xmlns:a="http://schemas.openxmlformats.org/drawingml/2006/main">
            <a:pPr algn="ctr">
              <a:buNone/>
            </a:pPr>
            <a:r>
              <a:rPr sz="1420" b="1">
                <a:solidFill>
                  <a:schemeClr val="accent1"/>
                </a:solidFill>
                <a:latin typeface="+mn-lt"/>
                <a:ea typeface="+mn-lt"/>
                <a:cs typeface="+mn-lt"/>
              </a:rPr>
              <a:t>both orders</a:t>
            </a:r>
          </a:p>
        </p:txBody>
      </p:sp>
      <p:sp>
        <p:nvSpPr>
          <p:cNvPr id="26" name="Line 26">
            <a:extLst xmlns:a="http://schemas.openxmlformats.org/drawingml/2006/main">
              <a:ext uri="{FF2B5EF4-FFF2-40B4-BE49-F238E27FC236}">
                <a16:creationId xmlns:a16="http://schemas.microsoft.com/office/drawing/2014/main" id="{32D96441-0659-43A9-9151-1DA4DE89B425}"/>
              </a:ext>
            </a:extLst>
          </p:cNvPr>
          <p:cNvSpPr>
            <a:spLocks xmlns:a="http://schemas.openxmlformats.org/drawingml/2006/main" noGrp="1"/>
          </p:cNvSpPr>
          <p:nvPr/>
        </p:nvSpPr>
        <p:spPr>
          <a:xfrm xmlns:a="http://schemas.openxmlformats.org/drawingml/2006/main" rot="0" flipH="0" flipV="0">
            <a:off x="7886700" y="2324100"/>
            <a:ext cx="2857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7" name="Rectangle 27">
            <a:extLst xmlns:a="http://schemas.openxmlformats.org/drawingml/2006/main">
              <a:ext uri="{FF2B5EF4-FFF2-40B4-BE49-F238E27FC236}">
                <a16:creationId xmlns:a16="http://schemas.microsoft.com/office/drawing/2014/main" id="{B0226024-9EF4-4544-8AE7-339EEA950BF0}"/>
              </a:ext>
            </a:extLst>
          </p:cNvPr>
          <p:cNvSpPr>
            <a:spLocks xmlns:a="http://schemas.openxmlformats.org/drawingml/2006/main" noGrp="1"/>
          </p:cNvSpPr>
          <p:nvPr/>
        </p:nvSpPr>
        <p:spPr>
          <a:xfrm xmlns:a="http://schemas.openxmlformats.org/drawingml/2006/main" rot="0" flipH="0" flipV="0">
            <a:off x="8267700" y="1790700"/>
            <a:ext cx="150495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19050">
            <a:solidFill>
              <a:schemeClr val="accent2"/>
            </a:solidFill>
          </a:ln>
        </p:spPr>
      </p:sp>
      <p:sp>
        <p:nvSpPr>
          <p:cNvPr id="28" name="TextBox 28">
            <a:extLst xmlns:a="http://schemas.openxmlformats.org/drawingml/2006/main">
              <a:ext uri="{FF2B5EF4-FFF2-40B4-BE49-F238E27FC236}">
                <a16:creationId xmlns:a16="http://schemas.microsoft.com/office/drawing/2014/main" id="{C3A933EF-1046-4B26-A07D-C09A78B97AB6}"/>
              </a:ext>
            </a:extLst>
          </p:cNvPr>
          <p:cNvSpPr>
            <a:spLocks xmlns:a="http://schemas.openxmlformats.org/drawingml/2006/main" noGrp="1"/>
          </p:cNvSpPr>
          <p:nvPr/>
        </p:nvSpPr>
        <p:spPr>
          <a:xfrm xmlns:a="http://schemas.openxmlformats.org/drawingml/2006/main" rot="0" flipH="0" flipV="0">
            <a:off x="8895940" y="19526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05</a:t>
            </a:r>
          </a:p>
        </p:txBody>
      </p:sp>
      <p:sp>
        <p:nvSpPr>
          <p:cNvPr id="29" name="TextBox 29">
            <a:extLst xmlns:a="http://schemas.openxmlformats.org/drawingml/2006/main">
              <a:ext uri="{FF2B5EF4-FFF2-40B4-BE49-F238E27FC236}">
                <a16:creationId xmlns:a16="http://schemas.microsoft.com/office/drawing/2014/main" id="{99E3E110-CAFE-48B5-8CE3-51E717A5B89B}"/>
              </a:ext>
            </a:extLst>
          </p:cNvPr>
          <p:cNvSpPr>
            <a:spLocks xmlns:a="http://schemas.openxmlformats.org/drawingml/2006/main" noGrp="1"/>
          </p:cNvSpPr>
          <p:nvPr/>
        </p:nvSpPr>
        <p:spPr>
          <a:xfrm xmlns:a="http://schemas.openxmlformats.org/drawingml/2006/main" rot="0" flipH="0" flipV="0">
            <a:off x="8499734" y="2231708"/>
            <a:ext cx="1040882"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Remove +</a:t>
            </a:r>
          </a:p>
        </p:txBody>
      </p:sp>
      <p:sp>
        <p:nvSpPr>
          <p:cNvPr id="30" name="TextBox 30">
            <a:extLst xmlns:a="http://schemas.openxmlformats.org/drawingml/2006/main">
              <a:ext uri="{FF2B5EF4-FFF2-40B4-BE49-F238E27FC236}">
                <a16:creationId xmlns:a16="http://schemas.microsoft.com/office/drawing/2014/main" id="{B95F2779-5077-4B83-8C17-CE4807FF4F43}"/>
              </a:ext>
            </a:extLst>
          </p:cNvPr>
          <p:cNvSpPr>
            <a:spLocks xmlns:a="http://schemas.openxmlformats.org/drawingml/2006/main" noGrp="1"/>
          </p:cNvSpPr>
          <p:nvPr/>
        </p:nvSpPr>
        <p:spPr>
          <a:xfrm xmlns:a="http://schemas.openxmlformats.org/drawingml/2006/main" rot="0" flipH="0" flipV="0">
            <a:off x="8312106" y="2488882"/>
            <a:ext cx="141613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reset marks</a:t>
            </a:r>
          </a:p>
        </p:txBody>
      </p:sp>
      <p:sp>
        <p:nvSpPr>
          <p:cNvPr id="31" name="Line 31">
            <a:extLst xmlns:a="http://schemas.openxmlformats.org/drawingml/2006/main">
              <a:ext uri="{FF2B5EF4-FFF2-40B4-BE49-F238E27FC236}">
                <a16:creationId xmlns:a16="http://schemas.microsoft.com/office/drawing/2014/main" id="{9F34AEB4-2FA4-4D69-B0EC-FC729D9E3751}"/>
              </a:ext>
            </a:extLst>
          </p:cNvPr>
          <p:cNvSpPr>
            <a:spLocks xmlns:a="http://schemas.openxmlformats.org/drawingml/2006/main" noGrp="1"/>
          </p:cNvSpPr>
          <p:nvPr/>
        </p:nvSpPr>
        <p:spPr>
          <a:xfrm xmlns:a="http://schemas.openxmlformats.org/drawingml/2006/main" rot="0" flipH="0" flipV="0">
            <a:off x="9772650" y="2324100"/>
            <a:ext cx="28575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32" name="Rectangle 32">
            <a:extLst xmlns:a="http://schemas.openxmlformats.org/drawingml/2006/main">
              <a:ext uri="{FF2B5EF4-FFF2-40B4-BE49-F238E27FC236}">
                <a16:creationId xmlns:a16="http://schemas.microsoft.com/office/drawing/2014/main" id="{F0A39375-D1A2-4B0D-869A-F492EA54D4D3}"/>
              </a:ext>
            </a:extLst>
          </p:cNvPr>
          <p:cNvSpPr>
            <a:spLocks xmlns:a="http://schemas.openxmlformats.org/drawingml/2006/main" noGrp="1"/>
          </p:cNvSpPr>
          <p:nvPr/>
        </p:nvSpPr>
        <p:spPr>
          <a:xfrm xmlns:a="http://schemas.openxmlformats.org/drawingml/2006/main" rot="0" flipH="0" flipV="0">
            <a:off x="10153650" y="1790700"/>
            <a:ext cx="150495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19050">
            <a:solidFill>
              <a:schemeClr val="accent2"/>
            </a:solidFill>
          </a:ln>
        </p:spPr>
      </p:sp>
      <p:sp>
        <p:nvSpPr>
          <p:cNvPr id="33" name="TextBox 33">
            <a:extLst xmlns:a="http://schemas.openxmlformats.org/drawingml/2006/main">
              <a:ext uri="{FF2B5EF4-FFF2-40B4-BE49-F238E27FC236}">
                <a16:creationId xmlns:a16="http://schemas.microsoft.com/office/drawing/2014/main" id="{89DEC3BA-CE32-4B46-9888-5B618C0F7ABA}"/>
              </a:ext>
            </a:extLst>
          </p:cNvPr>
          <p:cNvSpPr>
            <a:spLocks xmlns:a="http://schemas.openxmlformats.org/drawingml/2006/main" noGrp="1"/>
          </p:cNvSpPr>
          <p:nvPr/>
        </p:nvSpPr>
        <p:spPr>
          <a:xfrm xmlns:a="http://schemas.openxmlformats.org/drawingml/2006/main" rot="0" flipH="0" flipV="0">
            <a:off x="10781890" y="1952625"/>
            <a:ext cx="24846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06</a:t>
            </a:r>
          </a:p>
        </p:txBody>
      </p:sp>
      <p:sp>
        <p:nvSpPr>
          <p:cNvPr id="34" name="TextBox 34">
            <a:extLst xmlns:a="http://schemas.openxmlformats.org/drawingml/2006/main">
              <a:ext uri="{FF2B5EF4-FFF2-40B4-BE49-F238E27FC236}">
                <a16:creationId xmlns:a16="http://schemas.microsoft.com/office/drawing/2014/main" id="{FB791473-99EE-48D0-A0A4-964B77097471}"/>
              </a:ext>
            </a:extLst>
          </p:cNvPr>
          <p:cNvSpPr>
            <a:spLocks xmlns:a="http://schemas.openxmlformats.org/drawingml/2006/main" noGrp="1"/>
          </p:cNvSpPr>
          <p:nvPr/>
        </p:nvSpPr>
        <p:spPr>
          <a:xfrm xmlns:a="http://schemas.openxmlformats.org/drawingml/2006/main" rot="0" flipH="0" flipV="0">
            <a:off x="10223759" y="2231708"/>
            <a:ext cx="1364732"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Orientation</a:t>
            </a:r>
          </a:p>
        </p:txBody>
      </p:sp>
      <p:sp>
        <p:nvSpPr>
          <p:cNvPr id="35" name="TextBox 35">
            <a:extLst xmlns:a="http://schemas.openxmlformats.org/drawingml/2006/main">
              <a:ext uri="{FF2B5EF4-FFF2-40B4-BE49-F238E27FC236}">
                <a16:creationId xmlns:a16="http://schemas.microsoft.com/office/drawing/2014/main" id="{676B9E1C-7ABA-4AB6-B180-CF2E97A79CE1}"/>
              </a:ext>
            </a:extLst>
          </p:cNvPr>
          <p:cNvSpPr>
            <a:spLocks xmlns:a="http://schemas.openxmlformats.org/drawingml/2006/main" noGrp="1"/>
          </p:cNvSpPr>
          <p:nvPr/>
        </p:nvSpPr>
        <p:spPr>
          <a:xfrm xmlns:a="http://schemas.openxmlformats.org/drawingml/2006/main" rot="0" flipH="0" flipV="0">
            <a:off x="10477931" y="2488882"/>
            <a:ext cx="85638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b="1">
                <a:solidFill>
                  <a:schemeClr val="dk1"/>
                </a:solidFill>
                <a:latin typeface="+mn-lt"/>
                <a:ea typeface="+mn-lt"/>
                <a:cs typeface="+mn-lt"/>
              </a:rPr>
              <a:t>closure</a:t>
            </a:r>
          </a:p>
        </p:txBody>
      </p:sp>
      <p:sp>
        <p:nvSpPr>
          <p:cNvPr id="36" name="TextBox 36">
            <a:extLst xmlns:a="http://schemas.openxmlformats.org/drawingml/2006/main">
              <a:ext uri="{FF2B5EF4-FFF2-40B4-BE49-F238E27FC236}">
                <a16:creationId xmlns:a16="http://schemas.microsoft.com/office/drawing/2014/main" id="{F4DA6935-769B-4D75-9759-FC7CF03B9CD0}"/>
              </a:ext>
            </a:extLst>
          </p:cNvPr>
          <p:cNvSpPr>
            <a:spLocks xmlns:a="http://schemas.openxmlformats.org/drawingml/2006/main" noGrp="1"/>
          </p:cNvSpPr>
          <p:nvPr/>
        </p:nvSpPr>
        <p:spPr>
          <a:xfrm xmlns:a="http://schemas.openxmlformats.org/drawingml/2006/main" rot="0" flipH="0" flipV="0">
            <a:off x="525018" y="3098482"/>
            <a:ext cx="558695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accent1"/>
                </a:solidFill>
                <a:latin typeface="+mn-lt"/>
                <a:ea typeface="+mn-lt"/>
                <a:cs typeface="+mn-lt"/>
              </a:rPr>
              <a:t>Local adjacency search can miss a separating set</a:t>
            </a:r>
          </a:p>
        </p:txBody>
      </p:sp>
      <p:sp>
        <p:nvSpPr>
          <p:cNvPr id="37" name="TextBox 37">
            <a:extLst xmlns:a="http://schemas.openxmlformats.org/drawingml/2006/main">
              <a:ext uri="{FF2B5EF4-FFF2-40B4-BE49-F238E27FC236}">
                <a16:creationId xmlns:a16="http://schemas.microsoft.com/office/drawing/2014/main" id="{B778CC42-496A-48E0-9159-0B9113695947}"/>
              </a:ext>
            </a:extLst>
          </p:cNvPr>
          <p:cNvSpPr>
            <a:spLocks xmlns:a="http://schemas.openxmlformats.org/drawingml/2006/main" noGrp="1"/>
          </p:cNvSpPr>
          <p:nvPr/>
        </p:nvSpPr>
        <p:spPr>
          <a:xfrm xmlns:a="http://schemas.openxmlformats.org/drawingml/2006/main" rot="0" flipH="0" flipV="0">
            <a:off x="525018" y="3355658"/>
            <a:ext cx="4681347"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accent1"/>
                </a:solidFill>
                <a:latin typeface="+mn-lt"/>
                <a:ea typeface="+mn-lt"/>
                <a:cs typeface="+mn-lt"/>
              </a:rPr>
              <a:t>that lies outside current neighborhoods.</a:t>
            </a:r>
          </a:p>
        </p:txBody>
      </p:sp>
      <p:sp>
        <p:nvSpPr>
          <p:cNvPr id="39" name="Rectangle 39">
            <a:extLst xmlns:a="http://schemas.openxmlformats.org/drawingml/2006/main">
              <a:ext uri="{FF2B5EF4-FFF2-40B4-BE49-F238E27FC236}">
                <a16:creationId xmlns:a16="http://schemas.microsoft.com/office/drawing/2014/main" id="{BB7B4524-D60F-4695-BD4C-C2D5C54862EA}"/>
              </a:ext>
            </a:extLst>
          </p:cNvPr>
          <p:cNvSpPr>
            <a:spLocks xmlns:a="http://schemas.openxmlformats.org/drawingml/2006/main" noGrp="1"/>
          </p:cNvSpPr>
          <p:nvPr/>
        </p:nvSpPr>
        <p:spPr>
          <a:xfrm xmlns:a="http://schemas.openxmlformats.org/drawingml/2006/main" rot="0" flipH="0" flipV="0">
            <a:off x="533400" y="3962400"/>
            <a:ext cx="6591300" cy="1581150"/>
          </a:xfrm>
          <a:prstGeom xmlns:a="http://schemas.openxmlformats.org/drawingml/2006/main" prst="roundRect">
            <a:avLst>
              <a:gd name="adj" fmla="val 8434"/>
            </a:avLst>
          </a:prstGeom>
          <a:solidFill xmlns:a="http://schemas.openxmlformats.org/drawingml/2006/main">
            <a:schemeClr val="accent1"/>
          </a:solidFill>
          <a:ln xmlns:a="http://schemas.openxmlformats.org/drawingml/2006/main">
            <a:noFill/>
          </a:ln>
        </p:spPr>
      </p:sp>
      <p:sp>
        <p:nvSpPr>
          <p:cNvPr id="40" name="TextBox 40">
            <a:extLst xmlns:a="http://schemas.openxmlformats.org/drawingml/2006/main">
              <a:ext uri="{FF2B5EF4-FFF2-40B4-BE49-F238E27FC236}">
                <a16:creationId xmlns:a16="http://schemas.microsoft.com/office/drawing/2014/main" id="{0E147516-8224-48AA-A5A7-0ECE3A2F868D}"/>
              </a:ext>
            </a:extLst>
          </p:cNvPr>
          <p:cNvSpPr>
            <a:spLocks xmlns:a="http://schemas.openxmlformats.org/drawingml/2006/main" noGrp="1"/>
          </p:cNvSpPr>
          <p:nvPr/>
        </p:nvSpPr>
        <p:spPr>
          <a:xfrm xmlns:a="http://schemas.openxmlformats.org/drawingml/2006/main" rot="0" flipH="0" flipV="0">
            <a:off x="793242" y="4150042"/>
            <a:ext cx="309858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AFC7FF"/>
                </a:solidFill>
                <a:latin typeface="+mn-lt"/>
                <a:ea typeface="+mn-lt"/>
                <a:cs typeface="+mn-lt"/>
              </a:rPr>
              <a:t>POSSIBLE-D-SEP PATH CONDITION</a:t>
            </a:r>
          </a:p>
        </p:txBody>
      </p:sp>
      <p:sp>
        <p:nvSpPr>
          <p:cNvPr id="41" name="TextBox 41">
            <a:extLst xmlns:a="http://schemas.openxmlformats.org/drawingml/2006/main">
              <a:ext uri="{FF2B5EF4-FFF2-40B4-BE49-F238E27FC236}">
                <a16:creationId xmlns:a16="http://schemas.microsoft.com/office/drawing/2014/main" id="{98CB40F1-56BA-4B5A-8830-54BE7B17F33A}"/>
              </a:ext>
            </a:extLst>
          </p:cNvPr>
          <p:cNvSpPr>
            <a:spLocks xmlns:a="http://schemas.openxmlformats.org/drawingml/2006/main" noGrp="1"/>
          </p:cNvSpPr>
          <p:nvPr/>
        </p:nvSpPr>
        <p:spPr>
          <a:xfrm xmlns:a="http://schemas.openxmlformats.org/drawingml/2006/main" rot="0" flipH="0" flipV="0">
            <a:off x="788670" y="4452938"/>
            <a:ext cx="5758145"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250" b="1">
                <a:solidFill>
                  <a:srgbClr val="FFFFFF"/>
                </a:solidFill>
                <a:latin typeface="+mj-lt"/>
                <a:ea typeface="+mj-lt"/>
                <a:cs typeface="+mj-lt"/>
              </a:rPr>
              <a:t>Every intermediate triple is either</a:t>
            </a:r>
          </a:p>
        </p:txBody>
      </p:sp>
      <p:sp>
        <p:nvSpPr>
          <p:cNvPr id="42" name="TextBox 42">
            <a:extLst xmlns:a="http://schemas.openxmlformats.org/drawingml/2006/main">
              <a:ext uri="{FF2B5EF4-FFF2-40B4-BE49-F238E27FC236}">
                <a16:creationId xmlns:a16="http://schemas.microsoft.com/office/drawing/2014/main" id="{1D78638E-C2F6-4892-BDBD-EF35DA2D519E}"/>
              </a:ext>
            </a:extLst>
          </p:cNvPr>
          <p:cNvSpPr>
            <a:spLocks xmlns:a="http://schemas.openxmlformats.org/drawingml/2006/main" noGrp="1"/>
          </p:cNvSpPr>
          <p:nvPr/>
        </p:nvSpPr>
        <p:spPr>
          <a:xfrm xmlns:a="http://schemas.openxmlformats.org/drawingml/2006/main" rot="0" flipH="0" flipV="0">
            <a:off x="790956" y="4911090"/>
            <a:ext cx="6306388"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a:solidFill>
                  <a:srgbClr val="FFFFFF"/>
                </a:solidFill>
                <a:latin typeface="+mn-lt"/>
                <a:ea typeface="+mn-lt"/>
                <a:cs typeface="+mn-lt"/>
              </a:rPr>
              <a:t>a collider on the current path, or part of a triangle.</a:t>
            </a:r>
          </a:p>
        </p:txBody>
      </p:sp>
      <p:sp>
        <p:nvSpPr>
          <p:cNvPr id="43" name="TextBox 43">
            <a:extLst xmlns:a="http://schemas.openxmlformats.org/drawingml/2006/main">
              <a:ext uri="{FF2B5EF4-FFF2-40B4-BE49-F238E27FC236}">
                <a16:creationId xmlns:a16="http://schemas.microsoft.com/office/drawing/2014/main" id="{1D537E2C-1E0A-4620-8C67-44E4F8E59D7E}"/>
              </a:ext>
            </a:extLst>
          </p:cNvPr>
          <p:cNvSpPr>
            <a:spLocks xmlns:a="http://schemas.openxmlformats.org/drawingml/2006/main" noGrp="1"/>
          </p:cNvSpPr>
          <p:nvPr/>
        </p:nvSpPr>
        <p:spPr>
          <a:xfrm xmlns:a="http://schemas.openxmlformats.org/drawingml/2006/main" rot="0" flipH="0" flipV="0">
            <a:off x="793242" y="5245418"/>
            <a:ext cx="619880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This computable superset makes non-local separator search possible.</a:t>
            </a:r>
          </a:p>
        </p:txBody>
      </p:sp>
      <p:sp>
        <p:nvSpPr>
          <p:cNvPr id="45" name="Rectangle 45">
            <a:extLst xmlns:a="http://schemas.openxmlformats.org/drawingml/2006/main">
              <a:ext uri="{FF2B5EF4-FFF2-40B4-BE49-F238E27FC236}">
                <a16:creationId xmlns:a16="http://schemas.microsoft.com/office/drawing/2014/main" id="{F69286C6-F8A2-4C32-A2DF-9B56AC32BB10}"/>
              </a:ext>
            </a:extLst>
          </p:cNvPr>
          <p:cNvSpPr>
            <a:spLocks xmlns:a="http://schemas.openxmlformats.org/drawingml/2006/main" noGrp="1"/>
          </p:cNvSpPr>
          <p:nvPr/>
        </p:nvSpPr>
        <p:spPr>
          <a:xfrm xmlns:a="http://schemas.openxmlformats.org/drawingml/2006/main" rot="0" flipH="0" flipV="0">
            <a:off x="7391400" y="3962400"/>
            <a:ext cx="4267200" cy="1581150"/>
          </a:xfrm>
          <a:prstGeom xmlns:a="http://schemas.openxmlformats.org/drawingml/2006/main" prst="roundRect">
            <a:avLst>
              <a:gd name="adj" fmla="val 8434"/>
            </a:avLst>
          </a:prstGeom>
          <a:solidFill xmlns:a="http://schemas.openxmlformats.org/drawingml/2006/main">
            <a:srgbClr val="FFFFFF"/>
          </a:solidFill>
          <a:ln xmlns:a="http://schemas.openxmlformats.org/drawingml/2006/main" w="14288">
            <a:solidFill>
              <a:srgbClr val="CBD2DC"/>
            </a:solidFill>
          </a:ln>
        </p:spPr>
      </p:sp>
      <p:sp>
        <p:nvSpPr>
          <p:cNvPr id="46" name="TextBox 46">
            <a:extLst xmlns:a="http://schemas.openxmlformats.org/drawingml/2006/main">
              <a:ext uri="{FF2B5EF4-FFF2-40B4-BE49-F238E27FC236}">
                <a16:creationId xmlns:a16="http://schemas.microsoft.com/office/drawing/2014/main" id="{9D807383-B0F5-46A3-AF68-36789AA33DBE}"/>
              </a:ext>
            </a:extLst>
          </p:cNvPr>
          <p:cNvSpPr>
            <a:spLocks xmlns:a="http://schemas.openxmlformats.org/drawingml/2006/main" noGrp="1"/>
          </p:cNvSpPr>
          <p:nvPr/>
        </p:nvSpPr>
        <p:spPr>
          <a:xfrm xmlns:a="http://schemas.openxmlformats.org/drawingml/2006/main" rot="0" flipH="0" flipV="0">
            <a:off x="7651242" y="4150042"/>
            <a:ext cx="285663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B45F4A"/>
                </a:solidFill>
                <a:latin typeface="+mn-lt"/>
                <a:ea typeface="+mn-lt"/>
                <a:cs typeface="+mn-lt"/>
              </a:rPr>
              <a:t>THEOREM 6.4 — ORACLE SCOPE</a:t>
            </a:r>
          </a:p>
        </p:txBody>
      </p:sp>
      <p:sp>
        <p:nvSpPr>
          <p:cNvPr id="47" name="TextBox 47">
            <a:extLst xmlns:a="http://schemas.openxmlformats.org/drawingml/2006/main">
              <a:ext uri="{FF2B5EF4-FFF2-40B4-BE49-F238E27FC236}">
                <a16:creationId xmlns:a16="http://schemas.microsoft.com/office/drawing/2014/main" id="{FBFB209A-27FF-4032-A653-CAE4B35DA4FB}"/>
              </a:ext>
            </a:extLst>
          </p:cNvPr>
          <p:cNvSpPr>
            <a:spLocks xmlns:a="http://schemas.openxmlformats.org/drawingml/2006/main" noGrp="1"/>
          </p:cNvSpPr>
          <p:nvPr/>
        </p:nvSpPr>
        <p:spPr>
          <a:xfrm xmlns:a="http://schemas.openxmlformats.org/drawingml/2006/main" rot="0" flipH="0" flipV="0">
            <a:off x="7649718" y="4470082"/>
            <a:ext cx="3911848"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Faithfulness + correct CI answers</a:t>
            </a:r>
          </a:p>
        </p:txBody>
      </p:sp>
      <p:sp>
        <p:nvSpPr>
          <p:cNvPr id="48" name="TextBox 48">
            <a:extLst xmlns:a="http://schemas.openxmlformats.org/drawingml/2006/main">
              <a:ext uri="{FF2B5EF4-FFF2-40B4-BE49-F238E27FC236}">
                <a16:creationId xmlns:a16="http://schemas.microsoft.com/office/drawing/2014/main" id="{63069D0A-5D0E-4039-AE77-23310531CCEE}"/>
              </a:ext>
            </a:extLst>
          </p:cNvPr>
          <p:cNvSpPr>
            <a:spLocks xmlns:a="http://schemas.openxmlformats.org/drawingml/2006/main" noGrp="1"/>
          </p:cNvSpPr>
          <p:nvPr/>
        </p:nvSpPr>
        <p:spPr>
          <a:xfrm xmlns:a="http://schemas.openxmlformats.org/drawingml/2006/main" rot="0" flipH="0" flipV="0">
            <a:off x="7651242" y="4845368"/>
            <a:ext cx="214551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Sound partially oriented</a:t>
            </a:r>
          </a:p>
        </p:txBody>
      </p:sp>
      <p:sp>
        <p:nvSpPr>
          <p:cNvPr id="49" name="TextBox 49">
            <a:extLst xmlns:a="http://schemas.openxmlformats.org/drawingml/2006/main">
              <a:ext uri="{FF2B5EF4-FFF2-40B4-BE49-F238E27FC236}">
                <a16:creationId xmlns:a16="http://schemas.microsoft.com/office/drawing/2014/main" id="{A355CE43-B32B-418F-AA33-A8DC2FF1D401}"/>
              </a:ext>
            </a:extLst>
          </p:cNvPr>
          <p:cNvSpPr>
            <a:spLocks xmlns:a="http://schemas.openxmlformats.org/drawingml/2006/main" noGrp="1"/>
          </p:cNvSpPr>
          <p:nvPr/>
        </p:nvSpPr>
        <p:spPr>
          <a:xfrm xmlns:a="http://schemas.openxmlformats.org/drawingml/2006/main" rot="0" flipH="0" flipV="0">
            <a:off x="7651242" y="5064442"/>
            <a:ext cx="187652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inducing-path graph.</a:t>
            </a:r>
          </a:p>
        </p:txBody>
      </p:sp>
      <p:sp>
        <p:nvSpPr>
          <p:cNvPr id="50" name="TextBox 50">
            <a:extLst xmlns:a="http://schemas.openxmlformats.org/drawingml/2006/main">
              <a:ext uri="{FF2B5EF4-FFF2-40B4-BE49-F238E27FC236}">
                <a16:creationId xmlns:a16="http://schemas.microsoft.com/office/drawing/2014/main" id="{D828E5E6-A25A-440B-A094-FD511899C640}"/>
              </a:ext>
            </a:extLst>
          </p:cNvPr>
          <p:cNvSpPr>
            <a:spLocks xmlns:a="http://schemas.openxmlformats.org/drawingml/2006/main" noGrp="1"/>
          </p:cNvSpPr>
          <p:nvPr/>
        </p:nvSpPr>
        <p:spPr>
          <a:xfrm xmlns:a="http://schemas.openxmlformats.org/drawingml/2006/main" rot="0" flipH="0" flipV="0">
            <a:off x="7651242" y="5321618"/>
            <a:ext cx="386349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B45F4A"/>
                </a:solidFill>
                <a:latin typeface="+mn-lt"/>
                <a:ea typeface="+mn-lt"/>
                <a:cs typeface="+mn-lt"/>
              </a:rPr>
              <a:t>Maximal informativeness not proved there.</a:t>
            </a:r>
          </a:p>
        </p:txBody>
      </p:sp>
      <p:sp>
        <p:nvSpPr>
          <p:cNvPr id="52" name="TextBox 52">
            <a:extLst xmlns:a="http://schemas.openxmlformats.org/drawingml/2006/main">
              <a:ext uri="{FF2B5EF4-FFF2-40B4-BE49-F238E27FC236}">
                <a16:creationId xmlns:a16="http://schemas.microsoft.com/office/drawing/2014/main" id="{38D3A5AD-FFDB-403C-A66F-98F26E95658C}"/>
              </a:ext>
            </a:extLst>
          </p:cNvPr>
          <p:cNvSpPr>
            <a:spLocks xmlns:a="http://schemas.openxmlformats.org/drawingml/2006/main" noGrp="1"/>
          </p:cNvSpPr>
          <p:nvPr/>
        </p:nvSpPr>
        <p:spPr>
          <a:xfrm xmlns:a="http://schemas.openxmlformats.org/drawingml/2006/main" rot="0" flipH="0" flipV="0">
            <a:off x="527304" y="6033135"/>
            <a:ext cx="864974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Spirtes, Glymour &amp; Scheines (2000), §6.7, printed pp. 144–145 · Possible-D-SEP p. 144 · Theorem 6.4 p. 145</a:t>
            </a:r>
          </a:p>
        </p:txBody>
      </p:sp>
      <p:sp>
        <p:nvSpPr>
          <p:cNvPr id="53" name="TextBox 53">
            <a:extLst xmlns:a="http://schemas.openxmlformats.org/drawingml/2006/main">
              <a:ext uri="{FF2B5EF4-FFF2-40B4-BE49-F238E27FC236}">
                <a16:creationId xmlns:a16="http://schemas.microsoft.com/office/drawing/2014/main" id="{CCE37C70-6776-4262-9224-1BDAA62C67E9}"/>
              </a:ext>
            </a:extLst>
          </p:cNvPr>
          <p:cNvSpPr>
            <a:spLocks xmlns:a="http://schemas.openxmlformats.org/drawingml/2006/main" noGrp="1"/>
          </p:cNvSpPr>
          <p:nvPr/>
        </p:nvSpPr>
        <p:spPr>
          <a:xfrm xmlns:a="http://schemas.openxmlformats.org/drawingml/2006/main" rot="0" flipH="0" flipV="0">
            <a:off x="527304" y="6290310"/>
            <a:ext cx="415932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Modern PAG orientation uses Zhang’s later rule set.</a:t>
            </a:r>
          </a:p>
        </p:txBody>
      </p:sp>
      <p:sp>
        <p:nvSpPr>
          <p:cNvPr id="54" name="TextBox 54">
            <a:extLst xmlns:a="http://schemas.openxmlformats.org/drawingml/2006/main">
              <a:ext uri="{FF2B5EF4-FFF2-40B4-BE49-F238E27FC236}">
                <a16:creationId xmlns:a16="http://schemas.microsoft.com/office/drawing/2014/main" id="{DC18C7CE-76FD-4B28-8055-043FB5CE95CC}"/>
              </a:ext>
            </a:extLst>
          </p:cNvPr>
          <p:cNvSpPr>
            <a:spLocks xmlns:a="http://schemas.openxmlformats.org/drawingml/2006/main" noGrp="1"/>
          </p:cNvSpPr>
          <p:nvPr/>
        </p:nvSpPr>
        <p:spPr>
          <a:xfrm xmlns:a="http://schemas.openxmlformats.org/drawingml/2006/main" rot="0" flipH="0" flipV="0">
            <a:off x="11111332" y="62903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04 / 15</a:t>
            </a:r>
          </a:p>
        </p:txBody>
      </p:sp>
    </p:spTree>
    <p:extLst>
      <p:ext uri="{BB962C8B-B14F-4D97-AF65-F5344CB8AC3E}">
        <p14:creationId xmlns:p14="http://schemas.microsoft.com/office/powerpoint/2010/main" val="1597437398"/>
      </p:ext>
    </p:extLst>
  </p:cSld>
</p:sld>
</file>

<file path=ppt/slides/slide5.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579E72C6-FED5-4818-9BE7-18821291E460}"/>
              </a:ext>
            </a:extLst>
          </p:cNvPr>
          <p:cNvSpPr>
            <a:spLocks xmlns:a="http://schemas.openxmlformats.org/drawingml/2006/main" noGrp="1"/>
          </p:cNvSpPr>
          <p:nvPr/>
        </p:nvSpPr>
        <p:spPr>
          <a:xfrm xmlns:a="http://schemas.openxmlformats.org/drawingml/2006/main" rot="0" flipH="0" flipV="0">
            <a:off x="518160" y="381000"/>
            <a:ext cx="10696633"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FCI Plus Uses a Sparse Logical Characterization</a:t>
            </a:r>
          </a:p>
        </p:txBody>
      </p:sp>
      <p:sp>
        <p:nvSpPr>
          <p:cNvPr id="3" name="TextBox 3">
            <a:extLst xmlns:a="http://schemas.openxmlformats.org/drawingml/2006/main">
              <a:ext uri="{FF2B5EF4-FFF2-40B4-BE49-F238E27FC236}">
                <a16:creationId xmlns:a16="http://schemas.microsoft.com/office/drawing/2014/main" id="{E0C487E5-35D3-4D47-9119-FAA5C523C2EC}"/>
              </a:ext>
            </a:extLst>
          </p:cNvPr>
          <p:cNvSpPr>
            <a:spLocks xmlns:a="http://schemas.openxmlformats.org/drawingml/2006/main" noGrp="1"/>
          </p:cNvSpPr>
          <p:nvPr/>
        </p:nvSpPr>
        <p:spPr>
          <a:xfrm xmlns:a="http://schemas.openxmlformats.org/drawingml/2006/main" rot="0" flipH="0" flipV="0">
            <a:off x="9683496" y="397192"/>
            <a:ext cx="198196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chemeClr val="accent3"/>
                </a:solidFill>
                <a:latin typeface="Consolas"/>
                <a:ea typeface="Consolas"/>
                <a:cs typeface="Consolas"/>
              </a:rPr>
              <a:t>CLAASSEN ET AL. 2013</a:t>
            </a:r>
          </a:p>
        </p:txBody>
      </p:sp>
      <p:sp>
        <p:nvSpPr>
          <p:cNvPr id="4" name="Line 4">
            <a:extLst xmlns:a="http://schemas.openxmlformats.org/drawingml/2006/main">
              <a:ext uri="{FF2B5EF4-FFF2-40B4-BE49-F238E27FC236}">
                <a16:creationId xmlns:a16="http://schemas.microsoft.com/office/drawing/2014/main" id="{884F6632-09F5-49F6-B6BE-B02473AE473C}"/>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TextBox 6">
            <a:extLst xmlns:a="http://schemas.openxmlformats.org/drawingml/2006/main">
              <a:ext uri="{FF2B5EF4-FFF2-40B4-BE49-F238E27FC236}">
                <a16:creationId xmlns:a16="http://schemas.microsoft.com/office/drawing/2014/main" id="{9BECBD29-2E05-4C33-9886-910092D53C70}"/>
              </a:ext>
            </a:extLst>
          </p:cNvPr>
          <p:cNvSpPr>
            <a:spLocks xmlns:a="http://schemas.openxmlformats.org/drawingml/2006/main" noGrp="1"/>
          </p:cNvSpPr>
          <p:nvPr/>
        </p:nvSpPr>
        <p:spPr>
          <a:xfrm xmlns:a="http://schemas.openxmlformats.org/drawingml/2006/main" rot="0" flipH="0" flipV="0">
            <a:off x="526542" y="1416368"/>
            <a:ext cx="586084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ALGORITHM 2: FROM LOCAL SKELETON TO D-SEP LINK REMOVAL</a:t>
            </a:r>
          </a:p>
        </p:txBody>
      </p:sp>
      <p:sp>
        <p:nvSpPr>
          <p:cNvPr id="7" name="Rectangle 7">
            <a:extLst xmlns:a="http://schemas.openxmlformats.org/drawingml/2006/main">
              <a:ext uri="{FF2B5EF4-FFF2-40B4-BE49-F238E27FC236}">
                <a16:creationId xmlns:a16="http://schemas.microsoft.com/office/drawing/2014/main" id="{6AFCF486-321B-44D3-94DE-98817A02121F}"/>
              </a:ext>
            </a:extLst>
          </p:cNvPr>
          <p:cNvSpPr>
            <a:spLocks xmlns:a="http://schemas.openxmlformats.org/drawingml/2006/main" noGrp="1"/>
          </p:cNvSpPr>
          <p:nvPr/>
        </p:nvSpPr>
        <p:spPr>
          <a:xfrm xmlns:a="http://schemas.openxmlformats.org/drawingml/2006/main" rot="0" flipH="0" flipV="0">
            <a:off x="533400" y="1743075"/>
            <a:ext cx="3105150" cy="1362075"/>
          </a:xfrm>
          <a:prstGeom xmlns:a="http://schemas.openxmlformats.org/drawingml/2006/main" prst="roundRect">
            <a:avLst>
              <a:gd name="adj" fmla="val 9790"/>
            </a:avLst>
          </a:prstGeom>
          <a:solidFill xmlns:a="http://schemas.openxmlformats.org/drawingml/2006/main">
            <a:srgbClr val="FFFFFF"/>
          </a:solidFill>
          <a:ln xmlns:a="http://schemas.openxmlformats.org/drawingml/2006/main" w="19050">
            <a:solidFill>
              <a:schemeClr val="accent3"/>
            </a:solidFill>
          </a:ln>
        </p:spPr>
      </p:sp>
      <p:sp>
        <p:nvSpPr>
          <p:cNvPr id="8" name="TextBox 8">
            <a:extLst xmlns:a="http://schemas.openxmlformats.org/drawingml/2006/main">
              <a:ext uri="{FF2B5EF4-FFF2-40B4-BE49-F238E27FC236}">
                <a16:creationId xmlns:a16="http://schemas.microsoft.com/office/drawing/2014/main" id="{8071B5A5-9083-44B2-AA35-29308E091470}"/>
              </a:ext>
            </a:extLst>
          </p:cNvPr>
          <p:cNvSpPr>
            <a:spLocks xmlns:a="http://schemas.openxmlformats.org/drawingml/2006/main" noGrp="1"/>
          </p:cNvSpPr>
          <p:nvPr/>
        </p:nvSpPr>
        <p:spPr>
          <a:xfrm xmlns:a="http://schemas.openxmlformats.org/drawingml/2006/main" rot="0" flipH="0" flipV="0">
            <a:off x="773430" y="1905000"/>
            <a:ext cx="1505506"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Consolas"/>
                <a:ea typeface="Consolas"/>
                <a:cs typeface="Consolas"/>
              </a:rPr>
              <a:t>01 PC skeleton</a:t>
            </a:r>
          </a:p>
        </p:txBody>
      </p:sp>
      <p:sp>
        <p:nvSpPr>
          <p:cNvPr id="9" name="TextBox 9">
            <a:extLst xmlns:a="http://schemas.openxmlformats.org/drawingml/2006/main">
              <a:ext uri="{FF2B5EF4-FFF2-40B4-BE49-F238E27FC236}">
                <a16:creationId xmlns:a16="http://schemas.microsoft.com/office/drawing/2014/main" id="{89907E6E-3F93-4E15-AA0D-F6F433F1E685}"/>
              </a:ext>
            </a:extLst>
          </p:cNvPr>
          <p:cNvSpPr>
            <a:spLocks xmlns:a="http://schemas.openxmlformats.org/drawingml/2006/main" noGrp="1"/>
          </p:cNvSpPr>
          <p:nvPr/>
        </p:nvSpPr>
        <p:spPr>
          <a:xfrm xmlns:a="http://schemas.openxmlformats.org/drawingml/2006/main" rot="0" flipH="0" flipV="0">
            <a:off x="772668" y="2250758"/>
            <a:ext cx="2908680"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Bound local CI search by k</a:t>
            </a:r>
          </a:p>
        </p:txBody>
      </p:sp>
      <p:sp>
        <p:nvSpPr>
          <p:cNvPr id="10" name="TextBox 10">
            <a:extLst xmlns:a="http://schemas.openxmlformats.org/drawingml/2006/main">
              <a:ext uri="{FF2B5EF4-FFF2-40B4-BE49-F238E27FC236}">
                <a16:creationId xmlns:a16="http://schemas.microsoft.com/office/drawing/2014/main" id="{041BE44B-0F09-4676-8BA7-E5A24563675B}"/>
              </a:ext>
            </a:extLst>
          </p:cNvPr>
          <p:cNvSpPr>
            <a:spLocks xmlns:a="http://schemas.openxmlformats.org/drawingml/2006/main" noGrp="1"/>
          </p:cNvSpPr>
          <p:nvPr/>
        </p:nvSpPr>
        <p:spPr>
          <a:xfrm xmlns:a="http://schemas.openxmlformats.org/drawingml/2006/main" rot="0" flipH="0" flipV="0">
            <a:off x="774192" y="2654618"/>
            <a:ext cx="339129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Start sparse; store separating sets.</a:t>
            </a:r>
          </a:p>
        </p:txBody>
      </p:sp>
      <p:sp>
        <p:nvSpPr>
          <p:cNvPr id="11" name="Line 11">
            <a:extLst xmlns:a="http://schemas.openxmlformats.org/drawingml/2006/main">
              <a:ext uri="{FF2B5EF4-FFF2-40B4-BE49-F238E27FC236}">
                <a16:creationId xmlns:a16="http://schemas.microsoft.com/office/drawing/2014/main" id="{5E138C70-51C3-4887-A977-BE42032037B4}"/>
              </a:ext>
            </a:extLst>
          </p:cNvPr>
          <p:cNvSpPr>
            <a:spLocks xmlns:a="http://schemas.openxmlformats.org/drawingml/2006/main" noGrp="1"/>
          </p:cNvSpPr>
          <p:nvPr/>
        </p:nvSpPr>
        <p:spPr>
          <a:xfrm xmlns:a="http://schemas.openxmlformats.org/drawingml/2006/main" rot="0" flipH="0" flipV="0">
            <a:off x="3638550" y="2371725"/>
            <a:ext cx="45720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12" name="Rectangle 12">
            <a:extLst xmlns:a="http://schemas.openxmlformats.org/drawingml/2006/main">
              <a:ext uri="{FF2B5EF4-FFF2-40B4-BE49-F238E27FC236}">
                <a16:creationId xmlns:a16="http://schemas.microsoft.com/office/drawing/2014/main" id="{2E58A9F3-3BC9-4902-AE82-E890D1D6CFDC}"/>
              </a:ext>
            </a:extLst>
          </p:cNvPr>
          <p:cNvSpPr>
            <a:spLocks xmlns:a="http://schemas.openxmlformats.org/drawingml/2006/main" noGrp="1"/>
          </p:cNvSpPr>
          <p:nvPr/>
        </p:nvSpPr>
        <p:spPr>
          <a:xfrm xmlns:a="http://schemas.openxmlformats.org/drawingml/2006/main" rot="0" flipH="0" flipV="0">
            <a:off x="4191000" y="1743075"/>
            <a:ext cx="3676650" cy="1362075"/>
          </a:xfrm>
          <a:prstGeom xmlns:a="http://schemas.openxmlformats.org/drawingml/2006/main" prst="roundRect">
            <a:avLst>
              <a:gd name="adj" fmla="val 9790"/>
            </a:avLst>
          </a:prstGeom>
          <a:solidFill xmlns:a="http://schemas.openxmlformats.org/drawingml/2006/main">
            <a:srgbClr val="FFF3E3"/>
          </a:solidFill>
          <a:ln xmlns:a="http://schemas.openxmlformats.org/drawingml/2006/main" w="28575">
            <a:solidFill>
              <a:schemeClr val="accent3"/>
            </a:solidFill>
          </a:ln>
        </p:spPr>
      </p:sp>
      <p:sp>
        <p:nvSpPr>
          <p:cNvPr id="13" name="TextBox 13">
            <a:extLst xmlns:a="http://schemas.openxmlformats.org/drawingml/2006/main">
              <a:ext uri="{FF2B5EF4-FFF2-40B4-BE49-F238E27FC236}">
                <a16:creationId xmlns:a16="http://schemas.microsoft.com/office/drawing/2014/main" id="{3124AC54-9ADE-4A4C-A755-85BAD6F6AC0B}"/>
              </a:ext>
            </a:extLst>
          </p:cNvPr>
          <p:cNvSpPr>
            <a:spLocks xmlns:a="http://schemas.openxmlformats.org/drawingml/2006/main" noGrp="1"/>
          </p:cNvSpPr>
          <p:nvPr/>
        </p:nvSpPr>
        <p:spPr>
          <a:xfrm xmlns:a="http://schemas.openxmlformats.org/drawingml/2006/main" rot="0" flipH="0" flipV="0">
            <a:off x="4431030" y="1905000"/>
            <a:ext cx="235529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Consolas"/>
                <a:ea typeface="Consolas"/>
                <a:cs typeface="Consolas"/>
              </a:rPr>
              <a:t>02 Augmented skeleton</a:t>
            </a:r>
          </a:p>
        </p:txBody>
      </p:sp>
      <p:sp>
        <p:nvSpPr>
          <p:cNvPr id="14" name="TextBox 14">
            <a:extLst xmlns:a="http://schemas.openxmlformats.org/drawingml/2006/main">
              <a:ext uri="{FF2B5EF4-FFF2-40B4-BE49-F238E27FC236}">
                <a16:creationId xmlns:a16="http://schemas.microsoft.com/office/drawing/2014/main" id="{FD14B541-E1AF-4311-811B-F619E0ADBA12}"/>
              </a:ext>
            </a:extLst>
          </p:cNvPr>
          <p:cNvSpPr>
            <a:spLocks xmlns:a="http://schemas.openxmlformats.org/drawingml/2006/main" noGrp="1"/>
          </p:cNvSpPr>
          <p:nvPr/>
        </p:nvSpPr>
        <p:spPr>
          <a:xfrm xmlns:a="http://schemas.openxmlformats.org/drawingml/2006/main" rot="0" flipH="0" flipV="0">
            <a:off x="4430268" y="2203132"/>
            <a:ext cx="2625016"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Temporary arrowheads</a:t>
            </a:r>
          </a:p>
        </p:txBody>
      </p:sp>
      <p:sp>
        <p:nvSpPr>
          <p:cNvPr id="15" name="TextBox 15">
            <a:extLst xmlns:a="http://schemas.openxmlformats.org/drawingml/2006/main">
              <a:ext uri="{FF2B5EF4-FFF2-40B4-BE49-F238E27FC236}">
                <a16:creationId xmlns:a16="http://schemas.microsoft.com/office/drawing/2014/main" id="{1BB16454-09F8-469C-B017-3E2B9280EC03}"/>
              </a:ext>
            </a:extLst>
          </p:cNvPr>
          <p:cNvSpPr>
            <a:spLocks xmlns:a="http://schemas.openxmlformats.org/drawingml/2006/main" noGrp="1"/>
          </p:cNvSpPr>
          <p:nvPr/>
        </p:nvSpPr>
        <p:spPr>
          <a:xfrm xmlns:a="http://schemas.openxmlformats.org/drawingml/2006/main" rot="0" flipH="0" flipV="0">
            <a:off x="4430268" y="2460308"/>
            <a:ext cx="213914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encode dependence</a:t>
            </a:r>
          </a:p>
        </p:txBody>
      </p:sp>
      <p:sp>
        <p:nvSpPr>
          <p:cNvPr id="16" name="TextBox 16">
            <a:extLst xmlns:a="http://schemas.openxmlformats.org/drawingml/2006/main">
              <a:ext uri="{FF2B5EF4-FFF2-40B4-BE49-F238E27FC236}">
                <a16:creationId xmlns:a16="http://schemas.microsoft.com/office/drawing/2014/main" id="{C9050463-E7A8-4A94-8CFE-E406988D3B5F}"/>
              </a:ext>
            </a:extLst>
          </p:cNvPr>
          <p:cNvSpPr>
            <a:spLocks xmlns:a="http://schemas.openxmlformats.org/drawingml/2006/main" noGrp="1"/>
          </p:cNvSpPr>
          <p:nvPr/>
        </p:nvSpPr>
        <p:spPr>
          <a:xfrm xmlns:a="http://schemas.openxmlformats.org/drawingml/2006/main" rot="0" flipH="0" flipV="0">
            <a:off x="4432554" y="2823210"/>
            <a:ext cx="3391335"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Recognize candidate D-SEP-link witnesses.</a:t>
            </a:r>
          </a:p>
        </p:txBody>
      </p:sp>
      <p:sp>
        <p:nvSpPr>
          <p:cNvPr id="17" name="Line 17">
            <a:extLst xmlns:a="http://schemas.openxmlformats.org/drawingml/2006/main">
              <a:ext uri="{FF2B5EF4-FFF2-40B4-BE49-F238E27FC236}">
                <a16:creationId xmlns:a16="http://schemas.microsoft.com/office/drawing/2014/main" id="{F8A461B0-AE94-49A9-986F-5D25437000E1}"/>
              </a:ext>
            </a:extLst>
          </p:cNvPr>
          <p:cNvSpPr>
            <a:spLocks xmlns:a="http://schemas.openxmlformats.org/drawingml/2006/main" noGrp="1"/>
          </p:cNvSpPr>
          <p:nvPr/>
        </p:nvSpPr>
        <p:spPr>
          <a:xfrm xmlns:a="http://schemas.openxmlformats.org/drawingml/2006/main" rot="0" flipH="0" flipV="0">
            <a:off x="6029325" y="3105150"/>
            <a:ext cx="1" cy="152400"/>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18" name="Rectangle 18">
            <a:extLst xmlns:a="http://schemas.openxmlformats.org/drawingml/2006/main">
              <a:ext uri="{FF2B5EF4-FFF2-40B4-BE49-F238E27FC236}">
                <a16:creationId xmlns:a16="http://schemas.microsoft.com/office/drawing/2014/main" id="{D7A3BCE8-1523-4CC5-A9C0-97FFCD4A1703}"/>
              </a:ext>
            </a:extLst>
          </p:cNvPr>
          <p:cNvSpPr>
            <a:spLocks xmlns:a="http://schemas.openxmlformats.org/drawingml/2006/main" noGrp="1"/>
          </p:cNvSpPr>
          <p:nvPr/>
        </p:nvSpPr>
        <p:spPr>
          <a:xfrm xmlns:a="http://schemas.openxmlformats.org/drawingml/2006/main" rot="0" flipH="0" flipV="0">
            <a:off x="4191000" y="3257550"/>
            <a:ext cx="3676650" cy="1676400"/>
          </a:xfrm>
          <a:prstGeom xmlns:a="http://schemas.openxmlformats.org/drawingml/2006/main" prst="roundRect">
            <a:avLst>
              <a:gd name="adj" fmla="val 7955"/>
            </a:avLst>
          </a:prstGeom>
          <a:solidFill xmlns:a="http://schemas.openxmlformats.org/drawingml/2006/main">
            <a:srgbClr val="FFFFFF"/>
          </a:solidFill>
          <a:ln xmlns:a="http://schemas.openxmlformats.org/drawingml/2006/main" w="19050">
            <a:solidFill>
              <a:schemeClr val="accent3"/>
            </a:solidFill>
          </a:ln>
        </p:spPr>
      </p:sp>
      <p:sp>
        <p:nvSpPr>
          <p:cNvPr id="19" name="TextBox 19">
            <a:extLst xmlns:a="http://schemas.openxmlformats.org/drawingml/2006/main">
              <a:ext uri="{FF2B5EF4-FFF2-40B4-BE49-F238E27FC236}">
                <a16:creationId xmlns:a16="http://schemas.microsoft.com/office/drawing/2014/main" id="{8F69D940-C4B6-4900-80D1-43CF9F7E26CA}"/>
              </a:ext>
            </a:extLst>
          </p:cNvPr>
          <p:cNvSpPr>
            <a:spLocks xmlns:a="http://schemas.openxmlformats.org/drawingml/2006/main" noGrp="1"/>
          </p:cNvSpPr>
          <p:nvPr/>
        </p:nvSpPr>
        <p:spPr>
          <a:xfrm xmlns:a="http://schemas.openxmlformats.org/drawingml/2006/main" rot="0" flipH="0" flipV="0">
            <a:off x="4431030" y="3419475"/>
            <a:ext cx="237613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Consolas"/>
                <a:ea typeface="Consolas"/>
                <a:cs typeface="Consolas"/>
              </a:rPr>
              <a:t>03 Recursive hierarchy</a:t>
            </a:r>
          </a:p>
        </p:txBody>
      </p:sp>
      <p:sp>
        <p:nvSpPr>
          <p:cNvPr id="20" name="TextBox 20">
            <a:extLst xmlns:a="http://schemas.openxmlformats.org/drawingml/2006/main">
              <a:ext uri="{FF2B5EF4-FFF2-40B4-BE49-F238E27FC236}">
                <a16:creationId xmlns:a16="http://schemas.microsoft.com/office/drawing/2014/main" id="{29CBE8ED-540C-4D95-B99F-E05939E5E728}"/>
              </a:ext>
            </a:extLst>
          </p:cNvPr>
          <p:cNvSpPr>
            <a:spLocks xmlns:a="http://schemas.openxmlformats.org/drawingml/2006/main" noGrp="1"/>
          </p:cNvSpPr>
          <p:nvPr/>
        </p:nvSpPr>
        <p:spPr>
          <a:xfrm xmlns:a="http://schemas.openxmlformats.org/drawingml/2006/main" rot="0" flipH="0" flipV="0">
            <a:off x="4430268" y="3736658"/>
            <a:ext cx="2473371"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Construct a targeted</a:t>
            </a:r>
          </a:p>
        </p:txBody>
      </p:sp>
      <p:sp>
        <p:nvSpPr>
          <p:cNvPr id="21" name="TextBox 21">
            <a:extLst xmlns:a="http://schemas.openxmlformats.org/drawingml/2006/main">
              <a:ext uri="{FF2B5EF4-FFF2-40B4-BE49-F238E27FC236}">
                <a16:creationId xmlns:a16="http://schemas.microsoft.com/office/drawing/2014/main" id="{E65709F5-7EB6-4E13-9DB9-5967AEFAEEFE}"/>
              </a:ext>
            </a:extLst>
          </p:cNvPr>
          <p:cNvSpPr>
            <a:spLocks xmlns:a="http://schemas.openxmlformats.org/drawingml/2006/main" noGrp="1"/>
          </p:cNvSpPr>
          <p:nvPr/>
        </p:nvSpPr>
        <p:spPr>
          <a:xfrm xmlns:a="http://schemas.openxmlformats.org/drawingml/2006/main" rot="0" flipH="0" flipV="0">
            <a:off x="4430268" y="3993832"/>
            <a:ext cx="1824290"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separator basis</a:t>
            </a:r>
          </a:p>
        </p:txBody>
      </p:sp>
      <p:sp>
        <p:nvSpPr>
          <p:cNvPr id="22" name="TextBox 22">
            <a:extLst xmlns:a="http://schemas.openxmlformats.org/drawingml/2006/main">
              <a:ext uri="{FF2B5EF4-FFF2-40B4-BE49-F238E27FC236}">
                <a16:creationId xmlns:a16="http://schemas.microsoft.com/office/drawing/2014/main" id="{FDB858AC-3FDC-4E7A-9EDA-3CAC21C40A0E}"/>
              </a:ext>
            </a:extLst>
          </p:cNvPr>
          <p:cNvSpPr>
            <a:spLocks xmlns:a="http://schemas.openxmlformats.org/drawingml/2006/main" noGrp="1"/>
          </p:cNvSpPr>
          <p:nvPr/>
        </p:nvSpPr>
        <p:spPr>
          <a:xfrm xmlns:a="http://schemas.openxmlformats.org/drawingml/2006/main" rot="0" flipH="0" flipV="0">
            <a:off x="4432554" y="4385310"/>
            <a:ext cx="328065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Use known sepsets and collider structure</a:t>
            </a:r>
          </a:p>
        </p:txBody>
      </p:sp>
      <p:sp>
        <p:nvSpPr>
          <p:cNvPr id="23" name="TextBox 23">
            <a:extLst xmlns:a="http://schemas.openxmlformats.org/drawingml/2006/main">
              <a:ext uri="{FF2B5EF4-FFF2-40B4-BE49-F238E27FC236}">
                <a16:creationId xmlns:a16="http://schemas.microsoft.com/office/drawing/2014/main" id="{017AAE10-1CDB-49FE-8E66-AA3D75570075}"/>
              </a:ext>
            </a:extLst>
          </p:cNvPr>
          <p:cNvSpPr>
            <a:spLocks xmlns:a="http://schemas.openxmlformats.org/drawingml/2006/main" noGrp="1"/>
          </p:cNvSpPr>
          <p:nvPr/>
        </p:nvSpPr>
        <p:spPr>
          <a:xfrm xmlns:a="http://schemas.openxmlformats.org/drawingml/2006/main" rot="0" flipH="0" flipV="0">
            <a:off x="4432554" y="4594860"/>
            <a:ext cx="3658457"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instead of broad Possible-D-SEP enumeration.</a:t>
            </a:r>
          </a:p>
        </p:txBody>
      </p:sp>
      <p:sp>
        <p:nvSpPr>
          <p:cNvPr id="24" name="Line 24">
            <a:extLst xmlns:a="http://schemas.openxmlformats.org/drawingml/2006/main">
              <a:ext uri="{FF2B5EF4-FFF2-40B4-BE49-F238E27FC236}">
                <a16:creationId xmlns:a16="http://schemas.microsoft.com/office/drawing/2014/main" id="{E5CBC57B-8024-4356-89C0-E98C514F77D8}"/>
              </a:ext>
            </a:extLst>
          </p:cNvPr>
          <p:cNvSpPr>
            <a:spLocks xmlns:a="http://schemas.openxmlformats.org/drawingml/2006/main" noGrp="1"/>
          </p:cNvSpPr>
          <p:nvPr/>
        </p:nvSpPr>
        <p:spPr>
          <a:xfrm xmlns:a="http://schemas.openxmlformats.org/drawingml/2006/main" rot="0" flipH="1" flipV="0">
            <a:off x="3733800" y="4095750"/>
            <a:ext cx="457200" cy="1"/>
          </a:xfrm>
          <a:prstGeom xmlns:a="http://schemas.openxmlformats.org/drawingml/2006/main" prst="line">
            <a:avLst/>
          </a:prstGeom>
          <a:noFill xmlns:a="http://schemas.openxmlformats.org/drawingml/2006/main"/>
          <a:ln xmlns:a="http://schemas.openxmlformats.org/drawingml/2006/main" w="23812">
            <a:solidFill>
              <a:schemeClr val="accent1"/>
            </a:solidFill>
            <a:tailEnd type="triangle" w="lg" len="lg"/>
          </a:ln>
        </p:spPr>
      </p:sp>
      <p:sp>
        <p:nvSpPr>
          <p:cNvPr id="25" name="Rectangle 25">
            <a:extLst xmlns:a="http://schemas.openxmlformats.org/drawingml/2006/main">
              <a:ext uri="{FF2B5EF4-FFF2-40B4-BE49-F238E27FC236}">
                <a16:creationId xmlns:a16="http://schemas.microsoft.com/office/drawing/2014/main" id="{B450B280-16C2-4BA7-8E97-AE6EA6EDAF68}"/>
              </a:ext>
            </a:extLst>
          </p:cNvPr>
          <p:cNvSpPr>
            <a:spLocks xmlns:a="http://schemas.openxmlformats.org/drawingml/2006/main" noGrp="1"/>
          </p:cNvSpPr>
          <p:nvPr/>
        </p:nvSpPr>
        <p:spPr>
          <a:xfrm xmlns:a="http://schemas.openxmlformats.org/drawingml/2006/main" rot="0" flipH="0" flipV="0">
            <a:off x="533400" y="3257550"/>
            <a:ext cx="3105150" cy="1676400"/>
          </a:xfrm>
          <a:prstGeom xmlns:a="http://schemas.openxmlformats.org/drawingml/2006/main" prst="roundRect">
            <a:avLst>
              <a:gd name="adj" fmla="val 7955"/>
            </a:avLst>
          </a:prstGeom>
          <a:solidFill xmlns:a="http://schemas.openxmlformats.org/drawingml/2006/main">
            <a:schemeClr val="accent1"/>
          </a:solidFill>
          <a:ln xmlns:a="http://schemas.openxmlformats.org/drawingml/2006/main">
            <a:noFill/>
          </a:ln>
        </p:spPr>
      </p:sp>
      <p:sp>
        <p:nvSpPr>
          <p:cNvPr id="26" name="TextBox 26">
            <a:extLst xmlns:a="http://schemas.openxmlformats.org/drawingml/2006/main">
              <a:ext uri="{FF2B5EF4-FFF2-40B4-BE49-F238E27FC236}">
                <a16:creationId xmlns:a16="http://schemas.microsoft.com/office/drawing/2014/main" id="{F60D9C28-55F7-4E0A-979F-1B74E65EF87F}"/>
              </a:ext>
            </a:extLst>
          </p:cNvPr>
          <p:cNvSpPr>
            <a:spLocks xmlns:a="http://schemas.openxmlformats.org/drawingml/2006/main" noGrp="1"/>
          </p:cNvSpPr>
          <p:nvPr/>
        </p:nvSpPr>
        <p:spPr>
          <a:xfrm xmlns:a="http://schemas.openxmlformats.org/drawingml/2006/main" rot="0" flipH="0" flipV="0">
            <a:off x="773430" y="3419475"/>
            <a:ext cx="284359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C77E"/>
                </a:solidFill>
                <a:latin typeface="Consolas"/>
                <a:ea typeface="Consolas"/>
                <a:cs typeface="Consolas"/>
              </a:rPr>
              <a:t>04 Test → minimize → revisit</a:t>
            </a:r>
          </a:p>
        </p:txBody>
      </p:sp>
      <p:sp>
        <p:nvSpPr>
          <p:cNvPr id="27" name="TextBox 27">
            <a:extLst xmlns:a="http://schemas.openxmlformats.org/drawingml/2006/main">
              <a:ext uri="{FF2B5EF4-FFF2-40B4-BE49-F238E27FC236}">
                <a16:creationId xmlns:a16="http://schemas.microsoft.com/office/drawing/2014/main" id="{DD562432-ED55-4955-B6CC-CE7C1EE0C2F6}"/>
              </a:ext>
            </a:extLst>
          </p:cNvPr>
          <p:cNvSpPr>
            <a:spLocks xmlns:a="http://schemas.openxmlformats.org/drawingml/2006/main" noGrp="1"/>
          </p:cNvSpPr>
          <p:nvPr/>
        </p:nvSpPr>
        <p:spPr>
          <a:xfrm xmlns:a="http://schemas.openxmlformats.org/drawingml/2006/main" rot="0" flipH="0" flipV="0">
            <a:off x="772668" y="3755708"/>
            <a:ext cx="2018398"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rgbClr val="FFFFFF"/>
                </a:solidFill>
                <a:latin typeface="+mn-lt"/>
                <a:ea typeface="+mn-lt"/>
                <a:cs typeface="+mn-lt"/>
              </a:rPr>
              <a:t>Remove a verified</a:t>
            </a:r>
          </a:p>
        </p:txBody>
      </p:sp>
      <p:sp>
        <p:nvSpPr>
          <p:cNvPr id="28" name="TextBox 28">
            <a:extLst xmlns:a="http://schemas.openxmlformats.org/drawingml/2006/main">
              <a:ext uri="{FF2B5EF4-FFF2-40B4-BE49-F238E27FC236}">
                <a16:creationId xmlns:a16="http://schemas.microsoft.com/office/drawing/2014/main" id="{37362EC1-738A-408F-AAE8-B7FE8A7A0003}"/>
              </a:ext>
            </a:extLst>
          </p:cNvPr>
          <p:cNvSpPr>
            <a:spLocks xmlns:a="http://schemas.openxmlformats.org/drawingml/2006/main" noGrp="1"/>
          </p:cNvSpPr>
          <p:nvPr/>
        </p:nvSpPr>
        <p:spPr>
          <a:xfrm xmlns:a="http://schemas.openxmlformats.org/drawingml/2006/main" rot="0" flipH="0" flipV="0">
            <a:off x="772668" y="4012882"/>
            <a:ext cx="1155956"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rgbClr val="FFFFFF"/>
                </a:solidFill>
                <a:latin typeface="+mn-lt"/>
                <a:ea typeface="+mn-lt"/>
                <a:cs typeface="+mn-lt"/>
              </a:rPr>
              <a:t>D-SEP link</a:t>
            </a:r>
          </a:p>
        </p:txBody>
      </p:sp>
      <p:sp>
        <p:nvSpPr>
          <p:cNvPr id="29" name="TextBox 29">
            <a:extLst xmlns:a="http://schemas.openxmlformats.org/drawingml/2006/main">
              <a:ext uri="{FF2B5EF4-FFF2-40B4-BE49-F238E27FC236}">
                <a16:creationId xmlns:a16="http://schemas.microsoft.com/office/drawing/2014/main" id="{57B7E33B-6265-4162-BAB6-6BB054BEA433}"/>
              </a:ext>
            </a:extLst>
          </p:cNvPr>
          <p:cNvSpPr>
            <a:spLocks xmlns:a="http://schemas.openxmlformats.org/drawingml/2006/main" noGrp="1"/>
          </p:cNvSpPr>
          <p:nvPr/>
        </p:nvSpPr>
        <p:spPr>
          <a:xfrm xmlns:a="http://schemas.openxmlformats.org/drawingml/2006/main" rot="0" flipH="0" flipV="0">
            <a:off x="774954" y="4404360"/>
            <a:ext cx="248110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E9EDF5"/>
                </a:solidFill>
                <a:latin typeface="+mn-lt"/>
                <a:ea typeface="+mn-lt"/>
                <a:cs typeface="+mn-lt"/>
              </a:rPr>
              <a:t>Update candidates; then orient</a:t>
            </a:r>
          </a:p>
        </p:txBody>
      </p:sp>
      <p:sp>
        <p:nvSpPr>
          <p:cNvPr id="30" name="TextBox 30">
            <a:extLst xmlns:a="http://schemas.openxmlformats.org/drawingml/2006/main">
              <a:ext uri="{FF2B5EF4-FFF2-40B4-BE49-F238E27FC236}">
                <a16:creationId xmlns:a16="http://schemas.microsoft.com/office/drawing/2014/main" id="{B3C9BB1F-5900-4FA8-9A8C-B813368ADE41}"/>
              </a:ext>
            </a:extLst>
          </p:cNvPr>
          <p:cNvSpPr>
            <a:spLocks xmlns:a="http://schemas.openxmlformats.org/drawingml/2006/main" noGrp="1"/>
          </p:cNvSpPr>
          <p:nvPr/>
        </p:nvSpPr>
        <p:spPr>
          <a:xfrm xmlns:a="http://schemas.openxmlformats.org/drawingml/2006/main" rot="0" flipH="0" flipV="0">
            <a:off x="774954" y="4613910"/>
            <a:ext cx="2176882"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E9EDF5"/>
                </a:solidFill>
                <a:latin typeface="+mn-lt"/>
                <a:ea typeface="+mn-lt"/>
                <a:cs typeface="+mn-lt"/>
              </a:rPr>
              <a:t>the verified final skeleton.</a:t>
            </a:r>
          </a:p>
        </p:txBody>
      </p:sp>
      <p:sp>
        <p:nvSpPr>
          <p:cNvPr id="32" name="TextBox 32">
            <a:extLst xmlns:a="http://schemas.openxmlformats.org/drawingml/2006/main">
              <a:ext uri="{FF2B5EF4-FFF2-40B4-BE49-F238E27FC236}">
                <a16:creationId xmlns:a16="http://schemas.microsoft.com/office/drawing/2014/main" id="{43E91320-16CA-4C17-A87C-75BE32CDB4EA}"/>
              </a:ext>
            </a:extLst>
          </p:cNvPr>
          <p:cNvSpPr>
            <a:spLocks xmlns:a="http://schemas.openxmlformats.org/drawingml/2006/main" noGrp="1"/>
          </p:cNvSpPr>
          <p:nvPr/>
        </p:nvSpPr>
        <p:spPr>
          <a:xfrm xmlns:a="http://schemas.openxmlformats.org/drawingml/2006/main" rot="0" flipH="0" flipV="0">
            <a:off x="526542" y="5416868"/>
            <a:ext cx="139484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D-SEP WITNESS</a:t>
            </a:r>
          </a:p>
        </p:txBody>
      </p:sp>
      <p:sp>
        <p:nvSpPr>
          <p:cNvPr id="33" name="TextBox 33">
            <a:extLst xmlns:a="http://schemas.openxmlformats.org/drawingml/2006/main">
              <a:ext uri="{FF2B5EF4-FFF2-40B4-BE49-F238E27FC236}">
                <a16:creationId xmlns:a16="http://schemas.microsoft.com/office/drawing/2014/main" id="{66A11494-2ECC-4BD5-AD89-E68601A3F35A}"/>
              </a:ext>
            </a:extLst>
          </p:cNvPr>
          <p:cNvSpPr>
            <a:spLocks xmlns:a="http://schemas.openxmlformats.org/drawingml/2006/main" noGrp="1"/>
          </p:cNvSpPr>
          <p:nvPr/>
        </p:nvSpPr>
        <p:spPr>
          <a:xfrm xmlns:a="http://schemas.openxmlformats.org/drawingml/2006/main" rot="0" flipH="0" flipV="0">
            <a:off x="2266950" y="5353050"/>
            <a:ext cx="20002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8582" rIns="0" bIns="0" anchor="t">
            <a:noAutofit/>
          </a:bodyPr>
          <a:lstStyle xmlns:a="http://schemas.openxmlformats.org/drawingml/2006/main"/>
          <a:p xmlns:a="http://schemas.openxmlformats.org/drawingml/2006/main">
            <a:pPr algn="l">
              <a:buNone/>
            </a:pPr>
            <a:r>
              <a:rPr sz="1650" b="1">
                <a:solidFill>
                  <a:schemeClr val="accent3"/>
                </a:solidFill>
                <a:latin typeface="Consolas"/>
                <a:ea typeface="Consolas"/>
                <a:cs typeface="Consolas"/>
              </a:rPr>
              <a:t>U ↔ X ↔ Y ↔ V</a:t>
            </a:r>
          </a:p>
        </p:txBody>
      </p:sp>
      <p:sp>
        <p:nvSpPr>
          <p:cNvPr id="34" name="TextBox 34">
            <a:extLst xmlns:a="http://schemas.openxmlformats.org/drawingml/2006/main">
              <a:ext uri="{FF2B5EF4-FFF2-40B4-BE49-F238E27FC236}">
                <a16:creationId xmlns:a16="http://schemas.microsoft.com/office/drawing/2014/main" id="{A12F4348-BC16-44B6-846A-D78AA925C4B2}"/>
              </a:ext>
            </a:extLst>
          </p:cNvPr>
          <p:cNvSpPr>
            <a:spLocks xmlns:a="http://schemas.openxmlformats.org/drawingml/2006/main" noGrp="1"/>
          </p:cNvSpPr>
          <p:nvPr/>
        </p:nvSpPr>
        <p:spPr>
          <a:xfrm xmlns:a="http://schemas.openxmlformats.org/drawingml/2006/main" rot="0" flipH="0" flipV="0">
            <a:off x="4450080" y="5457825"/>
            <a:ext cx="431634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mn-lt"/>
                <a:ea typeface="+mn-lt"/>
                <a:cs typeface="+mn-lt"/>
              </a:rPr>
              <a:t>+ hierarchy-derived separating information</a:t>
            </a:r>
          </a:p>
        </p:txBody>
      </p:sp>
      <p:sp>
        <p:nvSpPr>
          <p:cNvPr id="36" name="Rectangle 36">
            <a:extLst xmlns:a="http://schemas.openxmlformats.org/drawingml/2006/main">
              <a:ext uri="{FF2B5EF4-FFF2-40B4-BE49-F238E27FC236}">
                <a16:creationId xmlns:a16="http://schemas.microsoft.com/office/drawing/2014/main" id="{94BFB9B5-F2B2-4307-8F7A-02D772AAA481}"/>
              </a:ext>
            </a:extLst>
          </p:cNvPr>
          <p:cNvSpPr>
            <a:spLocks xmlns:a="http://schemas.openxmlformats.org/drawingml/2006/main" noGrp="1"/>
          </p:cNvSpPr>
          <p:nvPr/>
        </p:nvSpPr>
        <p:spPr>
          <a:xfrm xmlns:a="http://schemas.openxmlformats.org/drawingml/2006/main" rot="0" flipH="0" flipV="0">
            <a:off x="8477250" y="1333500"/>
            <a:ext cx="3181350" cy="3867150"/>
          </a:xfrm>
          <a:prstGeom xmlns:a="http://schemas.openxmlformats.org/drawingml/2006/main" prst="roundRect">
            <a:avLst>
              <a:gd name="adj" fmla="val 4790"/>
            </a:avLst>
          </a:prstGeom>
          <a:solidFill xmlns:a="http://schemas.openxmlformats.org/drawingml/2006/main">
            <a:schemeClr val="accent1"/>
          </a:solidFill>
          <a:ln xmlns:a="http://schemas.openxmlformats.org/drawingml/2006/main">
            <a:noFill/>
          </a:ln>
        </p:spPr>
      </p:sp>
      <p:sp>
        <p:nvSpPr>
          <p:cNvPr id="37" name="TextBox 37">
            <a:extLst xmlns:a="http://schemas.openxmlformats.org/drawingml/2006/main">
              <a:ext uri="{FF2B5EF4-FFF2-40B4-BE49-F238E27FC236}">
                <a16:creationId xmlns:a16="http://schemas.microsoft.com/office/drawing/2014/main" id="{B2CA96D8-FF87-4062-AB4E-EEA472DE9B09}"/>
              </a:ext>
            </a:extLst>
          </p:cNvPr>
          <p:cNvSpPr>
            <a:spLocks xmlns:a="http://schemas.openxmlformats.org/drawingml/2006/main" noGrp="1"/>
          </p:cNvSpPr>
          <p:nvPr/>
        </p:nvSpPr>
        <p:spPr>
          <a:xfrm xmlns:a="http://schemas.openxmlformats.org/drawingml/2006/main" rot="0" flipH="0" flipV="0">
            <a:off x="8756142" y="1540192"/>
            <a:ext cx="252395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FFC77E"/>
                </a:solidFill>
                <a:latin typeface="+mn-lt"/>
                <a:ea typeface="+mn-lt"/>
                <a:cs typeface="+mn-lt"/>
              </a:rPr>
              <a:t>CONDITIONAL QUERY BOUND</a:t>
            </a:r>
          </a:p>
        </p:txBody>
      </p:sp>
      <p:sp>
        <p:nvSpPr>
          <p:cNvPr id="38" name="TextBox 38">
            <a:extLst xmlns:a="http://schemas.openxmlformats.org/drawingml/2006/main">
              <a:ext uri="{FF2B5EF4-FFF2-40B4-BE49-F238E27FC236}">
                <a16:creationId xmlns:a16="http://schemas.microsoft.com/office/drawing/2014/main" id="{B6CF4199-8F51-4BC6-AAFB-BD8C643AC41B}"/>
              </a:ext>
            </a:extLst>
          </p:cNvPr>
          <p:cNvSpPr>
            <a:spLocks xmlns:a="http://schemas.openxmlformats.org/drawingml/2006/main" noGrp="1"/>
          </p:cNvSpPr>
          <p:nvPr/>
        </p:nvSpPr>
        <p:spPr>
          <a:xfrm xmlns:a="http://schemas.openxmlformats.org/drawingml/2006/main" rot="0" flipH="0" flipV="0">
            <a:off x="8763000" y="2095500"/>
            <a:ext cx="26098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119062" rIns="0" bIns="0" anchor="t">
            <a:noAutofit/>
          </a:bodyPr>
          <a:lstStyle xmlns:a="http://schemas.openxmlformats.org/drawingml/2006/main"/>
          <a:p xmlns:a="http://schemas.openxmlformats.org/drawingml/2006/main">
            <a:pPr algn="ctr">
              <a:buNone/>
            </a:pPr>
            <a:r>
              <a:rPr sz="2250" b="1">
                <a:solidFill>
                  <a:srgbClr val="FFFFFF"/>
                </a:solidFill>
                <a:latin typeface="+mn-lt"/>
                <a:ea typeface="+mn-lt"/>
                <a:cs typeface="+mn-lt"/>
              </a:rPr>
              <a:t>O(N²ᵏ⁺⁴)</a:t>
            </a:r>
          </a:p>
        </p:txBody>
      </p:sp>
      <p:sp>
        <p:nvSpPr>
          <p:cNvPr id="39" name="Line 39">
            <a:extLst xmlns:a="http://schemas.openxmlformats.org/drawingml/2006/main">
              <a:ext uri="{FF2B5EF4-FFF2-40B4-BE49-F238E27FC236}">
                <a16:creationId xmlns:a16="http://schemas.microsoft.com/office/drawing/2014/main" id="{0D2E300E-9848-4FE2-976C-F43E96D5277B}"/>
              </a:ext>
            </a:extLst>
          </p:cNvPr>
          <p:cNvSpPr>
            <a:spLocks xmlns:a="http://schemas.openxmlformats.org/drawingml/2006/main" noGrp="1"/>
          </p:cNvSpPr>
          <p:nvPr/>
        </p:nvSpPr>
        <p:spPr>
          <a:xfrm xmlns:a="http://schemas.openxmlformats.org/drawingml/2006/main" rot="0" flipH="0" flipV="0">
            <a:off x="8763000" y="2800350"/>
            <a:ext cx="2609850" cy="9525"/>
          </a:xfrm>
          <a:custGeom xmlns:a="http://schemas.openxmlformats.org/drawingml/2006/main">
            <a:rect l="l" t="t" r="r" b="b"/>
            <a:pathLst>
              <a:path w="2609850" h="9525">
                <a:moveTo>
                  <a:pt x="0" y="0"/>
                </a:moveTo>
                <a:lnTo>
                  <a:pt x="2609850" y="0"/>
                </a:lnTo>
              </a:path>
            </a:pathLst>
          </a:custGeom>
          <a:noFill xmlns:a="http://schemas.openxmlformats.org/drawingml/2006/main"/>
          <a:ln xmlns:a="http://schemas.openxmlformats.org/drawingml/2006/main" w="14288">
            <a:solidFill>
              <a:srgbClr val="5C7190"/>
            </a:solidFill>
          </a:ln>
        </p:spPr>
      </p:sp>
      <p:sp>
        <p:nvSpPr>
          <p:cNvPr id="40" name="TextBox 40">
            <a:extLst xmlns:a="http://schemas.openxmlformats.org/drawingml/2006/main">
              <a:ext uri="{FF2B5EF4-FFF2-40B4-BE49-F238E27FC236}">
                <a16:creationId xmlns:a16="http://schemas.microsoft.com/office/drawing/2014/main" id="{7E5FB427-95B5-42D2-8208-37FFF6776BC9}"/>
              </a:ext>
            </a:extLst>
          </p:cNvPr>
          <p:cNvSpPr>
            <a:spLocks xmlns:a="http://schemas.openxmlformats.org/drawingml/2006/main" noGrp="1"/>
          </p:cNvSpPr>
          <p:nvPr/>
        </p:nvSpPr>
        <p:spPr>
          <a:xfrm xmlns:a="http://schemas.openxmlformats.org/drawingml/2006/main" rot="0" flipH="0" flipV="0">
            <a:off x="8753856" y="2967990"/>
            <a:ext cx="149047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rgbClr val="FFFFFF"/>
                </a:solidFill>
                <a:latin typeface="+mn-lt"/>
                <a:ea typeface="+mn-lt"/>
                <a:cs typeface="+mn-lt"/>
              </a:rPr>
              <a:t>Only under:</a:t>
            </a:r>
          </a:p>
        </p:txBody>
      </p:sp>
      <p:sp>
        <p:nvSpPr>
          <p:cNvPr id="41" name="TextBox 41">
            <a:extLst xmlns:a="http://schemas.openxmlformats.org/drawingml/2006/main">
              <a:ext uri="{FF2B5EF4-FFF2-40B4-BE49-F238E27FC236}">
                <a16:creationId xmlns:a16="http://schemas.microsoft.com/office/drawing/2014/main" id="{40BCCCB0-593E-43A7-ACA7-9AD920F179D2}"/>
              </a:ext>
            </a:extLst>
          </p:cNvPr>
          <p:cNvSpPr>
            <a:spLocks xmlns:a="http://schemas.openxmlformats.org/drawingml/2006/main" noGrp="1"/>
          </p:cNvSpPr>
          <p:nvPr/>
        </p:nvSpPr>
        <p:spPr>
          <a:xfrm xmlns:a="http://schemas.openxmlformats.org/drawingml/2006/main" rot="0" flipH="0" flipV="0">
            <a:off x="8755380" y="3371850"/>
            <a:ext cx="303522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rgbClr val="E9EDF5"/>
              </a:buClr>
              <a:buSzTx/>
              <a:buFontTx/>
              <a:buChar char="•"/>
            </a:pPr>
            <a:r>
              <a:rPr sz="1500">
                <a:solidFill>
                  <a:srgbClr val="E9EDF5"/>
                </a:solidFill>
                <a:latin typeface="+mn-lt"/>
                <a:ea typeface="+mn-lt"/>
                <a:cs typeface="+mn-lt"/>
              </a:rPr>
              <a:t>fixed observed-MAG degree k</a:t>
            </a:r>
          </a:p>
        </p:txBody>
      </p:sp>
      <p:sp>
        <p:nvSpPr>
          <p:cNvPr id="42" name="TextBox 42">
            <a:extLst xmlns:a="http://schemas.openxmlformats.org/drawingml/2006/main">
              <a:ext uri="{FF2B5EF4-FFF2-40B4-BE49-F238E27FC236}">
                <a16:creationId xmlns:a16="http://schemas.microsoft.com/office/drawing/2014/main" id="{18AC4272-41CC-468F-984C-402AAC74E9C7}"/>
              </a:ext>
            </a:extLst>
          </p:cNvPr>
          <p:cNvSpPr>
            <a:spLocks xmlns:a="http://schemas.openxmlformats.org/drawingml/2006/main" noGrp="1"/>
          </p:cNvSpPr>
          <p:nvPr/>
        </p:nvSpPr>
        <p:spPr>
          <a:xfrm xmlns:a="http://schemas.openxmlformats.org/drawingml/2006/main" rot="0" flipH="0" flipV="0">
            <a:off x="8755380" y="3676650"/>
            <a:ext cx="141474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rgbClr val="E9EDF5"/>
              </a:buClr>
              <a:buSzTx/>
              <a:buFontTx/>
              <a:buChar char="•"/>
            </a:pPr>
            <a:r>
              <a:rPr sz="1500">
                <a:solidFill>
                  <a:srgbClr val="E9EDF5"/>
                </a:solidFill>
                <a:latin typeface="+mn-lt"/>
                <a:ea typeface="+mn-lt"/>
                <a:cs typeface="+mn-lt"/>
              </a:rPr>
              <a:t>Faithfulness</a:t>
            </a:r>
          </a:p>
        </p:txBody>
      </p:sp>
      <p:sp>
        <p:nvSpPr>
          <p:cNvPr id="43" name="TextBox 43">
            <a:extLst xmlns:a="http://schemas.openxmlformats.org/drawingml/2006/main">
              <a:ext uri="{FF2B5EF4-FFF2-40B4-BE49-F238E27FC236}">
                <a16:creationId xmlns:a16="http://schemas.microsoft.com/office/drawing/2014/main" id="{1DA819E6-FC70-4916-BD02-DD7848D045F1}"/>
              </a:ext>
            </a:extLst>
          </p:cNvPr>
          <p:cNvSpPr>
            <a:spLocks xmlns:a="http://schemas.openxmlformats.org/drawingml/2006/main" noGrp="1"/>
          </p:cNvSpPr>
          <p:nvPr/>
        </p:nvSpPr>
        <p:spPr>
          <a:xfrm xmlns:a="http://schemas.openxmlformats.org/drawingml/2006/main" rot="0" flipH="0" flipV="0">
            <a:off x="8755380" y="3981450"/>
            <a:ext cx="314883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rgbClr val="E9EDF5"/>
              </a:buClr>
              <a:buSzTx/>
              <a:buFontTx/>
              <a:buChar char="•"/>
            </a:pPr>
            <a:r>
              <a:rPr sz="1500">
                <a:solidFill>
                  <a:srgbClr val="E9EDF5"/>
                </a:solidFill>
                <a:latin typeface="+mn-lt"/>
                <a:ea typeface="+mn-lt"/>
                <a:cs typeface="+mn-lt"/>
              </a:rPr>
              <a:t>constant-time exact CI oracle</a:t>
            </a:r>
          </a:p>
        </p:txBody>
      </p:sp>
      <p:sp>
        <p:nvSpPr>
          <p:cNvPr id="44" name="Rectangle 44">
            <a:extLst xmlns:a="http://schemas.openxmlformats.org/drawingml/2006/main">
              <a:ext uri="{FF2B5EF4-FFF2-40B4-BE49-F238E27FC236}">
                <a16:creationId xmlns:a16="http://schemas.microsoft.com/office/drawing/2014/main" id="{A330CDC5-BF89-4EA1-A50F-149E6B6FEE49}"/>
              </a:ext>
            </a:extLst>
          </p:cNvPr>
          <p:cNvSpPr>
            <a:spLocks xmlns:a="http://schemas.openxmlformats.org/drawingml/2006/main" noGrp="1"/>
          </p:cNvSpPr>
          <p:nvPr/>
        </p:nvSpPr>
        <p:spPr>
          <a:xfrm xmlns:a="http://schemas.openxmlformats.org/drawingml/2006/main" rot="0" flipH="0" flipV="0">
            <a:off x="8763000" y="4391025"/>
            <a:ext cx="2609850" cy="514350"/>
          </a:xfrm>
          <a:prstGeom xmlns:a="http://schemas.openxmlformats.org/drawingml/2006/main" prst="roundRect">
            <a:avLst>
              <a:gd name="adj" fmla="val 18519"/>
            </a:avLst>
          </a:prstGeom>
          <a:solidFill xmlns:a="http://schemas.openxmlformats.org/drawingml/2006/main">
            <a:srgbClr val="B45F4A"/>
          </a:solidFill>
          <a:ln xmlns:a="http://schemas.openxmlformats.org/drawingml/2006/main">
            <a:noFill/>
          </a:ln>
        </p:spPr>
      </p:sp>
      <p:sp>
        <p:nvSpPr>
          <p:cNvPr id="45" name="TextBox 45">
            <a:extLst xmlns:a="http://schemas.openxmlformats.org/drawingml/2006/main">
              <a:ext uri="{FF2B5EF4-FFF2-40B4-BE49-F238E27FC236}">
                <a16:creationId xmlns:a16="http://schemas.microsoft.com/office/drawing/2014/main" id="{A91F3437-F24B-4F8B-9E60-23EE36A708C4}"/>
              </a:ext>
            </a:extLst>
          </p:cNvPr>
          <p:cNvSpPr>
            <a:spLocks xmlns:a="http://schemas.openxmlformats.org/drawingml/2006/main" noGrp="1"/>
          </p:cNvSpPr>
          <p:nvPr/>
        </p:nvSpPr>
        <p:spPr>
          <a:xfrm xmlns:a="http://schemas.openxmlformats.org/drawingml/2006/main" rot="0" flipH="0" flipV="0">
            <a:off x="8481670" y="4454842"/>
            <a:ext cx="317251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NOT a sample-accuracy guarantee</a:t>
            </a:r>
          </a:p>
        </p:txBody>
      </p:sp>
      <p:sp>
        <p:nvSpPr>
          <p:cNvPr id="46" name="TextBox 46">
            <a:extLst xmlns:a="http://schemas.openxmlformats.org/drawingml/2006/main">
              <a:ext uri="{FF2B5EF4-FFF2-40B4-BE49-F238E27FC236}">
                <a16:creationId xmlns:a16="http://schemas.microsoft.com/office/drawing/2014/main" id="{40E3936E-705D-4359-822D-671AFA9BF3BA}"/>
              </a:ext>
            </a:extLst>
          </p:cNvPr>
          <p:cNvSpPr>
            <a:spLocks xmlns:a="http://schemas.openxmlformats.org/drawingml/2006/main" noGrp="1"/>
          </p:cNvSpPr>
          <p:nvPr/>
        </p:nvSpPr>
        <p:spPr>
          <a:xfrm xmlns:a="http://schemas.openxmlformats.org/drawingml/2006/main" rot="0" flipH="0" flipV="0">
            <a:off x="8791908" y="4664392"/>
            <a:ext cx="255203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NOT a wall-clock guarantee</a:t>
            </a:r>
          </a:p>
        </p:txBody>
      </p:sp>
      <p:sp>
        <p:nvSpPr>
          <p:cNvPr id="48" name="TextBox 48">
            <a:extLst xmlns:a="http://schemas.openxmlformats.org/drawingml/2006/main">
              <a:ext uri="{FF2B5EF4-FFF2-40B4-BE49-F238E27FC236}">
                <a16:creationId xmlns:a16="http://schemas.microsoft.com/office/drawing/2014/main" id="{F640C2B9-1562-462E-9BCF-27145CC28DA8}"/>
              </a:ext>
            </a:extLst>
          </p:cNvPr>
          <p:cNvSpPr>
            <a:spLocks xmlns:a="http://schemas.openxmlformats.org/drawingml/2006/main" noGrp="1"/>
          </p:cNvSpPr>
          <p:nvPr/>
        </p:nvSpPr>
        <p:spPr>
          <a:xfrm xmlns:a="http://schemas.openxmlformats.org/drawingml/2006/main" rot="0" flipH="0" flipV="0">
            <a:off x="527304" y="6204585"/>
            <a:ext cx="9540832"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Claassen, Mooij &amp; Heskes (2013), Def. 3, Lemmas 4–7, Algorithm 2 p. 178, complexity p. 179 · supplement theorem/body</a:t>
            </a:r>
          </a:p>
        </p:txBody>
      </p:sp>
      <p:sp>
        <p:nvSpPr>
          <p:cNvPr id="49" name="TextBox 49">
            <a:extLst xmlns:a="http://schemas.openxmlformats.org/drawingml/2006/main">
              <a:ext uri="{FF2B5EF4-FFF2-40B4-BE49-F238E27FC236}">
                <a16:creationId xmlns:a16="http://schemas.microsoft.com/office/drawing/2014/main" id="{962639D3-6426-4E1B-98D8-813257EDA587}"/>
              </a:ext>
            </a:extLst>
          </p:cNvPr>
          <p:cNvSpPr>
            <a:spLocks xmlns:a="http://schemas.openxmlformats.org/drawingml/2006/main" noGrp="1"/>
          </p:cNvSpPr>
          <p:nvPr/>
        </p:nvSpPr>
        <p:spPr>
          <a:xfrm xmlns:a="http://schemas.openxmlformats.org/drawingml/2006/main" rot="0" flipH="0" flipV="0">
            <a:off x="11111332" y="6204585"/>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05 / 15</a:t>
            </a:r>
          </a:p>
        </p:txBody>
      </p:sp>
    </p:spTree>
    <p:extLst>
      <p:ext uri="{BB962C8B-B14F-4D97-AF65-F5344CB8AC3E}">
        <p14:creationId xmlns:p14="http://schemas.microsoft.com/office/powerpoint/2010/main" val="1253612357"/>
      </p:ext>
    </p:extLst>
  </p:cSld>
</p:sld>
</file>

<file path=ppt/slides/slide6.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CA6EB9ED-1671-4A90-903A-68227967C27D}"/>
              </a:ext>
            </a:extLst>
          </p:cNvPr>
          <p:cNvSpPr>
            <a:spLocks xmlns:a="http://schemas.openxmlformats.org/drawingml/2006/main" noGrp="1"/>
          </p:cNvSpPr>
          <p:nvPr/>
        </p:nvSpPr>
        <p:spPr>
          <a:xfrm xmlns:a="http://schemas.openxmlformats.org/drawingml/2006/main" rot="0" flipH="0" flipV="0">
            <a:off x="517398" y="345758"/>
            <a:ext cx="10844802" cy="6160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150" b="1">
                <a:solidFill>
                  <a:schemeClr val="accent1"/>
                </a:solidFill>
                <a:latin typeface="+mj-lt"/>
                <a:ea typeface="+mj-lt"/>
                <a:cs typeface="+mj-lt"/>
              </a:rPr>
              <a:t>Every Paper Stage Is Inspectable and Testable</a:t>
            </a:r>
          </a:p>
        </p:txBody>
      </p:sp>
      <p:sp>
        <p:nvSpPr>
          <p:cNvPr id="3" name="TextBox 3">
            <a:extLst xmlns:a="http://schemas.openxmlformats.org/drawingml/2006/main">
              <a:ext uri="{FF2B5EF4-FFF2-40B4-BE49-F238E27FC236}">
                <a16:creationId xmlns:a16="http://schemas.microsoft.com/office/drawing/2014/main" id="{EFE09AB5-69A0-4BCB-BB48-D412E5588721}"/>
              </a:ext>
            </a:extLst>
          </p:cNvPr>
          <p:cNvSpPr>
            <a:spLocks xmlns:a="http://schemas.openxmlformats.org/drawingml/2006/main" noGrp="1"/>
          </p:cNvSpPr>
          <p:nvPr/>
        </p:nvSpPr>
        <p:spPr>
          <a:xfrm xmlns:a="http://schemas.openxmlformats.org/drawingml/2006/main" rot="0" flipH="0" flipV="0">
            <a:off x="10480396" y="844868"/>
            <a:ext cx="118506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TRACEABILITY</a:t>
            </a:r>
          </a:p>
        </p:txBody>
      </p:sp>
      <p:sp>
        <p:nvSpPr>
          <p:cNvPr id="4" name="Line 4">
            <a:extLst xmlns:a="http://schemas.openxmlformats.org/drawingml/2006/main">
              <a:ext uri="{FF2B5EF4-FFF2-40B4-BE49-F238E27FC236}">
                <a16:creationId xmlns:a16="http://schemas.microsoft.com/office/drawing/2014/main" id="{96A9CD88-D7F9-4154-8D6D-5C7A75EC9DF4}"/>
              </a:ext>
            </a:extLst>
          </p:cNvPr>
          <p:cNvSpPr>
            <a:spLocks xmlns:a="http://schemas.openxmlformats.org/drawingml/2006/main" noGrp="1"/>
          </p:cNvSpPr>
          <p:nvPr/>
        </p:nvSpPr>
        <p:spPr>
          <a:xfrm xmlns:a="http://schemas.openxmlformats.org/drawingml/2006/main" rot="0" flipH="0" flipV="0">
            <a:off x="533400" y="11430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C863C75D-8EB0-4438-B871-24A3106D9555}"/>
              </a:ext>
            </a:extLst>
          </p:cNvPr>
          <p:cNvSpPr>
            <a:spLocks xmlns:a="http://schemas.openxmlformats.org/drawingml/2006/main" noGrp="1"/>
          </p:cNvSpPr>
          <p:nvPr/>
        </p:nvSpPr>
        <p:spPr>
          <a:xfrm xmlns:a="http://schemas.openxmlformats.org/drawingml/2006/main" rot="0" flipH="0" flipV="0">
            <a:off x="533400" y="1304925"/>
            <a:ext cx="11125200" cy="4191000"/>
          </a:xfrm>
          <a:prstGeom xmlns:a="http://schemas.openxmlformats.org/drawingml/2006/main" prst="roundRect">
            <a:avLst>
              <a:gd name="adj" fmla="val 3182"/>
            </a:avLst>
          </a:prstGeom>
          <a:solidFill xmlns:a="http://schemas.openxmlformats.org/drawingml/2006/main">
            <a:srgbClr val="FFFFFF"/>
          </a:solidFill>
          <a:ln xmlns:a="http://schemas.openxmlformats.org/drawingml/2006/main" w="14288">
            <a:solidFill>
              <a:srgbClr val="CBD2DC"/>
            </a:solidFill>
          </a:ln>
        </p:spPr>
      </p:sp>
      <p:sp>
        <p:nvSpPr>
          <p:cNvPr id="7" name="Rectangle 7">
            <a:extLst xmlns:a="http://schemas.openxmlformats.org/drawingml/2006/main">
              <a:ext uri="{FF2B5EF4-FFF2-40B4-BE49-F238E27FC236}">
                <a16:creationId xmlns:a16="http://schemas.microsoft.com/office/drawing/2014/main" id="{2BBF3BBB-D243-4F39-8652-02895CABED50}"/>
              </a:ext>
            </a:extLst>
          </p:cNvPr>
          <p:cNvSpPr>
            <a:spLocks xmlns:a="http://schemas.openxmlformats.org/drawingml/2006/main" noGrp="1"/>
          </p:cNvSpPr>
          <p:nvPr/>
        </p:nvSpPr>
        <p:spPr>
          <a:xfrm xmlns:a="http://schemas.openxmlformats.org/drawingml/2006/main" rot="0" flipH="0" flipV="0">
            <a:off x="533400" y="1304925"/>
            <a:ext cx="11125200" cy="495300"/>
          </a:xfrm>
          <a:prstGeom xmlns:a="http://schemas.openxmlformats.org/drawingml/2006/main" prst="roundRect">
            <a:avLst>
              <a:gd name="adj" fmla="val 26923"/>
            </a:avLst>
          </a:prstGeom>
          <a:solidFill xmlns:a="http://schemas.openxmlformats.org/drawingml/2006/main">
            <a:schemeClr val="accent1"/>
          </a:solidFill>
          <a:ln xmlns:a="http://schemas.openxmlformats.org/drawingml/2006/main">
            <a:noFill/>
          </a:ln>
        </p:spPr>
      </p:sp>
      <p:sp>
        <p:nvSpPr>
          <p:cNvPr id="8" name="TextBox 8">
            <a:extLst xmlns:a="http://schemas.openxmlformats.org/drawingml/2006/main">
              <a:ext uri="{FF2B5EF4-FFF2-40B4-BE49-F238E27FC236}">
                <a16:creationId xmlns:a16="http://schemas.microsoft.com/office/drawing/2014/main" id="{A71E2798-E884-4396-AEEE-E38E603DD17B}"/>
              </a:ext>
            </a:extLst>
          </p:cNvPr>
          <p:cNvSpPr>
            <a:spLocks xmlns:a="http://schemas.openxmlformats.org/drawingml/2006/main" noGrp="1"/>
          </p:cNvSpPr>
          <p:nvPr/>
        </p:nvSpPr>
        <p:spPr>
          <a:xfrm xmlns:a="http://schemas.openxmlformats.org/drawingml/2006/main" rot="0" flipH="0" flipV="0">
            <a:off x="819150" y="1409700"/>
            <a:ext cx="2190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FFFFFF"/>
                </a:solidFill>
                <a:latin typeface="+mn-lt"/>
                <a:ea typeface="+mn-lt"/>
                <a:cs typeface="+mn-lt"/>
              </a:rPr>
              <a:t>SOURCE</a:t>
            </a:r>
          </a:p>
        </p:txBody>
      </p:sp>
      <p:sp>
        <p:nvSpPr>
          <p:cNvPr id="9" name="TextBox 9">
            <a:extLst xmlns:a="http://schemas.openxmlformats.org/drawingml/2006/main">
              <a:ext uri="{FF2B5EF4-FFF2-40B4-BE49-F238E27FC236}">
                <a16:creationId xmlns:a16="http://schemas.microsoft.com/office/drawing/2014/main" id="{C28013CF-CFFA-482C-9EC7-1FFBA4B08E30}"/>
              </a:ext>
            </a:extLst>
          </p:cNvPr>
          <p:cNvSpPr>
            <a:spLocks xmlns:a="http://schemas.openxmlformats.org/drawingml/2006/main" noGrp="1"/>
          </p:cNvSpPr>
          <p:nvPr/>
        </p:nvSpPr>
        <p:spPr>
          <a:xfrm xmlns:a="http://schemas.openxmlformats.org/drawingml/2006/main" rot="0" flipH="0" flipV="0">
            <a:off x="3581400" y="1409700"/>
            <a:ext cx="4000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FFFFFF"/>
                </a:solidFill>
                <a:latin typeface="+mn-lt"/>
                <a:ea typeface="+mn-lt"/>
                <a:cs typeface="+mn-lt"/>
              </a:rPr>
              <a:t>IMPLEMENTATION BOUNDARY</a:t>
            </a:r>
          </a:p>
        </p:txBody>
      </p:sp>
      <p:sp>
        <p:nvSpPr>
          <p:cNvPr id="10" name="TextBox 10">
            <a:extLst xmlns:a="http://schemas.openxmlformats.org/drawingml/2006/main">
              <a:ext uri="{FF2B5EF4-FFF2-40B4-BE49-F238E27FC236}">
                <a16:creationId xmlns:a16="http://schemas.microsoft.com/office/drawing/2014/main" id="{A7B3856D-BF8C-4FDD-A7E6-A86572B563F0}"/>
              </a:ext>
            </a:extLst>
          </p:cNvPr>
          <p:cNvSpPr>
            <a:spLocks xmlns:a="http://schemas.openxmlformats.org/drawingml/2006/main" noGrp="1"/>
          </p:cNvSpPr>
          <p:nvPr/>
        </p:nvSpPr>
        <p:spPr>
          <a:xfrm xmlns:a="http://schemas.openxmlformats.org/drawingml/2006/main" rot="0" flipH="0" flipV="0">
            <a:off x="8382000" y="1409700"/>
            <a:ext cx="2952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FFFFFF"/>
                </a:solidFill>
                <a:latin typeface="+mn-lt"/>
                <a:ea typeface="+mn-lt"/>
                <a:cs typeface="+mn-lt"/>
              </a:rPr>
              <a:t>TEST / AUDIT EVIDENCE</a:t>
            </a:r>
          </a:p>
        </p:txBody>
      </p:sp>
      <p:sp>
        <p:nvSpPr>
          <p:cNvPr id="11" name="Line 11">
            <a:extLst xmlns:a="http://schemas.openxmlformats.org/drawingml/2006/main">
              <a:ext uri="{FF2B5EF4-FFF2-40B4-BE49-F238E27FC236}">
                <a16:creationId xmlns:a16="http://schemas.microsoft.com/office/drawing/2014/main" id="{5E1A21F2-E79E-4965-8414-E8C6AFFCFFF3}"/>
              </a:ext>
            </a:extLst>
          </p:cNvPr>
          <p:cNvSpPr>
            <a:spLocks xmlns:a="http://schemas.openxmlformats.org/drawingml/2006/main" noGrp="1"/>
          </p:cNvSpPr>
          <p:nvPr/>
        </p:nvSpPr>
        <p:spPr>
          <a:xfrm xmlns:a="http://schemas.openxmlformats.org/drawingml/2006/main" rot="0" flipH="0" flipV="0">
            <a:off x="3257550" y="1800225"/>
            <a:ext cx="9525" cy="3695700"/>
          </a:xfrm>
          <a:custGeom xmlns:a="http://schemas.openxmlformats.org/drawingml/2006/main">
            <a:rect l="l" t="t" r="r" b="b"/>
            <a:pathLst>
              <a:path w="9525" h="3695700">
                <a:moveTo>
                  <a:pt x="0" y="0"/>
                </a:moveTo>
                <a:lnTo>
                  <a:pt x="0" y="3695700"/>
                </a:lnTo>
              </a:path>
            </a:pathLst>
          </a:custGeom>
          <a:noFill xmlns:a="http://schemas.openxmlformats.org/drawingml/2006/main"/>
          <a:ln xmlns:a="http://schemas.openxmlformats.org/drawingml/2006/main" w="14288">
            <a:solidFill>
              <a:srgbClr val="CBD2DC"/>
            </a:solidFill>
          </a:ln>
        </p:spPr>
      </p:sp>
      <p:sp>
        <p:nvSpPr>
          <p:cNvPr id="12" name="Line 12">
            <a:extLst xmlns:a="http://schemas.openxmlformats.org/drawingml/2006/main">
              <a:ext uri="{FF2B5EF4-FFF2-40B4-BE49-F238E27FC236}">
                <a16:creationId xmlns:a16="http://schemas.microsoft.com/office/drawing/2014/main" id="{010110BC-D14E-4AB6-9EBB-056F239C88DB}"/>
              </a:ext>
            </a:extLst>
          </p:cNvPr>
          <p:cNvSpPr>
            <a:spLocks xmlns:a="http://schemas.openxmlformats.org/drawingml/2006/main" noGrp="1"/>
          </p:cNvSpPr>
          <p:nvPr/>
        </p:nvSpPr>
        <p:spPr>
          <a:xfrm xmlns:a="http://schemas.openxmlformats.org/drawingml/2006/main" rot="0" flipH="0" flipV="0">
            <a:off x="8058150" y="1800225"/>
            <a:ext cx="9525" cy="3695700"/>
          </a:xfrm>
          <a:custGeom xmlns:a="http://schemas.openxmlformats.org/drawingml/2006/main">
            <a:rect l="l" t="t" r="r" b="b"/>
            <a:pathLst>
              <a:path w="9525" h="3695700">
                <a:moveTo>
                  <a:pt x="0" y="0"/>
                </a:moveTo>
                <a:lnTo>
                  <a:pt x="0" y="3695700"/>
                </a:lnTo>
              </a:path>
            </a:pathLst>
          </a:custGeom>
          <a:noFill xmlns:a="http://schemas.openxmlformats.org/drawingml/2006/main"/>
          <a:ln xmlns:a="http://schemas.openxmlformats.org/drawingml/2006/main" w="14288">
            <a:solidFill>
              <a:srgbClr val="CBD2DC"/>
            </a:solidFill>
          </a:ln>
        </p:spPr>
      </p:sp>
      <p:sp>
        <p:nvSpPr>
          <p:cNvPr id="13" name="Rectangle 13">
            <a:extLst xmlns:a="http://schemas.openxmlformats.org/drawingml/2006/main">
              <a:ext uri="{FF2B5EF4-FFF2-40B4-BE49-F238E27FC236}">
                <a16:creationId xmlns:a16="http://schemas.microsoft.com/office/drawing/2014/main" id="{9DB015B1-CB07-455F-9393-FE75D2C0F32B}"/>
              </a:ext>
            </a:extLst>
          </p:cNvPr>
          <p:cNvSpPr>
            <a:spLocks xmlns:a="http://schemas.openxmlformats.org/drawingml/2006/main" noGrp="1"/>
          </p:cNvSpPr>
          <p:nvPr/>
        </p:nvSpPr>
        <p:spPr>
          <a:xfrm xmlns:a="http://schemas.openxmlformats.org/drawingml/2006/main" rot="0" flipH="0" flipV="0">
            <a:off x="533400" y="1800225"/>
            <a:ext cx="95250" cy="1162050"/>
          </a:xfrm>
          <a:prstGeom xmlns:a="http://schemas.openxmlformats.org/drawingml/2006/main" prst="rect">
            <a:avLst/>
          </a:prstGeom>
          <a:solidFill xmlns:a="http://schemas.openxmlformats.org/drawingml/2006/main">
            <a:schemeClr val="accent2"/>
          </a:solidFill>
          <a:ln xmlns:a="http://schemas.openxmlformats.org/drawingml/2006/main">
            <a:noFill/>
          </a:ln>
        </p:spPr>
      </p:sp>
      <p:sp>
        <p:nvSpPr>
          <p:cNvPr id="14" name="TextBox 14">
            <a:extLst xmlns:a="http://schemas.openxmlformats.org/drawingml/2006/main">
              <a:ext uri="{FF2B5EF4-FFF2-40B4-BE49-F238E27FC236}">
                <a16:creationId xmlns:a16="http://schemas.microsoft.com/office/drawing/2014/main" id="{25F0A17A-14D7-437D-90B3-EEFAE5943353}"/>
              </a:ext>
            </a:extLst>
          </p:cNvPr>
          <p:cNvSpPr>
            <a:spLocks xmlns:a="http://schemas.openxmlformats.org/drawingml/2006/main" noGrp="1"/>
          </p:cNvSpPr>
          <p:nvPr/>
        </p:nvSpPr>
        <p:spPr>
          <a:xfrm xmlns:a="http://schemas.openxmlformats.org/drawingml/2006/main" rot="0" flipH="0" flipV="0">
            <a:off x="810006" y="1910715"/>
            <a:ext cx="1397308"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2"/>
                </a:solidFill>
                <a:latin typeface="+mn-lt"/>
                <a:ea typeface="+mn-lt"/>
                <a:cs typeface="+mn-lt"/>
              </a:rPr>
              <a:t>Spirtes FCI</a:t>
            </a:r>
          </a:p>
        </p:txBody>
      </p:sp>
      <p:sp>
        <p:nvSpPr>
          <p:cNvPr id="15" name="TextBox 15">
            <a:extLst xmlns:a="http://schemas.openxmlformats.org/drawingml/2006/main">
              <a:ext uri="{FF2B5EF4-FFF2-40B4-BE49-F238E27FC236}">
                <a16:creationId xmlns:a16="http://schemas.microsoft.com/office/drawing/2014/main" id="{B0FB6FE6-628F-438F-A8E3-9A9C295BB8C2}"/>
              </a:ext>
            </a:extLst>
          </p:cNvPr>
          <p:cNvSpPr>
            <a:spLocks xmlns:a="http://schemas.openxmlformats.org/drawingml/2006/main" noGrp="1"/>
          </p:cNvSpPr>
          <p:nvPr/>
        </p:nvSpPr>
        <p:spPr>
          <a:xfrm xmlns:a="http://schemas.openxmlformats.org/drawingml/2006/main" rot="0" flipH="0" flipV="0">
            <a:off x="812292" y="2235518"/>
            <a:ext cx="178280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Adjacency + sepsets</a:t>
            </a:r>
          </a:p>
        </p:txBody>
      </p:sp>
      <p:sp>
        <p:nvSpPr>
          <p:cNvPr id="16" name="TextBox 16">
            <a:extLst xmlns:a="http://schemas.openxmlformats.org/drawingml/2006/main">
              <a:ext uri="{FF2B5EF4-FFF2-40B4-BE49-F238E27FC236}">
                <a16:creationId xmlns:a16="http://schemas.microsoft.com/office/drawing/2014/main" id="{0933CB48-53C5-4365-9561-6C5F16BBB48F}"/>
              </a:ext>
            </a:extLst>
          </p:cNvPr>
          <p:cNvSpPr>
            <a:spLocks xmlns:a="http://schemas.openxmlformats.org/drawingml/2006/main" noGrp="1"/>
          </p:cNvSpPr>
          <p:nvPr/>
        </p:nvSpPr>
        <p:spPr>
          <a:xfrm xmlns:a="http://schemas.openxmlformats.org/drawingml/2006/main" rot="0" flipH="0" flipV="0">
            <a:off x="812292" y="2464118"/>
            <a:ext cx="135308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Possible-D-SEP</a:t>
            </a:r>
          </a:p>
        </p:txBody>
      </p:sp>
      <p:sp>
        <p:nvSpPr>
          <p:cNvPr id="17" name="TextBox 17">
            <a:extLst xmlns:a="http://schemas.openxmlformats.org/drawingml/2006/main">
              <a:ext uri="{FF2B5EF4-FFF2-40B4-BE49-F238E27FC236}">
                <a16:creationId xmlns:a16="http://schemas.microsoft.com/office/drawing/2014/main" id="{B1F23D78-A80B-462F-814E-7F2ABF1BC9D4}"/>
              </a:ext>
            </a:extLst>
          </p:cNvPr>
          <p:cNvSpPr>
            <a:spLocks xmlns:a="http://schemas.openxmlformats.org/drawingml/2006/main" noGrp="1"/>
          </p:cNvSpPr>
          <p:nvPr/>
        </p:nvSpPr>
        <p:spPr>
          <a:xfrm xmlns:a="http://schemas.openxmlformats.org/drawingml/2006/main" rot="0" flipH="0" flipV="0">
            <a:off x="812292" y="2692718"/>
            <a:ext cx="173113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orientation closure</a:t>
            </a:r>
          </a:p>
        </p:txBody>
      </p:sp>
      <p:sp>
        <p:nvSpPr>
          <p:cNvPr id="18" name="TextBox 18">
            <a:extLst xmlns:a="http://schemas.openxmlformats.org/drawingml/2006/main">
              <a:ext uri="{FF2B5EF4-FFF2-40B4-BE49-F238E27FC236}">
                <a16:creationId xmlns:a16="http://schemas.microsoft.com/office/drawing/2014/main" id="{9986138B-FD81-4BD2-A308-A676F9DF068F}"/>
              </a:ext>
            </a:extLst>
          </p:cNvPr>
          <p:cNvSpPr>
            <a:spLocks xmlns:a="http://schemas.openxmlformats.org/drawingml/2006/main" noGrp="1"/>
          </p:cNvSpPr>
          <p:nvPr/>
        </p:nvSpPr>
        <p:spPr>
          <a:xfrm xmlns:a="http://schemas.openxmlformats.org/drawingml/2006/main" rot="0" flipH="0" flipV="0">
            <a:off x="3573780" y="1943100"/>
            <a:ext cx="2421741"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Consolas"/>
                <a:ea typeface="Consolas"/>
                <a:cs typeface="Consolas"/>
              </a:rPr>
              <a:t>skeleton.py · pdsep.py</a:t>
            </a:r>
          </a:p>
        </p:txBody>
      </p:sp>
      <p:sp>
        <p:nvSpPr>
          <p:cNvPr id="19" name="TextBox 19">
            <a:extLst xmlns:a="http://schemas.openxmlformats.org/drawingml/2006/main">
              <a:ext uri="{FF2B5EF4-FFF2-40B4-BE49-F238E27FC236}">
                <a16:creationId xmlns:a16="http://schemas.microsoft.com/office/drawing/2014/main" id="{B8EBFDA6-13ED-4202-A487-3D8F7C3188B2}"/>
              </a:ext>
            </a:extLst>
          </p:cNvPr>
          <p:cNvSpPr>
            <a:spLocks xmlns:a="http://schemas.openxmlformats.org/drawingml/2006/main" noGrp="1"/>
          </p:cNvSpPr>
          <p:nvPr/>
        </p:nvSpPr>
        <p:spPr>
          <a:xfrm xmlns:a="http://schemas.openxmlformats.org/drawingml/2006/main" rot="0" flipH="0" flipV="0">
            <a:off x="3573780" y="2219325"/>
            <a:ext cx="2665571"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Consolas"/>
                <a:ea typeface="Consolas"/>
                <a:cs typeface="Consolas"/>
              </a:rPr>
              <a:t>orientation.py · rules.py</a:t>
            </a:r>
          </a:p>
        </p:txBody>
      </p:sp>
      <p:sp>
        <p:nvSpPr>
          <p:cNvPr id="20" name="TextBox 20">
            <a:extLst xmlns:a="http://schemas.openxmlformats.org/drawingml/2006/main">
              <a:ext uri="{FF2B5EF4-FFF2-40B4-BE49-F238E27FC236}">
                <a16:creationId xmlns:a16="http://schemas.microsoft.com/office/drawing/2014/main" id="{116612E8-C907-42B3-999E-1DF40BC65D12}"/>
              </a:ext>
            </a:extLst>
          </p:cNvPr>
          <p:cNvSpPr>
            <a:spLocks xmlns:a="http://schemas.openxmlformats.org/drawingml/2006/main" noGrp="1"/>
          </p:cNvSpPr>
          <p:nvPr/>
        </p:nvSpPr>
        <p:spPr>
          <a:xfrm xmlns:a="http://schemas.openxmlformats.org/drawingml/2006/main" rot="0" flipH="0" flipV="0">
            <a:off x="3575304" y="2518410"/>
            <a:ext cx="183040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FCI.fit · possible_dsep</a:t>
            </a:r>
          </a:p>
        </p:txBody>
      </p:sp>
      <p:sp>
        <p:nvSpPr>
          <p:cNvPr id="21" name="TextBox 21">
            <a:extLst xmlns:a="http://schemas.openxmlformats.org/drawingml/2006/main">
              <a:ext uri="{FF2B5EF4-FFF2-40B4-BE49-F238E27FC236}">
                <a16:creationId xmlns:a16="http://schemas.microsoft.com/office/drawing/2014/main" id="{8825F352-3314-4105-AA95-C1489B3031D1}"/>
              </a:ext>
            </a:extLst>
          </p:cNvPr>
          <p:cNvSpPr>
            <a:spLocks xmlns:a="http://schemas.openxmlformats.org/drawingml/2006/main" noGrp="1"/>
          </p:cNvSpPr>
          <p:nvPr/>
        </p:nvSpPr>
        <p:spPr>
          <a:xfrm xmlns:a="http://schemas.openxmlformats.org/drawingml/2006/main" rot="0" flipH="0" flipV="0">
            <a:off x="3575304" y="2727960"/>
            <a:ext cx="2233422"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refine_skeleton_with_pdsep</a:t>
            </a:r>
          </a:p>
        </p:txBody>
      </p:sp>
      <p:sp>
        <p:nvSpPr>
          <p:cNvPr id="22" name="TextBox 22">
            <a:extLst xmlns:a="http://schemas.openxmlformats.org/drawingml/2006/main">
              <a:ext uri="{FF2B5EF4-FFF2-40B4-BE49-F238E27FC236}">
                <a16:creationId xmlns:a16="http://schemas.microsoft.com/office/drawing/2014/main" id="{38F6A536-C0BB-47F6-BF39-4E74C75F799C}"/>
              </a:ext>
            </a:extLst>
          </p:cNvPr>
          <p:cNvSpPr>
            <a:spLocks xmlns:a="http://schemas.openxmlformats.org/drawingml/2006/main" noGrp="1"/>
          </p:cNvSpPr>
          <p:nvPr/>
        </p:nvSpPr>
        <p:spPr>
          <a:xfrm xmlns:a="http://schemas.openxmlformats.org/drawingml/2006/main" rot="0" flipH="0" flipV="0">
            <a:off x="8374380" y="1943100"/>
            <a:ext cx="2799952"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Exact-oracle PAG recovery</a:t>
            </a:r>
          </a:p>
        </p:txBody>
      </p:sp>
      <p:sp>
        <p:nvSpPr>
          <p:cNvPr id="23" name="TextBox 23">
            <a:extLst xmlns:a="http://schemas.openxmlformats.org/drawingml/2006/main">
              <a:ext uri="{FF2B5EF4-FFF2-40B4-BE49-F238E27FC236}">
                <a16:creationId xmlns:a16="http://schemas.microsoft.com/office/drawing/2014/main" id="{C4356C71-EF85-4AA9-87A0-52B4EE9602AC}"/>
              </a:ext>
            </a:extLst>
          </p:cNvPr>
          <p:cNvSpPr>
            <a:spLocks xmlns:a="http://schemas.openxmlformats.org/drawingml/2006/main" noGrp="1"/>
          </p:cNvSpPr>
          <p:nvPr/>
        </p:nvSpPr>
        <p:spPr>
          <a:xfrm xmlns:a="http://schemas.openxmlformats.org/drawingml/2006/main" rot="0" flipH="0" flipV="0">
            <a:off x="8375142" y="2283142"/>
            <a:ext cx="231604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Possible-D-SEP unit paths</a:t>
            </a:r>
          </a:p>
        </p:txBody>
      </p:sp>
      <p:sp>
        <p:nvSpPr>
          <p:cNvPr id="24" name="TextBox 24">
            <a:extLst xmlns:a="http://schemas.openxmlformats.org/drawingml/2006/main">
              <a:ext uri="{FF2B5EF4-FFF2-40B4-BE49-F238E27FC236}">
                <a16:creationId xmlns:a16="http://schemas.microsoft.com/office/drawing/2014/main" id="{BF978A85-DAB7-45B2-996E-77D0B9AB95F7}"/>
              </a:ext>
            </a:extLst>
          </p:cNvPr>
          <p:cNvSpPr>
            <a:spLocks xmlns:a="http://schemas.openxmlformats.org/drawingml/2006/main" noGrp="1"/>
          </p:cNvSpPr>
          <p:nvPr/>
        </p:nvSpPr>
        <p:spPr>
          <a:xfrm xmlns:a="http://schemas.openxmlformats.org/drawingml/2006/main" rot="0" flipH="0" flipV="0">
            <a:off x="8375142" y="2511742"/>
            <a:ext cx="269433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historical schedule regression</a:t>
            </a:r>
          </a:p>
        </p:txBody>
      </p:sp>
      <p:sp>
        <p:nvSpPr>
          <p:cNvPr id="25" name="Line 25">
            <a:extLst xmlns:a="http://schemas.openxmlformats.org/drawingml/2006/main">
              <a:ext uri="{FF2B5EF4-FFF2-40B4-BE49-F238E27FC236}">
                <a16:creationId xmlns:a16="http://schemas.microsoft.com/office/drawing/2014/main" id="{E37F6E3A-2F24-464E-9337-5FDC5895DBA8}"/>
              </a:ext>
            </a:extLst>
          </p:cNvPr>
          <p:cNvSpPr>
            <a:spLocks xmlns:a="http://schemas.openxmlformats.org/drawingml/2006/main" noGrp="1"/>
          </p:cNvSpPr>
          <p:nvPr/>
        </p:nvSpPr>
        <p:spPr>
          <a:xfrm xmlns:a="http://schemas.openxmlformats.org/drawingml/2006/main" rot="0" flipH="0" flipV="0">
            <a:off x="533400" y="2962275"/>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26" name="Rectangle 26">
            <a:extLst xmlns:a="http://schemas.openxmlformats.org/drawingml/2006/main">
              <a:ext uri="{FF2B5EF4-FFF2-40B4-BE49-F238E27FC236}">
                <a16:creationId xmlns:a16="http://schemas.microsoft.com/office/drawing/2014/main" id="{9D4FE218-787F-45C4-9B4A-2F18849F0A58}"/>
              </a:ext>
            </a:extLst>
          </p:cNvPr>
          <p:cNvSpPr>
            <a:spLocks xmlns:a="http://schemas.openxmlformats.org/drawingml/2006/main" noGrp="1"/>
          </p:cNvSpPr>
          <p:nvPr/>
        </p:nvSpPr>
        <p:spPr>
          <a:xfrm xmlns:a="http://schemas.openxmlformats.org/drawingml/2006/main" rot="0" flipH="0" flipV="0">
            <a:off x="533400" y="2962275"/>
            <a:ext cx="95250" cy="1333500"/>
          </a:xfrm>
          <a:prstGeom xmlns:a="http://schemas.openxmlformats.org/drawingml/2006/main" prst="rect">
            <a:avLst/>
          </a:prstGeom>
          <a:solidFill xmlns:a="http://schemas.openxmlformats.org/drawingml/2006/main">
            <a:schemeClr val="accent3"/>
          </a:solidFill>
          <a:ln xmlns:a="http://schemas.openxmlformats.org/drawingml/2006/main">
            <a:noFill/>
          </a:ln>
        </p:spPr>
      </p:sp>
      <p:sp>
        <p:nvSpPr>
          <p:cNvPr id="27" name="TextBox 27">
            <a:extLst xmlns:a="http://schemas.openxmlformats.org/drawingml/2006/main">
              <a:ext uri="{FF2B5EF4-FFF2-40B4-BE49-F238E27FC236}">
                <a16:creationId xmlns:a16="http://schemas.microsoft.com/office/drawing/2014/main" id="{33890E63-C712-413B-BB4B-F95A85AF8CF2}"/>
              </a:ext>
            </a:extLst>
          </p:cNvPr>
          <p:cNvSpPr>
            <a:spLocks xmlns:a="http://schemas.openxmlformats.org/drawingml/2006/main" noGrp="1"/>
          </p:cNvSpPr>
          <p:nvPr/>
        </p:nvSpPr>
        <p:spPr>
          <a:xfrm xmlns:a="http://schemas.openxmlformats.org/drawingml/2006/main" rot="0" flipH="0" flipV="0">
            <a:off x="810006" y="3091815"/>
            <a:ext cx="2118070"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3"/>
                </a:solidFill>
                <a:latin typeface="+mn-lt"/>
                <a:ea typeface="+mn-lt"/>
                <a:cs typeface="+mn-lt"/>
              </a:rPr>
              <a:t>Claassen FCI Plus</a:t>
            </a:r>
          </a:p>
        </p:txBody>
      </p:sp>
      <p:sp>
        <p:nvSpPr>
          <p:cNvPr id="28" name="TextBox 28">
            <a:extLst xmlns:a="http://schemas.openxmlformats.org/drawingml/2006/main">
              <a:ext uri="{FF2B5EF4-FFF2-40B4-BE49-F238E27FC236}">
                <a16:creationId xmlns:a16="http://schemas.microsoft.com/office/drawing/2014/main" id="{7BAEECD0-332C-4660-8902-D10D456E2040}"/>
              </a:ext>
            </a:extLst>
          </p:cNvPr>
          <p:cNvSpPr>
            <a:spLocks xmlns:a="http://schemas.openxmlformats.org/drawingml/2006/main" noGrp="1"/>
          </p:cNvSpPr>
          <p:nvPr/>
        </p:nvSpPr>
        <p:spPr>
          <a:xfrm xmlns:a="http://schemas.openxmlformats.org/drawingml/2006/main" rot="0" flipH="0" flipV="0">
            <a:off x="812292" y="3416618"/>
            <a:ext cx="176420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Augmented skeleton</a:t>
            </a:r>
          </a:p>
        </p:txBody>
      </p:sp>
      <p:sp>
        <p:nvSpPr>
          <p:cNvPr id="29" name="TextBox 29">
            <a:extLst xmlns:a="http://schemas.openxmlformats.org/drawingml/2006/main">
              <a:ext uri="{FF2B5EF4-FFF2-40B4-BE49-F238E27FC236}">
                <a16:creationId xmlns:a16="http://schemas.microsoft.com/office/drawing/2014/main" id="{31BE6368-77EA-48F4-B86A-FEEF94DD513F}"/>
              </a:ext>
            </a:extLst>
          </p:cNvPr>
          <p:cNvSpPr>
            <a:spLocks xmlns:a="http://schemas.openxmlformats.org/drawingml/2006/main" noGrp="1"/>
          </p:cNvSpPr>
          <p:nvPr/>
        </p:nvSpPr>
        <p:spPr>
          <a:xfrm xmlns:a="http://schemas.openxmlformats.org/drawingml/2006/main" rot="0" flipH="0" flipV="0">
            <a:off x="812292" y="3654742"/>
            <a:ext cx="206557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D-SEP links + hierarchy</a:t>
            </a:r>
          </a:p>
        </p:txBody>
      </p:sp>
      <p:sp>
        <p:nvSpPr>
          <p:cNvPr id="30" name="TextBox 30">
            <a:extLst xmlns:a="http://schemas.openxmlformats.org/drawingml/2006/main">
              <a:ext uri="{FF2B5EF4-FFF2-40B4-BE49-F238E27FC236}">
                <a16:creationId xmlns:a16="http://schemas.microsoft.com/office/drawing/2014/main" id="{A009D888-8AE0-4183-A422-EEF139070600}"/>
              </a:ext>
            </a:extLst>
          </p:cNvPr>
          <p:cNvSpPr>
            <a:spLocks xmlns:a="http://schemas.openxmlformats.org/drawingml/2006/main" noGrp="1"/>
          </p:cNvSpPr>
          <p:nvPr/>
        </p:nvSpPr>
        <p:spPr>
          <a:xfrm xmlns:a="http://schemas.openxmlformats.org/drawingml/2006/main" rot="0" flipH="0" flipV="0">
            <a:off x="812292" y="3892868"/>
            <a:ext cx="207643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bounded endpoint bases</a:t>
            </a:r>
          </a:p>
        </p:txBody>
      </p:sp>
      <p:sp>
        <p:nvSpPr>
          <p:cNvPr id="31" name="TextBox 31">
            <a:extLst xmlns:a="http://schemas.openxmlformats.org/drawingml/2006/main">
              <a:ext uri="{FF2B5EF4-FFF2-40B4-BE49-F238E27FC236}">
                <a16:creationId xmlns:a16="http://schemas.microsoft.com/office/drawing/2014/main" id="{F99BA5D2-4413-42BC-B061-60EEFE13C390}"/>
              </a:ext>
            </a:extLst>
          </p:cNvPr>
          <p:cNvSpPr>
            <a:spLocks xmlns:a="http://schemas.openxmlformats.org/drawingml/2006/main" noGrp="1"/>
          </p:cNvSpPr>
          <p:nvPr/>
        </p:nvSpPr>
        <p:spPr>
          <a:xfrm xmlns:a="http://schemas.openxmlformats.org/drawingml/2006/main" rot="0" flipH="0" flipV="0">
            <a:off x="3573780" y="3124200"/>
            <a:ext cx="225212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Consolas"/>
                <a:ea typeface="Consolas"/>
                <a:cs typeface="Consolas"/>
              </a:rPr>
              <a:t>dsep.py · fci_plus.py</a:t>
            </a:r>
          </a:p>
        </p:txBody>
      </p:sp>
      <p:sp>
        <p:nvSpPr>
          <p:cNvPr id="32" name="TextBox 32">
            <a:extLst xmlns:a="http://schemas.openxmlformats.org/drawingml/2006/main">
              <a:ext uri="{FF2B5EF4-FFF2-40B4-BE49-F238E27FC236}">
                <a16:creationId xmlns:a16="http://schemas.microsoft.com/office/drawing/2014/main" id="{8FDBF4E2-88B6-49C9-8A7C-DC60C1596C4F}"/>
              </a:ext>
            </a:extLst>
          </p:cNvPr>
          <p:cNvSpPr>
            <a:spLocks xmlns:a="http://schemas.openxmlformats.org/drawingml/2006/main" noGrp="1"/>
          </p:cNvSpPr>
          <p:nvPr/>
        </p:nvSpPr>
        <p:spPr>
          <a:xfrm xmlns:a="http://schemas.openxmlformats.org/drawingml/2006/main" rot="0" flipH="0" flipV="0">
            <a:off x="3575304" y="3432810"/>
            <a:ext cx="205572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build_augmented_skeleton</a:t>
            </a:r>
          </a:p>
        </p:txBody>
      </p:sp>
      <p:sp>
        <p:nvSpPr>
          <p:cNvPr id="33" name="TextBox 33">
            <a:extLst xmlns:a="http://schemas.openxmlformats.org/drawingml/2006/main">
              <a:ext uri="{FF2B5EF4-FFF2-40B4-BE49-F238E27FC236}">
                <a16:creationId xmlns:a16="http://schemas.microsoft.com/office/drawing/2014/main" id="{3D984C52-F270-43AB-9222-5D66002EDC33}"/>
              </a:ext>
            </a:extLst>
          </p:cNvPr>
          <p:cNvSpPr>
            <a:spLocks xmlns:a="http://schemas.openxmlformats.org/drawingml/2006/main" noGrp="1"/>
          </p:cNvSpPr>
          <p:nvPr/>
        </p:nvSpPr>
        <p:spPr>
          <a:xfrm xmlns:a="http://schemas.openxmlformats.org/drawingml/2006/main" rot="0" flipH="0" flipV="0">
            <a:off x="3575304" y="3651885"/>
            <a:ext cx="2483815"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possible_dsep_links · hierarchy</a:t>
            </a:r>
          </a:p>
        </p:txBody>
      </p:sp>
      <p:sp>
        <p:nvSpPr>
          <p:cNvPr id="34" name="TextBox 34">
            <a:extLst xmlns:a="http://schemas.openxmlformats.org/drawingml/2006/main">
              <a:ext uri="{FF2B5EF4-FFF2-40B4-BE49-F238E27FC236}">
                <a16:creationId xmlns:a16="http://schemas.microsoft.com/office/drawing/2014/main" id="{B28CDAE1-5566-43F1-9982-04993B318466}"/>
              </a:ext>
            </a:extLst>
          </p:cNvPr>
          <p:cNvSpPr>
            <a:spLocks xmlns:a="http://schemas.openxmlformats.org/drawingml/2006/main" noGrp="1"/>
          </p:cNvSpPr>
          <p:nvPr/>
        </p:nvSpPr>
        <p:spPr>
          <a:xfrm xmlns:a="http://schemas.openxmlformats.org/drawingml/2006/main" rot="0" flipH="0" flipV="0">
            <a:off x="3575304" y="3870960"/>
            <a:ext cx="286344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refine_skeleton_with_fci_plus_dsep</a:t>
            </a:r>
          </a:p>
        </p:txBody>
      </p:sp>
      <p:sp>
        <p:nvSpPr>
          <p:cNvPr id="35" name="TextBox 35">
            <a:extLst xmlns:a="http://schemas.openxmlformats.org/drawingml/2006/main">
              <a:ext uri="{FF2B5EF4-FFF2-40B4-BE49-F238E27FC236}">
                <a16:creationId xmlns:a16="http://schemas.microsoft.com/office/drawing/2014/main" id="{DB9B9C93-E386-4237-A548-70C22F19BDAA}"/>
              </a:ext>
            </a:extLst>
          </p:cNvPr>
          <p:cNvSpPr>
            <a:spLocks xmlns:a="http://schemas.openxmlformats.org/drawingml/2006/main" noGrp="1"/>
          </p:cNvSpPr>
          <p:nvPr/>
        </p:nvSpPr>
        <p:spPr>
          <a:xfrm xmlns:a="http://schemas.openxmlformats.org/drawingml/2006/main" rot="0" flipH="0" flipV="0">
            <a:off x="8374380" y="3124200"/>
            <a:ext cx="31397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Figure 4(b) separator fixture</a:t>
            </a:r>
          </a:p>
        </p:txBody>
      </p:sp>
      <p:sp>
        <p:nvSpPr>
          <p:cNvPr id="36" name="TextBox 36">
            <a:extLst xmlns:a="http://schemas.openxmlformats.org/drawingml/2006/main">
              <a:ext uri="{FF2B5EF4-FFF2-40B4-BE49-F238E27FC236}">
                <a16:creationId xmlns:a16="http://schemas.microsoft.com/office/drawing/2014/main" id="{5CAA296C-4D9A-48D0-8E85-A1206AC1065C}"/>
              </a:ext>
            </a:extLst>
          </p:cNvPr>
          <p:cNvSpPr>
            <a:spLocks xmlns:a="http://schemas.openxmlformats.org/drawingml/2006/main" noGrp="1"/>
          </p:cNvSpPr>
          <p:nvPr/>
        </p:nvSpPr>
        <p:spPr>
          <a:xfrm xmlns:a="http://schemas.openxmlformats.org/drawingml/2006/main" rot="0" flipH="0" flipV="0">
            <a:off x="8375142" y="3464242"/>
            <a:ext cx="257620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candidate-link witness tests</a:t>
            </a:r>
          </a:p>
        </p:txBody>
      </p:sp>
      <p:sp>
        <p:nvSpPr>
          <p:cNvPr id="37" name="TextBox 37">
            <a:extLst xmlns:a="http://schemas.openxmlformats.org/drawingml/2006/main">
              <a:ext uri="{FF2B5EF4-FFF2-40B4-BE49-F238E27FC236}">
                <a16:creationId xmlns:a16="http://schemas.microsoft.com/office/drawing/2014/main" id="{D18D7B63-1F85-4080-A033-7C00B6DFF3AD}"/>
              </a:ext>
            </a:extLst>
          </p:cNvPr>
          <p:cNvSpPr>
            <a:spLocks xmlns:a="http://schemas.openxmlformats.org/drawingml/2006/main" noGrp="1"/>
          </p:cNvSpPr>
          <p:nvPr/>
        </p:nvSpPr>
        <p:spPr>
          <a:xfrm xmlns:a="http://schemas.openxmlformats.org/drawingml/2006/main" rot="0" flipH="0" flipV="0">
            <a:off x="8375142" y="3692842"/>
            <a:ext cx="303055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hierarchy and query-bound checks</a:t>
            </a:r>
          </a:p>
        </p:txBody>
      </p:sp>
      <p:sp>
        <p:nvSpPr>
          <p:cNvPr id="38" name="Line 38">
            <a:extLst xmlns:a="http://schemas.openxmlformats.org/drawingml/2006/main">
              <a:ext uri="{FF2B5EF4-FFF2-40B4-BE49-F238E27FC236}">
                <a16:creationId xmlns:a16="http://schemas.microsoft.com/office/drawing/2014/main" id="{EA5DCD2A-2159-47F9-A62D-ABA135E25D79}"/>
              </a:ext>
            </a:extLst>
          </p:cNvPr>
          <p:cNvSpPr>
            <a:spLocks xmlns:a="http://schemas.openxmlformats.org/drawingml/2006/main" noGrp="1"/>
          </p:cNvSpPr>
          <p:nvPr/>
        </p:nvSpPr>
        <p:spPr>
          <a:xfrm xmlns:a="http://schemas.openxmlformats.org/drawingml/2006/main" rot="0" flipH="0" flipV="0">
            <a:off x="533400" y="4295775"/>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39" name="Rectangle 39">
            <a:extLst xmlns:a="http://schemas.openxmlformats.org/drawingml/2006/main">
              <a:ext uri="{FF2B5EF4-FFF2-40B4-BE49-F238E27FC236}">
                <a16:creationId xmlns:a16="http://schemas.microsoft.com/office/drawing/2014/main" id="{AC758F12-EE9B-4FE6-BF0D-17C5BEC3E2E9}"/>
              </a:ext>
            </a:extLst>
          </p:cNvPr>
          <p:cNvSpPr>
            <a:spLocks xmlns:a="http://schemas.openxmlformats.org/drawingml/2006/main" noGrp="1"/>
          </p:cNvSpPr>
          <p:nvPr/>
        </p:nvSpPr>
        <p:spPr>
          <a:xfrm xmlns:a="http://schemas.openxmlformats.org/drawingml/2006/main" rot="0" flipH="0" flipV="0">
            <a:off x="533400" y="4295775"/>
            <a:ext cx="95250" cy="1200150"/>
          </a:xfrm>
          <a:prstGeom xmlns:a="http://schemas.openxmlformats.org/drawingml/2006/main" prst="rect">
            <a:avLst/>
          </a:prstGeom>
          <a:solidFill xmlns:a="http://schemas.openxmlformats.org/drawingml/2006/main">
            <a:schemeClr val="accent6"/>
          </a:solidFill>
          <a:ln xmlns:a="http://schemas.openxmlformats.org/drawingml/2006/main">
            <a:noFill/>
          </a:ln>
        </p:spPr>
      </p:sp>
      <p:sp>
        <p:nvSpPr>
          <p:cNvPr id="40" name="TextBox 40">
            <a:extLst xmlns:a="http://schemas.openxmlformats.org/drawingml/2006/main">
              <a:ext uri="{FF2B5EF4-FFF2-40B4-BE49-F238E27FC236}">
                <a16:creationId xmlns:a16="http://schemas.microsoft.com/office/drawing/2014/main" id="{A4464701-B3B4-4E5F-9983-2AB990249E18}"/>
              </a:ext>
            </a:extLst>
          </p:cNvPr>
          <p:cNvSpPr>
            <a:spLocks xmlns:a="http://schemas.openxmlformats.org/drawingml/2006/main" noGrp="1"/>
          </p:cNvSpPr>
          <p:nvPr/>
        </p:nvSpPr>
        <p:spPr>
          <a:xfrm xmlns:a="http://schemas.openxmlformats.org/drawingml/2006/main" rot="0" flipH="0" flipV="0">
            <a:off x="810006" y="4425315"/>
            <a:ext cx="1374409"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6"/>
                </a:solidFill>
                <a:latin typeface="+mn-lt"/>
                <a:ea typeface="+mn-lt"/>
                <a:cs typeface="+mn-lt"/>
              </a:rPr>
              <a:t>Audit layer</a:t>
            </a:r>
          </a:p>
        </p:txBody>
      </p:sp>
      <p:sp>
        <p:nvSpPr>
          <p:cNvPr id="41" name="TextBox 41">
            <a:extLst xmlns:a="http://schemas.openxmlformats.org/drawingml/2006/main">
              <a:ext uri="{FF2B5EF4-FFF2-40B4-BE49-F238E27FC236}">
                <a16:creationId xmlns:a16="http://schemas.microsoft.com/office/drawing/2014/main" id="{628CA1E3-A789-46AF-B38F-DA1337891B57}"/>
              </a:ext>
            </a:extLst>
          </p:cNvPr>
          <p:cNvSpPr>
            <a:spLocks xmlns:a="http://schemas.openxmlformats.org/drawingml/2006/main" noGrp="1"/>
          </p:cNvSpPr>
          <p:nvPr/>
        </p:nvSpPr>
        <p:spPr>
          <a:xfrm xmlns:a="http://schemas.openxmlformats.org/drawingml/2006/main" rot="0" flipH="0" flipV="0">
            <a:off x="812292" y="4769168"/>
            <a:ext cx="193646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Engineering extension</a:t>
            </a:r>
          </a:p>
        </p:txBody>
      </p:sp>
      <p:sp>
        <p:nvSpPr>
          <p:cNvPr id="42" name="TextBox 42">
            <a:extLst xmlns:a="http://schemas.openxmlformats.org/drawingml/2006/main">
              <a:ext uri="{FF2B5EF4-FFF2-40B4-BE49-F238E27FC236}">
                <a16:creationId xmlns:a16="http://schemas.microsoft.com/office/drawing/2014/main" id="{F0D2A943-C526-4A8A-A644-CB41B126A557}"/>
              </a:ext>
            </a:extLst>
          </p:cNvPr>
          <p:cNvSpPr>
            <a:spLocks xmlns:a="http://schemas.openxmlformats.org/drawingml/2006/main" noGrp="1"/>
          </p:cNvSpPr>
          <p:nvPr/>
        </p:nvSpPr>
        <p:spPr>
          <a:xfrm xmlns:a="http://schemas.openxmlformats.org/drawingml/2006/main" rot="0" flipH="0" flipV="0">
            <a:off x="812292" y="5007292"/>
            <a:ext cx="191286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not a source theorem</a:t>
            </a:r>
          </a:p>
        </p:txBody>
      </p:sp>
      <p:sp>
        <p:nvSpPr>
          <p:cNvPr id="43" name="TextBox 43">
            <a:extLst xmlns:a="http://schemas.openxmlformats.org/drawingml/2006/main">
              <a:ext uri="{FF2B5EF4-FFF2-40B4-BE49-F238E27FC236}">
                <a16:creationId xmlns:a16="http://schemas.microsoft.com/office/drawing/2014/main" id="{FBEFF128-66BF-4B74-8413-CDB890C3C433}"/>
              </a:ext>
            </a:extLst>
          </p:cNvPr>
          <p:cNvSpPr>
            <a:spLocks xmlns:a="http://schemas.openxmlformats.org/drawingml/2006/main" noGrp="1"/>
          </p:cNvSpPr>
          <p:nvPr/>
        </p:nvSpPr>
        <p:spPr>
          <a:xfrm xmlns:a="http://schemas.openxmlformats.org/drawingml/2006/main" rot="0" flipH="0" flipV="0">
            <a:off x="3573780" y="4457700"/>
            <a:ext cx="266672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Consolas"/>
                <a:ea typeface="Consolas"/>
                <a:cs typeface="Consolas"/>
              </a:rPr>
              <a:t>PAG · FCIResult · exports</a:t>
            </a:r>
          </a:p>
        </p:txBody>
      </p:sp>
      <p:sp>
        <p:nvSpPr>
          <p:cNvPr id="44" name="TextBox 44">
            <a:extLst xmlns:a="http://schemas.openxmlformats.org/drawingml/2006/main">
              <a:ext uri="{FF2B5EF4-FFF2-40B4-BE49-F238E27FC236}">
                <a16:creationId xmlns:a16="http://schemas.microsoft.com/office/drawing/2014/main" id="{AFDF48C8-EB5E-444A-8786-319F02E77301}"/>
              </a:ext>
            </a:extLst>
          </p:cNvPr>
          <p:cNvSpPr>
            <a:spLocks xmlns:a="http://schemas.openxmlformats.org/drawingml/2006/main" noGrp="1"/>
          </p:cNvSpPr>
          <p:nvPr/>
        </p:nvSpPr>
        <p:spPr>
          <a:xfrm xmlns:a="http://schemas.openxmlformats.org/drawingml/2006/main" rot="0" flipH="0" flipV="0">
            <a:off x="3575304" y="4785360"/>
            <a:ext cx="29390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CI/orientation trace · sepset source</a:t>
            </a:r>
          </a:p>
        </p:txBody>
      </p:sp>
      <p:sp>
        <p:nvSpPr>
          <p:cNvPr id="45" name="TextBox 45">
            <a:extLst xmlns:a="http://schemas.openxmlformats.org/drawingml/2006/main">
              <a:ext uri="{FF2B5EF4-FFF2-40B4-BE49-F238E27FC236}">
                <a16:creationId xmlns:a16="http://schemas.microsoft.com/office/drawing/2014/main" id="{6B672930-25D2-45F5-B273-CCEDB837FA66}"/>
              </a:ext>
            </a:extLst>
          </p:cNvPr>
          <p:cNvSpPr>
            <a:spLocks xmlns:a="http://schemas.openxmlformats.org/drawingml/2006/main" noGrp="1"/>
          </p:cNvSpPr>
          <p:nvPr/>
        </p:nvSpPr>
        <p:spPr>
          <a:xfrm xmlns:a="http://schemas.openxmlformats.org/drawingml/2006/main" rot="0" flipH="0" flipV="0">
            <a:off x="3575304" y="5004435"/>
            <a:ext cx="3372307"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edge explanations · order/bootstrap audit</a:t>
            </a:r>
          </a:p>
        </p:txBody>
      </p:sp>
      <p:sp>
        <p:nvSpPr>
          <p:cNvPr id="46" name="TextBox 46">
            <a:extLst xmlns:a="http://schemas.openxmlformats.org/drawingml/2006/main">
              <a:ext uri="{FF2B5EF4-FFF2-40B4-BE49-F238E27FC236}">
                <a16:creationId xmlns:a16="http://schemas.microsoft.com/office/drawing/2014/main" id="{30875B9F-0927-457B-9D29-D887618D8BE0}"/>
              </a:ext>
            </a:extLst>
          </p:cNvPr>
          <p:cNvSpPr>
            <a:spLocks xmlns:a="http://schemas.openxmlformats.org/drawingml/2006/main" noGrp="1"/>
          </p:cNvSpPr>
          <p:nvPr/>
        </p:nvSpPr>
        <p:spPr>
          <a:xfrm xmlns:a="http://schemas.openxmlformats.org/drawingml/2006/main" rot="0" flipH="0" flipV="0">
            <a:off x="8374380" y="4457700"/>
            <a:ext cx="292009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PAG invariants + provenance</a:t>
            </a:r>
          </a:p>
        </p:txBody>
      </p:sp>
      <p:sp>
        <p:nvSpPr>
          <p:cNvPr id="47" name="TextBox 47">
            <a:extLst xmlns:a="http://schemas.openxmlformats.org/drawingml/2006/main">
              <a:ext uri="{FF2B5EF4-FFF2-40B4-BE49-F238E27FC236}">
                <a16:creationId xmlns:a16="http://schemas.microsoft.com/office/drawing/2014/main" id="{51813682-76E3-4512-9C0F-B01712A5FAB2}"/>
              </a:ext>
            </a:extLst>
          </p:cNvPr>
          <p:cNvSpPr>
            <a:spLocks xmlns:a="http://schemas.openxmlformats.org/drawingml/2006/main" noGrp="1"/>
          </p:cNvSpPr>
          <p:nvPr/>
        </p:nvSpPr>
        <p:spPr>
          <a:xfrm xmlns:a="http://schemas.openxmlformats.org/drawingml/2006/main" rot="0" flipH="0" flipV="0">
            <a:off x="8375904" y="4785360"/>
            <a:ext cx="199110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serialization regressions</a:t>
            </a:r>
          </a:p>
        </p:txBody>
      </p:sp>
      <p:sp>
        <p:nvSpPr>
          <p:cNvPr id="48" name="TextBox 48">
            <a:extLst xmlns:a="http://schemas.openxmlformats.org/drawingml/2006/main">
              <a:ext uri="{FF2B5EF4-FFF2-40B4-BE49-F238E27FC236}">
                <a16:creationId xmlns:a16="http://schemas.microsoft.com/office/drawing/2014/main" id="{1B7DF232-34C7-4CCF-AE82-3F409B003026}"/>
              </a:ext>
            </a:extLst>
          </p:cNvPr>
          <p:cNvSpPr>
            <a:spLocks xmlns:a="http://schemas.openxmlformats.org/drawingml/2006/main" noGrp="1"/>
          </p:cNvSpPr>
          <p:nvPr/>
        </p:nvSpPr>
        <p:spPr>
          <a:xfrm xmlns:a="http://schemas.openxmlformats.org/drawingml/2006/main" rot="0" flipH="0" flipV="0">
            <a:off x="8375904" y="5004435"/>
            <a:ext cx="2847289"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cyclic-order and stability artifacts</a:t>
            </a:r>
          </a:p>
        </p:txBody>
      </p:sp>
      <p:sp>
        <p:nvSpPr>
          <p:cNvPr id="50" name="TextBox 50">
            <a:extLst xmlns:a="http://schemas.openxmlformats.org/drawingml/2006/main">
              <a:ext uri="{FF2B5EF4-FFF2-40B4-BE49-F238E27FC236}">
                <a16:creationId xmlns:a16="http://schemas.microsoft.com/office/drawing/2014/main" id="{AF8DFF9C-A4AB-418A-94D7-EA73F1BEF5D4}"/>
              </a:ext>
            </a:extLst>
          </p:cNvPr>
          <p:cNvSpPr>
            <a:spLocks xmlns:a="http://schemas.openxmlformats.org/drawingml/2006/main" noGrp="1"/>
          </p:cNvSpPr>
          <p:nvPr/>
        </p:nvSpPr>
        <p:spPr>
          <a:xfrm xmlns:a="http://schemas.openxmlformats.org/drawingml/2006/main" rot="0" flipH="0" flipV="0">
            <a:off x="525780" y="5800725"/>
            <a:ext cx="834067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mn-lt"/>
                <a:ea typeface="+mn-lt"/>
                <a:cs typeface="+mn-lt"/>
              </a:rPr>
              <a:t>Reusable API</a:t>
            </a:r>
            <a:r>
              <a:rPr sz="1500">
                <a:solidFill>
                  <a:schemeClr val="accent2"/>
                </a:solidFill>
                <a:latin typeface="Consolas"/>
                <a:ea typeface="Consolas"/>
                <a:cs typeface="Consolas"/>
              </a:rPr>
              <a:t> fci(data, ...)</a:t>
            </a:r>
            <a:r>
              <a:rPr sz="1500">
                <a:solidFill>
                  <a:srgbClr val="5F6875"/>
                </a:solidFill>
                <a:latin typeface="+mn-lt"/>
                <a:ea typeface="+mn-lt"/>
                <a:cs typeface="+mn-lt"/>
              </a:rPr>
              <a:t> · </a:t>
            </a:r>
            <a:r>
              <a:rPr sz="1500">
                <a:solidFill>
                  <a:schemeClr val="accent3"/>
                </a:solidFill>
                <a:latin typeface="Consolas"/>
                <a:ea typeface="Consolas"/>
                <a:cs typeface="Consolas"/>
              </a:rPr>
              <a:t>fci_plus(data, ...)</a:t>
            </a:r>
            <a:r>
              <a:rPr sz="1500">
                <a:solidFill>
                  <a:srgbClr val="5F6875"/>
                </a:solidFill>
                <a:latin typeface="+mn-lt"/>
                <a:ea typeface="+mn-lt"/>
                <a:cs typeface="+mn-lt"/>
              </a:rPr>
              <a:t> · </a:t>
            </a:r>
            <a:r>
              <a:rPr sz="1500">
                <a:solidFill>
                  <a:schemeClr val="accent6"/>
                </a:solidFill>
                <a:latin typeface="Consolas"/>
                <a:ea typeface="Consolas"/>
                <a:cs typeface="Consolas"/>
              </a:rPr>
              <a:t>FCIPlusConfig.paper / practical</a:t>
            </a:r>
          </a:p>
        </p:txBody>
      </p:sp>
      <p:sp>
        <p:nvSpPr>
          <p:cNvPr id="52" name="TextBox 52">
            <a:extLst xmlns:a="http://schemas.openxmlformats.org/drawingml/2006/main">
              <a:ext uri="{FF2B5EF4-FFF2-40B4-BE49-F238E27FC236}">
                <a16:creationId xmlns:a16="http://schemas.microsoft.com/office/drawing/2014/main" id="{18E2F27D-D64F-4513-86A1-D6864B2BCC12}"/>
              </a:ext>
            </a:extLst>
          </p:cNvPr>
          <p:cNvSpPr>
            <a:spLocks xmlns:a="http://schemas.openxmlformats.org/drawingml/2006/main" noGrp="1"/>
          </p:cNvSpPr>
          <p:nvPr/>
        </p:nvSpPr>
        <p:spPr>
          <a:xfrm xmlns:a="http://schemas.openxmlformats.org/drawingml/2006/main" rot="0" flipH="0" flipV="0">
            <a:off x="527304" y="6328410"/>
            <a:ext cx="7723899"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Full 20-row source-to-code-to-test dossier: reports/research/fci_fci_plus_source_dossier.md</a:t>
            </a:r>
          </a:p>
        </p:txBody>
      </p:sp>
      <p:sp>
        <p:nvSpPr>
          <p:cNvPr id="53" name="TextBox 53">
            <a:extLst xmlns:a="http://schemas.openxmlformats.org/drawingml/2006/main">
              <a:ext uri="{FF2B5EF4-FFF2-40B4-BE49-F238E27FC236}">
                <a16:creationId xmlns:a16="http://schemas.microsoft.com/office/drawing/2014/main" id="{9C77197F-98F9-418A-AD16-66A8ED1420BB}"/>
              </a:ext>
            </a:extLst>
          </p:cNvPr>
          <p:cNvSpPr>
            <a:spLocks xmlns:a="http://schemas.openxmlformats.org/drawingml/2006/main" noGrp="1"/>
          </p:cNvSpPr>
          <p:nvPr/>
        </p:nvSpPr>
        <p:spPr>
          <a:xfrm xmlns:a="http://schemas.openxmlformats.org/drawingml/2006/main" rot="0" flipH="0" flipV="0">
            <a:off x="11111332" y="63284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06 / 15</a:t>
            </a:r>
          </a:p>
        </p:txBody>
      </p:sp>
    </p:spTree>
    <p:extLst>
      <p:ext uri="{BB962C8B-B14F-4D97-AF65-F5344CB8AC3E}">
        <p14:creationId xmlns:p14="http://schemas.microsoft.com/office/powerpoint/2010/main" val="1414991235"/>
      </p:ext>
    </p:extLst>
  </p:cSld>
</p:sld>
</file>

<file path=ppt/slides/slide7.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8DCD8365-883B-4AC2-AE7D-38A12C790C8A}"/>
              </a:ext>
            </a:extLst>
          </p:cNvPr>
          <p:cNvSpPr>
            <a:spLocks xmlns:a="http://schemas.openxmlformats.org/drawingml/2006/main" noGrp="1"/>
          </p:cNvSpPr>
          <p:nvPr/>
        </p:nvSpPr>
        <p:spPr>
          <a:xfrm xmlns:a="http://schemas.openxmlformats.org/drawingml/2006/main" rot="0" flipH="0" flipV="0">
            <a:off x="518160" y="400050"/>
            <a:ext cx="9135336"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Paper and Robust Profiles Stay Separate</a:t>
            </a:r>
          </a:p>
        </p:txBody>
      </p:sp>
      <p:sp>
        <p:nvSpPr>
          <p:cNvPr id="3" name="TextBox 3">
            <a:extLst xmlns:a="http://schemas.openxmlformats.org/drawingml/2006/main">
              <a:ext uri="{FF2B5EF4-FFF2-40B4-BE49-F238E27FC236}">
                <a16:creationId xmlns:a16="http://schemas.microsoft.com/office/drawing/2014/main" id="{E18BCF02-5E35-46F7-9AD6-6541E5807456}"/>
              </a:ext>
            </a:extLst>
          </p:cNvPr>
          <p:cNvSpPr>
            <a:spLocks xmlns:a="http://schemas.openxmlformats.org/drawingml/2006/main" noGrp="1"/>
          </p:cNvSpPr>
          <p:nvPr/>
        </p:nvSpPr>
        <p:spPr>
          <a:xfrm xmlns:a="http://schemas.openxmlformats.org/drawingml/2006/main" rot="0" flipH="0" flipV="0">
            <a:off x="10240366" y="406718"/>
            <a:ext cx="142509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PROFILE POLICY</a:t>
            </a:r>
          </a:p>
        </p:txBody>
      </p:sp>
      <p:sp>
        <p:nvSpPr>
          <p:cNvPr id="4" name="Line 4">
            <a:extLst xmlns:a="http://schemas.openxmlformats.org/drawingml/2006/main">
              <a:ext uri="{FF2B5EF4-FFF2-40B4-BE49-F238E27FC236}">
                <a16:creationId xmlns:a16="http://schemas.microsoft.com/office/drawing/2014/main" id="{02F4E4D6-D541-4640-BB16-9DF9FA3A42E6}"/>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TextBox 6">
            <a:extLst xmlns:a="http://schemas.openxmlformats.org/drawingml/2006/main">
              <a:ext uri="{FF2B5EF4-FFF2-40B4-BE49-F238E27FC236}">
                <a16:creationId xmlns:a16="http://schemas.microsoft.com/office/drawing/2014/main" id="{820D694F-C040-4EF2-8555-C458FFE24874}"/>
              </a:ext>
            </a:extLst>
          </p:cNvPr>
          <p:cNvSpPr>
            <a:spLocks xmlns:a="http://schemas.openxmlformats.org/drawingml/2006/main" noGrp="1"/>
          </p:cNvSpPr>
          <p:nvPr/>
        </p:nvSpPr>
        <p:spPr>
          <a:xfrm xmlns:a="http://schemas.openxmlformats.org/drawingml/2006/main" rot="0" flipH="0" flipV="0">
            <a:off x="526542" y="1549718"/>
            <a:ext cx="224167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PAPER FCI PLUS PROFILE</a:t>
            </a:r>
          </a:p>
        </p:txBody>
      </p:sp>
      <p:sp>
        <p:nvSpPr>
          <p:cNvPr id="7" name="TextBox 7">
            <a:extLst xmlns:a="http://schemas.openxmlformats.org/drawingml/2006/main">
              <a:ext uri="{FF2B5EF4-FFF2-40B4-BE49-F238E27FC236}">
                <a16:creationId xmlns:a16="http://schemas.microsoft.com/office/drawing/2014/main" id="{44D51D2B-9C3F-4736-AF93-65080D9B6282}"/>
              </a:ext>
            </a:extLst>
          </p:cNvPr>
          <p:cNvSpPr>
            <a:spLocks xmlns:a="http://schemas.openxmlformats.org/drawingml/2006/main" noGrp="1"/>
          </p:cNvSpPr>
          <p:nvPr/>
        </p:nvSpPr>
        <p:spPr>
          <a:xfrm xmlns:a="http://schemas.openxmlformats.org/drawingml/2006/main" rot="0" flipH="0" flipV="0">
            <a:off x="521208" y="1931670"/>
            <a:ext cx="2844851" cy="469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400" b="1">
                <a:solidFill>
                  <a:schemeClr val="accent1"/>
                </a:solidFill>
                <a:latin typeface="+mj-lt"/>
                <a:ea typeface="+mj-lt"/>
                <a:cs typeface="+mj-lt"/>
              </a:rPr>
              <a:t>Source schedule</a:t>
            </a:r>
          </a:p>
        </p:txBody>
      </p:sp>
      <p:sp>
        <p:nvSpPr>
          <p:cNvPr id="8" name="Line 8">
            <a:extLst xmlns:a="http://schemas.openxmlformats.org/drawingml/2006/main">
              <a:ext uri="{FF2B5EF4-FFF2-40B4-BE49-F238E27FC236}">
                <a16:creationId xmlns:a16="http://schemas.microsoft.com/office/drawing/2014/main" id="{276B101F-7336-48B8-83AD-16E0AB11819C}"/>
              </a:ext>
            </a:extLst>
          </p:cNvPr>
          <p:cNvSpPr>
            <a:spLocks xmlns:a="http://schemas.openxmlformats.org/drawingml/2006/main" noGrp="1"/>
          </p:cNvSpPr>
          <p:nvPr/>
        </p:nvSpPr>
        <p:spPr>
          <a:xfrm xmlns:a="http://schemas.openxmlformats.org/drawingml/2006/main" rot="0" flipH="0" flipV="0">
            <a:off x="533400" y="2571750"/>
            <a:ext cx="4476750" cy="9525"/>
          </a:xfrm>
          <a:custGeom xmlns:a="http://schemas.openxmlformats.org/drawingml/2006/main">
            <a:rect l="l" t="t" r="r" b="b"/>
            <a:pathLst>
              <a:path w="4476750" h="9525">
                <a:moveTo>
                  <a:pt x="0" y="0"/>
                </a:moveTo>
                <a:lnTo>
                  <a:pt x="4476750" y="0"/>
                </a:lnTo>
              </a:path>
            </a:pathLst>
          </a:custGeom>
          <a:noFill xmlns:a="http://schemas.openxmlformats.org/drawingml/2006/main"/>
          <a:ln xmlns:a="http://schemas.openxmlformats.org/drawingml/2006/main" w="38100">
            <a:solidFill>
              <a:schemeClr val="accent3"/>
            </a:solidFill>
          </a:ln>
        </p:spPr>
      </p:sp>
      <p:sp>
        <p:nvSpPr>
          <p:cNvPr id="9" name="TextBox 9">
            <a:extLst xmlns:a="http://schemas.openxmlformats.org/drawingml/2006/main">
              <a:ext uri="{FF2B5EF4-FFF2-40B4-BE49-F238E27FC236}">
                <a16:creationId xmlns:a16="http://schemas.microsoft.com/office/drawing/2014/main" id="{2054E645-9B2A-4DDF-854F-22188113D172}"/>
              </a:ext>
            </a:extLst>
          </p:cNvPr>
          <p:cNvSpPr>
            <a:spLocks xmlns:a="http://schemas.openxmlformats.org/drawingml/2006/main" noGrp="1"/>
          </p:cNvSpPr>
          <p:nvPr/>
        </p:nvSpPr>
        <p:spPr>
          <a:xfrm xmlns:a="http://schemas.openxmlformats.org/drawingml/2006/main" rot="0" flipH="0" flipV="0">
            <a:off x="525780" y="2790825"/>
            <a:ext cx="243505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Explicit degree bound k</a:t>
            </a:r>
          </a:p>
        </p:txBody>
      </p:sp>
      <p:sp>
        <p:nvSpPr>
          <p:cNvPr id="10" name="TextBox 10">
            <a:extLst xmlns:a="http://schemas.openxmlformats.org/drawingml/2006/main">
              <a:ext uri="{FF2B5EF4-FFF2-40B4-BE49-F238E27FC236}">
                <a16:creationId xmlns:a16="http://schemas.microsoft.com/office/drawing/2014/main" id="{3DD44AAE-62CA-4F70-B303-36820955B61F}"/>
              </a:ext>
            </a:extLst>
          </p:cNvPr>
          <p:cNvSpPr>
            <a:spLocks xmlns:a="http://schemas.openxmlformats.org/drawingml/2006/main" noGrp="1"/>
          </p:cNvSpPr>
          <p:nvPr/>
        </p:nvSpPr>
        <p:spPr>
          <a:xfrm xmlns:a="http://schemas.openxmlformats.org/drawingml/2006/main" rot="0" flipH="0" flipV="0">
            <a:off x="525780" y="3171825"/>
            <a:ext cx="220281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First separating set</a:t>
            </a:r>
          </a:p>
        </p:txBody>
      </p:sp>
      <p:sp>
        <p:nvSpPr>
          <p:cNvPr id="11" name="TextBox 11">
            <a:extLst xmlns:a="http://schemas.openxmlformats.org/drawingml/2006/main">
              <a:ext uri="{FF2B5EF4-FFF2-40B4-BE49-F238E27FC236}">
                <a16:creationId xmlns:a16="http://schemas.microsoft.com/office/drawing/2014/main" id="{511B07C7-CBD0-473B-98CD-4A09933A9AF2}"/>
              </a:ext>
            </a:extLst>
          </p:cNvPr>
          <p:cNvSpPr>
            <a:spLocks xmlns:a="http://schemas.openxmlformats.org/drawingml/2006/main" noGrp="1"/>
          </p:cNvSpPr>
          <p:nvPr/>
        </p:nvSpPr>
        <p:spPr>
          <a:xfrm xmlns:a="http://schemas.openxmlformats.org/drawingml/2006/main" rot="0" flipH="0" flipV="0">
            <a:off x="525780" y="3552825"/>
            <a:ext cx="304094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Non-stable skeleton schedule</a:t>
            </a:r>
          </a:p>
        </p:txBody>
      </p:sp>
      <p:sp>
        <p:nvSpPr>
          <p:cNvPr id="12" name="TextBox 12">
            <a:extLst xmlns:a="http://schemas.openxmlformats.org/drawingml/2006/main">
              <a:ext uri="{FF2B5EF4-FFF2-40B4-BE49-F238E27FC236}">
                <a16:creationId xmlns:a16="http://schemas.microsoft.com/office/drawing/2014/main" id="{43B06CE2-0B78-4858-8A38-907DCA6FF88A}"/>
              </a:ext>
            </a:extLst>
          </p:cNvPr>
          <p:cNvSpPr>
            <a:spLocks xmlns:a="http://schemas.openxmlformats.org/drawingml/2006/main" noGrp="1"/>
          </p:cNvSpPr>
          <p:nvPr/>
        </p:nvSpPr>
        <p:spPr>
          <a:xfrm xmlns:a="http://schemas.openxmlformats.org/drawingml/2006/main" rot="0" flipH="0" flipV="0">
            <a:off x="525780" y="3933825"/>
            <a:ext cx="332352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Zhang-rule orientation schedule</a:t>
            </a:r>
          </a:p>
        </p:txBody>
      </p:sp>
      <p:sp>
        <p:nvSpPr>
          <p:cNvPr id="13" name="TextBox 13">
            <a:extLst xmlns:a="http://schemas.openxmlformats.org/drawingml/2006/main">
              <a:ext uri="{FF2B5EF4-FFF2-40B4-BE49-F238E27FC236}">
                <a16:creationId xmlns:a16="http://schemas.microsoft.com/office/drawing/2014/main" id="{940BEC19-A668-46A2-BDE7-E87D7A6B616E}"/>
              </a:ext>
            </a:extLst>
          </p:cNvPr>
          <p:cNvSpPr>
            <a:spLocks xmlns:a="http://schemas.openxmlformats.org/drawingml/2006/main" noGrp="1"/>
          </p:cNvSpPr>
          <p:nvPr/>
        </p:nvSpPr>
        <p:spPr>
          <a:xfrm xmlns:a="http://schemas.openxmlformats.org/drawingml/2006/main" rot="0" flipH="0" flipV="0">
            <a:off x="526542" y="4426268"/>
            <a:ext cx="251293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3"/>
                </a:solidFill>
                <a:latin typeface="Consolas"/>
                <a:ea typeface="Consolas"/>
                <a:cs typeface="Consolas"/>
              </a:rPr>
              <a:t>FCIPlusConfig.paper(k=...)</a:t>
            </a:r>
          </a:p>
        </p:txBody>
      </p:sp>
      <p:sp>
        <p:nvSpPr>
          <p:cNvPr id="15" name="Line 15">
            <a:extLst xmlns:a="http://schemas.openxmlformats.org/drawingml/2006/main">
              <a:ext uri="{FF2B5EF4-FFF2-40B4-BE49-F238E27FC236}">
                <a16:creationId xmlns:a16="http://schemas.microsoft.com/office/drawing/2014/main" id="{BEB56D03-AF56-4B6C-9EF8-74C227427F8A}"/>
              </a:ext>
            </a:extLst>
          </p:cNvPr>
          <p:cNvSpPr>
            <a:spLocks xmlns:a="http://schemas.openxmlformats.org/drawingml/2006/main" noGrp="1"/>
          </p:cNvSpPr>
          <p:nvPr/>
        </p:nvSpPr>
        <p:spPr>
          <a:xfrm xmlns:a="http://schemas.openxmlformats.org/drawingml/2006/main" rot="0" flipH="0" flipV="0">
            <a:off x="6096000" y="1438275"/>
            <a:ext cx="9525" cy="3390900"/>
          </a:xfrm>
          <a:custGeom xmlns:a="http://schemas.openxmlformats.org/drawingml/2006/main">
            <a:rect l="l" t="t" r="r" b="b"/>
            <a:pathLst>
              <a:path w="9525" h="3390900">
                <a:moveTo>
                  <a:pt x="0" y="0"/>
                </a:moveTo>
                <a:lnTo>
                  <a:pt x="0" y="3390900"/>
                </a:lnTo>
              </a:path>
            </a:pathLst>
          </a:custGeom>
          <a:noFill xmlns:a="http://schemas.openxmlformats.org/drawingml/2006/main"/>
          <a:ln xmlns:a="http://schemas.openxmlformats.org/drawingml/2006/main" w="19050">
            <a:solidFill>
              <a:srgbClr val="CBD2DC"/>
            </a:solidFill>
          </a:ln>
        </p:spPr>
      </p:sp>
      <p:sp>
        <p:nvSpPr>
          <p:cNvPr id="16" name="Ellipse 16">
            <a:extLst xmlns:a="http://schemas.openxmlformats.org/drawingml/2006/main">
              <a:ext uri="{FF2B5EF4-FFF2-40B4-BE49-F238E27FC236}">
                <a16:creationId xmlns:a16="http://schemas.microsoft.com/office/drawing/2014/main" id="{EBAB586C-1574-42D5-B2EF-ECFCA08E61B5}"/>
              </a:ext>
            </a:extLst>
          </p:cNvPr>
          <p:cNvSpPr>
            <a:spLocks xmlns:a="http://schemas.openxmlformats.org/drawingml/2006/main" noGrp="1"/>
          </p:cNvSpPr>
          <p:nvPr/>
        </p:nvSpPr>
        <p:spPr>
          <a:xfrm xmlns:a="http://schemas.openxmlformats.org/drawingml/2006/main" rot="0" flipH="0" flipV="0">
            <a:off x="5867400" y="2905125"/>
            <a:ext cx="457200" cy="457200"/>
          </a:xfrm>
          <a:prstGeom xmlns:a="http://schemas.openxmlformats.org/drawingml/2006/main" prst="ellipse">
            <a:avLst/>
          </a:prstGeom>
          <a:solidFill xmlns:a="http://schemas.openxmlformats.org/drawingml/2006/main">
            <a:schemeClr val="lt1"/>
          </a:solidFill>
          <a:ln xmlns:a="http://schemas.openxmlformats.org/drawingml/2006/main" w="19050">
            <a:solidFill>
              <a:srgbClr val="CBD2DC"/>
            </a:solidFill>
          </a:ln>
        </p:spPr>
      </p:sp>
      <p:sp>
        <p:nvSpPr>
          <p:cNvPr id="17" name="TextBox 17">
            <a:extLst xmlns:a="http://schemas.openxmlformats.org/drawingml/2006/main">
              <a:ext uri="{FF2B5EF4-FFF2-40B4-BE49-F238E27FC236}">
                <a16:creationId xmlns:a16="http://schemas.microsoft.com/office/drawing/2014/main" id="{5E951DF3-0BD8-4B4B-9522-ED51CC2B34B3}"/>
              </a:ext>
            </a:extLst>
          </p:cNvPr>
          <p:cNvSpPr>
            <a:spLocks xmlns:a="http://schemas.openxmlformats.org/drawingml/2006/main" noGrp="1"/>
          </p:cNvSpPr>
          <p:nvPr/>
        </p:nvSpPr>
        <p:spPr>
          <a:xfrm xmlns:a="http://schemas.openxmlformats.org/drawingml/2006/main" rot="0" flipH="0" flipV="0">
            <a:off x="5978248" y="3054668"/>
            <a:ext cx="23550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5F6875"/>
                </a:solidFill>
                <a:latin typeface="+mn-lt"/>
                <a:ea typeface="+mn-lt"/>
                <a:cs typeface="+mn-lt"/>
              </a:rPr>
              <a:t>VS</a:t>
            </a:r>
          </a:p>
        </p:txBody>
      </p:sp>
      <p:sp>
        <p:nvSpPr>
          <p:cNvPr id="19" name="TextBox 19">
            <a:extLst xmlns:a="http://schemas.openxmlformats.org/drawingml/2006/main">
              <a:ext uri="{FF2B5EF4-FFF2-40B4-BE49-F238E27FC236}">
                <a16:creationId xmlns:a16="http://schemas.microsoft.com/office/drawing/2014/main" id="{7766B2CC-503D-4E44-97F1-E28DC4E3F083}"/>
              </a:ext>
            </a:extLst>
          </p:cNvPr>
          <p:cNvSpPr>
            <a:spLocks xmlns:a="http://schemas.openxmlformats.org/drawingml/2006/main" noGrp="1"/>
          </p:cNvSpPr>
          <p:nvPr/>
        </p:nvSpPr>
        <p:spPr>
          <a:xfrm xmlns:a="http://schemas.openxmlformats.org/drawingml/2006/main" rot="0" flipH="0" flipV="0">
            <a:off x="6832092" y="1549718"/>
            <a:ext cx="276590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ROBUST APPLICATION PROFILE</a:t>
            </a:r>
          </a:p>
        </p:txBody>
      </p:sp>
      <p:sp>
        <p:nvSpPr>
          <p:cNvPr id="20" name="TextBox 20">
            <a:extLst xmlns:a="http://schemas.openxmlformats.org/drawingml/2006/main">
              <a:ext uri="{FF2B5EF4-FFF2-40B4-BE49-F238E27FC236}">
                <a16:creationId xmlns:a16="http://schemas.microsoft.com/office/drawing/2014/main" id="{94FC2A9A-C929-4DE0-98C7-4606E57B39F5}"/>
              </a:ext>
            </a:extLst>
          </p:cNvPr>
          <p:cNvSpPr>
            <a:spLocks xmlns:a="http://schemas.openxmlformats.org/drawingml/2006/main" noGrp="1"/>
          </p:cNvSpPr>
          <p:nvPr/>
        </p:nvSpPr>
        <p:spPr>
          <a:xfrm xmlns:a="http://schemas.openxmlformats.org/drawingml/2006/main" rot="0" flipH="0" flipV="0">
            <a:off x="6826758" y="1874520"/>
            <a:ext cx="3542690" cy="469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400" b="1">
                <a:solidFill>
                  <a:schemeClr val="accent1"/>
                </a:solidFill>
                <a:latin typeface="+mj-lt"/>
                <a:ea typeface="+mj-lt"/>
                <a:cs typeface="+mj-lt"/>
              </a:rPr>
              <a:t>Finite-sample policy</a:t>
            </a:r>
          </a:p>
        </p:txBody>
      </p:sp>
      <p:sp>
        <p:nvSpPr>
          <p:cNvPr id="21" name="Line 21">
            <a:extLst xmlns:a="http://schemas.openxmlformats.org/drawingml/2006/main">
              <a:ext uri="{FF2B5EF4-FFF2-40B4-BE49-F238E27FC236}">
                <a16:creationId xmlns:a16="http://schemas.microsoft.com/office/drawing/2014/main" id="{FAB572FC-08C4-4B39-A891-9FD6D3330344}"/>
              </a:ext>
            </a:extLst>
          </p:cNvPr>
          <p:cNvSpPr>
            <a:spLocks xmlns:a="http://schemas.openxmlformats.org/drawingml/2006/main" noGrp="1"/>
          </p:cNvSpPr>
          <p:nvPr/>
        </p:nvSpPr>
        <p:spPr>
          <a:xfrm xmlns:a="http://schemas.openxmlformats.org/drawingml/2006/main" rot="0" flipH="0" flipV="0">
            <a:off x="6838950" y="2571750"/>
            <a:ext cx="4476750" cy="9525"/>
          </a:xfrm>
          <a:custGeom xmlns:a="http://schemas.openxmlformats.org/drawingml/2006/main">
            <a:rect l="l" t="t" r="r" b="b"/>
            <a:pathLst>
              <a:path w="4476750" h="9525">
                <a:moveTo>
                  <a:pt x="0" y="0"/>
                </a:moveTo>
                <a:lnTo>
                  <a:pt x="4476750" y="0"/>
                </a:lnTo>
              </a:path>
            </a:pathLst>
          </a:custGeom>
          <a:noFill xmlns:a="http://schemas.openxmlformats.org/drawingml/2006/main"/>
          <a:ln xmlns:a="http://schemas.openxmlformats.org/drawingml/2006/main" w="38100">
            <a:solidFill>
              <a:schemeClr val="accent6"/>
            </a:solidFill>
          </a:ln>
        </p:spPr>
      </p:sp>
      <p:sp>
        <p:nvSpPr>
          <p:cNvPr id="22" name="TextBox 22">
            <a:extLst xmlns:a="http://schemas.openxmlformats.org/drawingml/2006/main">
              <a:ext uri="{FF2B5EF4-FFF2-40B4-BE49-F238E27FC236}">
                <a16:creationId xmlns:a16="http://schemas.microsoft.com/office/drawing/2014/main" id="{8D0EAC33-A460-456F-BB70-E294C28AA300}"/>
              </a:ext>
            </a:extLst>
          </p:cNvPr>
          <p:cNvSpPr>
            <a:spLocks xmlns:a="http://schemas.openxmlformats.org/drawingml/2006/main" noGrp="1"/>
          </p:cNvSpPr>
          <p:nvPr/>
        </p:nvSpPr>
        <p:spPr>
          <a:xfrm xmlns:a="http://schemas.openxmlformats.org/drawingml/2006/main" rot="0" flipH="0" flipV="0">
            <a:off x="6831330" y="2790825"/>
            <a:ext cx="336476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Stable skeleton + max-p sepsets</a:t>
            </a:r>
          </a:p>
        </p:txBody>
      </p:sp>
      <p:sp>
        <p:nvSpPr>
          <p:cNvPr id="23" name="TextBox 23">
            <a:extLst xmlns:a="http://schemas.openxmlformats.org/drawingml/2006/main">
              <a:ext uri="{FF2B5EF4-FFF2-40B4-BE49-F238E27FC236}">
                <a16:creationId xmlns:a16="http://schemas.microsoft.com/office/drawing/2014/main" id="{B26E9DEC-49E1-4F1F-BA00-F8FFDED9C162}"/>
              </a:ext>
            </a:extLst>
          </p:cNvPr>
          <p:cNvSpPr>
            <a:spLocks xmlns:a="http://schemas.openxmlformats.org/drawingml/2006/main" noGrp="1"/>
          </p:cNvSpPr>
          <p:nvPr/>
        </p:nvSpPr>
        <p:spPr>
          <a:xfrm xmlns:a="http://schemas.openxmlformats.org/drawingml/2006/main" rot="0" flipH="0" flipV="0">
            <a:off x="6831330" y="3171825"/>
            <a:ext cx="322214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Conservative collider decisions</a:t>
            </a:r>
          </a:p>
        </p:txBody>
      </p:sp>
      <p:sp>
        <p:nvSpPr>
          <p:cNvPr id="24" name="TextBox 24">
            <a:extLst xmlns:a="http://schemas.openxmlformats.org/drawingml/2006/main">
              <a:ext uri="{FF2B5EF4-FFF2-40B4-BE49-F238E27FC236}">
                <a16:creationId xmlns:a16="http://schemas.microsoft.com/office/drawing/2014/main" id="{272AC710-2B20-44C0-ACBF-F4710EA2E93C}"/>
              </a:ext>
            </a:extLst>
          </p:cNvPr>
          <p:cNvSpPr>
            <a:spLocks xmlns:a="http://schemas.openxmlformats.org/drawingml/2006/main" noGrp="1"/>
          </p:cNvSpPr>
          <p:nvPr/>
        </p:nvSpPr>
        <p:spPr>
          <a:xfrm xmlns:a="http://schemas.openxmlformats.org/drawingml/2006/main" rot="0" flipH="0" flipV="0">
            <a:off x="6831330" y="3552825"/>
            <a:ext cx="282843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Restricted tail orientation</a:t>
            </a:r>
          </a:p>
        </p:txBody>
      </p:sp>
      <p:sp>
        <p:nvSpPr>
          <p:cNvPr id="25" name="TextBox 25">
            <a:extLst xmlns:a="http://schemas.openxmlformats.org/drawingml/2006/main">
              <a:ext uri="{FF2B5EF4-FFF2-40B4-BE49-F238E27FC236}">
                <a16:creationId xmlns:a16="http://schemas.microsoft.com/office/drawing/2014/main" id="{A68801A5-0447-4AF7-AF19-5532C009AD2B}"/>
              </a:ext>
            </a:extLst>
          </p:cNvPr>
          <p:cNvSpPr>
            <a:spLocks xmlns:a="http://schemas.openxmlformats.org/drawingml/2006/main" noGrp="1"/>
          </p:cNvSpPr>
          <p:nvPr/>
        </p:nvSpPr>
        <p:spPr>
          <a:xfrm xmlns:a="http://schemas.openxmlformats.org/drawingml/2006/main" rot="0" flipH="0" flipV="0">
            <a:off x="6831330" y="3933825"/>
            <a:ext cx="3414576"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marL="161925" indent="-161925" algn="l">
              <a:buClr>
                <a:schemeClr val="dk1"/>
              </a:buClr>
              <a:buSzTx/>
              <a:buFontTx/>
              <a:buChar char="•"/>
            </a:pPr>
            <a:r>
              <a:rPr sz="1500">
                <a:solidFill>
                  <a:schemeClr val="dk1"/>
                </a:solidFill>
                <a:latin typeface="+mn-lt"/>
                <a:ea typeface="+mn-lt"/>
                <a:cs typeface="+mn-lt"/>
              </a:rPr>
              <a:t>Order and bootstrap diagnostics</a:t>
            </a:r>
          </a:p>
        </p:txBody>
      </p:sp>
      <p:sp>
        <p:nvSpPr>
          <p:cNvPr id="26" name="TextBox 26">
            <a:extLst xmlns:a="http://schemas.openxmlformats.org/drawingml/2006/main">
              <a:ext uri="{FF2B5EF4-FFF2-40B4-BE49-F238E27FC236}">
                <a16:creationId xmlns:a16="http://schemas.microsoft.com/office/drawing/2014/main" id="{47398466-D3B2-495F-AE30-10F74E2BFBF9}"/>
              </a:ext>
            </a:extLst>
          </p:cNvPr>
          <p:cNvSpPr>
            <a:spLocks xmlns:a="http://schemas.openxmlformats.org/drawingml/2006/main" noGrp="1"/>
          </p:cNvSpPr>
          <p:nvPr/>
        </p:nvSpPr>
        <p:spPr>
          <a:xfrm xmlns:a="http://schemas.openxmlformats.org/drawingml/2006/main" rot="0" flipH="0" flipV="0">
            <a:off x="6832092" y="4426268"/>
            <a:ext cx="261837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6"/>
                </a:solidFill>
                <a:latin typeface="Consolas"/>
                <a:ea typeface="Consolas"/>
                <a:cs typeface="Consolas"/>
              </a:rPr>
              <a:t>FCIPlusConfig.practical(...)</a:t>
            </a:r>
          </a:p>
        </p:txBody>
      </p:sp>
      <p:sp>
        <p:nvSpPr>
          <p:cNvPr id="28" name="Rectangle 28">
            <a:extLst xmlns:a="http://schemas.openxmlformats.org/drawingml/2006/main">
              <a:ext uri="{FF2B5EF4-FFF2-40B4-BE49-F238E27FC236}">
                <a16:creationId xmlns:a16="http://schemas.microsoft.com/office/drawing/2014/main" id="{C0E35465-6DB2-4ECA-ADCE-6B1841725E13}"/>
              </a:ext>
            </a:extLst>
          </p:cNvPr>
          <p:cNvSpPr>
            <a:spLocks xmlns:a="http://schemas.openxmlformats.org/drawingml/2006/main" noGrp="1"/>
          </p:cNvSpPr>
          <p:nvPr/>
        </p:nvSpPr>
        <p:spPr>
          <a:xfrm xmlns:a="http://schemas.openxmlformats.org/drawingml/2006/main" rot="0" flipH="0" flipV="0">
            <a:off x="533400" y="5191125"/>
            <a:ext cx="11125200" cy="847725"/>
          </a:xfrm>
          <a:prstGeom xmlns:a="http://schemas.openxmlformats.org/drawingml/2006/main" prst="roundRect">
            <a:avLst>
              <a:gd name="adj" fmla="val 13483"/>
            </a:avLst>
          </a:prstGeom>
          <a:solidFill xmlns:a="http://schemas.openxmlformats.org/drawingml/2006/main">
            <a:schemeClr val="accent1"/>
          </a:solidFill>
          <a:ln xmlns:a="http://schemas.openxmlformats.org/drawingml/2006/main">
            <a:noFill/>
          </a:ln>
        </p:spPr>
      </p:sp>
      <p:sp>
        <p:nvSpPr>
          <p:cNvPr id="29" name="TextBox 29">
            <a:extLst xmlns:a="http://schemas.openxmlformats.org/drawingml/2006/main">
              <a:ext uri="{FF2B5EF4-FFF2-40B4-BE49-F238E27FC236}">
                <a16:creationId xmlns:a16="http://schemas.microsoft.com/office/drawing/2014/main" id="{5BACF3F1-5CED-4BEF-A05A-C48CB5B69022}"/>
              </a:ext>
            </a:extLst>
          </p:cNvPr>
          <p:cNvSpPr>
            <a:spLocks xmlns:a="http://schemas.openxmlformats.org/drawingml/2006/main" noGrp="1"/>
          </p:cNvSpPr>
          <p:nvPr/>
        </p:nvSpPr>
        <p:spPr>
          <a:xfrm xmlns:a="http://schemas.openxmlformats.org/drawingml/2006/main" rot="0" flipH="0" flipV="0">
            <a:off x="774192" y="5359718"/>
            <a:ext cx="233240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A7E8DF"/>
                </a:solidFill>
                <a:latin typeface="+mn-lt"/>
                <a:ea typeface="+mn-lt"/>
                <a:cs typeface="+mn-lt"/>
              </a:rPr>
              <a:t>PREDECLARED TRADE-OFF</a:t>
            </a:r>
          </a:p>
        </p:txBody>
      </p:sp>
      <p:sp>
        <p:nvSpPr>
          <p:cNvPr id="30" name="TextBox 30">
            <a:extLst xmlns:a="http://schemas.openxmlformats.org/drawingml/2006/main">
              <a:ext uri="{FF2B5EF4-FFF2-40B4-BE49-F238E27FC236}">
                <a16:creationId xmlns:a16="http://schemas.microsoft.com/office/drawing/2014/main" id="{B1B6514D-F5A9-4D6B-9551-819A9E3C802F}"/>
              </a:ext>
            </a:extLst>
          </p:cNvPr>
          <p:cNvSpPr>
            <a:spLocks xmlns:a="http://schemas.openxmlformats.org/drawingml/2006/main" noGrp="1"/>
          </p:cNvSpPr>
          <p:nvPr/>
        </p:nvSpPr>
        <p:spPr>
          <a:xfrm xmlns:a="http://schemas.openxmlformats.org/drawingml/2006/main" rot="0" flipH="0" flipV="0">
            <a:off x="771906" y="5634990"/>
            <a:ext cx="459928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rgbClr val="FFFFFF"/>
                </a:solidFill>
                <a:latin typeface="+mn-lt"/>
                <a:ea typeface="+mn-lt"/>
                <a:cs typeface="+mn-lt"/>
              </a:rPr>
              <a:t>More CI work + more circle endpoints</a:t>
            </a:r>
          </a:p>
        </p:txBody>
      </p:sp>
      <p:sp>
        <p:nvSpPr>
          <p:cNvPr id="31" name="TextBox 31">
            <a:extLst xmlns:a="http://schemas.openxmlformats.org/drawingml/2006/main">
              <a:ext uri="{FF2B5EF4-FFF2-40B4-BE49-F238E27FC236}">
                <a16:creationId xmlns:a16="http://schemas.microsoft.com/office/drawing/2014/main" id="{2D524A90-68E6-4E1A-850A-112BD48D5FCF}"/>
              </a:ext>
            </a:extLst>
          </p:cNvPr>
          <p:cNvSpPr>
            <a:spLocks xmlns:a="http://schemas.openxmlformats.org/drawingml/2006/main" noGrp="1"/>
          </p:cNvSpPr>
          <p:nvPr/>
        </p:nvSpPr>
        <p:spPr>
          <a:xfrm xmlns:a="http://schemas.openxmlformats.org/drawingml/2006/main" rot="0" flipH="0" flipV="0">
            <a:off x="5420106" y="5634990"/>
            <a:ext cx="1835658"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a:solidFill>
                  <a:srgbClr val="E9EDF5"/>
                </a:solidFill>
                <a:latin typeface="+mn-lt"/>
                <a:ea typeface="+mn-lt"/>
                <a:cs typeface="+mn-lt"/>
              </a:rPr>
              <a:t>in exchange for</a:t>
            </a:r>
          </a:p>
        </p:txBody>
      </p:sp>
      <p:sp>
        <p:nvSpPr>
          <p:cNvPr id="32" name="TextBox 32">
            <a:extLst xmlns:a="http://schemas.openxmlformats.org/drawingml/2006/main">
              <a:ext uri="{FF2B5EF4-FFF2-40B4-BE49-F238E27FC236}">
                <a16:creationId xmlns:a16="http://schemas.microsoft.com/office/drawing/2014/main" id="{74CBA955-2041-4FBC-905A-1ECBBD8B7EC1}"/>
              </a:ext>
            </a:extLst>
          </p:cNvPr>
          <p:cNvSpPr>
            <a:spLocks xmlns:a="http://schemas.openxmlformats.org/drawingml/2006/main" noGrp="1"/>
          </p:cNvSpPr>
          <p:nvPr/>
        </p:nvSpPr>
        <p:spPr>
          <a:xfrm xmlns:a="http://schemas.openxmlformats.org/drawingml/2006/main" rot="0" flipH="0" flipV="0">
            <a:off x="7021068" y="5651182"/>
            <a:ext cx="4401472"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rgbClr val="A7E8DF"/>
                </a:solidFill>
                <a:latin typeface="+mn-lt"/>
                <a:ea typeface="+mn-lt"/>
                <a:cs typeface="+mn-lt"/>
              </a:rPr>
              <a:t>stable skeletons + conservative marks</a:t>
            </a:r>
          </a:p>
        </p:txBody>
      </p:sp>
      <p:sp>
        <p:nvSpPr>
          <p:cNvPr id="34" name="TextBox 34">
            <a:extLst xmlns:a="http://schemas.openxmlformats.org/drawingml/2006/main">
              <a:ext uri="{FF2B5EF4-FFF2-40B4-BE49-F238E27FC236}">
                <a16:creationId xmlns:a16="http://schemas.microsoft.com/office/drawing/2014/main" id="{AFF6E3D2-22D3-47D8-9A71-83D883779F1F}"/>
              </a:ext>
            </a:extLst>
          </p:cNvPr>
          <p:cNvSpPr>
            <a:spLocks xmlns:a="http://schemas.openxmlformats.org/drawingml/2006/main" noGrp="1"/>
          </p:cNvSpPr>
          <p:nvPr/>
        </p:nvSpPr>
        <p:spPr>
          <a:xfrm xmlns:a="http://schemas.openxmlformats.org/drawingml/2006/main" rot="0" flipH="0" flipV="0">
            <a:off x="527304" y="6318885"/>
            <a:ext cx="745683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B45F4A"/>
                </a:solidFill>
                <a:latin typeface="+mn-lt"/>
                <a:ea typeface="+mn-lt"/>
                <a:cs typeface="+mn-lt"/>
              </a:rPr>
              <a:t>Engineering extension—not a new correctness, completeness, or universal-accuracy theorem.</a:t>
            </a:r>
          </a:p>
        </p:txBody>
      </p:sp>
      <p:sp>
        <p:nvSpPr>
          <p:cNvPr id="35" name="TextBox 35">
            <a:extLst xmlns:a="http://schemas.openxmlformats.org/drawingml/2006/main">
              <a:ext uri="{FF2B5EF4-FFF2-40B4-BE49-F238E27FC236}">
                <a16:creationId xmlns:a16="http://schemas.microsoft.com/office/drawing/2014/main" id="{4D96E722-5E18-430B-BB59-75E05F0D85A4}"/>
              </a:ext>
            </a:extLst>
          </p:cNvPr>
          <p:cNvSpPr>
            <a:spLocks xmlns:a="http://schemas.openxmlformats.org/drawingml/2006/main" noGrp="1"/>
          </p:cNvSpPr>
          <p:nvPr/>
        </p:nvSpPr>
        <p:spPr>
          <a:xfrm xmlns:a="http://schemas.openxmlformats.org/drawingml/2006/main" rot="0" flipH="0" flipV="0">
            <a:off x="11111332" y="6318885"/>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07 / 15</a:t>
            </a:r>
          </a:p>
        </p:txBody>
      </p:sp>
    </p:spTree>
    <p:extLst>
      <p:ext uri="{BB962C8B-B14F-4D97-AF65-F5344CB8AC3E}">
        <p14:creationId xmlns:p14="http://schemas.microsoft.com/office/powerpoint/2010/main" val="2138609602"/>
      </p:ext>
    </p:extLst>
  </p:cSld>
</p:sld>
</file>

<file path=ppt/slides/slide8.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443EED5F-7362-4313-A19C-493989F18695}"/>
              </a:ext>
            </a:extLst>
          </p:cNvPr>
          <p:cNvSpPr>
            <a:spLocks xmlns:a="http://schemas.openxmlformats.org/drawingml/2006/main" noGrp="1"/>
          </p:cNvSpPr>
          <p:nvPr/>
        </p:nvSpPr>
        <p:spPr>
          <a:xfrm xmlns:a="http://schemas.openxmlformats.org/drawingml/2006/main" rot="0" flipH="0" flipV="0">
            <a:off x="518160" y="361950"/>
            <a:ext cx="10837492"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Known Truth Separates Logic from Sample Error</a:t>
            </a:r>
          </a:p>
        </p:txBody>
      </p:sp>
      <p:sp>
        <p:nvSpPr>
          <p:cNvPr id="3" name="TextBox 3">
            <a:extLst xmlns:a="http://schemas.openxmlformats.org/drawingml/2006/main">
              <a:ext uri="{FF2B5EF4-FFF2-40B4-BE49-F238E27FC236}">
                <a16:creationId xmlns:a16="http://schemas.microsoft.com/office/drawing/2014/main" id="{2BE2D850-B5D7-46E9-ACFF-C1E9301395CA}"/>
              </a:ext>
            </a:extLst>
          </p:cNvPr>
          <p:cNvSpPr>
            <a:spLocks xmlns:a="http://schemas.openxmlformats.org/drawingml/2006/main" noGrp="1"/>
          </p:cNvSpPr>
          <p:nvPr/>
        </p:nvSpPr>
        <p:spPr>
          <a:xfrm xmlns:a="http://schemas.openxmlformats.org/drawingml/2006/main" rot="0" flipH="0" flipV="0">
            <a:off x="10653217" y="387668"/>
            <a:ext cx="101224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5F6875"/>
                </a:solidFill>
                <a:latin typeface="Consolas"/>
                <a:ea typeface="Consolas"/>
                <a:cs typeface="Consolas"/>
              </a:rPr>
              <a:t>VALIDATION</a:t>
            </a:r>
          </a:p>
        </p:txBody>
      </p:sp>
      <p:sp>
        <p:nvSpPr>
          <p:cNvPr id="4" name="Line 4">
            <a:extLst xmlns:a="http://schemas.openxmlformats.org/drawingml/2006/main">
              <a:ext uri="{FF2B5EF4-FFF2-40B4-BE49-F238E27FC236}">
                <a16:creationId xmlns:a16="http://schemas.microsoft.com/office/drawing/2014/main" id="{3F5FA29C-A4B9-4331-B424-8AF78EA6611A}"/>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91101564-D27D-451B-8D1E-3B90F53FB6B9}"/>
              </a:ext>
            </a:extLst>
          </p:cNvPr>
          <p:cNvSpPr>
            <a:spLocks xmlns:a="http://schemas.openxmlformats.org/drawingml/2006/main" noGrp="1"/>
          </p:cNvSpPr>
          <p:nvPr/>
        </p:nvSpPr>
        <p:spPr>
          <a:xfrm xmlns:a="http://schemas.openxmlformats.org/drawingml/2006/main" rot="0" flipH="0" flipV="0">
            <a:off x="533400" y="1333500"/>
            <a:ext cx="4514850" cy="4019550"/>
          </a:xfrm>
          <a:prstGeom xmlns:a="http://schemas.openxmlformats.org/drawingml/2006/main" prst="roundRect">
            <a:avLst>
              <a:gd name="adj" fmla="val 3318"/>
            </a:avLst>
          </a:prstGeom>
          <a:solidFill xmlns:a="http://schemas.openxmlformats.org/drawingml/2006/main">
            <a:srgbClr val="FFFFFF"/>
          </a:solidFill>
          <a:ln xmlns:a="http://schemas.openxmlformats.org/drawingml/2006/main" w="14288">
            <a:solidFill>
              <a:srgbClr val="CBD2DC"/>
            </a:solidFill>
          </a:ln>
        </p:spPr>
      </p:sp>
      <p:sp>
        <p:nvSpPr>
          <p:cNvPr id="7" name="TextBox 7">
            <a:extLst xmlns:a="http://schemas.openxmlformats.org/drawingml/2006/main">
              <a:ext uri="{FF2B5EF4-FFF2-40B4-BE49-F238E27FC236}">
                <a16:creationId xmlns:a16="http://schemas.microsoft.com/office/drawing/2014/main" id="{8A113738-545D-45C8-84F6-D9EE8262D1B2}"/>
              </a:ext>
            </a:extLst>
          </p:cNvPr>
          <p:cNvSpPr>
            <a:spLocks xmlns:a="http://schemas.openxmlformats.org/drawingml/2006/main" noGrp="1"/>
          </p:cNvSpPr>
          <p:nvPr/>
        </p:nvSpPr>
        <p:spPr>
          <a:xfrm xmlns:a="http://schemas.openxmlformats.org/drawingml/2006/main" rot="0" flipH="0" flipV="0">
            <a:off x="774192" y="1511618"/>
            <a:ext cx="285976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CLAASSEN FIGURE 4(b) FIXTURE</a:t>
            </a:r>
          </a:p>
        </p:txBody>
      </p:sp>
      <p:sp>
        <p:nvSpPr>
          <p:cNvPr id="8" name="TextBox 8">
            <a:extLst xmlns:a="http://schemas.openxmlformats.org/drawingml/2006/main">
              <a:ext uri="{FF2B5EF4-FFF2-40B4-BE49-F238E27FC236}">
                <a16:creationId xmlns:a16="http://schemas.microsoft.com/office/drawing/2014/main" id="{2474FCBB-1B91-40AB-8D0B-EB14320057FA}"/>
              </a:ext>
            </a:extLst>
          </p:cNvPr>
          <p:cNvSpPr>
            <a:spLocks xmlns:a="http://schemas.openxmlformats.org/drawingml/2006/main" noGrp="1"/>
          </p:cNvSpPr>
          <p:nvPr/>
        </p:nvSpPr>
        <p:spPr>
          <a:xfrm xmlns:a="http://schemas.openxmlformats.org/drawingml/2006/main" rot="0" flipH="0" flipV="0">
            <a:off x="772668" y="1803082"/>
            <a:ext cx="3971392"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accent1"/>
                </a:solidFill>
                <a:latin typeface="+mn-lt"/>
                <a:ea typeface="+mn-lt"/>
                <a:cs typeface="+mn-lt"/>
              </a:rPr>
              <a:t>A non-local separator removes X—Y</a:t>
            </a:r>
          </a:p>
        </p:txBody>
      </p:sp>
      <p:sp>
        <p:nvSpPr>
          <p:cNvPr id="9" name="Ellipse 9">
            <a:extLst xmlns:a="http://schemas.openxmlformats.org/drawingml/2006/main">
              <a:ext uri="{FF2B5EF4-FFF2-40B4-BE49-F238E27FC236}">
                <a16:creationId xmlns:a16="http://schemas.microsoft.com/office/drawing/2014/main" id="{F05C3C02-38AB-452B-8F27-41627E77A74D}"/>
              </a:ext>
            </a:extLst>
          </p:cNvPr>
          <p:cNvSpPr>
            <a:spLocks xmlns:a="http://schemas.openxmlformats.org/drawingml/2006/main" noGrp="1"/>
          </p:cNvSpPr>
          <p:nvPr/>
        </p:nvSpPr>
        <p:spPr>
          <a:xfrm xmlns:a="http://schemas.openxmlformats.org/drawingml/2006/main" rot="0" flipH="0" flipV="0">
            <a:off x="1133475" y="2790825"/>
            <a:ext cx="590550" cy="590550"/>
          </a:xfrm>
          <a:prstGeom xmlns:a="http://schemas.openxmlformats.org/drawingml/2006/main" prst="ellipse">
            <a:avLst/>
          </a:prstGeom>
          <a:solidFill xmlns:a="http://schemas.openxmlformats.org/drawingml/2006/main">
            <a:srgbClr val="FFF3E3"/>
          </a:solidFill>
          <a:ln xmlns:a="http://schemas.openxmlformats.org/drawingml/2006/main" w="28575">
            <a:solidFill>
              <a:schemeClr val="accent3"/>
            </a:solidFill>
          </a:ln>
        </p:spPr>
      </p:sp>
      <p:sp>
        <p:nvSpPr>
          <p:cNvPr id="10" name="TextBox 10">
            <a:extLst xmlns:a="http://schemas.openxmlformats.org/drawingml/2006/main">
              <a:ext uri="{FF2B5EF4-FFF2-40B4-BE49-F238E27FC236}">
                <a16:creationId xmlns:a16="http://schemas.microsoft.com/office/drawing/2014/main" id="{697574CC-C256-48C2-8716-2F12E65C0B4E}"/>
              </a:ext>
            </a:extLst>
          </p:cNvPr>
          <p:cNvSpPr>
            <a:spLocks xmlns:a="http://schemas.openxmlformats.org/drawingml/2006/main" noGrp="1"/>
          </p:cNvSpPr>
          <p:nvPr/>
        </p:nvSpPr>
        <p:spPr>
          <a:xfrm xmlns:a="http://schemas.openxmlformats.org/drawingml/2006/main" rot="0" flipH="0" flipV="0">
            <a:off x="1345677" y="296799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U</a:t>
            </a:r>
          </a:p>
        </p:txBody>
      </p:sp>
      <p:sp>
        <p:nvSpPr>
          <p:cNvPr id="11" name="Ellipse 11">
            <a:extLst xmlns:a="http://schemas.openxmlformats.org/drawingml/2006/main">
              <a:ext uri="{FF2B5EF4-FFF2-40B4-BE49-F238E27FC236}">
                <a16:creationId xmlns:a16="http://schemas.microsoft.com/office/drawing/2014/main" id="{6DF5839E-0475-4687-9C7C-025BD37DD4D1}"/>
              </a:ext>
            </a:extLst>
          </p:cNvPr>
          <p:cNvSpPr>
            <a:spLocks xmlns:a="http://schemas.openxmlformats.org/drawingml/2006/main" noGrp="1"/>
          </p:cNvSpPr>
          <p:nvPr/>
        </p:nvSpPr>
        <p:spPr>
          <a:xfrm xmlns:a="http://schemas.openxmlformats.org/drawingml/2006/main" rot="0" flipH="0" flipV="0">
            <a:off x="2371725" y="2209800"/>
            <a:ext cx="590550" cy="590550"/>
          </a:xfrm>
          <a:prstGeom xmlns:a="http://schemas.openxmlformats.org/drawingml/2006/main" prst="ellipse">
            <a:avLst/>
          </a:prstGeom>
          <a:solidFill xmlns:a="http://schemas.openxmlformats.org/drawingml/2006/main">
            <a:srgbClr val="FFFFFF"/>
          </a:solidFill>
          <a:ln xmlns:a="http://schemas.openxmlformats.org/drawingml/2006/main" w="28575">
            <a:solidFill>
              <a:schemeClr val="accent1"/>
            </a:solidFill>
          </a:ln>
        </p:spPr>
      </p:sp>
      <p:sp>
        <p:nvSpPr>
          <p:cNvPr id="12" name="TextBox 12">
            <a:extLst xmlns:a="http://schemas.openxmlformats.org/drawingml/2006/main">
              <a:ext uri="{FF2B5EF4-FFF2-40B4-BE49-F238E27FC236}">
                <a16:creationId xmlns:a16="http://schemas.microsoft.com/office/drawing/2014/main" id="{0EB5F5FA-4C6D-4135-B406-F5EB499662DB}"/>
              </a:ext>
            </a:extLst>
          </p:cNvPr>
          <p:cNvSpPr>
            <a:spLocks xmlns:a="http://schemas.openxmlformats.org/drawingml/2006/main" noGrp="1"/>
          </p:cNvSpPr>
          <p:nvPr/>
        </p:nvSpPr>
        <p:spPr>
          <a:xfrm xmlns:a="http://schemas.openxmlformats.org/drawingml/2006/main" rot="0" flipH="0" flipV="0">
            <a:off x="2583927" y="2386965"/>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X</a:t>
            </a:r>
          </a:p>
        </p:txBody>
      </p:sp>
      <p:sp>
        <p:nvSpPr>
          <p:cNvPr id="13" name="Ellipse 13">
            <a:extLst xmlns:a="http://schemas.openxmlformats.org/drawingml/2006/main">
              <a:ext uri="{FF2B5EF4-FFF2-40B4-BE49-F238E27FC236}">
                <a16:creationId xmlns:a16="http://schemas.microsoft.com/office/drawing/2014/main" id="{C190FACF-FA1A-46DD-ABBB-71993E1A5F83}"/>
              </a:ext>
            </a:extLst>
          </p:cNvPr>
          <p:cNvSpPr>
            <a:spLocks xmlns:a="http://schemas.openxmlformats.org/drawingml/2006/main" noGrp="1"/>
          </p:cNvSpPr>
          <p:nvPr/>
        </p:nvSpPr>
        <p:spPr>
          <a:xfrm xmlns:a="http://schemas.openxmlformats.org/drawingml/2006/main" rot="0" flipH="0" flipV="0">
            <a:off x="3609975" y="2790825"/>
            <a:ext cx="590550" cy="590550"/>
          </a:xfrm>
          <a:prstGeom xmlns:a="http://schemas.openxmlformats.org/drawingml/2006/main" prst="ellipse">
            <a:avLst/>
          </a:prstGeom>
          <a:solidFill xmlns:a="http://schemas.openxmlformats.org/drawingml/2006/main">
            <a:srgbClr val="FFFFFF"/>
          </a:solidFill>
          <a:ln xmlns:a="http://schemas.openxmlformats.org/drawingml/2006/main" w="28575">
            <a:solidFill>
              <a:schemeClr val="accent1"/>
            </a:solidFill>
          </a:ln>
        </p:spPr>
      </p:sp>
      <p:sp>
        <p:nvSpPr>
          <p:cNvPr id="14" name="TextBox 14">
            <a:extLst xmlns:a="http://schemas.openxmlformats.org/drawingml/2006/main">
              <a:ext uri="{FF2B5EF4-FFF2-40B4-BE49-F238E27FC236}">
                <a16:creationId xmlns:a16="http://schemas.microsoft.com/office/drawing/2014/main" id="{4F617E2E-B2DB-488B-B0D9-454FD40BE234}"/>
              </a:ext>
            </a:extLst>
          </p:cNvPr>
          <p:cNvSpPr>
            <a:spLocks xmlns:a="http://schemas.openxmlformats.org/drawingml/2006/main" noGrp="1"/>
          </p:cNvSpPr>
          <p:nvPr/>
        </p:nvSpPr>
        <p:spPr>
          <a:xfrm xmlns:a="http://schemas.openxmlformats.org/drawingml/2006/main" rot="0" flipH="0" flipV="0">
            <a:off x="3822177" y="296799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Y</a:t>
            </a:r>
          </a:p>
        </p:txBody>
      </p:sp>
      <p:sp>
        <p:nvSpPr>
          <p:cNvPr id="15" name="Ellipse 15">
            <a:extLst xmlns:a="http://schemas.openxmlformats.org/drawingml/2006/main">
              <a:ext uri="{FF2B5EF4-FFF2-40B4-BE49-F238E27FC236}">
                <a16:creationId xmlns:a16="http://schemas.microsoft.com/office/drawing/2014/main" id="{25BC4B02-4516-4E25-B06B-92B49B064240}"/>
              </a:ext>
            </a:extLst>
          </p:cNvPr>
          <p:cNvSpPr>
            <a:spLocks xmlns:a="http://schemas.openxmlformats.org/drawingml/2006/main" noGrp="1"/>
          </p:cNvSpPr>
          <p:nvPr/>
        </p:nvSpPr>
        <p:spPr>
          <a:xfrm xmlns:a="http://schemas.openxmlformats.org/drawingml/2006/main" rot="0" flipH="0" flipV="0">
            <a:off x="2371725" y="3409950"/>
            <a:ext cx="590550" cy="590550"/>
          </a:xfrm>
          <a:prstGeom xmlns:a="http://schemas.openxmlformats.org/drawingml/2006/main" prst="ellipse">
            <a:avLst/>
          </a:prstGeom>
          <a:solidFill xmlns:a="http://schemas.openxmlformats.org/drawingml/2006/main">
            <a:srgbClr val="FFF3E3"/>
          </a:solidFill>
          <a:ln xmlns:a="http://schemas.openxmlformats.org/drawingml/2006/main" w="28575">
            <a:solidFill>
              <a:schemeClr val="accent3"/>
            </a:solidFill>
          </a:ln>
        </p:spPr>
      </p:sp>
      <p:sp>
        <p:nvSpPr>
          <p:cNvPr id="16" name="TextBox 16">
            <a:extLst xmlns:a="http://schemas.openxmlformats.org/drawingml/2006/main">
              <a:ext uri="{FF2B5EF4-FFF2-40B4-BE49-F238E27FC236}">
                <a16:creationId xmlns:a16="http://schemas.microsoft.com/office/drawing/2014/main" id="{CB5CEFC5-C9A3-4E74-93AF-8A0A208605FE}"/>
              </a:ext>
            </a:extLst>
          </p:cNvPr>
          <p:cNvSpPr>
            <a:spLocks xmlns:a="http://schemas.openxmlformats.org/drawingml/2006/main" noGrp="1"/>
          </p:cNvSpPr>
          <p:nvPr/>
        </p:nvSpPr>
        <p:spPr>
          <a:xfrm xmlns:a="http://schemas.openxmlformats.org/drawingml/2006/main" rot="0" flipH="0" flipV="0">
            <a:off x="2583927" y="3587115"/>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V</a:t>
            </a:r>
          </a:p>
        </p:txBody>
      </p:sp>
      <p:sp>
        <p:nvSpPr>
          <p:cNvPr id="17" name="Ellipse 17">
            <a:extLst xmlns:a="http://schemas.openxmlformats.org/drawingml/2006/main">
              <a:ext uri="{FF2B5EF4-FFF2-40B4-BE49-F238E27FC236}">
                <a16:creationId xmlns:a16="http://schemas.microsoft.com/office/drawing/2014/main" id="{5E621234-3BF0-451E-B2C2-CE2D38341E0D}"/>
              </a:ext>
            </a:extLst>
          </p:cNvPr>
          <p:cNvSpPr>
            <a:spLocks xmlns:a="http://schemas.openxmlformats.org/drawingml/2006/main" noGrp="1"/>
          </p:cNvSpPr>
          <p:nvPr/>
        </p:nvSpPr>
        <p:spPr>
          <a:xfrm xmlns:a="http://schemas.openxmlformats.org/drawingml/2006/main" rot="0" flipH="0" flipV="0">
            <a:off x="3609975" y="3990975"/>
            <a:ext cx="590550" cy="590550"/>
          </a:xfrm>
          <a:prstGeom xmlns:a="http://schemas.openxmlformats.org/drawingml/2006/main" prst="ellipse">
            <a:avLst/>
          </a:prstGeom>
          <a:solidFill xmlns:a="http://schemas.openxmlformats.org/drawingml/2006/main">
            <a:srgbClr val="FFF3E3"/>
          </a:solidFill>
          <a:ln xmlns:a="http://schemas.openxmlformats.org/drawingml/2006/main" w="28575">
            <a:solidFill>
              <a:schemeClr val="accent3"/>
            </a:solidFill>
          </a:ln>
        </p:spPr>
      </p:sp>
      <p:sp>
        <p:nvSpPr>
          <p:cNvPr id="18" name="TextBox 18">
            <a:extLst xmlns:a="http://schemas.openxmlformats.org/drawingml/2006/main">
              <a:ext uri="{FF2B5EF4-FFF2-40B4-BE49-F238E27FC236}">
                <a16:creationId xmlns:a16="http://schemas.microsoft.com/office/drawing/2014/main" id="{26461951-D881-408C-A075-650CB3C78755}"/>
              </a:ext>
            </a:extLst>
          </p:cNvPr>
          <p:cNvSpPr>
            <a:spLocks xmlns:a="http://schemas.openxmlformats.org/drawingml/2006/main" noGrp="1"/>
          </p:cNvSpPr>
          <p:nvPr/>
        </p:nvSpPr>
        <p:spPr>
          <a:xfrm xmlns:a="http://schemas.openxmlformats.org/drawingml/2006/main" rot="0" flipH="0" flipV="0">
            <a:off x="3822177" y="4168140"/>
            <a:ext cx="16614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Z</a:t>
            </a:r>
          </a:p>
        </p:txBody>
      </p:sp>
      <p:sp>
        <p:nvSpPr>
          <p:cNvPr id="19" name="Line 19">
            <a:extLst xmlns:a="http://schemas.openxmlformats.org/drawingml/2006/main">
              <a:ext uri="{FF2B5EF4-FFF2-40B4-BE49-F238E27FC236}">
                <a16:creationId xmlns:a16="http://schemas.microsoft.com/office/drawing/2014/main" id="{0E74C040-3883-4C54-BE28-A5DCC8267CD2}"/>
              </a:ext>
            </a:extLst>
          </p:cNvPr>
          <p:cNvSpPr>
            <a:spLocks xmlns:a="http://schemas.openxmlformats.org/drawingml/2006/main" noGrp="1"/>
          </p:cNvSpPr>
          <p:nvPr/>
        </p:nvSpPr>
        <p:spPr>
          <a:xfrm xmlns:a="http://schemas.openxmlformats.org/drawingml/2006/main" rot="0" flipH="0" flipV="0">
            <a:off x="1685925" y="2647950"/>
            <a:ext cx="714375" cy="304800"/>
          </a:xfrm>
          <a:custGeom xmlns:a="http://schemas.openxmlformats.org/drawingml/2006/main">
            <a:rect l="l" t="t" r="r" b="b"/>
            <a:pathLst>
              <a:path w="714375" h="304800">
                <a:moveTo>
                  <a:pt x="0" y="304800"/>
                </a:moveTo>
                <a:lnTo>
                  <a:pt x="714375" y="0"/>
                </a:lnTo>
              </a:path>
            </a:pathLst>
          </a:custGeom>
          <a:noFill xmlns:a="http://schemas.openxmlformats.org/drawingml/2006/main"/>
          <a:ln xmlns:a="http://schemas.openxmlformats.org/drawingml/2006/main" w="28575">
            <a:solidFill>
              <a:schemeClr val="accent1"/>
            </a:solidFill>
          </a:ln>
        </p:spPr>
      </p:sp>
      <p:sp>
        <p:nvSpPr>
          <p:cNvPr id="20" name="Line 20">
            <a:extLst xmlns:a="http://schemas.openxmlformats.org/drawingml/2006/main">
              <a:ext uri="{FF2B5EF4-FFF2-40B4-BE49-F238E27FC236}">
                <a16:creationId xmlns:a16="http://schemas.microsoft.com/office/drawing/2014/main" id="{BD8C062B-C49D-4EBC-BD25-08B4C580CAFA}"/>
              </a:ext>
            </a:extLst>
          </p:cNvPr>
          <p:cNvSpPr>
            <a:spLocks xmlns:a="http://schemas.openxmlformats.org/drawingml/2006/main" noGrp="1"/>
          </p:cNvSpPr>
          <p:nvPr/>
        </p:nvSpPr>
        <p:spPr>
          <a:xfrm xmlns:a="http://schemas.openxmlformats.org/drawingml/2006/main" rot="0" flipH="0" flipV="0">
            <a:off x="2933700" y="2647950"/>
            <a:ext cx="704850" cy="295275"/>
          </a:xfrm>
          <a:custGeom xmlns:a="http://schemas.openxmlformats.org/drawingml/2006/main">
            <a:rect l="l" t="t" r="r" b="b"/>
            <a:pathLst>
              <a:path w="704850" h="295275">
                <a:moveTo>
                  <a:pt x="0" y="0"/>
                </a:moveTo>
                <a:lnTo>
                  <a:pt x="704850" y="295275"/>
                </a:lnTo>
              </a:path>
            </a:pathLst>
          </a:custGeom>
          <a:noFill xmlns:a="http://schemas.openxmlformats.org/drawingml/2006/main"/>
          <a:ln xmlns:a="http://schemas.openxmlformats.org/drawingml/2006/main" w="28575">
            <a:solidFill>
              <a:schemeClr val="accent1"/>
            </a:solidFill>
          </a:ln>
        </p:spPr>
      </p:sp>
      <p:sp>
        <p:nvSpPr>
          <p:cNvPr id="21" name="Line 21">
            <a:extLst xmlns:a="http://schemas.openxmlformats.org/drawingml/2006/main">
              <a:ext uri="{FF2B5EF4-FFF2-40B4-BE49-F238E27FC236}">
                <a16:creationId xmlns:a16="http://schemas.microsoft.com/office/drawing/2014/main" id="{FEC27E70-FFC1-425F-8616-7CE7266DECCF}"/>
              </a:ext>
            </a:extLst>
          </p:cNvPr>
          <p:cNvSpPr>
            <a:spLocks xmlns:a="http://schemas.openxmlformats.org/drawingml/2006/main" noGrp="1"/>
          </p:cNvSpPr>
          <p:nvPr/>
        </p:nvSpPr>
        <p:spPr>
          <a:xfrm xmlns:a="http://schemas.openxmlformats.org/drawingml/2006/main" rot="0" flipH="0" flipV="0">
            <a:off x="2933700" y="3219450"/>
            <a:ext cx="704850" cy="333375"/>
          </a:xfrm>
          <a:custGeom xmlns:a="http://schemas.openxmlformats.org/drawingml/2006/main">
            <a:rect l="l" t="t" r="r" b="b"/>
            <a:pathLst>
              <a:path w="704850" h="333375">
                <a:moveTo>
                  <a:pt x="0" y="333375"/>
                </a:moveTo>
                <a:lnTo>
                  <a:pt x="704850" y="0"/>
                </a:lnTo>
              </a:path>
            </a:pathLst>
          </a:custGeom>
          <a:noFill xmlns:a="http://schemas.openxmlformats.org/drawingml/2006/main"/>
          <a:ln xmlns:a="http://schemas.openxmlformats.org/drawingml/2006/main" w="28575">
            <a:solidFill>
              <a:schemeClr val="accent1"/>
            </a:solidFill>
          </a:ln>
        </p:spPr>
      </p:sp>
      <p:sp>
        <p:nvSpPr>
          <p:cNvPr id="22" name="Line 22">
            <a:extLst xmlns:a="http://schemas.openxmlformats.org/drawingml/2006/main">
              <a:ext uri="{FF2B5EF4-FFF2-40B4-BE49-F238E27FC236}">
                <a16:creationId xmlns:a16="http://schemas.microsoft.com/office/drawing/2014/main" id="{2EA689B5-6C25-47B9-8039-C4BEF2CEC0AD}"/>
              </a:ext>
            </a:extLst>
          </p:cNvPr>
          <p:cNvSpPr>
            <a:spLocks xmlns:a="http://schemas.openxmlformats.org/drawingml/2006/main" noGrp="1"/>
          </p:cNvSpPr>
          <p:nvPr/>
        </p:nvSpPr>
        <p:spPr>
          <a:xfrm xmlns:a="http://schemas.openxmlformats.org/drawingml/2006/main" rot="0" flipH="0" flipV="0">
            <a:off x="2924175" y="3848100"/>
            <a:ext cx="723900" cy="323850"/>
          </a:xfrm>
          <a:custGeom xmlns:a="http://schemas.openxmlformats.org/drawingml/2006/main">
            <a:rect l="l" t="t" r="r" b="b"/>
            <a:pathLst>
              <a:path w="723900" h="323850">
                <a:moveTo>
                  <a:pt x="0" y="0"/>
                </a:moveTo>
                <a:lnTo>
                  <a:pt x="723900" y="323850"/>
                </a:lnTo>
              </a:path>
            </a:pathLst>
          </a:custGeom>
          <a:noFill xmlns:a="http://schemas.openxmlformats.org/drawingml/2006/main"/>
          <a:ln xmlns:a="http://schemas.openxmlformats.org/drawingml/2006/main" w="28575">
            <a:solidFill>
              <a:schemeClr val="accent1"/>
            </a:solidFill>
          </a:ln>
        </p:spPr>
      </p:sp>
      <p:sp>
        <p:nvSpPr>
          <p:cNvPr id="23" name="Line 23">
            <a:extLst xmlns:a="http://schemas.openxmlformats.org/drawingml/2006/main">
              <a:ext uri="{FF2B5EF4-FFF2-40B4-BE49-F238E27FC236}">
                <a16:creationId xmlns:a16="http://schemas.microsoft.com/office/drawing/2014/main" id="{3078ED96-5E35-42BF-8190-436B472427A4}"/>
              </a:ext>
            </a:extLst>
          </p:cNvPr>
          <p:cNvSpPr>
            <a:spLocks xmlns:a="http://schemas.openxmlformats.org/drawingml/2006/main" noGrp="1"/>
          </p:cNvSpPr>
          <p:nvPr/>
        </p:nvSpPr>
        <p:spPr>
          <a:xfrm xmlns:a="http://schemas.openxmlformats.org/drawingml/2006/main" rot="0" flipH="0" flipV="0">
            <a:off x="2962275" y="2571750"/>
            <a:ext cx="647700" cy="371475"/>
          </a:xfrm>
          <a:custGeom xmlns:a="http://schemas.openxmlformats.org/drawingml/2006/main">
            <a:rect l="l" t="t" r="r" b="b"/>
            <a:pathLst>
              <a:path w="647700" h="371475">
                <a:moveTo>
                  <a:pt x="0" y="0"/>
                </a:moveTo>
                <a:lnTo>
                  <a:pt x="647700" y="371475"/>
                </a:lnTo>
              </a:path>
            </a:pathLst>
          </a:custGeom>
          <a:noFill xmlns:a="http://schemas.openxmlformats.org/drawingml/2006/main"/>
          <a:ln xmlns:a="http://schemas.openxmlformats.org/drawingml/2006/main" w="38100">
            <a:solidFill>
              <a:srgbClr val="B45F4A"/>
            </a:solidFill>
          </a:ln>
        </p:spPr>
      </p:sp>
      <p:sp>
        <p:nvSpPr>
          <p:cNvPr id="24" name="Line 24">
            <a:extLst xmlns:a="http://schemas.openxmlformats.org/drawingml/2006/main">
              <a:ext uri="{FF2B5EF4-FFF2-40B4-BE49-F238E27FC236}">
                <a16:creationId xmlns:a16="http://schemas.microsoft.com/office/drawing/2014/main" id="{7727FD5C-9018-4622-828D-6745755E823F}"/>
              </a:ext>
            </a:extLst>
          </p:cNvPr>
          <p:cNvSpPr>
            <a:spLocks xmlns:a="http://schemas.openxmlformats.org/drawingml/2006/main" noGrp="1"/>
          </p:cNvSpPr>
          <p:nvPr/>
        </p:nvSpPr>
        <p:spPr>
          <a:xfrm xmlns:a="http://schemas.openxmlformats.org/drawingml/2006/main" rot="0" flipH="0" flipV="0">
            <a:off x="3124200" y="2495550"/>
            <a:ext cx="352425" cy="695325"/>
          </a:xfrm>
          <a:custGeom xmlns:a="http://schemas.openxmlformats.org/drawingml/2006/main">
            <a:rect l="l" t="t" r="r" b="b"/>
            <a:pathLst>
              <a:path w="352425" h="695325">
                <a:moveTo>
                  <a:pt x="0" y="0"/>
                </a:moveTo>
                <a:lnTo>
                  <a:pt x="352425" y="695325"/>
                </a:lnTo>
              </a:path>
            </a:pathLst>
          </a:custGeom>
          <a:noFill xmlns:a="http://schemas.openxmlformats.org/drawingml/2006/main"/>
          <a:ln xmlns:a="http://schemas.openxmlformats.org/drawingml/2006/main" w="38100">
            <a:solidFill>
              <a:srgbClr val="B45F4A"/>
            </a:solidFill>
          </a:ln>
        </p:spPr>
      </p:sp>
      <p:sp>
        <p:nvSpPr>
          <p:cNvPr id="25" name="Line 25">
            <a:extLst xmlns:a="http://schemas.openxmlformats.org/drawingml/2006/main">
              <a:ext uri="{FF2B5EF4-FFF2-40B4-BE49-F238E27FC236}">
                <a16:creationId xmlns:a16="http://schemas.microsoft.com/office/drawing/2014/main" id="{C072428D-F587-4B3B-854D-2A6CA90E5BD8}"/>
              </a:ext>
            </a:extLst>
          </p:cNvPr>
          <p:cNvSpPr>
            <a:spLocks xmlns:a="http://schemas.openxmlformats.org/drawingml/2006/main" noGrp="1"/>
          </p:cNvSpPr>
          <p:nvPr/>
        </p:nvSpPr>
        <p:spPr>
          <a:xfrm xmlns:a="http://schemas.openxmlformats.org/drawingml/2006/main" rot="0" flipH="0" flipV="0">
            <a:off x="3124200" y="2495550"/>
            <a:ext cx="352425" cy="695325"/>
          </a:xfrm>
          <a:custGeom xmlns:a="http://schemas.openxmlformats.org/drawingml/2006/main">
            <a:rect l="l" t="t" r="r" b="b"/>
            <a:pathLst>
              <a:path w="352425" h="695325">
                <a:moveTo>
                  <a:pt x="352425" y="0"/>
                </a:moveTo>
                <a:lnTo>
                  <a:pt x="0" y="695325"/>
                </a:lnTo>
              </a:path>
            </a:pathLst>
          </a:custGeom>
          <a:noFill xmlns:a="http://schemas.openxmlformats.org/drawingml/2006/main"/>
          <a:ln xmlns:a="http://schemas.openxmlformats.org/drawingml/2006/main" w="38100">
            <a:solidFill>
              <a:srgbClr val="B45F4A"/>
            </a:solidFill>
          </a:ln>
        </p:spPr>
      </p:sp>
      <p:sp>
        <p:nvSpPr>
          <p:cNvPr id="26" name="Rectangle 26">
            <a:extLst xmlns:a="http://schemas.openxmlformats.org/drawingml/2006/main">
              <a:ext uri="{FF2B5EF4-FFF2-40B4-BE49-F238E27FC236}">
                <a16:creationId xmlns:a16="http://schemas.microsoft.com/office/drawing/2014/main" id="{59711F7D-B60E-41C9-B199-4CA9015CD09A}"/>
              </a:ext>
            </a:extLst>
          </p:cNvPr>
          <p:cNvSpPr>
            <a:spLocks xmlns:a="http://schemas.openxmlformats.org/drawingml/2006/main" noGrp="1"/>
          </p:cNvSpPr>
          <p:nvPr/>
        </p:nvSpPr>
        <p:spPr>
          <a:xfrm xmlns:a="http://schemas.openxmlformats.org/drawingml/2006/main" rot="0" flipH="0" flipV="0">
            <a:off x="781050" y="4714875"/>
            <a:ext cx="4019550" cy="400050"/>
          </a:xfrm>
          <a:prstGeom xmlns:a="http://schemas.openxmlformats.org/drawingml/2006/main" prst="roundRect">
            <a:avLst>
              <a:gd name="adj" fmla="val 19048"/>
            </a:avLst>
          </a:prstGeom>
          <a:solidFill xmlns:a="http://schemas.openxmlformats.org/drawingml/2006/main">
            <a:srgbClr val="FFF3E3"/>
          </a:solidFill>
          <a:ln xmlns:a="http://schemas.openxmlformats.org/drawingml/2006/main">
            <a:noFill/>
          </a:ln>
        </p:spPr>
      </p:sp>
      <p:sp>
        <p:nvSpPr>
          <p:cNvPr id="27" name="TextBox 27">
            <a:extLst xmlns:a="http://schemas.openxmlformats.org/drawingml/2006/main">
              <a:ext uri="{FF2B5EF4-FFF2-40B4-BE49-F238E27FC236}">
                <a16:creationId xmlns:a16="http://schemas.microsoft.com/office/drawing/2014/main" id="{44CD01D1-8837-48AF-AC24-EE8CEF1A1DFF}"/>
              </a:ext>
            </a:extLst>
          </p:cNvPr>
          <p:cNvSpPr>
            <a:spLocks xmlns:a="http://schemas.openxmlformats.org/drawingml/2006/main" noGrp="1"/>
          </p:cNvSpPr>
          <p:nvPr/>
        </p:nvSpPr>
        <p:spPr>
          <a:xfrm xmlns:a="http://schemas.openxmlformats.org/drawingml/2006/main" rot="0" flipH="0" flipV="0">
            <a:off x="1175861" y="4810125"/>
            <a:ext cx="322992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3"/>
                </a:solidFill>
                <a:latin typeface="Consolas"/>
                <a:ea typeface="Consolas"/>
                <a:cs typeface="Consolas"/>
              </a:rPr>
              <a:t>Exhibited separator: {U, V, Z}</a:t>
            </a:r>
          </a:p>
        </p:txBody>
      </p:sp>
      <p:sp>
        <p:nvSpPr>
          <p:cNvPr id="29" name="Rectangle 29">
            <a:extLst xmlns:a="http://schemas.openxmlformats.org/drawingml/2006/main">
              <a:ext uri="{FF2B5EF4-FFF2-40B4-BE49-F238E27FC236}">
                <a16:creationId xmlns:a16="http://schemas.microsoft.com/office/drawing/2014/main" id="{8CD3CDEF-CBE2-455E-B879-336B68987D51}"/>
              </a:ext>
            </a:extLst>
          </p:cNvPr>
          <p:cNvSpPr>
            <a:spLocks xmlns:a="http://schemas.openxmlformats.org/drawingml/2006/main" noGrp="1"/>
          </p:cNvSpPr>
          <p:nvPr/>
        </p:nvSpPr>
        <p:spPr>
          <a:xfrm xmlns:a="http://schemas.openxmlformats.org/drawingml/2006/main" rot="0" flipH="0" flipV="0">
            <a:off x="5314950" y="1333500"/>
            <a:ext cx="6343650" cy="4019550"/>
          </a:xfrm>
          <a:prstGeom xmlns:a="http://schemas.openxmlformats.org/drawingml/2006/main" prst="roundRect">
            <a:avLst>
              <a:gd name="adj" fmla="val 3318"/>
            </a:avLst>
          </a:prstGeom>
          <a:solidFill xmlns:a="http://schemas.openxmlformats.org/drawingml/2006/main">
            <a:schemeClr val="accent1"/>
          </a:solidFill>
          <a:ln xmlns:a="http://schemas.openxmlformats.org/drawingml/2006/main">
            <a:noFill/>
          </a:ln>
        </p:spPr>
      </p:sp>
      <p:sp>
        <p:nvSpPr>
          <p:cNvPr id="30" name="TextBox 30">
            <a:extLst xmlns:a="http://schemas.openxmlformats.org/drawingml/2006/main">
              <a:ext uri="{FF2B5EF4-FFF2-40B4-BE49-F238E27FC236}">
                <a16:creationId xmlns:a16="http://schemas.microsoft.com/office/drawing/2014/main" id="{4D8306C3-79E6-4BCE-841F-E73951C30DFF}"/>
              </a:ext>
            </a:extLst>
          </p:cNvPr>
          <p:cNvSpPr>
            <a:spLocks xmlns:a="http://schemas.openxmlformats.org/drawingml/2006/main" noGrp="1"/>
          </p:cNvSpPr>
          <p:nvPr/>
        </p:nvSpPr>
        <p:spPr>
          <a:xfrm xmlns:a="http://schemas.openxmlformats.org/drawingml/2006/main" rot="0" flipH="0" flipV="0">
            <a:off x="5574792" y="1511618"/>
            <a:ext cx="373370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E9EDF5"/>
                </a:solidFill>
                <a:latin typeface="+mn-lt"/>
                <a:ea typeface="+mn-lt"/>
                <a:cs typeface="+mn-lt"/>
              </a:rPr>
              <a:t>TWO LEVELS OF KNOWN-TRUTH EVIDENCE</a:t>
            </a:r>
          </a:p>
        </p:txBody>
      </p:sp>
      <p:sp>
        <p:nvSpPr>
          <p:cNvPr id="31" name="Line 31">
            <a:extLst xmlns:a="http://schemas.openxmlformats.org/drawingml/2006/main">
              <a:ext uri="{FF2B5EF4-FFF2-40B4-BE49-F238E27FC236}">
                <a16:creationId xmlns:a16="http://schemas.microsoft.com/office/drawing/2014/main" id="{B1FC8F52-1D74-47E0-9BB0-FF4F2F0B7BCE}"/>
              </a:ext>
            </a:extLst>
          </p:cNvPr>
          <p:cNvSpPr>
            <a:spLocks xmlns:a="http://schemas.openxmlformats.org/drawingml/2006/main" noGrp="1"/>
          </p:cNvSpPr>
          <p:nvPr/>
        </p:nvSpPr>
        <p:spPr>
          <a:xfrm xmlns:a="http://schemas.openxmlformats.org/drawingml/2006/main" rot="0" flipH="0" flipV="0">
            <a:off x="5810250" y="2800350"/>
            <a:ext cx="5353050" cy="9525"/>
          </a:xfrm>
          <a:custGeom xmlns:a="http://schemas.openxmlformats.org/drawingml/2006/main">
            <a:rect l="l" t="t" r="r" b="b"/>
            <a:pathLst>
              <a:path w="5353050" h="9525">
                <a:moveTo>
                  <a:pt x="0" y="0"/>
                </a:moveTo>
                <a:lnTo>
                  <a:pt x="5353050" y="0"/>
                </a:lnTo>
              </a:path>
            </a:pathLst>
          </a:custGeom>
          <a:noFill xmlns:a="http://schemas.openxmlformats.org/drawingml/2006/main"/>
          <a:ln xmlns:a="http://schemas.openxmlformats.org/drawingml/2006/main" w="14288">
            <a:solidFill>
              <a:srgbClr val="5C7190"/>
            </a:solidFill>
          </a:ln>
        </p:spPr>
      </p:sp>
      <p:sp>
        <p:nvSpPr>
          <p:cNvPr id="32" name="Line 32">
            <a:extLst xmlns:a="http://schemas.openxmlformats.org/drawingml/2006/main">
              <a:ext uri="{FF2B5EF4-FFF2-40B4-BE49-F238E27FC236}">
                <a16:creationId xmlns:a16="http://schemas.microsoft.com/office/drawing/2014/main" id="{90F8CE7C-44A7-4B79-BE23-EAE2A0AC7291}"/>
              </a:ext>
            </a:extLst>
          </p:cNvPr>
          <p:cNvSpPr>
            <a:spLocks xmlns:a="http://schemas.openxmlformats.org/drawingml/2006/main" noGrp="1"/>
          </p:cNvSpPr>
          <p:nvPr/>
        </p:nvSpPr>
        <p:spPr>
          <a:xfrm xmlns:a="http://schemas.openxmlformats.org/drawingml/2006/main" rot="0" flipH="0" flipV="0">
            <a:off x="5810250" y="4629150"/>
            <a:ext cx="5353050" cy="9525"/>
          </a:xfrm>
          <a:custGeom xmlns:a="http://schemas.openxmlformats.org/drawingml/2006/main">
            <a:rect l="l" t="t" r="r" b="b"/>
            <a:pathLst>
              <a:path w="5353050" h="9525">
                <a:moveTo>
                  <a:pt x="0" y="0"/>
                </a:moveTo>
                <a:lnTo>
                  <a:pt x="5353050" y="0"/>
                </a:lnTo>
              </a:path>
            </a:pathLst>
          </a:custGeom>
          <a:noFill xmlns:a="http://schemas.openxmlformats.org/drawingml/2006/main"/>
          <a:ln xmlns:a="http://schemas.openxmlformats.org/drawingml/2006/main" w="14288">
            <a:solidFill>
              <a:srgbClr val="5C7190"/>
            </a:solidFill>
          </a:ln>
        </p:spPr>
      </p:sp>
      <p:sp>
        <p:nvSpPr>
          <p:cNvPr id="33" name="Rectangle 33">
            <a:extLst xmlns:a="http://schemas.openxmlformats.org/drawingml/2006/main">
              <a:ext uri="{FF2B5EF4-FFF2-40B4-BE49-F238E27FC236}">
                <a16:creationId xmlns:a16="http://schemas.microsoft.com/office/drawing/2014/main" id="{CC011EE6-87A2-4C71-8976-41CC58273E6B}"/>
              </a:ext>
            </a:extLst>
          </p:cNvPr>
          <p:cNvSpPr>
            <a:spLocks xmlns:a="http://schemas.openxmlformats.org/drawingml/2006/main" noGrp="1"/>
          </p:cNvSpPr>
          <p:nvPr/>
        </p:nvSpPr>
        <p:spPr>
          <a:xfrm xmlns:a="http://schemas.openxmlformats.org/drawingml/2006/main" rot="0" flipH="0" flipV="0">
            <a:off x="5810250" y="2095500"/>
            <a:ext cx="4210050" cy="323850"/>
          </a:xfrm>
          <a:prstGeom xmlns:a="http://schemas.openxmlformats.org/drawingml/2006/main" prst="roundRect">
            <a:avLst>
              <a:gd name="adj" fmla="val 17647"/>
            </a:avLst>
          </a:prstGeom>
          <a:solidFill xmlns:a="http://schemas.openxmlformats.org/drawingml/2006/main">
            <a:schemeClr val="accent2"/>
          </a:solidFill>
          <a:ln xmlns:a="http://schemas.openxmlformats.org/drawingml/2006/main">
            <a:noFill/>
          </a:ln>
        </p:spPr>
      </p:sp>
      <p:sp>
        <p:nvSpPr>
          <p:cNvPr id="34" name="Rectangle 34">
            <a:extLst xmlns:a="http://schemas.openxmlformats.org/drawingml/2006/main">
              <a:ext uri="{FF2B5EF4-FFF2-40B4-BE49-F238E27FC236}">
                <a16:creationId xmlns:a16="http://schemas.microsoft.com/office/drawing/2014/main" id="{6BB04AC4-A21D-4FAB-B4CA-A1AA2BD5500B}"/>
              </a:ext>
            </a:extLst>
          </p:cNvPr>
          <p:cNvSpPr>
            <a:spLocks xmlns:a="http://schemas.openxmlformats.org/drawingml/2006/main" noGrp="1"/>
          </p:cNvSpPr>
          <p:nvPr/>
        </p:nvSpPr>
        <p:spPr>
          <a:xfrm xmlns:a="http://schemas.openxmlformats.org/drawingml/2006/main" rot="0" flipH="0" flipV="0">
            <a:off x="5810250" y="2476500"/>
            <a:ext cx="2600325" cy="323850"/>
          </a:xfrm>
          <a:prstGeom xmlns:a="http://schemas.openxmlformats.org/drawingml/2006/main" prst="roundRect">
            <a:avLst>
              <a:gd name="adj" fmla="val 17647"/>
            </a:avLst>
          </a:prstGeom>
          <a:solidFill xmlns:a="http://schemas.openxmlformats.org/drawingml/2006/main">
            <a:schemeClr val="accent3"/>
          </a:solidFill>
          <a:ln xmlns:a="http://schemas.openxmlformats.org/drawingml/2006/main">
            <a:noFill/>
          </a:ln>
        </p:spPr>
      </p:sp>
      <p:sp>
        <p:nvSpPr>
          <p:cNvPr id="35" name="Rectangle 35">
            <a:extLst xmlns:a="http://schemas.openxmlformats.org/drawingml/2006/main">
              <a:ext uri="{FF2B5EF4-FFF2-40B4-BE49-F238E27FC236}">
                <a16:creationId xmlns:a16="http://schemas.microsoft.com/office/drawing/2014/main" id="{A3DA5A19-421D-44C8-918B-97038081BA55}"/>
              </a:ext>
            </a:extLst>
          </p:cNvPr>
          <p:cNvSpPr>
            <a:spLocks xmlns:a="http://schemas.openxmlformats.org/drawingml/2006/main" noGrp="1"/>
          </p:cNvSpPr>
          <p:nvPr/>
        </p:nvSpPr>
        <p:spPr>
          <a:xfrm xmlns:a="http://schemas.openxmlformats.org/drawingml/2006/main" rot="0" flipH="0" flipV="0">
            <a:off x="5810250" y="3714750"/>
            <a:ext cx="2857500" cy="209550"/>
          </a:xfrm>
          <a:prstGeom xmlns:a="http://schemas.openxmlformats.org/drawingml/2006/main" prst="roundRect">
            <a:avLst>
              <a:gd name="adj" fmla="val 22727"/>
            </a:avLst>
          </a:prstGeom>
          <a:solidFill xmlns:a="http://schemas.openxmlformats.org/drawingml/2006/main">
            <a:schemeClr val="accent3"/>
          </a:solidFill>
          <a:ln xmlns:a="http://schemas.openxmlformats.org/drawingml/2006/main">
            <a:noFill/>
          </a:ln>
        </p:spPr>
      </p:sp>
      <p:sp>
        <p:nvSpPr>
          <p:cNvPr id="36" name="Rectangle 36">
            <a:extLst xmlns:a="http://schemas.openxmlformats.org/drawingml/2006/main">
              <a:ext uri="{FF2B5EF4-FFF2-40B4-BE49-F238E27FC236}">
                <a16:creationId xmlns:a16="http://schemas.microsoft.com/office/drawing/2014/main" id="{00197B78-90B1-458F-849C-E469747ACF64}"/>
              </a:ext>
            </a:extLst>
          </p:cNvPr>
          <p:cNvSpPr>
            <a:spLocks xmlns:a="http://schemas.openxmlformats.org/drawingml/2006/main" noGrp="1"/>
          </p:cNvSpPr>
          <p:nvPr/>
        </p:nvSpPr>
        <p:spPr>
          <a:xfrm xmlns:a="http://schemas.openxmlformats.org/drawingml/2006/main" rot="0" flipH="0" flipV="0">
            <a:off x="5810250" y="4057650"/>
            <a:ext cx="3752850" cy="209550"/>
          </a:xfrm>
          <a:prstGeom xmlns:a="http://schemas.openxmlformats.org/drawingml/2006/main" prst="roundRect">
            <a:avLst>
              <a:gd name="adj" fmla="val 22727"/>
            </a:avLst>
          </a:prstGeom>
          <a:solidFill xmlns:a="http://schemas.openxmlformats.org/drawingml/2006/main">
            <a:schemeClr val="accent6"/>
          </a:solidFill>
          <a:ln xmlns:a="http://schemas.openxmlformats.org/drawingml/2006/main">
            <a:noFill/>
          </a:ln>
        </p:spPr>
      </p:sp>
      <p:sp>
        <p:nvSpPr>
          <p:cNvPr id="38" name="TextBox 38">
            <a:extLst xmlns:a="http://schemas.openxmlformats.org/drawingml/2006/main">
              <a:ext uri="{FF2B5EF4-FFF2-40B4-BE49-F238E27FC236}">
                <a16:creationId xmlns:a16="http://schemas.microsoft.com/office/drawing/2014/main" id="{EB49B512-7732-40C9-8698-C5AFF6751878}"/>
              </a:ext>
            </a:extLst>
          </p:cNvPr>
          <p:cNvSpPr>
            <a:spLocks xmlns:a="http://schemas.openxmlformats.org/drawingml/2006/main" noGrp="1"/>
          </p:cNvSpPr>
          <p:nvPr/>
        </p:nvSpPr>
        <p:spPr>
          <a:xfrm xmlns:a="http://schemas.openxmlformats.org/drawingml/2006/main" rot="0" flipH="0" flipV="0">
            <a:off x="5574030" y="1838325"/>
            <a:ext cx="455080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FFFF"/>
                </a:solidFill>
                <a:latin typeface="+mn-lt"/>
                <a:ea typeface="+mn-lt"/>
                <a:cs typeface="+mn-lt"/>
              </a:rPr>
              <a:t>Exact oracle · Figure 4(b) logical CI queries</a:t>
            </a:r>
          </a:p>
        </p:txBody>
      </p:sp>
      <p:sp>
        <p:nvSpPr>
          <p:cNvPr id="39" name="TextBox 39">
            <a:extLst xmlns:a="http://schemas.openxmlformats.org/drawingml/2006/main">
              <a:ext uri="{FF2B5EF4-FFF2-40B4-BE49-F238E27FC236}">
                <a16:creationId xmlns:a16="http://schemas.microsoft.com/office/drawing/2014/main" id="{C0CEA24F-7E9E-40FE-B193-D52D4DF15165}"/>
              </a:ext>
            </a:extLst>
          </p:cNvPr>
          <p:cNvSpPr>
            <a:spLocks xmlns:a="http://schemas.openxmlformats.org/drawingml/2006/main" noGrp="1"/>
          </p:cNvSpPr>
          <p:nvPr/>
        </p:nvSpPr>
        <p:spPr>
          <a:xfrm xmlns:a="http://schemas.openxmlformats.org/drawingml/2006/main" rot="0" flipH="0" flipV="0">
            <a:off x="10184130" y="2171700"/>
            <a:ext cx="76573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FFFF"/>
                </a:solidFill>
                <a:latin typeface="Consolas"/>
                <a:ea typeface="Consolas"/>
                <a:cs typeface="Consolas"/>
              </a:rPr>
              <a:t>FCI 102</a:t>
            </a:r>
          </a:p>
        </p:txBody>
      </p:sp>
      <p:sp>
        <p:nvSpPr>
          <p:cNvPr id="40" name="TextBox 40">
            <a:extLst xmlns:a="http://schemas.openxmlformats.org/drawingml/2006/main">
              <a:ext uri="{FF2B5EF4-FFF2-40B4-BE49-F238E27FC236}">
                <a16:creationId xmlns:a16="http://schemas.microsoft.com/office/drawing/2014/main" id="{362BC73D-2F86-4CCA-9F50-092D4CA6FCB3}"/>
              </a:ext>
            </a:extLst>
          </p:cNvPr>
          <p:cNvSpPr>
            <a:spLocks xmlns:a="http://schemas.openxmlformats.org/drawingml/2006/main" noGrp="1"/>
          </p:cNvSpPr>
          <p:nvPr/>
        </p:nvSpPr>
        <p:spPr>
          <a:xfrm xmlns:a="http://schemas.openxmlformats.org/drawingml/2006/main" rot="0" flipH="0" flipV="0">
            <a:off x="8574405" y="2552700"/>
            <a:ext cx="112060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FFFF"/>
                </a:solidFill>
                <a:latin typeface="Consolas"/>
                <a:ea typeface="Consolas"/>
                <a:cs typeface="Consolas"/>
              </a:rPr>
              <a:t>FCI Plus 63</a:t>
            </a:r>
          </a:p>
        </p:txBody>
      </p:sp>
      <p:sp>
        <p:nvSpPr>
          <p:cNvPr id="41" name="TextBox 41">
            <a:extLst xmlns:a="http://schemas.openxmlformats.org/drawingml/2006/main">
              <a:ext uri="{FF2B5EF4-FFF2-40B4-BE49-F238E27FC236}">
                <a16:creationId xmlns:a16="http://schemas.microsoft.com/office/drawing/2014/main" id="{01E248AB-68C1-4081-9AD3-555F72DAF395}"/>
              </a:ext>
            </a:extLst>
          </p:cNvPr>
          <p:cNvSpPr>
            <a:spLocks xmlns:a="http://schemas.openxmlformats.org/drawingml/2006/main" noGrp="1"/>
          </p:cNvSpPr>
          <p:nvPr/>
        </p:nvSpPr>
        <p:spPr>
          <a:xfrm xmlns:a="http://schemas.openxmlformats.org/drawingml/2006/main" rot="0" flipH="0" flipV="0">
            <a:off x="5574792" y="3140392"/>
            <a:ext cx="560385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FFFFFF"/>
                </a:solidFill>
                <a:latin typeface="+mn-lt"/>
                <a:ea typeface="+mn-lt"/>
                <a:cs typeface="+mn-lt"/>
              </a:rPr>
              <a:t>Fixed-α regression · α = .001 for both · 5 families × 3 seeds</a:t>
            </a:r>
          </a:p>
        </p:txBody>
      </p:sp>
      <p:sp>
        <p:nvSpPr>
          <p:cNvPr id="42" name="TextBox 42">
            <a:extLst xmlns:a="http://schemas.openxmlformats.org/drawingml/2006/main">
              <a:ext uri="{FF2B5EF4-FFF2-40B4-BE49-F238E27FC236}">
                <a16:creationId xmlns:a16="http://schemas.microsoft.com/office/drawing/2014/main" id="{404C83D8-D4E5-458A-A25B-88F0B149AD72}"/>
              </a:ext>
            </a:extLst>
          </p:cNvPr>
          <p:cNvSpPr>
            <a:spLocks xmlns:a="http://schemas.openxmlformats.org/drawingml/2006/main" noGrp="1"/>
          </p:cNvSpPr>
          <p:nvPr/>
        </p:nvSpPr>
        <p:spPr>
          <a:xfrm xmlns:a="http://schemas.openxmlformats.org/drawingml/2006/main" rot="0" flipH="0" flipV="0">
            <a:off x="5574792" y="3445192"/>
            <a:ext cx="299757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Endpoint-sensitive exact-edge F1</a:t>
            </a:r>
          </a:p>
        </p:txBody>
      </p:sp>
      <p:sp>
        <p:nvSpPr>
          <p:cNvPr id="43" name="TextBox 43">
            <a:extLst xmlns:a="http://schemas.openxmlformats.org/drawingml/2006/main">
              <a:ext uri="{FF2B5EF4-FFF2-40B4-BE49-F238E27FC236}">
                <a16:creationId xmlns:a16="http://schemas.microsoft.com/office/drawing/2014/main" id="{6F622E32-7320-4D6D-A3A9-310B6575933F}"/>
              </a:ext>
            </a:extLst>
          </p:cNvPr>
          <p:cNvSpPr>
            <a:spLocks xmlns:a="http://schemas.openxmlformats.org/drawingml/2006/main" noGrp="1"/>
          </p:cNvSpPr>
          <p:nvPr/>
        </p:nvSpPr>
        <p:spPr>
          <a:xfrm xmlns:a="http://schemas.openxmlformats.org/drawingml/2006/main" rot="0" flipH="0" flipV="0">
            <a:off x="8812530" y="3714750"/>
            <a:ext cx="112837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C77E"/>
                </a:solidFill>
                <a:latin typeface="Consolas"/>
                <a:ea typeface="Consolas"/>
                <a:cs typeface="Consolas"/>
              </a:rPr>
              <a:t>paper .536</a:t>
            </a:r>
          </a:p>
        </p:txBody>
      </p:sp>
      <p:sp>
        <p:nvSpPr>
          <p:cNvPr id="44" name="TextBox 44">
            <a:extLst xmlns:a="http://schemas.openxmlformats.org/drawingml/2006/main">
              <a:ext uri="{FF2B5EF4-FFF2-40B4-BE49-F238E27FC236}">
                <a16:creationId xmlns:a16="http://schemas.microsoft.com/office/drawing/2014/main" id="{2962DD81-3195-423D-A2B0-4F6132C07F27}"/>
              </a:ext>
            </a:extLst>
          </p:cNvPr>
          <p:cNvSpPr>
            <a:spLocks xmlns:a="http://schemas.openxmlformats.org/drawingml/2006/main" noGrp="1"/>
          </p:cNvSpPr>
          <p:nvPr/>
        </p:nvSpPr>
        <p:spPr>
          <a:xfrm xmlns:a="http://schemas.openxmlformats.org/drawingml/2006/main" rot="0" flipH="0" flipV="0">
            <a:off x="9707880" y="4057650"/>
            <a:ext cx="124499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A7E8DF"/>
                </a:solidFill>
                <a:latin typeface="Consolas"/>
                <a:ea typeface="Consolas"/>
                <a:cs typeface="Consolas"/>
              </a:rPr>
              <a:t>robust .703</a:t>
            </a:r>
          </a:p>
        </p:txBody>
      </p:sp>
      <p:sp>
        <p:nvSpPr>
          <p:cNvPr id="45" name="TextBox 45">
            <a:extLst xmlns:a="http://schemas.openxmlformats.org/drawingml/2006/main">
              <a:ext uri="{FF2B5EF4-FFF2-40B4-BE49-F238E27FC236}">
                <a16:creationId xmlns:a16="http://schemas.microsoft.com/office/drawing/2014/main" id="{6656C1A1-6144-4257-955C-4B645005DDCA}"/>
              </a:ext>
            </a:extLst>
          </p:cNvPr>
          <p:cNvSpPr>
            <a:spLocks xmlns:a="http://schemas.openxmlformats.org/drawingml/2006/main" noGrp="1"/>
          </p:cNvSpPr>
          <p:nvPr/>
        </p:nvSpPr>
        <p:spPr>
          <a:xfrm xmlns:a="http://schemas.openxmlformats.org/drawingml/2006/main" rot="0" flipH="0" flipV="0">
            <a:off x="5574792" y="4721542"/>
            <a:ext cx="316346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Skeleton F1: .979 for both profiles</a:t>
            </a:r>
          </a:p>
        </p:txBody>
      </p:sp>
      <p:sp>
        <p:nvSpPr>
          <p:cNvPr id="46" name="TextBox 46">
            <a:extLst xmlns:a="http://schemas.openxmlformats.org/drawingml/2006/main">
              <a:ext uri="{FF2B5EF4-FFF2-40B4-BE49-F238E27FC236}">
                <a16:creationId xmlns:a16="http://schemas.microsoft.com/office/drawing/2014/main" id="{6D0CB0C0-2EEB-43A7-8453-51B407DEBF35}"/>
              </a:ext>
            </a:extLst>
          </p:cNvPr>
          <p:cNvSpPr>
            <a:spLocks xmlns:a="http://schemas.openxmlformats.org/drawingml/2006/main" noGrp="1"/>
          </p:cNvSpPr>
          <p:nvPr/>
        </p:nvSpPr>
        <p:spPr>
          <a:xfrm xmlns:a="http://schemas.openxmlformats.org/drawingml/2006/main" rot="0" flipH="0" flipV="0">
            <a:off x="5574792" y="4988242"/>
            <a:ext cx="356890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E9EDF5"/>
                </a:solidFill>
                <a:latin typeface="+mn-lt"/>
                <a:ea typeface="+mn-lt"/>
                <a:cs typeface="+mn-lt"/>
              </a:rPr>
              <a:t>Mean CI calls: 197.1 → 380.7 · N = 2,500</a:t>
            </a:r>
          </a:p>
        </p:txBody>
      </p:sp>
      <p:sp>
        <p:nvSpPr>
          <p:cNvPr id="48" name="TextBox 48">
            <a:extLst xmlns:a="http://schemas.openxmlformats.org/drawingml/2006/main">
              <a:ext uri="{FF2B5EF4-FFF2-40B4-BE49-F238E27FC236}">
                <a16:creationId xmlns:a16="http://schemas.microsoft.com/office/drawing/2014/main" id="{BF75DFFA-C82F-41AE-98F4-342F1892C65D}"/>
              </a:ext>
            </a:extLst>
          </p:cNvPr>
          <p:cNvSpPr>
            <a:spLocks xmlns:a="http://schemas.openxmlformats.org/drawingml/2006/main" noGrp="1"/>
          </p:cNvSpPr>
          <p:nvPr/>
        </p:nvSpPr>
        <p:spPr>
          <a:xfrm xmlns:a="http://schemas.openxmlformats.org/drawingml/2006/main" rot="0" flipH="0" flipV="0">
            <a:off x="525018" y="5641658"/>
            <a:ext cx="5703734"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rgbClr val="B45F4A"/>
                </a:solidFill>
                <a:latin typeface="+mn-lt"/>
                <a:ea typeface="+mn-lt"/>
                <a:cs typeface="+mn-lt"/>
              </a:rPr>
              <a:t>Fewer oracle queries ≠ finite-sample superiority.</a:t>
            </a:r>
          </a:p>
        </p:txBody>
      </p:sp>
      <p:sp>
        <p:nvSpPr>
          <p:cNvPr id="49" name="TextBox 49">
            <a:extLst xmlns:a="http://schemas.openxmlformats.org/drawingml/2006/main">
              <a:ext uri="{FF2B5EF4-FFF2-40B4-BE49-F238E27FC236}">
                <a16:creationId xmlns:a16="http://schemas.microsoft.com/office/drawing/2014/main" id="{8F78568B-5F28-4C6F-B84C-735A1E0F6781}"/>
              </a:ext>
            </a:extLst>
          </p:cNvPr>
          <p:cNvSpPr>
            <a:spLocks xmlns:a="http://schemas.openxmlformats.org/drawingml/2006/main" noGrp="1"/>
          </p:cNvSpPr>
          <p:nvPr/>
        </p:nvSpPr>
        <p:spPr>
          <a:xfrm xmlns:a="http://schemas.openxmlformats.org/drawingml/2006/main" rot="0" flipH="0" flipV="0">
            <a:off x="6328029" y="5490210"/>
            <a:ext cx="199834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The source prints a MAG;</a:t>
            </a:r>
          </a:p>
        </p:txBody>
      </p:sp>
      <p:sp>
        <p:nvSpPr>
          <p:cNvPr id="50" name="TextBox 50">
            <a:extLst xmlns:a="http://schemas.openxmlformats.org/drawingml/2006/main">
              <a:ext uri="{FF2B5EF4-FFF2-40B4-BE49-F238E27FC236}">
                <a16:creationId xmlns:a16="http://schemas.microsoft.com/office/drawing/2014/main" id="{E088807C-7581-47A1-999A-D3773408C780}"/>
              </a:ext>
            </a:extLst>
          </p:cNvPr>
          <p:cNvSpPr>
            <a:spLocks xmlns:a="http://schemas.openxmlformats.org/drawingml/2006/main" noGrp="1"/>
          </p:cNvSpPr>
          <p:nvPr/>
        </p:nvSpPr>
        <p:spPr>
          <a:xfrm xmlns:a="http://schemas.openxmlformats.org/drawingml/2006/main" rot="0" flipH="0" flipV="0">
            <a:off x="6328029" y="5699760"/>
            <a:ext cx="424440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the repository derives the PAG target independently.</a:t>
            </a:r>
          </a:p>
        </p:txBody>
      </p:sp>
      <p:sp>
        <p:nvSpPr>
          <p:cNvPr id="52" name="TextBox 52">
            <a:extLst xmlns:a="http://schemas.openxmlformats.org/drawingml/2006/main">
              <a:ext uri="{FF2B5EF4-FFF2-40B4-BE49-F238E27FC236}">
                <a16:creationId xmlns:a16="http://schemas.microsoft.com/office/drawing/2014/main" id="{BF9F9EF1-B3F6-4B2C-9BB5-3D1BB9D17284}"/>
              </a:ext>
            </a:extLst>
          </p:cNvPr>
          <p:cNvSpPr>
            <a:spLocks xmlns:a="http://schemas.openxmlformats.org/drawingml/2006/main" noGrp="1"/>
          </p:cNvSpPr>
          <p:nvPr/>
        </p:nvSpPr>
        <p:spPr>
          <a:xfrm xmlns:a="http://schemas.openxmlformats.org/drawingml/2006/main" rot="0" flipH="0" flipV="0">
            <a:off x="527304" y="6309360"/>
            <a:ext cx="7688222"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Exact-oracle fixtures · committed finite-sample validation · Claassen et al. (2013), Figure 4(b)</a:t>
            </a:r>
          </a:p>
        </p:txBody>
      </p:sp>
      <p:sp>
        <p:nvSpPr>
          <p:cNvPr id="53" name="TextBox 53">
            <a:extLst xmlns:a="http://schemas.openxmlformats.org/drawingml/2006/main">
              <a:ext uri="{FF2B5EF4-FFF2-40B4-BE49-F238E27FC236}">
                <a16:creationId xmlns:a16="http://schemas.microsoft.com/office/drawing/2014/main" id="{416D7F98-2137-45BB-A73B-C0AEAA9B3526}"/>
              </a:ext>
            </a:extLst>
          </p:cNvPr>
          <p:cNvSpPr>
            <a:spLocks xmlns:a="http://schemas.openxmlformats.org/drawingml/2006/main" noGrp="1"/>
          </p:cNvSpPr>
          <p:nvPr/>
        </p:nvSpPr>
        <p:spPr>
          <a:xfrm xmlns:a="http://schemas.openxmlformats.org/drawingml/2006/main" rot="0" flipH="0" flipV="0">
            <a:off x="11111332" y="630936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08 / 15</a:t>
            </a:r>
          </a:p>
        </p:txBody>
      </p:sp>
    </p:spTree>
    <p:extLst>
      <p:ext uri="{BB962C8B-B14F-4D97-AF65-F5344CB8AC3E}">
        <p14:creationId xmlns:p14="http://schemas.microsoft.com/office/powerpoint/2010/main" val="1913833649"/>
      </p:ext>
    </p:extLst>
  </p:cSld>
</p:sld>
</file>

<file path=ppt/slides/slide9.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FB4E9D3D-7E8A-43A9-9467-049CC6920783}"/>
              </a:ext>
            </a:extLst>
          </p:cNvPr>
          <p:cNvSpPr>
            <a:spLocks xmlns:a="http://schemas.openxmlformats.org/drawingml/2006/main" noGrp="1"/>
          </p:cNvSpPr>
          <p:nvPr/>
        </p:nvSpPr>
        <p:spPr>
          <a:xfrm xmlns:a="http://schemas.openxmlformats.org/drawingml/2006/main" rot="0" flipH="0" flipV="0">
            <a:off x="517398" y="345758"/>
            <a:ext cx="10883963" cy="61607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150" b="1">
                <a:solidFill>
                  <a:schemeClr val="accent1"/>
                </a:solidFill>
                <a:latin typeface="+mj-lt"/>
                <a:ea typeface="+mj-lt"/>
                <a:cs typeface="+mj-lt"/>
              </a:rPr>
              <a:t>An Auditability Comparison, Not a Leaderboard</a:t>
            </a:r>
          </a:p>
        </p:txBody>
      </p:sp>
      <p:sp>
        <p:nvSpPr>
          <p:cNvPr id="3" name="TextBox 3">
            <a:extLst xmlns:a="http://schemas.openxmlformats.org/drawingml/2006/main">
              <a:ext uri="{FF2B5EF4-FFF2-40B4-BE49-F238E27FC236}">
                <a16:creationId xmlns:a16="http://schemas.microsoft.com/office/drawing/2014/main" id="{A4714E59-2491-4429-9AB0-C76509B2700B}"/>
              </a:ext>
            </a:extLst>
          </p:cNvPr>
          <p:cNvSpPr>
            <a:spLocks xmlns:a="http://schemas.openxmlformats.org/drawingml/2006/main" noGrp="1"/>
          </p:cNvSpPr>
          <p:nvPr/>
        </p:nvSpPr>
        <p:spPr>
          <a:xfrm xmlns:a="http://schemas.openxmlformats.org/drawingml/2006/main" rot="0" flipH="0" flipV="0">
            <a:off x="9721901" y="844868"/>
            <a:ext cx="194355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7562A8"/>
                </a:solidFill>
                <a:latin typeface="Consolas"/>
                <a:ea typeface="Consolas"/>
                <a:cs typeface="Consolas"/>
              </a:rPr>
              <a:t>SOFTWARE LANDSCAPE</a:t>
            </a:r>
          </a:p>
        </p:txBody>
      </p:sp>
      <p:sp>
        <p:nvSpPr>
          <p:cNvPr id="4" name="Line 4">
            <a:extLst xmlns:a="http://schemas.openxmlformats.org/drawingml/2006/main">
              <a:ext uri="{FF2B5EF4-FFF2-40B4-BE49-F238E27FC236}">
                <a16:creationId xmlns:a16="http://schemas.microsoft.com/office/drawing/2014/main" id="{9CB094C1-7ADC-4C9A-80D3-713E04F7C408}"/>
              </a:ext>
            </a:extLst>
          </p:cNvPr>
          <p:cNvSpPr>
            <a:spLocks xmlns:a="http://schemas.openxmlformats.org/drawingml/2006/main" noGrp="1"/>
          </p:cNvSpPr>
          <p:nvPr/>
        </p:nvSpPr>
        <p:spPr>
          <a:xfrm xmlns:a="http://schemas.openxmlformats.org/drawingml/2006/main" rot="0" flipH="0" flipV="0">
            <a:off x="533400" y="11430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FD8E73C2-4B96-41F0-90A1-43CE49951537}"/>
              </a:ext>
            </a:extLst>
          </p:cNvPr>
          <p:cNvSpPr>
            <a:spLocks xmlns:a="http://schemas.openxmlformats.org/drawingml/2006/main" noGrp="1"/>
          </p:cNvSpPr>
          <p:nvPr/>
        </p:nvSpPr>
        <p:spPr>
          <a:xfrm xmlns:a="http://schemas.openxmlformats.org/drawingml/2006/main" rot="0" flipH="0" flipV="0">
            <a:off x="533400" y="1333500"/>
            <a:ext cx="11125200" cy="3714750"/>
          </a:xfrm>
          <a:prstGeom xmlns:a="http://schemas.openxmlformats.org/drawingml/2006/main" prst="roundRect">
            <a:avLst>
              <a:gd name="adj" fmla="val 3590"/>
            </a:avLst>
          </a:prstGeom>
          <a:solidFill xmlns:a="http://schemas.openxmlformats.org/drawingml/2006/main">
            <a:srgbClr val="FFFFFF"/>
          </a:solidFill>
          <a:ln xmlns:a="http://schemas.openxmlformats.org/drawingml/2006/main" w="14288">
            <a:solidFill>
              <a:srgbClr val="CBD2DC"/>
            </a:solidFill>
          </a:ln>
        </p:spPr>
      </p:sp>
      <p:sp>
        <p:nvSpPr>
          <p:cNvPr id="7" name="Rectangle 7">
            <a:extLst xmlns:a="http://schemas.openxmlformats.org/drawingml/2006/main">
              <a:ext uri="{FF2B5EF4-FFF2-40B4-BE49-F238E27FC236}">
                <a16:creationId xmlns:a16="http://schemas.microsoft.com/office/drawing/2014/main" id="{293F3A50-DB23-4C27-96CE-BEAA7251D131}"/>
              </a:ext>
            </a:extLst>
          </p:cNvPr>
          <p:cNvSpPr>
            <a:spLocks xmlns:a="http://schemas.openxmlformats.org/drawingml/2006/main" noGrp="1"/>
          </p:cNvSpPr>
          <p:nvPr/>
        </p:nvSpPr>
        <p:spPr>
          <a:xfrm xmlns:a="http://schemas.openxmlformats.org/drawingml/2006/main" rot="0" flipH="0" flipV="0">
            <a:off x="533400" y="1333500"/>
            <a:ext cx="11125200" cy="571500"/>
          </a:xfrm>
          <a:prstGeom xmlns:a="http://schemas.openxmlformats.org/drawingml/2006/main" prst="roundRect">
            <a:avLst>
              <a:gd name="adj" fmla="val 23333"/>
            </a:avLst>
          </a:prstGeom>
          <a:solidFill xmlns:a="http://schemas.openxmlformats.org/drawingml/2006/main">
            <a:schemeClr val="accent1"/>
          </a:solidFill>
          <a:ln xmlns:a="http://schemas.openxmlformats.org/drawingml/2006/main">
            <a:noFill/>
          </a:ln>
        </p:spPr>
      </p:sp>
      <p:sp>
        <p:nvSpPr>
          <p:cNvPr id="8" name="Line 8">
            <a:extLst xmlns:a="http://schemas.openxmlformats.org/drawingml/2006/main">
              <a:ext uri="{FF2B5EF4-FFF2-40B4-BE49-F238E27FC236}">
                <a16:creationId xmlns:a16="http://schemas.microsoft.com/office/drawing/2014/main" id="{591B79D5-7302-41E2-A590-E59434A51AB1}"/>
              </a:ext>
            </a:extLst>
          </p:cNvPr>
          <p:cNvSpPr>
            <a:spLocks xmlns:a="http://schemas.openxmlformats.org/drawingml/2006/main" noGrp="1"/>
          </p:cNvSpPr>
          <p:nvPr/>
        </p:nvSpPr>
        <p:spPr>
          <a:xfrm xmlns:a="http://schemas.openxmlformats.org/drawingml/2006/main" rot="0" flipH="0" flipV="0">
            <a:off x="285750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9" name="Line 9">
            <a:extLst xmlns:a="http://schemas.openxmlformats.org/drawingml/2006/main">
              <a:ext uri="{FF2B5EF4-FFF2-40B4-BE49-F238E27FC236}">
                <a16:creationId xmlns:a16="http://schemas.microsoft.com/office/drawing/2014/main" id="{3BCCD0C1-F2ED-462C-97B5-8BDB71B7E9F6}"/>
              </a:ext>
            </a:extLst>
          </p:cNvPr>
          <p:cNvSpPr>
            <a:spLocks xmlns:a="http://schemas.openxmlformats.org/drawingml/2006/main" noGrp="1"/>
          </p:cNvSpPr>
          <p:nvPr/>
        </p:nvSpPr>
        <p:spPr>
          <a:xfrm xmlns:a="http://schemas.openxmlformats.org/drawingml/2006/main" rot="0" flipH="0" flipV="0">
            <a:off x="390525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0" name="Line 10">
            <a:extLst xmlns:a="http://schemas.openxmlformats.org/drawingml/2006/main">
              <a:ext uri="{FF2B5EF4-FFF2-40B4-BE49-F238E27FC236}">
                <a16:creationId xmlns:a16="http://schemas.microsoft.com/office/drawing/2014/main" id="{2DEE6A85-FFF8-4755-B4CB-AAD0DEA5233E}"/>
              </a:ext>
            </a:extLst>
          </p:cNvPr>
          <p:cNvSpPr>
            <a:spLocks xmlns:a="http://schemas.openxmlformats.org/drawingml/2006/main" noGrp="1"/>
          </p:cNvSpPr>
          <p:nvPr/>
        </p:nvSpPr>
        <p:spPr>
          <a:xfrm xmlns:a="http://schemas.openxmlformats.org/drawingml/2006/main" rot="0" flipH="0" flipV="0">
            <a:off x="495300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1" name="Line 11">
            <a:extLst xmlns:a="http://schemas.openxmlformats.org/drawingml/2006/main">
              <a:ext uri="{FF2B5EF4-FFF2-40B4-BE49-F238E27FC236}">
                <a16:creationId xmlns:a16="http://schemas.microsoft.com/office/drawing/2014/main" id="{ABF336C1-8B5E-478D-BC95-D9A5717BC5C6}"/>
              </a:ext>
            </a:extLst>
          </p:cNvPr>
          <p:cNvSpPr>
            <a:spLocks xmlns:a="http://schemas.openxmlformats.org/drawingml/2006/main" noGrp="1"/>
          </p:cNvSpPr>
          <p:nvPr/>
        </p:nvSpPr>
        <p:spPr>
          <a:xfrm xmlns:a="http://schemas.openxmlformats.org/drawingml/2006/main" rot="0" flipH="0" flipV="0">
            <a:off x="619125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2" name="Line 12">
            <a:extLst xmlns:a="http://schemas.openxmlformats.org/drawingml/2006/main">
              <a:ext uri="{FF2B5EF4-FFF2-40B4-BE49-F238E27FC236}">
                <a16:creationId xmlns:a16="http://schemas.microsoft.com/office/drawing/2014/main" id="{323CBB92-3F6C-451A-A492-E32BDAE2765A}"/>
              </a:ext>
            </a:extLst>
          </p:cNvPr>
          <p:cNvSpPr>
            <a:spLocks xmlns:a="http://schemas.openxmlformats.org/drawingml/2006/main" noGrp="1"/>
          </p:cNvSpPr>
          <p:nvPr/>
        </p:nvSpPr>
        <p:spPr>
          <a:xfrm xmlns:a="http://schemas.openxmlformats.org/drawingml/2006/main" rot="0" flipH="0" flipV="0">
            <a:off x="752475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3" name="Line 13">
            <a:extLst xmlns:a="http://schemas.openxmlformats.org/drawingml/2006/main">
              <a:ext uri="{FF2B5EF4-FFF2-40B4-BE49-F238E27FC236}">
                <a16:creationId xmlns:a16="http://schemas.microsoft.com/office/drawing/2014/main" id="{7B672C9C-C8EF-41CF-8D87-80970CB8C412}"/>
              </a:ext>
            </a:extLst>
          </p:cNvPr>
          <p:cNvSpPr>
            <a:spLocks xmlns:a="http://schemas.openxmlformats.org/drawingml/2006/main" noGrp="1"/>
          </p:cNvSpPr>
          <p:nvPr/>
        </p:nvSpPr>
        <p:spPr>
          <a:xfrm xmlns:a="http://schemas.openxmlformats.org/drawingml/2006/main" rot="0" flipH="0" flipV="0">
            <a:off x="885825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4" name="Line 14">
            <a:extLst xmlns:a="http://schemas.openxmlformats.org/drawingml/2006/main">
              <a:ext uri="{FF2B5EF4-FFF2-40B4-BE49-F238E27FC236}">
                <a16:creationId xmlns:a16="http://schemas.microsoft.com/office/drawing/2014/main" id="{94D98B31-870D-4E39-9D95-DF569BF1ED66}"/>
              </a:ext>
            </a:extLst>
          </p:cNvPr>
          <p:cNvSpPr>
            <a:spLocks xmlns:a="http://schemas.openxmlformats.org/drawingml/2006/main" noGrp="1"/>
          </p:cNvSpPr>
          <p:nvPr/>
        </p:nvSpPr>
        <p:spPr>
          <a:xfrm xmlns:a="http://schemas.openxmlformats.org/drawingml/2006/main" rot="0" flipH="0" flipV="0">
            <a:off x="10096500" y="190500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5" name="Line 15">
            <a:extLst xmlns:a="http://schemas.openxmlformats.org/drawingml/2006/main">
              <a:ext uri="{FF2B5EF4-FFF2-40B4-BE49-F238E27FC236}">
                <a16:creationId xmlns:a16="http://schemas.microsoft.com/office/drawing/2014/main" id="{18C53B04-4794-47F4-AD2C-3117A3C6F033}"/>
              </a:ext>
            </a:extLst>
          </p:cNvPr>
          <p:cNvSpPr>
            <a:spLocks xmlns:a="http://schemas.openxmlformats.org/drawingml/2006/main" noGrp="1"/>
          </p:cNvSpPr>
          <p:nvPr/>
        </p:nvSpPr>
        <p:spPr>
          <a:xfrm xmlns:a="http://schemas.openxmlformats.org/drawingml/2006/main" rot="0" flipH="0" flipV="0">
            <a:off x="533400" y="26860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16" name="Line 16">
            <a:extLst xmlns:a="http://schemas.openxmlformats.org/drawingml/2006/main">
              <a:ext uri="{FF2B5EF4-FFF2-40B4-BE49-F238E27FC236}">
                <a16:creationId xmlns:a16="http://schemas.microsoft.com/office/drawing/2014/main" id="{FFD14620-5423-4C83-AFC2-D475413D3F5B}"/>
              </a:ext>
            </a:extLst>
          </p:cNvPr>
          <p:cNvSpPr>
            <a:spLocks xmlns:a="http://schemas.openxmlformats.org/drawingml/2006/main" noGrp="1"/>
          </p:cNvSpPr>
          <p:nvPr/>
        </p:nvSpPr>
        <p:spPr>
          <a:xfrm xmlns:a="http://schemas.openxmlformats.org/drawingml/2006/main" rot="0" flipH="0" flipV="0">
            <a:off x="533400" y="34671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17" name="Line 17">
            <a:extLst xmlns:a="http://schemas.openxmlformats.org/drawingml/2006/main">
              <a:ext uri="{FF2B5EF4-FFF2-40B4-BE49-F238E27FC236}">
                <a16:creationId xmlns:a16="http://schemas.microsoft.com/office/drawing/2014/main" id="{42218AC8-5FDD-40D8-BB15-47743FBDE75F}"/>
              </a:ext>
            </a:extLst>
          </p:cNvPr>
          <p:cNvSpPr>
            <a:spLocks xmlns:a="http://schemas.openxmlformats.org/drawingml/2006/main" noGrp="1"/>
          </p:cNvSpPr>
          <p:nvPr/>
        </p:nvSpPr>
        <p:spPr>
          <a:xfrm xmlns:a="http://schemas.openxmlformats.org/drawingml/2006/main" rot="0" flipH="0" flipV="0">
            <a:off x="533400" y="42481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18" name="Line 18">
            <a:extLst xmlns:a="http://schemas.openxmlformats.org/drawingml/2006/main">
              <a:ext uri="{FF2B5EF4-FFF2-40B4-BE49-F238E27FC236}">
                <a16:creationId xmlns:a16="http://schemas.microsoft.com/office/drawing/2014/main" id="{99FAAA6D-2862-4E53-95E4-967DFE3CB105}"/>
              </a:ext>
            </a:extLst>
          </p:cNvPr>
          <p:cNvSpPr>
            <a:spLocks xmlns:a="http://schemas.openxmlformats.org/drawingml/2006/main" noGrp="1"/>
          </p:cNvSpPr>
          <p:nvPr/>
        </p:nvSpPr>
        <p:spPr>
          <a:xfrm xmlns:a="http://schemas.openxmlformats.org/drawingml/2006/main" rot="0" flipH="0" flipV="0">
            <a:off x="533400" y="50482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19" name="Rectangle 19">
            <a:extLst xmlns:a="http://schemas.openxmlformats.org/drawingml/2006/main">
              <a:ext uri="{FF2B5EF4-FFF2-40B4-BE49-F238E27FC236}">
                <a16:creationId xmlns:a16="http://schemas.microsoft.com/office/drawing/2014/main" id="{F4E78034-A19F-4BE7-B543-2B1E0FE18EEF}"/>
              </a:ext>
            </a:extLst>
          </p:cNvPr>
          <p:cNvSpPr>
            <a:spLocks xmlns:a="http://schemas.openxmlformats.org/drawingml/2006/main" noGrp="1"/>
          </p:cNvSpPr>
          <p:nvPr/>
        </p:nvSpPr>
        <p:spPr>
          <a:xfrm xmlns:a="http://schemas.openxmlformats.org/drawingml/2006/main" rot="0" flipH="0" flipV="0">
            <a:off x="704850" y="2066925"/>
            <a:ext cx="1981200" cy="457200"/>
          </a:xfrm>
          <a:prstGeom xmlns:a="http://schemas.openxmlformats.org/drawingml/2006/main" prst="roundRect">
            <a:avLst>
              <a:gd name="adj" fmla="val 16667"/>
            </a:avLst>
          </a:prstGeom>
          <a:solidFill xmlns:a="http://schemas.openxmlformats.org/drawingml/2006/main">
            <a:srgbClr val="E8F0FF"/>
          </a:solidFill>
          <a:ln xmlns:a="http://schemas.openxmlformats.org/drawingml/2006/main">
            <a:noFill/>
          </a:ln>
        </p:spPr>
      </p:sp>
      <p:sp>
        <p:nvSpPr>
          <p:cNvPr id="20" name="Rectangle 20">
            <a:extLst xmlns:a="http://schemas.openxmlformats.org/drawingml/2006/main">
              <a:ext uri="{FF2B5EF4-FFF2-40B4-BE49-F238E27FC236}">
                <a16:creationId xmlns:a16="http://schemas.microsoft.com/office/drawing/2014/main" id="{B400E83A-50A5-44EB-9C88-F172A0767AE8}"/>
              </a:ext>
            </a:extLst>
          </p:cNvPr>
          <p:cNvSpPr>
            <a:spLocks xmlns:a="http://schemas.openxmlformats.org/drawingml/2006/main" noGrp="1"/>
          </p:cNvSpPr>
          <p:nvPr/>
        </p:nvSpPr>
        <p:spPr>
          <a:xfrm xmlns:a="http://schemas.openxmlformats.org/drawingml/2006/main" rot="0" flipH="0" flipV="0">
            <a:off x="704850" y="2847975"/>
            <a:ext cx="1981200" cy="457200"/>
          </a:xfrm>
          <a:prstGeom xmlns:a="http://schemas.openxmlformats.org/drawingml/2006/main" prst="roundRect">
            <a:avLst>
              <a:gd name="adj" fmla="val 16667"/>
            </a:avLst>
          </a:prstGeom>
          <a:solidFill xmlns:a="http://schemas.openxmlformats.org/drawingml/2006/main">
            <a:srgbClr val="F1ECFA"/>
          </a:solidFill>
          <a:ln xmlns:a="http://schemas.openxmlformats.org/drawingml/2006/main">
            <a:noFill/>
          </a:ln>
        </p:spPr>
      </p:sp>
      <p:sp>
        <p:nvSpPr>
          <p:cNvPr id="21" name="Rectangle 21">
            <a:extLst xmlns:a="http://schemas.openxmlformats.org/drawingml/2006/main">
              <a:ext uri="{FF2B5EF4-FFF2-40B4-BE49-F238E27FC236}">
                <a16:creationId xmlns:a16="http://schemas.microsoft.com/office/drawing/2014/main" id="{3A06CDEC-B089-4B38-924D-657B4AF60946}"/>
              </a:ext>
            </a:extLst>
          </p:cNvPr>
          <p:cNvSpPr>
            <a:spLocks xmlns:a="http://schemas.openxmlformats.org/drawingml/2006/main" noGrp="1"/>
          </p:cNvSpPr>
          <p:nvPr/>
        </p:nvSpPr>
        <p:spPr>
          <a:xfrm xmlns:a="http://schemas.openxmlformats.org/drawingml/2006/main" rot="0" flipH="0" flipV="0">
            <a:off x="704850" y="3629025"/>
            <a:ext cx="1981200" cy="457200"/>
          </a:xfrm>
          <a:prstGeom xmlns:a="http://schemas.openxmlformats.org/drawingml/2006/main" prst="roundRect">
            <a:avLst>
              <a:gd name="adj" fmla="val 16667"/>
            </a:avLst>
          </a:prstGeom>
          <a:solidFill xmlns:a="http://schemas.openxmlformats.org/drawingml/2006/main">
            <a:srgbClr val="F1ECFA"/>
          </a:solidFill>
          <a:ln xmlns:a="http://schemas.openxmlformats.org/drawingml/2006/main">
            <a:noFill/>
          </a:ln>
        </p:spPr>
      </p:sp>
      <p:sp>
        <p:nvSpPr>
          <p:cNvPr id="22" name="Rectangle 22">
            <a:extLst xmlns:a="http://schemas.openxmlformats.org/drawingml/2006/main">
              <a:ext uri="{FF2B5EF4-FFF2-40B4-BE49-F238E27FC236}">
                <a16:creationId xmlns:a16="http://schemas.microsoft.com/office/drawing/2014/main" id="{B3A8C3C4-BB8B-4A86-9624-EEFF608814C2}"/>
              </a:ext>
            </a:extLst>
          </p:cNvPr>
          <p:cNvSpPr>
            <a:spLocks xmlns:a="http://schemas.openxmlformats.org/drawingml/2006/main" noGrp="1"/>
          </p:cNvSpPr>
          <p:nvPr/>
        </p:nvSpPr>
        <p:spPr>
          <a:xfrm xmlns:a="http://schemas.openxmlformats.org/drawingml/2006/main" rot="0" flipH="0" flipV="0">
            <a:off x="704850" y="4410075"/>
            <a:ext cx="1981200" cy="457200"/>
          </a:xfrm>
          <a:prstGeom xmlns:a="http://schemas.openxmlformats.org/drawingml/2006/main" prst="roundRect">
            <a:avLst>
              <a:gd name="adj" fmla="val 16667"/>
            </a:avLst>
          </a:prstGeom>
          <a:solidFill xmlns:a="http://schemas.openxmlformats.org/drawingml/2006/main">
            <a:schemeClr val="accent5"/>
          </a:solidFill>
          <a:ln xmlns:a="http://schemas.openxmlformats.org/drawingml/2006/main">
            <a:noFill/>
          </a:ln>
        </p:spPr>
      </p:sp>
      <p:sp>
        <p:nvSpPr>
          <p:cNvPr id="24" name="TextBox 24">
            <a:extLst xmlns:a="http://schemas.openxmlformats.org/drawingml/2006/main">
              <a:ext uri="{FF2B5EF4-FFF2-40B4-BE49-F238E27FC236}">
                <a16:creationId xmlns:a16="http://schemas.microsoft.com/office/drawing/2014/main" id="{95E2398A-2778-4974-9CFE-6B45AC6D2FAA}"/>
              </a:ext>
            </a:extLst>
          </p:cNvPr>
          <p:cNvSpPr>
            <a:spLocks xmlns:a="http://schemas.openxmlformats.org/drawingml/2006/main" noGrp="1"/>
          </p:cNvSpPr>
          <p:nvPr/>
        </p:nvSpPr>
        <p:spPr>
          <a:xfrm xmlns:a="http://schemas.openxmlformats.org/drawingml/2006/main" rot="0" flipH="0" flipV="0">
            <a:off x="736092" y="1540192"/>
            <a:ext cx="160655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FFFFFF"/>
                </a:solidFill>
                <a:latin typeface="+mn-lt"/>
                <a:ea typeface="+mn-lt"/>
                <a:cs typeface="+mn-lt"/>
              </a:rPr>
              <a:t>TOOL / EVIDENCE</a:t>
            </a:r>
          </a:p>
        </p:txBody>
      </p:sp>
      <p:sp>
        <p:nvSpPr>
          <p:cNvPr id="25" name="TextBox 25">
            <a:extLst xmlns:a="http://schemas.openxmlformats.org/drawingml/2006/main">
              <a:ext uri="{FF2B5EF4-FFF2-40B4-BE49-F238E27FC236}">
                <a16:creationId xmlns:a16="http://schemas.microsoft.com/office/drawing/2014/main" id="{92DBA055-62A0-4AAF-9A4F-0416FDACC70B}"/>
              </a:ext>
            </a:extLst>
          </p:cNvPr>
          <p:cNvSpPr>
            <a:spLocks xmlns:a="http://schemas.openxmlformats.org/drawingml/2006/main" noGrp="1"/>
          </p:cNvSpPr>
          <p:nvPr/>
        </p:nvSpPr>
        <p:spPr>
          <a:xfrm xmlns:a="http://schemas.openxmlformats.org/drawingml/2006/main" rot="0" flipH="0" flipV="0">
            <a:off x="3233379" y="1540192"/>
            <a:ext cx="29599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FCI</a:t>
            </a:r>
          </a:p>
        </p:txBody>
      </p:sp>
      <p:sp>
        <p:nvSpPr>
          <p:cNvPr id="26" name="TextBox 26">
            <a:extLst xmlns:a="http://schemas.openxmlformats.org/drawingml/2006/main">
              <a:ext uri="{FF2B5EF4-FFF2-40B4-BE49-F238E27FC236}">
                <a16:creationId xmlns:a16="http://schemas.microsoft.com/office/drawing/2014/main" id="{1536E297-AA32-42A2-83B6-F3DB0A857AFA}"/>
              </a:ext>
            </a:extLst>
          </p:cNvPr>
          <p:cNvSpPr>
            <a:spLocks xmlns:a="http://schemas.openxmlformats.org/drawingml/2006/main" noGrp="1"/>
          </p:cNvSpPr>
          <p:nvPr/>
        </p:nvSpPr>
        <p:spPr>
          <a:xfrm xmlns:a="http://schemas.openxmlformats.org/drawingml/2006/main" rot="0" flipH="0" flipV="0">
            <a:off x="3981450" y="1457325"/>
            <a:ext cx="895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99060" rIns="0" bIns="0" anchor="t">
            <a:noAutofit/>
          </a:bodyPr>
          <a:lstStyle xmlns:a="http://schemas.openxmlformats.org/drawingml/2006/main"/>
          <a:p xmlns:a="http://schemas.openxmlformats.org/drawingml/2006/main">
            <a:pPr algn="ctr">
              <a:buNone/>
            </a:pPr>
            <a:r>
              <a:rPr sz="1200" b="1">
                <a:solidFill>
                  <a:srgbClr val="FFFFFF"/>
                </a:solidFill>
                <a:latin typeface="+mn-lt"/>
                <a:ea typeface="+mn-lt"/>
                <a:cs typeface="+mn-lt"/>
              </a:rPr>
              <a:t>FCI Plus</a:t>
            </a:r>
          </a:p>
        </p:txBody>
      </p:sp>
      <p:sp>
        <p:nvSpPr>
          <p:cNvPr id="27" name="TextBox 27">
            <a:extLst xmlns:a="http://schemas.openxmlformats.org/drawingml/2006/main">
              <a:ext uri="{FF2B5EF4-FFF2-40B4-BE49-F238E27FC236}">
                <a16:creationId xmlns:a16="http://schemas.microsoft.com/office/drawing/2014/main" id="{BA481CAF-6C6A-4D7C-8773-E4325BB65A5D}"/>
              </a:ext>
            </a:extLst>
          </p:cNvPr>
          <p:cNvSpPr>
            <a:spLocks xmlns:a="http://schemas.openxmlformats.org/drawingml/2006/main" noGrp="1"/>
          </p:cNvSpPr>
          <p:nvPr/>
        </p:nvSpPr>
        <p:spPr>
          <a:xfrm xmlns:a="http://schemas.openxmlformats.org/drawingml/2006/main" rot="0" flipH="0" flipV="0">
            <a:off x="5029200" y="1457325"/>
            <a:ext cx="1085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90964" rIns="0" bIns="0" anchor="t">
            <a:noAutofit/>
          </a:bodyPr>
          <a:lstStyle xmlns:a="http://schemas.openxmlformats.org/drawingml/2006/main"/>
          <a:p xmlns:a="http://schemas.openxmlformats.org/drawingml/2006/main">
            <a:pPr algn="ctr">
              <a:buNone/>
            </a:pPr>
            <a:r>
              <a:rPr sz="1280" b="1">
                <a:solidFill>
                  <a:srgbClr val="FFFFFF"/>
                </a:solidFill>
                <a:latin typeface="+mn-lt"/>
                <a:ea typeface="+mn-lt"/>
                <a:cs typeface="+mn-lt"/>
              </a:rPr>
              <a:t>CI TRACE</a:t>
            </a:r>
          </a:p>
        </p:txBody>
      </p:sp>
      <p:sp>
        <p:nvSpPr>
          <p:cNvPr id="28" name="TextBox 28">
            <a:extLst xmlns:a="http://schemas.openxmlformats.org/drawingml/2006/main">
              <a:ext uri="{FF2B5EF4-FFF2-40B4-BE49-F238E27FC236}">
                <a16:creationId xmlns:a16="http://schemas.microsoft.com/office/drawing/2014/main" id="{4327CCD5-FCA5-4EB6-85A5-585A278F8FDF}"/>
              </a:ext>
            </a:extLst>
          </p:cNvPr>
          <p:cNvSpPr>
            <a:spLocks xmlns:a="http://schemas.openxmlformats.org/drawingml/2006/main" noGrp="1"/>
          </p:cNvSpPr>
          <p:nvPr/>
        </p:nvSpPr>
        <p:spPr>
          <a:xfrm xmlns:a="http://schemas.openxmlformats.org/drawingml/2006/main" rot="0" flipH="0" flipV="0">
            <a:off x="6267450" y="1457325"/>
            <a:ext cx="11811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90964" rIns="0" bIns="0" anchor="t">
            <a:noAutofit/>
          </a:bodyPr>
          <a:lstStyle xmlns:a="http://schemas.openxmlformats.org/drawingml/2006/main"/>
          <a:p xmlns:a="http://schemas.openxmlformats.org/drawingml/2006/main">
            <a:pPr algn="ctr">
              <a:buNone/>
            </a:pPr>
            <a:r>
              <a:rPr sz="1280" b="1">
                <a:solidFill>
                  <a:srgbClr val="FFFFFF"/>
                </a:solidFill>
                <a:latin typeface="+mn-lt"/>
                <a:ea typeface="+mn-lt"/>
                <a:cs typeface="+mn-lt"/>
              </a:rPr>
              <a:t>ORDER AUDIT</a:t>
            </a:r>
          </a:p>
        </p:txBody>
      </p:sp>
      <p:sp>
        <p:nvSpPr>
          <p:cNvPr id="29" name="TextBox 29">
            <a:extLst xmlns:a="http://schemas.openxmlformats.org/drawingml/2006/main">
              <a:ext uri="{FF2B5EF4-FFF2-40B4-BE49-F238E27FC236}">
                <a16:creationId xmlns:a16="http://schemas.microsoft.com/office/drawing/2014/main" id="{9538C292-3F7F-4136-9301-00913A05E3B7}"/>
              </a:ext>
            </a:extLst>
          </p:cNvPr>
          <p:cNvSpPr>
            <a:spLocks xmlns:a="http://schemas.openxmlformats.org/drawingml/2006/main" noGrp="1"/>
          </p:cNvSpPr>
          <p:nvPr/>
        </p:nvSpPr>
        <p:spPr>
          <a:xfrm xmlns:a="http://schemas.openxmlformats.org/drawingml/2006/main" rot="0" flipH="0" flipV="0">
            <a:off x="7645295" y="1540192"/>
            <a:ext cx="109241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BOOTSTRAP</a:t>
            </a:r>
          </a:p>
        </p:txBody>
      </p:sp>
      <p:sp>
        <p:nvSpPr>
          <p:cNvPr id="30" name="TextBox 30">
            <a:extLst xmlns:a="http://schemas.openxmlformats.org/drawingml/2006/main">
              <a:ext uri="{FF2B5EF4-FFF2-40B4-BE49-F238E27FC236}">
                <a16:creationId xmlns:a16="http://schemas.microsoft.com/office/drawing/2014/main" id="{3E674092-08AE-4524-8247-59FA8451D5FD}"/>
              </a:ext>
            </a:extLst>
          </p:cNvPr>
          <p:cNvSpPr>
            <a:spLocks xmlns:a="http://schemas.openxmlformats.org/drawingml/2006/main" noGrp="1"/>
          </p:cNvSpPr>
          <p:nvPr/>
        </p:nvSpPr>
        <p:spPr>
          <a:xfrm xmlns:a="http://schemas.openxmlformats.org/drawingml/2006/main" rot="0" flipH="0" flipV="0">
            <a:off x="9117673" y="1540192"/>
            <a:ext cx="71940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EXPORT</a:t>
            </a:r>
          </a:p>
        </p:txBody>
      </p:sp>
      <p:sp>
        <p:nvSpPr>
          <p:cNvPr id="31" name="TextBox 31">
            <a:extLst xmlns:a="http://schemas.openxmlformats.org/drawingml/2006/main">
              <a:ext uri="{FF2B5EF4-FFF2-40B4-BE49-F238E27FC236}">
                <a16:creationId xmlns:a16="http://schemas.microsoft.com/office/drawing/2014/main" id="{1F99537F-1395-4115-82E9-ACE199963732}"/>
              </a:ext>
            </a:extLst>
          </p:cNvPr>
          <p:cNvSpPr>
            <a:spLocks xmlns:a="http://schemas.openxmlformats.org/drawingml/2006/main" noGrp="1"/>
          </p:cNvSpPr>
          <p:nvPr/>
        </p:nvSpPr>
        <p:spPr>
          <a:xfrm xmlns:a="http://schemas.openxmlformats.org/drawingml/2006/main" rot="0" flipH="0" flipV="0">
            <a:off x="10538010" y="1540192"/>
            <a:ext cx="67907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STATUS</a:t>
            </a:r>
          </a:p>
        </p:txBody>
      </p:sp>
      <p:sp>
        <p:nvSpPr>
          <p:cNvPr id="32" name="TextBox 32">
            <a:extLst xmlns:a="http://schemas.openxmlformats.org/drawingml/2006/main">
              <a:ext uri="{FF2B5EF4-FFF2-40B4-BE49-F238E27FC236}">
                <a16:creationId xmlns:a16="http://schemas.microsoft.com/office/drawing/2014/main" id="{2AB36EEE-A719-48D0-B7F3-2ABFFBB35D35}"/>
              </a:ext>
            </a:extLst>
          </p:cNvPr>
          <p:cNvSpPr>
            <a:spLocks xmlns:a="http://schemas.openxmlformats.org/drawingml/2006/main" noGrp="1"/>
          </p:cNvSpPr>
          <p:nvPr/>
        </p:nvSpPr>
        <p:spPr>
          <a:xfrm xmlns:a="http://schemas.openxmlformats.org/drawingml/2006/main" rot="0" flipH="0" flipV="0">
            <a:off x="867156" y="2158365"/>
            <a:ext cx="2066464"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2"/>
                </a:solidFill>
                <a:latin typeface="+mn-lt"/>
                <a:ea typeface="+mn-lt"/>
                <a:cs typeface="+mn-lt"/>
              </a:rPr>
              <a:t>fci_engine 0.1.0</a:t>
            </a:r>
          </a:p>
        </p:txBody>
      </p:sp>
      <p:sp>
        <p:nvSpPr>
          <p:cNvPr id="33" name="TextBox 33">
            <a:extLst xmlns:a="http://schemas.openxmlformats.org/drawingml/2006/main">
              <a:ext uri="{FF2B5EF4-FFF2-40B4-BE49-F238E27FC236}">
                <a16:creationId xmlns:a16="http://schemas.microsoft.com/office/drawing/2014/main" id="{C627534E-C14E-40D3-9286-559A28CBFA27}"/>
              </a:ext>
            </a:extLst>
          </p:cNvPr>
          <p:cNvSpPr>
            <a:spLocks xmlns:a="http://schemas.openxmlformats.org/drawingml/2006/main" noGrp="1"/>
          </p:cNvSpPr>
          <p:nvPr/>
        </p:nvSpPr>
        <p:spPr>
          <a:xfrm xmlns:a="http://schemas.openxmlformats.org/drawingml/2006/main" rot="0" flipH="0" flipV="0">
            <a:off x="867156" y="2939415"/>
            <a:ext cx="157032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rgbClr val="7562A8"/>
                </a:solidFill>
                <a:latin typeface="+mn-lt"/>
                <a:ea typeface="+mn-lt"/>
                <a:cs typeface="+mn-lt"/>
              </a:rPr>
              <a:t>pcalg 2.7-12</a:t>
            </a:r>
          </a:p>
        </p:txBody>
      </p:sp>
      <p:sp>
        <p:nvSpPr>
          <p:cNvPr id="34" name="TextBox 34">
            <a:extLst xmlns:a="http://schemas.openxmlformats.org/drawingml/2006/main">
              <a:ext uri="{FF2B5EF4-FFF2-40B4-BE49-F238E27FC236}">
                <a16:creationId xmlns:a16="http://schemas.microsoft.com/office/drawing/2014/main" id="{E19C8112-C0FC-40AD-A4AF-0571177AD8CE}"/>
              </a:ext>
            </a:extLst>
          </p:cNvPr>
          <p:cNvSpPr>
            <a:spLocks xmlns:a="http://schemas.openxmlformats.org/drawingml/2006/main" noGrp="1"/>
          </p:cNvSpPr>
          <p:nvPr/>
        </p:nvSpPr>
        <p:spPr>
          <a:xfrm xmlns:a="http://schemas.openxmlformats.org/drawingml/2006/main" rot="0" flipH="0" flipV="0">
            <a:off x="869442" y="3673792"/>
            <a:ext cx="117774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7562A8"/>
                </a:solidFill>
                <a:latin typeface="+mn-lt"/>
                <a:ea typeface="+mn-lt"/>
                <a:cs typeface="+mn-lt"/>
              </a:rPr>
              <a:t>causal-learn</a:t>
            </a:r>
          </a:p>
        </p:txBody>
      </p:sp>
      <p:sp>
        <p:nvSpPr>
          <p:cNvPr id="35" name="TextBox 35">
            <a:extLst xmlns:a="http://schemas.openxmlformats.org/drawingml/2006/main">
              <a:ext uri="{FF2B5EF4-FFF2-40B4-BE49-F238E27FC236}">
                <a16:creationId xmlns:a16="http://schemas.microsoft.com/office/drawing/2014/main" id="{49830A04-692C-4D10-AB2A-4A12FE9AB45B}"/>
              </a:ext>
            </a:extLst>
          </p:cNvPr>
          <p:cNvSpPr>
            <a:spLocks xmlns:a="http://schemas.openxmlformats.org/drawingml/2006/main" noGrp="1"/>
          </p:cNvSpPr>
          <p:nvPr/>
        </p:nvSpPr>
        <p:spPr>
          <a:xfrm xmlns:a="http://schemas.openxmlformats.org/drawingml/2006/main" rot="0" flipH="0" flipV="0">
            <a:off x="869442" y="3873818"/>
            <a:ext cx="74838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7562A8"/>
                </a:solidFill>
                <a:latin typeface="+mn-lt"/>
                <a:ea typeface="+mn-lt"/>
                <a:cs typeface="+mn-lt"/>
              </a:rPr>
              <a:t>0.1.4.7</a:t>
            </a:r>
          </a:p>
        </p:txBody>
      </p:sp>
      <p:sp>
        <p:nvSpPr>
          <p:cNvPr id="36" name="TextBox 36">
            <a:extLst xmlns:a="http://schemas.openxmlformats.org/drawingml/2006/main">
              <a:ext uri="{FF2B5EF4-FFF2-40B4-BE49-F238E27FC236}">
                <a16:creationId xmlns:a16="http://schemas.microsoft.com/office/drawing/2014/main" id="{6C5966DF-2B97-426A-9D2E-7255BB9C9E10}"/>
              </a:ext>
            </a:extLst>
          </p:cNvPr>
          <p:cNvSpPr>
            <a:spLocks xmlns:a="http://schemas.openxmlformats.org/drawingml/2006/main" noGrp="1"/>
          </p:cNvSpPr>
          <p:nvPr/>
        </p:nvSpPr>
        <p:spPr>
          <a:xfrm xmlns:a="http://schemas.openxmlformats.org/drawingml/2006/main" rot="0" flipH="0" flipV="0">
            <a:off x="867156" y="4501515"/>
            <a:ext cx="1790429"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rgbClr val="5F6875"/>
                </a:solidFill>
                <a:latin typeface="+mn-lt"/>
                <a:ea typeface="+mn-lt"/>
                <a:cs typeface="+mn-lt"/>
              </a:rPr>
              <a:t>Tetrad 7.6.10</a:t>
            </a:r>
          </a:p>
        </p:txBody>
      </p:sp>
      <p:sp>
        <p:nvSpPr>
          <p:cNvPr id="37" name="TextBox 37">
            <a:extLst xmlns:a="http://schemas.openxmlformats.org/drawingml/2006/main">
              <a:ext uri="{FF2B5EF4-FFF2-40B4-BE49-F238E27FC236}">
                <a16:creationId xmlns:a16="http://schemas.microsoft.com/office/drawing/2014/main" id="{3561B849-999C-4486-B9F6-22486BFEBA5B}"/>
              </a:ext>
            </a:extLst>
          </p:cNvPr>
          <p:cNvSpPr>
            <a:spLocks xmlns:a="http://schemas.openxmlformats.org/drawingml/2006/main" noGrp="1"/>
          </p:cNvSpPr>
          <p:nvPr/>
        </p:nvSpPr>
        <p:spPr>
          <a:xfrm xmlns:a="http://schemas.openxmlformats.org/drawingml/2006/main" rot="0" flipH="0" flipV="0">
            <a:off x="3150443" y="218694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38" name="TextBox 38">
            <a:extLst xmlns:a="http://schemas.openxmlformats.org/drawingml/2006/main">
              <a:ext uri="{FF2B5EF4-FFF2-40B4-BE49-F238E27FC236}">
                <a16:creationId xmlns:a16="http://schemas.microsoft.com/office/drawing/2014/main" id="{B0FFA165-CE08-4965-927B-92FA35828BDE}"/>
              </a:ext>
            </a:extLst>
          </p:cNvPr>
          <p:cNvSpPr>
            <a:spLocks xmlns:a="http://schemas.openxmlformats.org/drawingml/2006/main" noGrp="1"/>
          </p:cNvSpPr>
          <p:nvPr/>
        </p:nvSpPr>
        <p:spPr>
          <a:xfrm xmlns:a="http://schemas.openxmlformats.org/drawingml/2006/main" rot="0" flipH="0" flipV="0">
            <a:off x="4198193" y="218694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39" name="TextBox 39">
            <a:extLst xmlns:a="http://schemas.openxmlformats.org/drawingml/2006/main">
              <a:ext uri="{FF2B5EF4-FFF2-40B4-BE49-F238E27FC236}">
                <a16:creationId xmlns:a16="http://schemas.microsoft.com/office/drawing/2014/main" id="{21FD36C8-F1B3-4A04-97AB-43B9326063FB}"/>
              </a:ext>
            </a:extLst>
          </p:cNvPr>
          <p:cNvSpPr>
            <a:spLocks xmlns:a="http://schemas.openxmlformats.org/drawingml/2006/main" noGrp="1"/>
          </p:cNvSpPr>
          <p:nvPr/>
        </p:nvSpPr>
        <p:spPr>
          <a:xfrm xmlns:a="http://schemas.openxmlformats.org/drawingml/2006/main" rot="0" flipH="0" flipV="0">
            <a:off x="4981432" y="2219325"/>
            <a:ext cx="1181386"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2E7D5B"/>
                </a:solidFill>
                <a:latin typeface="+mn-lt"/>
                <a:ea typeface="+mn-lt"/>
                <a:cs typeface="+mn-lt"/>
              </a:rPr>
              <a:t>structured</a:t>
            </a:r>
          </a:p>
        </p:txBody>
      </p:sp>
      <p:sp>
        <p:nvSpPr>
          <p:cNvPr id="40" name="TextBox 40">
            <a:extLst xmlns:a="http://schemas.openxmlformats.org/drawingml/2006/main">
              <a:ext uri="{FF2B5EF4-FFF2-40B4-BE49-F238E27FC236}">
                <a16:creationId xmlns:a16="http://schemas.microsoft.com/office/drawing/2014/main" id="{B3264FFA-4759-4BD3-AC3E-F2A8C4E69CD4}"/>
              </a:ext>
            </a:extLst>
          </p:cNvPr>
          <p:cNvSpPr>
            <a:spLocks xmlns:a="http://schemas.openxmlformats.org/drawingml/2006/main" noGrp="1"/>
          </p:cNvSpPr>
          <p:nvPr/>
        </p:nvSpPr>
        <p:spPr>
          <a:xfrm xmlns:a="http://schemas.openxmlformats.org/drawingml/2006/main" rot="0" flipH="0" flipV="0">
            <a:off x="6489935" y="2219325"/>
            <a:ext cx="73613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2E7D5B"/>
                </a:solidFill>
                <a:latin typeface="+mn-lt"/>
                <a:ea typeface="+mn-lt"/>
                <a:cs typeface="+mn-lt"/>
              </a:rPr>
              <a:t>built in</a:t>
            </a:r>
          </a:p>
        </p:txBody>
      </p:sp>
      <p:sp>
        <p:nvSpPr>
          <p:cNvPr id="41" name="TextBox 41">
            <a:extLst xmlns:a="http://schemas.openxmlformats.org/drawingml/2006/main">
              <a:ext uri="{FF2B5EF4-FFF2-40B4-BE49-F238E27FC236}">
                <a16:creationId xmlns:a16="http://schemas.microsoft.com/office/drawing/2014/main" id="{C722EF57-1544-4847-BE48-12DEE4686130}"/>
              </a:ext>
            </a:extLst>
          </p:cNvPr>
          <p:cNvSpPr>
            <a:spLocks xmlns:a="http://schemas.openxmlformats.org/drawingml/2006/main" noGrp="1"/>
          </p:cNvSpPr>
          <p:nvPr/>
        </p:nvSpPr>
        <p:spPr>
          <a:xfrm xmlns:a="http://schemas.openxmlformats.org/drawingml/2006/main" rot="0" flipH="0" flipV="0">
            <a:off x="7823435" y="2219325"/>
            <a:ext cx="73613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2E7D5B"/>
                </a:solidFill>
                <a:latin typeface="+mn-lt"/>
                <a:ea typeface="+mn-lt"/>
                <a:cs typeface="+mn-lt"/>
              </a:rPr>
              <a:t>built in</a:t>
            </a:r>
          </a:p>
        </p:txBody>
      </p:sp>
      <p:sp>
        <p:nvSpPr>
          <p:cNvPr id="42" name="TextBox 42">
            <a:extLst xmlns:a="http://schemas.openxmlformats.org/drawingml/2006/main">
              <a:ext uri="{FF2B5EF4-FFF2-40B4-BE49-F238E27FC236}">
                <a16:creationId xmlns:a16="http://schemas.microsoft.com/office/drawing/2014/main" id="{4CD514DD-55D9-4031-A6D4-0B143F1F12DC}"/>
              </a:ext>
            </a:extLst>
          </p:cNvPr>
          <p:cNvSpPr>
            <a:spLocks xmlns:a="http://schemas.openxmlformats.org/drawingml/2006/main" noGrp="1"/>
          </p:cNvSpPr>
          <p:nvPr/>
        </p:nvSpPr>
        <p:spPr>
          <a:xfrm xmlns:a="http://schemas.openxmlformats.org/drawingml/2006/main" rot="0" flipH="0" flipV="0">
            <a:off x="8971493" y="2219325"/>
            <a:ext cx="101176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2E7D5B"/>
                </a:solidFill>
                <a:latin typeface="+mn-lt"/>
                <a:ea typeface="+mn-lt"/>
                <a:cs typeface="+mn-lt"/>
              </a:rPr>
              <a:t>artifacts</a:t>
            </a:r>
          </a:p>
        </p:txBody>
      </p:sp>
      <p:sp>
        <p:nvSpPr>
          <p:cNvPr id="43" name="TextBox 43">
            <a:extLst xmlns:a="http://schemas.openxmlformats.org/drawingml/2006/main">
              <a:ext uri="{FF2B5EF4-FFF2-40B4-BE49-F238E27FC236}">
                <a16:creationId xmlns:a16="http://schemas.microsoft.com/office/drawing/2014/main" id="{1AA5C2E4-EAC4-451A-90EC-9EF285D3775A}"/>
              </a:ext>
            </a:extLst>
          </p:cNvPr>
          <p:cNvSpPr>
            <a:spLocks xmlns:a="http://schemas.openxmlformats.org/drawingml/2006/main" noGrp="1"/>
          </p:cNvSpPr>
          <p:nvPr/>
        </p:nvSpPr>
        <p:spPr>
          <a:xfrm xmlns:a="http://schemas.openxmlformats.org/drawingml/2006/main" rot="0" flipH="0" flipV="0">
            <a:off x="10191750" y="2171700"/>
            <a:ext cx="13716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63817" rIns="0" bIns="0" anchor="t">
            <a:noAutofit/>
          </a:bodyPr>
          <a:lstStyle xmlns:a="http://schemas.openxmlformats.org/drawingml/2006/main"/>
          <a:p xmlns:a="http://schemas.openxmlformats.org/drawingml/2006/main">
            <a:pPr algn="ctr">
              <a:buNone/>
            </a:pPr>
            <a:r>
              <a:rPr sz="1350" b="1">
                <a:solidFill>
                  <a:srgbClr val="7562A8"/>
                </a:solidFill>
                <a:latin typeface="+mn-lt"/>
                <a:ea typeface="+mn-lt"/>
                <a:cs typeface="+mn-lt"/>
              </a:rPr>
              <a:t>RUN</a:t>
            </a:r>
          </a:p>
        </p:txBody>
      </p:sp>
      <p:sp>
        <p:nvSpPr>
          <p:cNvPr id="44" name="TextBox 44">
            <a:extLst xmlns:a="http://schemas.openxmlformats.org/drawingml/2006/main">
              <a:ext uri="{FF2B5EF4-FFF2-40B4-BE49-F238E27FC236}">
                <a16:creationId xmlns:a16="http://schemas.microsoft.com/office/drawing/2014/main" id="{7DC51B99-C6B3-4B80-9FB5-AF0BE73B1B83}"/>
              </a:ext>
            </a:extLst>
          </p:cNvPr>
          <p:cNvSpPr>
            <a:spLocks xmlns:a="http://schemas.openxmlformats.org/drawingml/2006/main" noGrp="1"/>
          </p:cNvSpPr>
          <p:nvPr/>
        </p:nvSpPr>
        <p:spPr>
          <a:xfrm xmlns:a="http://schemas.openxmlformats.org/drawingml/2006/main" rot="0" flipH="0" flipV="0">
            <a:off x="3150443" y="296799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45" name="TextBox 45">
            <a:extLst xmlns:a="http://schemas.openxmlformats.org/drawingml/2006/main">
              <a:ext uri="{FF2B5EF4-FFF2-40B4-BE49-F238E27FC236}">
                <a16:creationId xmlns:a16="http://schemas.microsoft.com/office/drawing/2014/main" id="{74DE5E15-1800-487A-A581-9517CC2E6AFE}"/>
              </a:ext>
            </a:extLst>
          </p:cNvPr>
          <p:cNvSpPr>
            <a:spLocks xmlns:a="http://schemas.openxmlformats.org/drawingml/2006/main" noGrp="1"/>
          </p:cNvSpPr>
          <p:nvPr/>
        </p:nvSpPr>
        <p:spPr>
          <a:xfrm xmlns:a="http://schemas.openxmlformats.org/drawingml/2006/main" rot="0" flipH="0" flipV="0">
            <a:off x="4198193" y="296799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46" name="TextBox 46">
            <a:extLst xmlns:a="http://schemas.openxmlformats.org/drawingml/2006/main">
              <a:ext uri="{FF2B5EF4-FFF2-40B4-BE49-F238E27FC236}">
                <a16:creationId xmlns:a16="http://schemas.microsoft.com/office/drawing/2014/main" id="{07E06A0D-37B3-4FD7-BF77-98F1EEFD1319}"/>
              </a:ext>
            </a:extLst>
          </p:cNvPr>
          <p:cNvSpPr>
            <a:spLocks xmlns:a="http://schemas.openxmlformats.org/drawingml/2006/main" noGrp="1"/>
          </p:cNvSpPr>
          <p:nvPr/>
        </p:nvSpPr>
        <p:spPr>
          <a:xfrm xmlns:a="http://schemas.openxmlformats.org/drawingml/2006/main" rot="0" flipH="0" flipV="0">
            <a:off x="4883753" y="3016568"/>
            <a:ext cx="137674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not established</a:t>
            </a:r>
          </a:p>
        </p:txBody>
      </p:sp>
      <p:sp>
        <p:nvSpPr>
          <p:cNvPr id="47" name="TextBox 47">
            <a:extLst xmlns:a="http://schemas.openxmlformats.org/drawingml/2006/main">
              <a:ext uri="{FF2B5EF4-FFF2-40B4-BE49-F238E27FC236}">
                <a16:creationId xmlns:a16="http://schemas.microsoft.com/office/drawing/2014/main" id="{822CFEAB-8075-4F4F-92BF-8C3D0FA9A60E}"/>
              </a:ext>
            </a:extLst>
          </p:cNvPr>
          <p:cNvSpPr>
            <a:spLocks xmlns:a="http://schemas.openxmlformats.org/drawingml/2006/main" noGrp="1"/>
          </p:cNvSpPr>
          <p:nvPr/>
        </p:nvSpPr>
        <p:spPr>
          <a:xfrm xmlns:a="http://schemas.openxmlformats.org/drawingml/2006/main" rot="0" flipH="0" flipV="0">
            <a:off x="6546733" y="3016568"/>
            <a:ext cx="62253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partial</a:t>
            </a:r>
          </a:p>
        </p:txBody>
      </p:sp>
      <p:sp>
        <p:nvSpPr>
          <p:cNvPr id="48" name="TextBox 48">
            <a:extLst xmlns:a="http://schemas.openxmlformats.org/drawingml/2006/main">
              <a:ext uri="{FF2B5EF4-FFF2-40B4-BE49-F238E27FC236}">
                <a16:creationId xmlns:a16="http://schemas.microsoft.com/office/drawing/2014/main" id="{8565E321-7F57-4557-B7BA-5FB11D114E92}"/>
              </a:ext>
            </a:extLst>
          </p:cNvPr>
          <p:cNvSpPr>
            <a:spLocks xmlns:a="http://schemas.openxmlformats.org/drawingml/2006/main" noGrp="1"/>
          </p:cNvSpPr>
          <p:nvPr/>
        </p:nvSpPr>
        <p:spPr>
          <a:xfrm xmlns:a="http://schemas.openxmlformats.org/drawingml/2006/main" rot="0" flipH="0" flipV="0">
            <a:off x="7503128" y="3016568"/>
            <a:ext cx="137674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not established</a:t>
            </a:r>
          </a:p>
        </p:txBody>
      </p:sp>
      <p:sp>
        <p:nvSpPr>
          <p:cNvPr id="49" name="TextBox 49">
            <a:extLst xmlns:a="http://schemas.openxmlformats.org/drawingml/2006/main">
              <a:ext uri="{FF2B5EF4-FFF2-40B4-BE49-F238E27FC236}">
                <a16:creationId xmlns:a16="http://schemas.microsoft.com/office/drawing/2014/main" id="{CBBF61D2-0C14-466A-A3AE-08624E122924}"/>
              </a:ext>
            </a:extLst>
          </p:cNvPr>
          <p:cNvSpPr>
            <a:spLocks xmlns:a="http://schemas.openxmlformats.org/drawingml/2006/main" noGrp="1"/>
          </p:cNvSpPr>
          <p:nvPr/>
        </p:nvSpPr>
        <p:spPr>
          <a:xfrm xmlns:a="http://schemas.openxmlformats.org/drawingml/2006/main" rot="0" flipH="0" flipV="0">
            <a:off x="9345701" y="3016568"/>
            <a:ext cx="26334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B45F4A"/>
                </a:solidFill>
                <a:latin typeface="+mn-lt"/>
                <a:ea typeface="+mn-lt"/>
                <a:cs typeface="+mn-lt"/>
              </a:rPr>
              <a:t>NO</a:t>
            </a:r>
          </a:p>
        </p:txBody>
      </p:sp>
      <p:sp>
        <p:nvSpPr>
          <p:cNvPr id="50" name="TextBox 50">
            <a:extLst xmlns:a="http://schemas.openxmlformats.org/drawingml/2006/main">
              <a:ext uri="{FF2B5EF4-FFF2-40B4-BE49-F238E27FC236}">
                <a16:creationId xmlns:a16="http://schemas.microsoft.com/office/drawing/2014/main" id="{A52109FB-1A63-4F40-A6EB-66C04993F710}"/>
              </a:ext>
            </a:extLst>
          </p:cNvPr>
          <p:cNvSpPr>
            <a:spLocks xmlns:a="http://schemas.openxmlformats.org/drawingml/2006/main" noGrp="1"/>
          </p:cNvSpPr>
          <p:nvPr/>
        </p:nvSpPr>
        <p:spPr>
          <a:xfrm xmlns:a="http://schemas.openxmlformats.org/drawingml/2006/main" rot="0" flipH="0" flipV="0">
            <a:off x="10191750" y="2952750"/>
            <a:ext cx="13716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63817" rIns="0" bIns="0" anchor="t">
            <a:noAutofit/>
          </a:bodyPr>
          <a:lstStyle xmlns:a="http://schemas.openxmlformats.org/drawingml/2006/main"/>
          <a:p xmlns:a="http://schemas.openxmlformats.org/drawingml/2006/main">
            <a:pPr algn="ctr">
              <a:buNone/>
            </a:pPr>
            <a:r>
              <a:rPr sz="1350" b="1">
                <a:solidFill>
                  <a:srgbClr val="7562A8"/>
                </a:solidFill>
                <a:latin typeface="+mn-lt"/>
                <a:ea typeface="+mn-lt"/>
                <a:cs typeface="+mn-lt"/>
              </a:rPr>
              <a:t>RUN</a:t>
            </a:r>
          </a:p>
        </p:txBody>
      </p:sp>
      <p:sp>
        <p:nvSpPr>
          <p:cNvPr id="51" name="TextBox 51">
            <a:extLst xmlns:a="http://schemas.openxmlformats.org/drawingml/2006/main">
              <a:ext uri="{FF2B5EF4-FFF2-40B4-BE49-F238E27FC236}">
                <a16:creationId xmlns:a16="http://schemas.microsoft.com/office/drawing/2014/main" id="{6CC4A12B-C6C8-40AB-AD62-471A6EEB1B54}"/>
              </a:ext>
            </a:extLst>
          </p:cNvPr>
          <p:cNvSpPr>
            <a:spLocks xmlns:a="http://schemas.openxmlformats.org/drawingml/2006/main" noGrp="1"/>
          </p:cNvSpPr>
          <p:nvPr/>
        </p:nvSpPr>
        <p:spPr>
          <a:xfrm xmlns:a="http://schemas.openxmlformats.org/drawingml/2006/main" rot="0" flipH="0" flipV="0">
            <a:off x="3150443" y="374904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52" name="TextBox 52">
            <a:extLst xmlns:a="http://schemas.openxmlformats.org/drawingml/2006/main">
              <a:ext uri="{FF2B5EF4-FFF2-40B4-BE49-F238E27FC236}">
                <a16:creationId xmlns:a16="http://schemas.microsoft.com/office/drawing/2014/main" id="{A0635303-DB55-4689-BFFE-E88BBBE6ABDA}"/>
              </a:ext>
            </a:extLst>
          </p:cNvPr>
          <p:cNvSpPr>
            <a:spLocks xmlns:a="http://schemas.openxmlformats.org/drawingml/2006/main" noGrp="1"/>
          </p:cNvSpPr>
          <p:nvPr/>
        </p:nvSpPr>
        <p:spPr>
          <a:xfrm xmlns:a="http://schemas.openxmlformats.org/drawingml/2006/main" rot="0" flipH="0" flipV="0">
            <a:off x="4245239" y="3749040"/>
            <a:ext cx="36777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B45F4A"/>
                </a:solidFill>
                <a:latin typeface="+mn-lt"/>
                <a:ea typeface="+mn-lt"/>
                <a:cs typeface="+mn-lt"/>
              </a:rPr>
              <a:t>NO</a:t>
            </a:r>
          </a:p>
        </p:txBody>
      </p:sp>
      <p:sp>
        <p:nvSpPr>
          <p:cNvPr id="53" name="TextBox 53">
            <a:extLst xmlns:a="http://schemas.openxmlformats.org/drawingml/2006/main">
              <a:ext uri="{FF2B5EF4-FFF2-40B4-BE49-F238E27FC236}">
                <a16:creationId xmlns:a16="http://schemas.microsoft.com/office/drawing/2014/main" id="{7A1C7E4E-EE53-4831-AB2B-ECE9CAA96149}"/>
              </a:ext>
            </a:extLst>
          </p:cNvPr>
          <p:cNvSpPr>
            <a:spLocks xmlns:a="http://schemas.openxmlformats.org/drawingml/2006/main" noGrp="1"/>
          </p:cNvSpPr>
          <p:nvPr/>
        </p:nvSpPr>
        <p:spPr>
          <a:xfrm xmlns:a="http://schemas.openxmlformats.org/drawingml/2006/main" rot="0" flipH="0" flipV="0">
            <a:off x="4988252" y="3797618"/>
            <a:ext cx="116774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B45F4A"/>
                </a:solidFill>
                <a:latin typeface="+mn-lt"/>
                <a:ea typeface="+mn-lt"/>
                <a:cs typeface="+mn-lt"/>
              </a:rPr>
              <a:t>not exported</a:t>
            </a:r>
          </a:p>
        </p:txBody>
      </p:sp>
      <p:sp>
        <p:nvSpPr>
          <p:cNvPr id="54" name="TextBox 54">
            <a:extLst xmlns:a="http://schemas.openxmlformats.org/drawingml/2006/main">
              <a:ext uri="{FF2B5EF4-FFF2-40B4-BE49-F238E27FC236}">
                <a16:creationId xmlns:a16="http://schemas.microsoft.com/office/drawing/2014/main" id="{6DFFE26B-1FF4-4ED6-AFEA-08DA6A918731}"/>
              </a:ext>
            </a:extLst>
          </p:cNvPr>
          <p:cNvSpPr>
            <a:spLocks xmlns:a="http://schemas.openxmlformats.org/drawingml/2006/main" noGrp="1"/>
          </p:cNvSpPr>
          <p:nvPr/>
        </p:nvSpPr>
        <p:spPr>
          <a:xfrm xmlns:a="http://schemas.openxmlformats.org/drawingml/2006/main" rot="0" flipH="0" flipV="0">
            <a:off x="6169628" y="3797618"/>
            <a:ext cx="137674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not established</a:t>
            </a:r>
          </a:p>
        </p:txBody>
      </p:sp>
      <p:sp>
        <p:nvSpPr>
          <p:cNvPr id="55" name="TextBox 55">
            <a:extLst xmlns:a="http://schemas.openxmlformats.org/drawingml/2006/main">
              <a:ext uri="{FF2B5EF4-FFF2-40B4-BE49-F238E27FC236}">
                <a16:creationId xmlns:a16="http://schemas.microsoft.com/office/drawing/2014/main" id="{90E84C9A-C27B-43B1-A30A-404EF50EEB6B}"/>
              </a:ext>
            </a:extLst>
          </p:cNvPr>
          <p:cNvSpPr>
            <a:spLocks xmlns:a="http://schemas.openxmlformats.org/drawingml/2006/main" noGrp="1"/>
          </p:cNvSpPr>
          <p:nvPr/>
        </p:nvSpPr>
        <p:spPr>
          <a:xfrm xmlns:a="http://schemas.openxmlformats.org/drawingml/2006/main" rot="0" flipH="0" flipV="0">
            <a:off x="7503128" y="3797618"/>
            <a:ext cx="137674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not established</a:t>
            </a:r>
          </a:p>
        </p:txBody>
      </p:sp>
      <p:sp>
        <p:nvSpPr>
          <p:cNvPr id="56" name="TextBox 56">
            <a:extLst xmlns:a="http://schemas.openxmlformats.org/drawingml/2006/main">
              <a:ext uri="{FF2B5EF4-FFF2-40B4-BE49-F238E27FC236}">
                <a16:creationId xmlns:a16="http://schemas.microsoft.com/office/drawing/2014/main" id="{4E73CB2D-047D-4193-A885-703FB253BD14}"/>
              </a:ext>
            </a:extLst>
          </p:cNvPr>
          <p:cNvSpPr>
            <a:spLocks xmlns:a="http://schemas.openxmlformats.org/drawingml/2006/main" noGrp="1"/>
          </p:cNvSpPr>
          <p:nvPr/>
        </p:nvSpPr>
        <p:spPr>
          <a:xfrm xmlns:a="http://schemas.openxmlformats.org/drawingml/2006/main" rot="0" flipH="0" flipV="0">
            <a:off x="9345701" y="3797618"/>
            <a:ext cx="26334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B45F4A"/>
                </a:solidFill>
                <a:latin typeface="+mn-lt"/>
                <a:ea typeface="+mn-lt"/>
                <a:cs typeface="+mn-lt"/>
              </a:rPr>
              <a:t>NO</a:t>
            </a:r>
          </a:p>
        </p:txBody>
      </p:sp>
      <p:sp>
        <p:nvSpPr>
          <p:cNvPr id="57" name="TextBox 57">
            <a:extLst xmlns:a="http://schemas.openxmlformats.org/drawingml/2006/main">
              <a:ext uri="{FF2B5EF4-FFF2-40B4-BE49-F238E27FC236}">
                <a16:creationId xmlns:a16="http://schemas.microsoft.com/office/drawing/2014/main" id="{25DCFC2D-E3A4-4364-8B12-82779FE7B79C}"/>
              </a:ext>
            </a:extLst>
          </p:cNvPr>
          <p:cNvSpPr>
            <a:spLocks xmlns:a="http://schemas.openxmlformats.org/drawingml/2006/main" noGrp="1"/>
          </p:cNvSpPr>
          <p:nvPr/>
        </p:nvSpPr>
        <p:spPr>
          <a:xfrm xmlns:a="http://schemas.openxmlformats.org/drawingml/2006/main" rot="0" flipH="0" flipV="0">
            <a:off x="10191750" y="3733800"/>
            <a:ext cx="13716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63817" rIns="0" bIns="0" anchor="t">
            <a:noAutofit/>
          </a:bodyPr>
          <a:lstStyle xmlns:a="http://schemas.openxmlformats.org/drawingml/2006/main"/>
          <a:p xmlns:a="http://schemas.openxmlformats.org/drawingml/2006/main">
            <a:pPr algn="ctr">
              <a:buNone/>
            </a:pPr>
            <a:r>
              <a:rPr sz="1350" b="1">
                <a:solidFill>
                  <a:srgbClr val="7562A8"/>
                </a:solidFill>
                <a:latin typeface="+mn-lt"/>
                <a:ea typeface="+mn-lt"/>
                <a:cs typeface="+mn-lt"/>
              </a:rPr>
              <a:t>RUN</a:t>
            </a:r>
          </a:p>
        </p:txBody>
      </p:sp>
      <p:sp>
        <p:nvSpPr>
          <p:cNvPr id="58" name="TextBox 58">
            <a:extLst xmlns:a="http://schemas.openxmlformats.org/drawingml/2006/main">
              <a:ext uri="{FF2B5EF4-FFF2-40B4-BE49-F238E27FC236}">
                <a16:creationId xmlns:a16="http://schemas.microsoft.com/office/drawing/2014/main" id="{486F0C20-E3A9-48A6-962E-A9E305FD691F}"/>
              </a:ext>
            </a:extLst>
          </p:cNvPr>
          <p:cNvSpPr>
            <a:spLocks xmlns:a="http://schemas.openxmlformats.org/drawingml/2006/main" noGrp="1"/>
          </p:cNvSpPr>
          <p:nvPr/>
        </p:nvSpPr>
        <p:spPr>
          <a:xfrm xmlns:a="http://schemas.openxmlformats.org/drawingml/2006/main" rot="0" flipH="0" flipV="0">
            <a:off x="3150443" y="4530090"/>
            <a:ext cx="46186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2E7D5B"/>
                </a:solidFill>
                <a:latin typeface="+mn-lt"/>
                <a:ea typeface="+mn-lt"/>
                <a:cs typeface="+mn-lt"/>
              </a:rPr>
              <a:t>YES</a:t>
            </a:r>
          </a:p>
        </p:txBody>
      </p:sp>
      <p:sp>
        <p:nvSpPr>
          <p:cNvPr id="59" name="TextBox 59">
            <a:extLst xmlns:a="http://schemas.openxmlformats.org/drawingml/2006/main">
              <a:ext uri="{FF2B5EF4-FFF2-40B4-BE49-F238E27FC236}">
                <a16:creationId xmlns:a16="http://schemas.microsoft.com/office/drawing/2014/main" id="{1FADD3B5-9DA5-49EA-B958-71E22142C392}"/>
              </a:ext>
            </a:extLst>
          </p:cNvPr>
          <p:cNvSpPr>
            <a:spLocks xmlns:a="http://schemas.openxmlformats.org/drawingml/2006/main" noGrp="1"/>
          </p:cNvSpPr>
          <p:nvPr/>
        </p:nvSpPr>
        <p:spPr>
          <a:xfrm xmlns:a="http://schemas.openxmlformats.org/drawingml/2006/main" rot="0" flipH="0" flipV="0">
            <a:off x="4245239" y="4530090"/>
            <a:ext cx="36777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rgbClr val="B45F4A"/>
                </a:solidFill>
                <a:latin typeface="+mn-lt"/>
                <a:ea typeface="+mn-lt"/>
                <a:cs typeface="+mn-lt"/>
              </a:rPr>
              <a:t>NO</a:t>
            </a:r>
          </a:p>
        </p:txBody>
      </p:sp>
      <p:sp>
        <p:nvSpPr>
          <p:cNvPr id="60" name="TextBox 60">
            <a:extLst xmlns:a="http://schemas.openxmlformats.org/drawingml/2006/main">
              <a:ext uri="{FF2B5EF4-FFF2-40B4-BE49-F238E27FC236}">
                <a16:creationId xmlns:a16="http://schemas.microsoft.com/office/drawing/2014/main" id="{946E70E4-4278-49FD-897A-7385B1840B6B}"/>
              </a:ext>
            </a:extLst>
          </p:cNvPr>
          <p:cNvSpPr>
            <a:spLocks xmlns:a="http://schemas.openxmlformats.org/drawingml/2006/main" noGrp="1"/>
          </p:cNvSpPr>
          <p:nvPr/>
        </p:nvSpPr>
        <p:spPr>
          <a:xfrm xmlns:a="http://schemas.openxmlformats.org/drawingml/2006/main" rot="0" flipH="0" flipV="0">
            <a:off x="5083664" y="4578668"/>
            <a:ext cx="97692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logger only</a:t>
            </a:r>
          </a:p>
        </p:txBody>
      </p:sp>
      <p:sp>
        <p:nvSpPr>
          <p:cNvPr id="61" name="TextBox 61">
            <a:extLst xmlns:a="http://schemas.openxmlformats.org/drawingml/2006/main">
              <a:ext uri="{FF2B5EF4-FFF2-40B4-BE49-F238E27FC236}">
                <a16:creationId xmlns:a16="http://schemas.microsoft.com/office/drawing/2014/main" id="{25D4D391-C212-45D0-BE63-A2396ACCFD87}"/>
              </a:ext>
            </a:extLst>
          </p:cNvPr>
          <p:cNvSpPr>
            <a:spLocks xmlns:a="http://schemas.openxmlformats.org/drawingml/2006/main" noGrp="1"/>
          </p:cNvSpPr>
          <p:nvPr/>
        </p:nvSpPr>
        <p:spPr>
          <a:xfrm xmlns:a="http://schemas.openxmlformats.org/drawingml/2006/main" rot="0" flipH="0" flipV="0">
            <a:off x="6546733" y="4578668"/>
            <a:ext cx="62253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partial</a:t>
            </a:r>
          </a:p>
        </p:txBody>
      </p:sp>
      <p:sp>
        <p:nvSpPr>
          <p:cNvPr id="62" name="TextBox 62">
            <a:extLst xmlns:a="http://schemas.openxmlformats.org/drawingml/2006/main">
              <a:ext uri="{FF2B5EF4-FFF2-40B4-BE49-F238E27FC236}">
                <a16:creationId xmlns:a16="http://schemas.microsoft.com/office/drawing/2014/main" id="{9D3F0E1E-1CB5-44D7-82E8-6363286657EA}"/>
              </a:ext>
            </a:extLst>
          </p:cNvPr>
          <p:cNvSpPr>
            <a:spLocks xmlns:a="http://schemas.openxmlformats.org/drawingml/2006/main" noGrp="1"/>
          </p:cNvSpPr>
          <p:nvPr/>
        </p:nvSpPr>
        <p:spPr>
          <a:xfrm xmlns:a="http://schemas.openxmlformats.org/drawingml/2006/main" rot="0" flipH="0" flipV="0">
            <a:off x="7771190" y="4578668"/>
            <a:ext cx="84061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5F6875"/>
                </a:solidFill>
                <a:latin typeface="+mn-lt"/>
                <a:ea typeface="+mn-lt"/>
                <a:cs typeface="+mn-lt"/>
              </a:rPr>
              <a:t>workflow</a:t>
            </a:r>
          </a:p>
        </p:txBody>
      </p:sp>
      <p:sp>
        <p:nvSpPr>
          <p:cNvPr id="63" name="TextBox 63">
            <a:extLst xmlns:a="http://schemas.openxmlformats.org/drawingml/2006/main">
              <a:ext uri="{FF2B5EF4-FFF2-40B4-BE49-F238E27FC236}">
                <a16:creationId xmlns:a16="http://schemas.microsoft.com/office/drawing/2014/main" id="{DA4DF742-74D3-4E17-A647-A53EBD706E60}"/>
              </a:ext>
            </a:extLst>
          </p:cNvPr>
          <p:cNvSpPr>
            <a:spLocks xmlns:a="http://schemas.openxmlformats.org/drawingml/2006/main" noGrp="1"/>
          </p:cNvSpPr>
          <p:nvPr/>
        </p:nvSpPr>
        <p:spPr>
          <a:xfrm xmlns:a="http://schemas.openxmlformats.org/drawingml/2006/main" rot="0" flipH="0" flipV="0">
            <a:off x="9345701" y="4578668"/>
            <a:ext cx="26334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a:solidFill>
                  <a:srgbClr val="B45F4A"/>
                </a:solidFill>
                <a:latin typeface="+mn-lt"/>
                <a:ea typeface="+mn-lt"/>
                <a:cs typeface="+mn-lt"/>
              </a:rPr>
              <a:t>NO</a:t>
            </a:r>
          </a:p>
        </p:txBody>
      </p:sp>
      <p:sp>
        <p:nvSpPr>
          <p:cNvPr id="64" name="TextBox 64">
            <a:extLst xmlns:a="http://schemas.openxmlformats.org/drawingml/2006/main">
              <a:ext uri="{FF2B5EF4-FFF2-40B4-BE49-F238E27FC236}">
                <a16:creationId xmlns:a16="http://schemas.microsoft.com/office/drawing/2014/main" id="{69E3CBB0-B89F-4242-A4D7-DA2B3395E5BB}"/>
              </a:ext>
            </a:extLst>
          </p:cNvPr>
          <p:cNvSpPr>
            <a:spLocks xmlns:a="http://schemas.openxmlformats.org/drawingml/2006/main" noGrp="1"/>
          </p:cNvSpPr>
          <p:nvPr/>
        </p:nvSpPr>
        <p:spPr>
          <a:xfrm xmlns:a="http://schemas.openxmlformats.org/drawingml/2006/main" rot="0" flipH="0" flipV="0">
            <a:off x="10191750" y="4514850"/>
            <a:ext cx="13716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1914" rIns="0" bIns="0" anchor="t">
            <a:noAutofit/>
          </a:bodyPr>
          <a:lstStyle xmlns:a="http://schemas.openxmlformats.org/drawingml/2006/main"/>
          <a:p xmlns:a="http://schemas.openxmlformats.org/drawingml/2006/main">
            <a:pPr algn="ctr">
              <a:buNone/>
            </a:pPr>
            <a:r>
              <a:rPr sz="1280" b="1">
                <a:solidFill>
                  <a:srgbClr val="5F6875"/>
                </a:solidFill>
                <a:latin typeface="+mn-lt"/>
                <a:ea typeface="+mn-lt"/>
                <a:cs typeface="+mn-lt"/>
              </a:rPr>
              <a:t>DOCS ONLY</a:t>
            </a:r>
          </a:p>
        </p:txBody>
      </p:sp>
      <p:sp>
        <p:nvSpPr>
          <p:cNvPr id="66" name="Rectangle 66">
            <a:extLst xmlns:a="http://schemas.openxmlformats.org/drawingml/2006/main">
              <a:ext uri="{FF2B5EF4-FFF2-40B4-BE49-F238E27FC236}">
                <a16:creationId xmlns:a16="http://schemas.microsoft.com/office/drawing/2014/main" id="{3AB869A1-38E1-485E-90CE-324D6F40BE9F}"/>
              </a:ext>
            </a:extLst>
          </p:cNvPr>
          <p:cNvSpPr>
            <a:spLocks xmlns:a="http://schemas.openxmlformats.org/drawingml/2006/main" noGrp="1"/>
          </p:cNvSpPr>
          <p:nvPr/>
        </p:nvSpPr>
        <p:spPr>
          <a:xfrm xmlns:a="http://schemas.openxmlformats.org/drawingml/2006/main" rot="0" flipH="0" flipV="0">
            <a:off x="533400" y="5276850"/>
            <a:ext cx="11125200" cy="762000"/>
          </a:xfrm>
          <a:prstGeom xmlns:a="http://schemas.openxmlformats.org/drawingml/2006/main" prst="roundRect">
            <a:avLst>
              <a:gd name="adj" fmla="val 15000"/>
            </a:avLst>
          </a:prstGeom>
          <a:solidFill xmlns:a="http://schemas.openxmlformats.org/drawingml/2006/main">
            <a:schemeClr val="accent5"/>
          </a:solidFill>
          <a:ln xmlns:a="http://schemas.openxmlformats.org/drawingml/2006/main">
            <a:noFill/>
          </a:ln>
        </p:spPr>
      </p:sp>
      <p:sp>
        <p:nvSpPr>
          <p:cNvPr id="67" name="TextBox 67">
            <a:extLst xmlns:a="http://schemas.openxmlformats.org/drawingml/2006/main">
              <a:ext uri="{FF2B5EF4-FFF2-40B4-BE49-F238E27FC236}">
                <a16:creationId xmlns:a16="http://schemas.microsoft.com/office/drawing/2014/main" id="{5E05E261-364A-4217-8B8A-76EBB0AACACC}"/>
              </a:ext>
            </a:extLst>
          </p:cNvPr>
          <p:cNvSpPr>
            <a:spLocks xmlns:a="http://schemas.openxmlformats.org/drawingml/2006/main" noGrp="1"/>
          </p:cNvSpPr>
          <p:nvPr/>
        </p:nvSpPr>
        <p:spPr>
          <a:xfrm xmlns:a="http://schemas.openxmlformats.org/drawingml/2006/main" rot="0" flipH="0" flipV="0">
            <a:off x="755142" y="5416868"/>
            <a:ext cx="177793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1"/>
                </a:solidFill>
                <a:latin typeface="+mn-lt"/>
                <a:ea typeface="+mn-lt"/>
                <a:cs typeface="+mn-lt"/>
              </a:rPr>
              <a:t>LOCAL DISTINCTION</a:t>
            </a:r>
          </a:p>
        </p:txBody>
      </p:sp>
      <p:sp>
        <p:nvSpPr>
          <p:cNvPr id="68" name="TextBox 68">
            <a:extLst xmlns:a="http://schemas.openxmlformats.org/drawingml/2006/main">
              <a:ext uri="{FF2B5EF4-FFF2-40B4-BE49-F238E27FC236}">
                <a16:creationId xmlns:a16="http://schemas.microsoft.com/office/drawing/2014/main" id="{A21F2599-ABDD-4A4D-9D05-C6465774C1AA}"/>
              </a:ext>
            </a:extLst>
          </p:cNvPr>
          <p:cNvSpPr>
            <a:spLocks xmlns:a="http://schemas.openxmlformats.org/drawingml/2006/main" noGrp="1"/>
          </p:cNvSpPr>
          <p:nvPr/>
        </p:nvSpPr>
        <p:spPr>
          <a:xfrm xmlns:a="http://schemas.openxmlformats.org/drawingml/2006/main" rot="0" flipH="0" flipV="0">
            <a:off x="753618" y="5594032"/>
            <a:ext cx="8086329"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Explicit paper profiles + CI/orientation traces + separator provenance</a:t>
            </a:r>
          </a:p>
        </p:txBody>
      </p:sp>
      <p:sp>
        <p:nvSpPr>
          <p:cNvPr id="69" name="TextBox 69">
            <a:extLst xmlns:a="http://schemas.openxmlformats.org/drawingml/2006/main">
              <a:ext uri="{FF2B5EF4-FFF2-40B4-BE49-F238E27FC236}">
                <a16:creationId xmlns:a16="http://schemas.microsoft.com/office/drawing/2014/main" id="{C7D23958-7269-413D-98DC-E7C6CB89501C}"/>
              </a:ext>
            </a:extLst>
          </p:cNvPr>
          <p:cNvSpPr>
            <a:spLocks xmlns:a="http://schemas.openxmlformats.org/drawingml/2006/main" noGrp="1"/>
          </p:cNvSpPr>
          <p:nvPr/>
        </p:nvSpPr>
        <p:spPr>
          <a:xfrm xmlns:a="http://schemas.openxmlformats.org/drawingml/2006/main" rot="0" flipH="0" flipV="0">
            <a:off x="753618" y="5851208"/>
            <a:ext cx="5672571"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b="1">
                <a:solidFill>
                  <a:schemeClr val="dk1"/>
                </a:solidFill>
                <a:latin typeface="+mn-lt"/>
                <a:ea typeface="+mn-lt"/>
                <a:cs typeface="+mn-lt"/>
              </a:rPr>
              <a:t>+ stability audits + reproducible artifact exports</a:t>
            </a:r>
          </a:p>
        </p:txBody>
      </p:sp>
      <p:sp>
        <p:nvSpPr>
          <p:cNvPr id="71" name="TextBox 71">
            <a:extLst xmlns:a="http://schemas.openxmlformats.org/drawingml/2006/main">
              <a:ext uri="{FF2B5EF4-FFF2-40B4-BE49-F238E27FC236}">
                <a16:creationId xmlns:a16="http://schemas.microsoft.com/office/drawing/2014/main" id="{54F1E234-168D-49A9-821F-8FE7F37EE3B3}"/>
              </a:ext>
            </a:extLst>
          </p:cNvPr>
          <p:cNvSpPr>
            <a:spLocks xmlns:a="http://schemas.openxmlformats.org/drawingml/2006/main" noGrp="1"/>
          </p:cNvSpPr>
          <p:nvPr/>
        </p:nvSpPr>
        <p:spPr>
          <a:xfrm xmlns:a="http://schemas.openxmlformats.org/drawingml/2006/main" rot="0" flipH="0" flipV="0">
            <a:off x="527304" y="6290310"/>
            <a:ext cx="1033845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Dated software inventory, 2026-07-26 · Feature availability is not an accuracy ranking · endpoint encodings require normalization</a:t>
            </a:r>
          </a:p>
        </p:txBody>
      </p:sp>
      <p:sp>
        <p:nvSpPr>
          <p:cNvPr id="72" name="TextBox 72">
            <a:extLst xmlns:a="http://schemas.openxmlformats.org/drawingml/2006/main">
              <a:ext uri="{FF2B5EF4-FFF2-40B4-BE49-F238E27FC236}">
                <a16:creationId xmlns:a16="http://schemas.microsoft.com/office/drawing/2014/main" id="{8B3947C4-3608-4EC9-A671-7AA812365CCE}"/>
              </a:ext>
            </a:extLst>
          </p:cNvPr>
          <p:cNvSpPr>
            <a:spLocks xmlns:a="http://schemas.openxmlformats.org/drawingml/2006/main" noGrp="1"/>
          </p:cNvSpPr>
          <p:nvPr/>
        </p:nvSpPr>
        <p:spPr>
          <a:xfrm xmlns:a="http://schemas.openxmlformats.org/drawingml/2006/main" rot="0" flipH="0" flipV="0">
            <a:off x="11111332" y="62903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09 / 15</a:t>
            </a:r>
          </a:p>
        </p:txBody>
      </p:sp>
    </p:spTree>
    <p:extLst>
      <p:ext uri="{BB962C8B-B14F-4D97-AF65-F5344CB8AC3E}">
        <p14:creationId xmlns:p14="http://schemas.microsoft.com/office/powerpoint/2010/main" val="2060845038"/>
      </p:ext>
    </p:extLst>
  </p:cSld>
</p:sld>
</file>

<file path=ppt/slides/slide10.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07955576-06A2-40C8-BD5E-4A62DC064379}"/>
              </a:ext>
            </a:extLst>
          </p:cNvPr>
          <p:cNvSpPr>
            <a:spLocks xmlns:a="http://schemas.openxmlformats.org/drawingml/2006/main" noGrp="1"/>
          </p:cNvSpPr>
          <p:nvPr/>
        </p:nvSpPr>
        <p:spPr>
          <a:xfrm xmlns:a="http://schemas.openxmlformats.org/drawingml/2006/main" rot="0" flipH="0" flipV="0">
            <a:off x="518160" y="361950"/>
            <a:ext cx="10887751"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Matched Benchmark: Trade-offs, Not Dominance</a:t>
            </a:r>
          </a:p>
        </p:txBody>
      </p:sp>
      <p:sp>
        <p:nvSpPr>
          <p:cNvPr id="3" name="TextBox 3">
            <a:extLst xmlns:a="http://schemas.openxmlformats.org/drawingml/2006/main">
              <a:ext uri="{FF2B5EF4-FFF2-40B4-BE49-F238E27FC236}">
                <a16:creationId xmlns:a16="http://schemas.microsoft.com/office/drawing/2014/main" id="{C0017726-F0F0-47D5-9588-F5F4FAB92D1E}"/>
              </a:ext>
            </a:extLst>
          </p:cNvPr>
          <p:cNvSpPr>
            <a:spLocks xmlns:a="http://schemas.openxmlformats.org/drawingml/2006/main" noGrp="1"/>
          </p:cNvSpPr>
          <p:nvPr/>
        </p:nvSpPr>
        <p:spPr>
          <a:xfrm xmlns:a="http://schemas.openxmlformats.org/drawingml/2006/main" rot="0" flipH="0" flipV="0">
            <a:off x="8387334" y="844868"/>
            <a:ext cx="327812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7562A8"/>
                </a:solidFill>
                <a:latin typeface="Consolas"/>
                <a:ea typeface="Consolas"/>
                <a:cs typeface="Consolas"/>
              </a:rPr>
              <a:t>KNOWN-TRUTH SOFTWARE BENCHMARK</a:t>
            </a:r>
          </a:p>
        </p:txBody>
      </p:sp>
      <p:sp>
        <p:nvSpPr>
          <p:cNvPr id="4" name="Line 4">
            <a:extLst xmlns:a="http://schemas.openxmlformats.org/drawingml/2006/main">
              <a:ext uri="{FF2B5EF4-FFF2-40B4-BE49-F238E27FC236}">
                <a16:creationId xmlns:a16="http://schemas.microsoft.com/office/drawing/2014/main" id="{E07CCB96-8215-4F3D-B3CE-0E42C3AEA81F}"/>
              </a:ext>
            </a:extLst>
          </p:cNvPr>
          <p:cNvSpPr>
            <a:spLocks xmlns:a="http://schemas.openxmlformats.org/drawingml/2006/main" noGrp="1"/>
          </p:cNvSpPr>
          <p:nvPr/>
        </p:nvSpPr>
        <p:spPr>
          <a:xfrm xmlns:a="http://schemas.openxmlformats.org/drawingml/2006/main" rot="0" flipH="0" flipV="0">
            <a:off x="533400" y="11430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TextBox 6">
            <a:extLst xmlns:a="http://schemas.openxmlformats.org/drawingml/2006/main">
              <a:ext uri="{FF2B5EF4-FFF2-40B4-BE49-F238E27FC236}">
                <a16:creationId xmlns:a16="http://schemas.microsoft.com/office/drawing/2014/main" id="{709EBC94-501A-47DE-9197-04447CEA92CA}"/>
              </a:ext>
            </a:extLst>
          </p:cNvPr>
          <p:cNvSpPr>
            <a:spLocks xmlns:a="http://schemas.openxmlformats.org/drawingml/2006/main" noGrp="1"/>
          </p:cNvSpPr>
          <p:nvPr/>
        </p:nvSpPr>
        <p:spPr>
          <a:xfrm xmlns:a="http://schemas.openxmlformats.org/drawingml/2006/main" rot="0" flipH="0" flipV="0">
            <a:off x="526542" y="1359218"/>
            <a:ext cx="202690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1"/>
                </a:solidFill>
                <a:latin typeface="+mn-lt"/>
                <a:ea typeface="+mn-lt"/>
                <a:cs typeface="+mn-lt"/>
              </a:rPr>
              <a:t>5 families × 3 repeats</a:t>
            </a:r>
          </a:p>
        </p:txBody>
      </p:sp>
      <p:sp>
        <p:nvSpPr>
          <p:cNvPr id="7" name="TextBox 7">
            <a:extLst xmlns:a="http://schemas.openxmlformats.org/drawingml/2006/main">
              <a:ext uri="{FF2B5EF4-FFF2-40B4-BE49-F238E27FC236}">
                <a16:creationId xmlns:a16="http://schemas.microsoft.com/office/drawing/2014/main" id="{F40A5A47-2B0B-4A95-972B-F332C0FB6281}"/>
              </a:ext>
            </a:extLst>
          </p:cNvPr>
          <p:cNvSpPr>
            <a:spLocks xmlns:a="http://schemas.openxmlformats.org/drawingml/2006/main" noGrp="1"/>
          </p:cNvSpPr>
          <p:nvPr/>
        </p:nvSpPr>
        <p:spPr>
          <a:xfrm xmlns:a="http://schemas.openxmlformats.org/drawingml/2006/main" rot="0" flipH="0" flipV="0">
            <a:off x="2850642" y="1359218"/>
            <a:ext cx="86822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N = 2,500</a:t>
            </a:r>
          </a:p>
        </p:txBody>
      </p:sp>
      <p:sp>
        <p:nvSpPr>
          <p:cNvPr id="8" name="TextBox 8">
            <a:extLst xmlns:a="http://schemas.openxmlformats.org/drawingml/2006/main">
              <a:ext uri="{FF2B5EF4-FFF2-40B4-BE49-F238E27FC236}">
                <a16:creationId xmlns:a16="http://schemas.microsoft.com/office/drawing/2014/main" id="{B8C93A33-2FBF-4725-AB74-4107FA88E448}"/>
              </a:ext>
            </a:extLst>
          </p:cNvPr>
          <p:cNvSpPr>
            <a:spLocks xmlns:a="http://schemas.openxmlformats.org/drawingml/2006/main" noGrp="1"/>
          </p:cNvSpPr>
          <p:nvPr/>
        </p:nvSpPr>
        <p:spPr>
          <a:xfrm xmlns:a="http://schemas.openxmlformats.org/drawingml/2006/main" rot="0" flipH="0" flipV="0">
            <a:off x="4184142" y="1359218"/>
            <a:ext cx="107687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75 / 75 runs</a:t>
            </a:r>
          </a:p>
        </p:txBody>
      </p:sp>
      <p:sp>
        <p:nvSpPr>
          <p:cNvPr id="9" name="TextBox 9">
            <a:extLst xmlns:a="http://schemas.openxmlformats.org/drawingml/2006/main">
              <a:ext uri="{FF2B5EF4-FFF2-40B4-BE49-F238E27FC236}">
                <a16:creationId xmlns:a16="http://schemas.microsoft.com/office/drawing/2014/main" id="{6E80D8C8-945A-406A-9BE6-2D3BFDAFBB42}"/>
              </a:ext>
            </a:extLst>
          </p:cNvPr>
          <p:cNvSpPr>
            <a:spLocks xmlns:a="http://schemas.openxmlformats.org/drawingml/2006/main" noGrp="1"/>
          </p:cNvSpPr>
          <p:nvPr/>
        </p:nvSpPr>
        <p:spPr>
          <a:xfrm xmlns:a="http://schemas.openxmlformats.org/drawingml/2006/main" rot="0" flipH="0" flipV="0">
            <a:off x="6184392" y="1359218"/>
            <a:ext cx="389380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α = .001 paper/reference · .01 robust auto</a:t>
            </a:r>
          </a:p>
        </p:txBody>
      </p:sp>
      <p:sp>
        <p:nvSpPr>
          <p:cNvPr id="11" name="Rectangle 11">
            <a:extLst xmlns:a="http://schemas.openxmlformats.org/drawingml/2006/main">
              <a:ext uri="{FF2B5EF4-FFF2-40B4-BE49-F238E27FC236}">
                <a16:creationId xmlns:a16="http://schemas.microsoft.com/office/drawing/2014/main" id="{8AEA313C-14DC-4D26-A0F0-F31D4031BB2B}"/>
              </a:ext>
            </a:extLst>
          </p:cNvPr>
          <p:cNvSpPr>
            <a:spLocks xmlns:a="http://schemas.openxmlformats.org/drawingml/2006/main" noGrp="1"/>
          </p:cNvSpPr>
          <p:nvPr/>
        </p:nvSpPr>
        <p:spPr>
          <a:xfrm xmlns:a="http://schemas.openxmlformats.org/drawingml/2006/main" rot="0" flipH="0" flipV="0">
            <a:off x="533400" y="1790700"/>
            <a:ext cx="11125200" cy="3238500"/>
          </a:xfrm>
          <a:prstGeom xmlns:a="http://schemas.openxmlformats.org/drawingml/2006/main" prst="roundRect">
            <a:avLst>
              <a:gd name="adj" fmla="val 4118"/>
            </a:avLst>
          </a:prstGeom>
          <a:solidFill xmlns:a="http://schemas.openxmlformats.org/drawingml/2006/main">
            <a:srgbClr val="FFFFFF"/>
          </a:solidFill>
          <a:ln xmlns:a="http://schemas.openxmlformats.org/drawingml/2006/main" w="14288">
            <a:solidFill>
              <a:srgbClr val="CBD2DC"/>
            </a:solidFill>
          </a:ln>
        </p:spPr>
      </p:sp>
      <p:sp>
        <p:nvSpPr>
          <p:cNvPr id="12" name="TextBox 12">
            <a:extLst xmlns:a="http://schemas.openxmlformats.org/drawingml/2006/main">
              <a:ext uri="{FF2B5EF4-FFF2-40B4-BE49-F238E27FC236}">
                <a16:creationId xmlns:a16="http://schemas.microsoft.com/office/drawing/2014/main" id="{7DDA49DD-13AE-4413-B06F-BFA2BE6D00E5}"/>
              </a:ext>
            </a:extLst>
          </p:cNvPr>
          <p:cNvSpPr>
            <a:spLocks xmlns:a="http://schemas.openxmlformats.org/drawingml/2006/main" noGrp="1"/>
          </p:cNvSpPr>
          <p:nvPr/>
        </p:nvSpPr>
        <p:spPr>
          <a:xfrm xmlns:a="http://schemas.openxmlformats.org/drawingml/2006/main" rot="0" flipH="0" flipV="0">
            <a:off x="736092" y="1987868"/>
            <a:ext cx="204004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ALGORITHM / PROFILE</a:t>
            </a:r>
          </a:p>
        </p:txBody>
      </p:sp>
      <p:sp>
        <p:nvSpPr>
          <p:cNvPr id="13" name="TextBox 13">
            <a:extLst xmlns:a="http://schemas.openxmlformats.org/drawingml/2006/main">
              <a:ext uri="{FF2B5EF4-FFF2-40B4-BE49-F238E27FC236}">
                <a16:creationId xmlns:a16="http://schemas.microsoft.com/office/drawing/2014/main" id="{45BA28F3-6433-4B0F-9901-1FA5688B7DD9}"/>
              </a:ext>
            </a:extLst>
          </p:cNvPr>
          <p:cNvSpPr>
            <a:spLocks xmlns:a="http://schemas.openxmlformats.org/drawingml/2006/main" noGrp="1"/>
          </p:cNvSpPr>
          <p:nvPr/>
        </p:nvSpPr>
        <p:spPr>
          <a:xfrm xmlns:a="http://schemas.openxmlformats.org/drawingml/2006/main" rot="0" flipH="0" flipV="0">
            <a:off x="4088892" y="1987868"/>
            <a:ext cx="32857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.70</a:t>
            </a:r>
          </a:p>
        </p:txBody>
      </p:sp>
      <p:sp>
        <p:nvSpPr>
          <p:cNvPr id="14" name="TextBox 14">
            <a:extLst xmlns:a="http://schemas.openxmlformats.org/drawingml/2006/main">
              <a:ext uri="{FF2B5EF4-FFF2-40B4-BE49-F238E27FC236}">
                <a16:creationId xmlns:a16="http://schemas.microsoft.com/office/drawing/2014/main" id="{D290F8AD-A39A-4DAE-B726-0E254A21D79E}"/>
              </a:ext>
            </a:extLst>
          </p:cNvPr>
          <p:cNvSpPr>
            <a:spLocks xmlns:a="http://schemas.openxmlformats.org/drawingml/2006/main" noGrp="1"/>
          </p:cNvSpPr>
          <p:nvPr/>
        </p:nvSpPr>
        <p:spPr>
          <a:xfrm xmlns:a="http://schemas.openxmlformats.org/drawingml/2006/main" rot="0" flipH="0" flipV="0">
            <a:off x="5774817" y="1987868"/>
            <a:ext cx="32857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.80</a:t>
            </a:r>
          </a:p>
        </p:txBody>
      </p:sp>
      <p:sp>
        <p:nvSpPr>
          <p:cNvPr id="15" name="TextBox 15">
            <a:extLst xmlns:a="http://schemas.openxmlformats.org/drawingml/2006/main">
              <a:ext uri="{FF2B5EF4-FFF2-40B4-BE49-F238E27FC236}">
                <a16:creationId xmlns:a16="http://schemas.microsoft.com/office/drawing/2014/main" id="{0640040E-FB29-41B0-A46D-9520E78B1B97}"/>
              </a:ext>
            </a:extLst>
          </p:cNvPr>
          <p:cNvSpPr>
            <a:spLocks xmlns:a="http://schemas.openxmlformats.org/drawingml/2006/main" noGrp="1"/>
          </p:cNvSpPr>
          <p:nvPr/>
        </p:nvSpPr>
        <p:spPr>
          <a:xfrm xmlns:a="http://schemas.openxmlformats.org/drawingml/2006/main" rot="0" flipH="0" flipV="0">
            <a:off x="7451217" y="1987868"/>
            <a:ext cx="32857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.90</a:t>
            </a:r>
          </a:p>
        </p:txBody>
      </p:sp>
      <p:sp>
        <p:nvSpPr>
          <p:cNvPr id="16" name="TextBox 16">
            <a:extLst xmlns:a="http://schemas.openxmlformats.org/drawingml/2006/main">
              <a:ext uri="{FF2B5EF4-FFF2-40B4-BE49-F238E27FC236}">
                <a16:creationId xmlns:a16="http://schemas.microsoft.com/office/drawing/2014/main" id="{9B88E683-2F29-4732-82C4-3C3753B1C388}"/>
              </a:ext>
            </a:extLst>
          </p:cNvPr>
          <p:cNvSpPr>
            <a:spLocks xmlns:a="http://schemas.openxmlformats.org/drawingml/2006/main" noGrp="1"/>
          </p:cNvSpPr>
          <p:nvPr/>
        </p:nvSpPr>
        <p:spPr>
          <a:xfrm xmlns:a="http://schemas.openxmlformats.org/drawingml/2006/main" rot="0" flipH="0" flipV="0">
            <a:off x="9137142" y="1987868"/>
            <a:ext cx="43352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1.00</a:t>
            </a:r>
          </a:p>
        </p:txBody>
      </p:sp>
      <p:sp>
        <p:nvSpPr>
          <p:cNvPr id="17" name="TextBox 17">
            <a:extLst xmlns:a="http://schemas.openxmlformats.org/drawingml/2006/main">
              <a:ext uri="{FF2B5EF4-FFF2-40B4-BE49-F238E27FC236}">
                <a16:creationId xmlns:a16="http://schemas.microsoft.com/office/drawing/2014/main" id="{9E364F14-1791-41E5-9FE1-79376CA3CF5C}"/>
              </a:ext>
            </a:extLst>
          </p:cNvPr>
          <p:cNvSpPr>
            <a:spLocks xmlns:a="http://schemas.openxmlformats.org/drawingml/2006/main" noGrp="1"/>
          </p:cNvSpPr>
          <p:nvPr/>
        </p:nvSpPr>
        <p:spPr>
          <a:xfrm xmlns:a="http://schemas.openxmlformats.org/drawingml/2006/main" rot="0" flipH="0" flipV="0">
            <a:off x="9994392" y="1987868"/>
            <a:ext cx="67301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CI calls</a:t>
            </a:r>
          </a:p>
        </p:txBody>
      </p:sp>
      <p:sp>
        <p:nvSpPr>
          <p:cNvPr id="18" name="Line 18">
            <a:extLst xmlns:a="http://schemas.openxmlformats.org/drawingml/2006/main">
              <a:ext uri="{FF2B5EF4-FFF2-40B4-BE49-F238E27FC236}">
                <a16:creationId xmlns:a16="http://schemas.microsoft.com/office/drawing/2014/main" id="{167F78E0-8502-4EF1-AA32-6489EC6092A9}"/>
              </a:ext>
            </a:extLst>
          </p:cNvPr>
          <p:cNvSpPr>
            <a:spLocks xmlns:a="http://schemas.openxmlformats.org/drawingml/2006/main" noGrp="1"/>
          </p:cNvSpPr>
          <p:nvPr/>
        </p:nvSpPr>
        <p:spPr>
          <a:xfrm xmlns:a="http://schemas.openxmlformats.org/drawingml/2006/main" rot="0" flipH="0" flipV="0">
            <a:off x="4095750" y="2266950"/>
            <a:ext cx="5048250" cy="9525"/>
          </a:xfrm>
          <a:custGeom xmlns:a="http://schemas.openxmlformats.org/drawingml/2006/main">
            <a:rect l="l" t="t" r="r" b="b"/>
            <a:pathLst>
              <a:path w="5048250" h="9525">
                <a:moveTo>
                  <a:pt x="0" y="0"/>
                </a:moveTo>
                <a:lnTo>
                  <a:pt x="5048250" y="0"/>
                </a:lnTo>
              </a:path>
            </a:pathLst>
          </a:custGeom>
          <a:noFill xmlns:a="http://schemas.openxmlformats.org/drawingml/2006/main"/>
          <a:ln xmlns:a="http://schemas.openxmlformats.org/drawingml/2006/main" w="14288">
            <a:solidFill>
              <a:srgbClr val="CBD2DC"/>
            </a:solidFill>
          </a:ln>
        </p:spPr>
      </p:sp>
      <p:sp>
        <p:nvSpPr>
          <p:cNvPr id="19" name="Line 19">
            <a:extLst xmlns:a="http://schemas.openxmlformats.org/drawingml/2006/main">
              <a:ext uri="{FF2B5EF4-FFF2-40B4-BE49-F238E27FC236}">
                <a16:creationId xmlns:a16="http://schemas.microsoft.com/office/drawing/2014/main" id="{7433AFF4-9AF0-424B-B887-04AACB534E7E}"/>
              </a:ext>
            </a:extLst>
          </p:cNvPr>
          <p:cNvSpPr>
            <a:spLocks xmlns:a="http://schemas.openxmlformats.org/drawingml/2006/main" noGrp="1"/>
          </p:cNvSpPr>
          <p:nvPr/>
        </p:nvSpPr>
        <p:spPr>
          <a:xfrm xmlns:a="http://schemas.openxmlformats.org/drawingml/2006/main" rot="0" flipH="0" flipV="0">
            <a:off x="4095750" y="2266950"/>
            <a:ext cx="9525" cy="2476500"/>
          </a:xfrm>
          <a:custGeom xmlns:a="http://schemas.openxmlformats.org/drawingml/2006/main">
            <a:rect l="l" t="t" r="r" b="b"/>
            <a:pathLst>
              <a:path w="9525" h="2476500">
                <a:moveTo>
                  <a:pt x="0" y="0"/>
                </a:moveTo>
                <a:lnTo>
                  <a:pt x="0" y="2476500"/>
                </a:lnTo>
              </a:path>
            </a:pathLst>
          </a:custGeom>
          <a:noFill xmlns:a="http://schemas.openxmlformats.org/drawingml/2006/main"/>
          <a:ln xmlns:a="http://schemas.openxmlformats.org/drawingml/2006/main" w="14288">
            <a:solidFill>
              <a:srgbClr val="CBD2DC"/>
            </a:solidFill>
          </a:ln>
        </p:spPr>
      </p:sp>
      <p:sp>
        <p:nvSpPr>
          <p:cNvPr id="20" name="Line 20">
            <a:extLst xmlns:a="http://schemas.openxmlformats.org/drawingml/2006/main">
              <a:ext uri="{FF2B5EF4-FFF2-40B4-BE49-F238E27FC236}">
                <a16:creationId xmlns:a16="http://schemas.microsoft.com/office/drawing/2014/main" id="{3D687DCC-3068-4A77-BB4D-F33A142A9734}"/>
              </a:ext>
            </a:extLst>
          </p:cNvPr>
          <p:cNvSpPr>
            <a:spLocks xmlns:a="http://schemas.openxmlformats.org/drawingml/2006/main" noGrp="1"/>
          </p:cNvSpPr>
          <p:nvPr/>
        </p:nvSpPr>
        <p:spPr>
          <a:xfrm xmlns:a="http://schemas.openxmlformats.org/drawingml/2006/main" rot="0" flipH="0" flipV="0">
            <a:off x="5781675" y="2266950"/>
            <a:ext cx="9525" cy="2476500"/>
          </a:xfrm>
          <a:custGeom xmlns:a="http://schemas.openxmlformats.org/drawingml/2006/main">
            <a:rect l="l" t="t" r="r" b="b"/>
            <a:pathLst>
              <a:path w="9525" h="2476500">
                <a:moveTo>
                  <a:pt x="0" y="0"/>
                </a:moveTo>
                <a:lnTo>
                  <a:pt x="0" y="2476500"/>
                </a:lnTo>
              </a:path>
            </a:pathLst>
          </a:custGeom>
          <a:noFill xmlns:a="http://schemas.openxmlformats.org/drawingml/2006/main"/>
          <a:ln xmlns:a="http://schemas.openxmlformats.org/drawingml/2006/main" w="14288">
            <a:solidFill>
              <a:srgbClr val="E9EDF5"/>
            </a:solidFill>
          </a:ln>
        </p:spPr>
      </p:sp>
      <p:sp>
        <p:nvSpPr>
          <p:cNvPr id="21" name="Line 21">
            <a:extLst xmlns:a="http://schemas.openxmlformats.org/drawingml/2006/main">
              <a:ext uri="{FF2B5EF4-FFF2-40B4-BE49-F238E27FC236}">
                <a16:creationId xmlns:a16="http://schemas.microsoft.com/office/drawing/2014/main" id="{A2BFCDA7-DA87-48D5-91E9-1E1A19BADB51}"/>
              </a:ext>
            </a:extLst>
          </p:cNvPr>
          <p:cNvSpPr>
            <a:spLocks xmlns:a="http://schemas.openxmlformats.org/drawingml/2006/main" noGrp="1"/>
          </p:cNvSpPr>
          <p:nvPr/>
        </p:nvSpPr>
        <p:spPr>
          <a:xfrm xmlns:a="http://schemas.openxmlformats.org/drawingml/2006/main" rot="0" flipH="0" flipV="0">
            <a:off x="7458075" y="2266950"/>
            <a:ext cx="9525" cy="2476500"/>
          </a:xfrm>
          <a:custGeom xmlns:a="http://schemas.openxmlformats.org/drawingml/2006/main">
            <a:rect l="l" t="t" r="r" b="b"/>
            <a:pathLst>
              <a:path w="9525" h="2476500">
                <a:moveTo>
                  <a:pt x="0" y="0"/>
                </a:moveTo>
                <a:lnTo>
                  <a:pt x="0" y="2476500"/>
                </a:lnTo>
              </a:path>
            </a:pathLst>
          </a:custGeom>
          <a:noFill xmlns:a="http://schemas.openxmlformats.org/drawingml/2006/main"/>
          <a:ln xmlns:a="http://schemas.openxmlformats.org/drawingml/2006/main" w="14288">
            <a:solidFill>
              <a:srgbClr val="E9EDF5"/>
            </a:solidFill>
          </a:ln>
        </p:spPr>
      </p:sp>
      <p:sp>
        <p:nvSpPr>
          <p:cNvPr id="22" name="Line 22">
            <a:extLst xmlns:a="http://schemas.openxmlformats.org/drawingml/2006/main">
              <a:ext uri="{FF2B5EF4-FFF2-40B4-BE49-F238E27FC236}">
                <a16:creationId xmlns:a16="http://schemas.microsoft.com/office/drawing/2014/main" id="{82A06B12-C08E-4249-B22C-E6669FE9C9B7}"/>
              </a:ext>
            </a:extLst>
          </p:cNvPr>
          <p:cNvSpPr>
            <a:spLocks xmlns:a="http://schemas.openxmlformats.org/drawingml/2006/main" noGrp="1"/>
          </p:cNvSpPr>
          <p:nvPr/>
        </p:nvSpPr>
        <p:spPr>
          <a:xfrm xmlns:a="http://schemas.openxmlformats.org/drawingml/2006/main" rot="0" flipH="0" flipV="0">
            <a:off x="9144000" y="2266950"/>
            <a:ext cx="9525" cy="2476500"/>
          </a:xfrm>
          <a:custGeom xmlns:a="http://schemas.openxmlformats.org/drawingml/2006/main">
            <a:rect l="l" t="t" r="r" b="b"/>
            <a:pathLst>
              <a:path w="9525" h="2476500">
                <a:moveTo>
                  <a:pt x="0" y="0"/>
                </a:moveTo>
                <a:lnTo>
                  <a:pt x="0" y="2476500"/>
                </a:lnTo>
              </a:path>
            </a:pathLst>
          </a:custGeom>
          <a:noFill xmlns:a="http://schemas.openxmlformats.org/drawingml/2006/main"/>
          <a:ln xmlns:a="http://schemas.openxmlformats.org/drawingml/2006/main" w="14288">
            <a:solidFill>
              <a:srgbClr val="CBD2DC"/>
            </a:solidFill>
          </a:ln>
        </p:spPr>
      </p:sp>
      <p:sp>
        <p:nvSpPr>
          <p:cNvPr id="23" name="Ellipse 23">
            <a:extLst xmlns:a="http://schemas.openxmlformats.org/drawingml/2006/main">
              <a:ext uri="{FF2B5EF4-FFF2-40B4-BE49-F238E27FC236}">
                <a16:creationId xmlns:a16="http://schemas.microsoft.com/office/drawing/2014/main" id="{9C490058-79D9-4FA0-BE83-2CE8B91DB7A6}"/>
              </a:ext>
            </a:extLst>
          </p:cNvPr>
          <p:cNvSpPr>
            <a:spLocks xmlns:a="http://schemas.openxmlformats.org/drawingml/2006/main" noGrp="1"/>
          </p:cNvSpPr>
          <p:nvPr/>
        </p:nvSpPr>
        <p:spPr>
          <a:xfrm xmlns:a="http://schemas.openxmlformats.org/drawingml/2006/main" rot="0" flipH="0" flipV="0">
            <a:off x="8077200" y="2543175"/>
            <a:ext cx="190500" cy="190500"/>
          </a:xfrm>
          <a:prstGeom xmlns:a="http://schemas.openxmlformats.org/drawingml/2006/main" prst="ellipse">
            <a:avLst/>
          </a:prstGeom>
          <a:solidFill xmlns:a="http://schemas.openxmlformats.org/drawingml/2006/main">
            <a:schemeClr val="accent2"/>
          </a:solidFill>
          <a:ln xmlns:a="http://schemas.openxmlformats.org/drawingml/2006/main">
            <a:noFill/>
          </a:ln>
        </p:spPr>
      </p:sp>
      <p:sp>
        <p:nvSpPr>
          <p:cNvPr id="24" name="Ellipse 24">
            <a:extLst xmlns:a="http://schemas.openxmlformats.org/drawingml/2006/main">
              <a:ext uri="{FF2B5EF4-FFF2-40B4-BE49-F238E27FC236}">
                <a16:creationId xmlns:a16="http://schemas.microsoft.com/office/drawing/2014/main" id="{C40B4130-2C40-4063-86BB-DF0B71F3E3D1}"/>
              </a:ext>
            </a:extLst>
          </p:cNvPr>
          <p:cNvSpPr>
            <a:spLocks xmlns:a="http://schemas.openxmlformats.org/drawingml/2006/main" noGrp="1"/>
          </p:cNvSpPr>
          <p:nvPr/>
        </p:nvSpPr>
        <p:spPr>
          <a:xfrm xmlns:a="http://schemas.openxmlformats.org/drawingml/2006/main" rot="0" flipH="0" flipV="0">
            <a:off x="4619625" y="2543175"/>
            <a:ext cx="190500" cy="190500"/>
          </a:xfrm>
          <a:prstGeom xmlns:a="http://schemas.openxmlformats.org/drawingml/2006/main" prst="ellipse">
            <a:avLst/>
          </a:prstGeom>
          <a:solidFill xmlns:a="http://schemas.openxmlformats.org/drawingml/2006/main">
            <a:schemeClr val="accent1"/>
          </a:solidFill>
          <a:ln xmlns:a="http://schemas.openxmlformats.org/drawingml/2006/main">
            <a:noFill/>
          </a:ln>
        </p:spPr>
      </p:sp>
      <p:sp>
        <p:nvSpPr>
          <p:cNvPr id="25" name="Ellipse 25">
            <a:extLst xmlns:a="http://schemas.openxmlformats.org/drawingml/2006/main">
              <a:ext uri="{FF2B5EF4-FFF2-40B4-BE49-F238E27FC236}">
                <a16:creationId xmlns:a16="http://schemas.microsoft.com/office/drawing/2014/main" id="{D3065FB6-DE0F-4430-A485-F2BC8E875A02}"/>
              </a:ext>
            </a:extLst>
          </p:cNvPr>
          <p:cNvSpPr>
            <a:spLocks xmlns:a="http://schemas.openxmlformats.org/drawingml/2006/main" noGrp="1"/>
          </p:cNvSpPr>
          <p:nvPr/>
        </p:nvSpPr>
        <p:spPr>
          <a:xfrm xmlns:a="http://schemas.openxmlformats.org/drawingml/2006/main" rot="0" flipH="0" flipV="0">
            <a:off x="8220075" y="3019425"/>
            <a:ext cx="190500" cy="190500"/>
          </a:xfrm>
          <a:prstGeom xmlns:a="http://schemas.openxmlformats.org/drawingml/2006/main" prst="ellipse">
            <a:avLst/>
          </a:prstGeom>
          <a:solidFill xmlns:a="http://schemas.openxmlformats.org/drawingml/2006/main">
            <a:schemeClr val="accent3"/>
          </a:solidFill>
          <a:ln xmlns:a="http://schemas.openxmlformats.org/drawingml/2006/main">
            <a:noFill/>
          </a:ln>
        </p:spPr>
      </p:sp>
      <p:sp>
        <p:nvSpPr>
          <p:cNvPr id="26" name="Ellipse 26">
            <a:extLst xmlns:a="http://schemas.openxmlformats.org/drawingml/2006/main">
              <a:ext uri="{FF2B5EF4-FFF2-40B4-BE49-F238E27FC236}">
                <a16:creationId xmlns:a16="http://schemas.microsoft.com/office/drawing/2014/main" id="{1F2D774F-F1C5-460F-A902-944C889C52BE}"/>
              </a:ext>
            </a:extLst>
          </p:cNvPr>
          <p:cNvSpPr>
            <a:spLocks xmlns:a="http://schemas.openxmlformats.org/drawingml/2006/main" noGrp="1"/>
          </p:cNvSpPr>
          <p:nvPr/>
        </p:nvSpPr>
        <p:spPr>
          <a:xfrm xmlns:a="http://schemas.openxmlformats.org/drawingml/2006/main" rot="0" flipH="0" flipV="0">
            <a:off x="4743450" y="3019425"/>
            <a:ext cx="190500" cy="190500"/>
          </a:xfrm>
          <a:prstGeom xmlns:a="http://schemas.openxmlformats.org/drawingml/2006/main" prst="ellipse">
            <a:avLst/>
          </a:prstGeom>
          <a:solidFill xmlns:a="http://schemas.openxmlformats.org/drawingml/2006/main">
            <a:srgbClr val="8A4D13"/>
          </a:solidFill>
          <a:ln xmlns:a="http://schemas.openxmlformats.org/drawingml/2006/main">
            <a:noFill/>
          </a:ln>
        </p:spPr>
      </p:sp>
      <p:sp>
        <p:nvSpPr>
          <p:cNvPr id="27" name="Ellipse 27">
            <a:extLst xmlns:a="http://schemas.openxmlformats.org/drawingml/2006/main">
              <a:ext uri="{FF2B5EF4-FFF2-40B4-BE49-F238E27FC236}">
                <a16:creationId xmlns:a16="http://schemas.microsoft.com/office/drawing/2014/main" id="{25DE1228-07A7-479B-B067-97F0CD985C73}"/>
              </a:ext>
            </a:extLst>
          </p:cNvPr>
          <p:cNvSpPr>
            <a:spLocks xmlns:a="http://schemas.openxmlformats.org/drawingml/2006/main" noGrp="1"/>
          </p:cNvSpPr>
          <p:nvPr/>
        </p:nvSpPr>
        <p:spPr>
          <a:xfrm xmlns:a="http://schemas.openxmlformats.org/drawingml/2006/main" rot="0" flipH="0" flipV="0">
            <a:off x="8791575" y="3495675"/>
            <a:ext cx="190500" cy="190500"/>
          </a:xfrm>
          <a:prstGeom xmlns:a="http://schemas.openxmlformats.org/drawingml/2006/main" prst="ellipse">
            <a:avLst/>
          </a:prstGeom>
          <a:solidFill xmlns:a="http://schemas.openxmlformats.org/drawingml/2006/main">
            <a:schemeClr val="accent6"/>
          </a:solidFill>
          <a:ln xmlns:a="http://schemas.openxmlformats.org/drawingml/2006/main">
            <a:noFill/>
          </a:ln>
        </p:spPr>
      </p:sp>
      <p:sp>
        <p:nvSpPr>
          <p:cNvPr id="28" name="Ellipse 28">
            <a:extLst xmlns:a="http://schemas.openxmlformats.org/drawingml/2006/main">
              <a:ext uri="{FF2B5EF4-FFF2-40B4-BE49-F238E27FC236}">
                <a16:creationId xmlns:a16="http://schemas.microsoft.com/office/drawing/2014/main" id="{6437F866-3EA8-4C01-9CC7-328B2E78F260}"/>
              </a:ext>
            </a:extLst>
          </p:cNvPr>
          <p:cNvSpPr>
            <a:spLocks xmlns:a="http://schemas.openxmlformats.org/drawingml/2006/main" noGrp="1"/>
          </p:cNvSpPr>
          <p:nvPr/>
        </p:nvSpPr>
        <p:spPr>
          <a:xfrm xmlns:a="http://schemas.openxmlformats.org/drawingml/2006/main" rot="0" flipH="0" flipV="0">
            <a:off x="6353175" y="3495675"/>
            <a:ext cx="190500" cy="190500"/>
          </a:xfrm>
          <a:prstGeom xmlns:a="http://schemas.openxmlformats.org/drawingml/2006/main" prst="ellipse">
            <a:avLst/>
          </a:prstGeom>
          <a:solidFill xmlns:a="http://schemas.openxmlformats.org/drawingml/2006/main">
            <a:srgbClr val="0F665B"/>
          </a:solidFill>
          <a:ln xmlns:a="http://schemas.openxmlformats.org/drawingml/2006/main">
            <a:noFill/>
          </a:ln>
        </p:spPr>
      </p:sp>
      <p:sp>
        <p:nvSpPr>
          <p:cNvPr id="29" name="Ellipse 29">
            <a:extLst xmlns:a="http://schemas.openxmlformats.org/drawingml/2006/main">
              <a:ext uri="{FF2B5EF4-FFF2-40B4-BE49-F238E27FC236}">
                <a16:creationId xmlns:a16="http://schemas.microsoft.com/office/drawing/2014/main" id="{8B571EE6-7B6A-40E0-91FF-38DF4278C01B}"/>
              </a:ext>
            </a:extLst>
          </p:cNvPr>
          <p:cNvSpPr>
            <a:spLocks xmlns:a="http://schemas.openxmlformats.org/drawingml/2006/main" noGrp="1"/>
          </p:cNvSpPr>
          <p:nvPr/>
        </p:nvSpPr>
        <p:spPr>
          <a:xfrm xmlns:a="http://schemas.openxmlformats.org/drawingml/2006/main" rot="0" flipH="0" flipV="0">
            <a:off x="8220075" y="3971925"/>
            <a:ext cx="190500" cy="190500"/>
          </a:xfrm>
          <a:prstGeom xmlns:a="http://schemas.openxmlformats.org/drawingml/2006/main" prst="ellipse">
            <a:avLst/>
          </a:prstGeom>
          <a:solidFill xmlns:a="http://schemas.openxmlformats.org/drawingml/2006/main">
            <a:srgbClr val="7562A8"/>
          </a:solidFill>
          <a:ln xmlns:a="http://schemas.openxmlformats.org/drawingml/2006/main">
            <a:noFill/>
          </a:ln>
        </p:spPr>
      </p:sp>
      <p:sp>
        <p:nvSpPr>
          <p:cNvPr id="30" name="Ellipse 30">
            <a:extLst xmlns:a="http://schemas.openxmlformats.org/drawingml/2006/main">
              <a:ext uri="{FF2B5EF4-FFF2-40B4-BE49-F238E27FC236}">
                <a16:creationId xmlns:a16="http://schemas.microsoft.com/office/drawing/2014/main" id="{A97876C1-4DFB-48ED-A81A-FC50DD049B22}"/>
              </a:ext>
            </a:extLst>
          </p:cNvPr>
          <p:cNvSpPr>
            <a:spLocks xmlns:a="http://schemas.openxmlformats.org/drawingml/2006/main" noGrp="1"/>
          </p:cNvSpPr>
          <p:nvPr/>
        </p:nvSpPr>
        <p:spPr>
          <a:xfrm xmlns:a="http://schemas.openxmlformats.org/drawingml/2006/main" rot="0" flipH="0" flipV="0">
            <a:off x="4743450" y="3971925"/>
            <a:ext cx="190500" cy="190500"/>
          </a:xfrm>
          <a:prstGeom xmlns:a="http://schemas.openxmlformats.org/drawingml/2006/main" prst="ellipse">
            <a:avLst/>
          </a:prstGeom>
          <a:solidFill xmlns:a="http://schemas.openxmlformats.org/drawingml/2006/main">
            <a:srgbClr val="44366C"/>
          </a:solidFill>
          <a:ln xmlns:a="http://schemas.openxmlformats.org/drawingml/2006/main">
            <a:noFill/>
          </a:ln>
        </p:spPr>
      </p:sp>
      <p:sp>
        <p:nvSpPr>
          <p:cNvPr id="31" name="Ellipse 31">
            <a:extLst xmlns:a="http://schemas.openxmlformats.org/drawingml/2006/main">
              <a:ext uri="{FF2B5EF4-FFF2-40B4-BE49-F238E27FC236}">
                <a16:creationId xmlns:a16="http://schemas.microsoft.com/office/drawing/2014/main" id="{1708CA3B-A0EB-4FF0-B2A3-A487882B6546}"/>
              </a:ext>
            </a:extLst>
          </p:cNvPr>
          <p:cNvSpPr>
            <a:spLocks xmlns:a="http://schemas.openxmlformats.org/drawingml/2006/main" noGrp="1"/>
          </p:cNvSpPr>
          <p:nvPr/>
        </p:nvSpPr>
        <p:spPr>
          <a:xfrm xmlns:a="http://schemas.openxmlformats.org/drawingml/2006/main" rot="0" flipH="0" flipV="0">
            <a:off x="8220075" y="4448175"/>
            <a:ext cx="190500" cy="190500"/>
          </a:xfrm>
          <a:prstGeom xmlns:a="http://schemas.openxmlformats.org/drawingml/2006/main" prst="ellipse">
            <a:avLst/>
          </a:prstGeom>
          <a:solidFill xmlns:a="http://schemas.openxmlformats.org/drawingml/2006/main">
            <a:srgbClr val="7562A8"/>
          </a:solidFill>
          <a:ln xmlns:a="http://schemas.openxmlformats.org/drawingml/2006/main">
            <a:noFill/>
          </a:ln>
        </p:spPr>
      </p:sp>
      <p:sp>
        <p:nvSpPr>
          <p:cNvPr id="32" name="Ellipse 32">
            <a:extLst xmlns:a="http://schemas.openxmlformats.org/drawingml/2006/main">
              <a:ext uri="{FF2B5EF4-FFF2-40B4-BE49-F238E27FC236}">
                <a16:creationId xmlns:a16="http://schemas.microsoft.com/office/drawing/2014/main" id="{DFBF2A17-3DC4-42D1-8432-AD523BD21A49}"/>
              </a:ext>
            </a:extLst>
          </p:cNvPr>
          <p:cNvSpPr>
            <a:spLocks xmlns:a="http://schemas.openxmlformats.org/drawingml/2006/main" noGrp="1"/>
          </p:cNvSpPr>
          <p:nvPr/>
        </p:nvSpPr>
        <p:spPr>
          <a:xfrm xmlns:a="http://schemas.openxmlformats.org/drawingml/2006/main" rot="0" flipH="0" flipV="0">
            <a:off x="4743450" y="4448175"/>
            <a:ext cx="190500" cy="190500"/>
          </a:xfrm>
          <a:prstGeom xmlns:a="http://schemas.openxmlformats.org/drawingml/2006/main" prst="ellipse">
            <a:avLst/>
          </a:prstGeom>
          <a:solidFill xmlns:a="http://schemas.openxmlformats.org/drawingml/2006/main">
            <a:srgbClr val="44366C"/>
          </a:solidFill>
          <a:ln xmlns:a="http://schemas.openxmlformats.org/drawingml/2006/main">
            <a:noFill/>
          </a:ln>
        </p:spPr>
      </p:sp>
      <p:sp>
        <p:nvSpPr>
          <p:cNvPr id="34" name="TextBox 34">
            <a:extLst xmlns:a="http://schemas.openxmlformats.org/drawingml/2006/main">
              <a:ext uri="{FF2B5EF4-FFF2-40B4-BE49-F238E27FC236}">
                <a16:creationId xmlns:a16="http://schemas.microsoft.com/office/drawing/2014/main" id="{4876DCFA-2EE8-4B45-8691-61C0F609F8D3}"/>
              </a:ext>
            </a:extLst>
          </p:cNvPr>
          <p:cNvSpPr>
            <a:spLocks xmlns:a="http://schemas.openxmlformats.org/drawingml/2006/main" noGrp="1"/>
          </p:cNvSpPr>
          <p:nvPr/>
        </p:nvSpPr>
        <p:spPr>
          <a:xfrm xmlns:a="http://schemas.openxmlformats.org/drawingml/2006/main" rot="0" flipH="0" flipV="0">
            <a:off x="735330" y="2543175"/>
            <a:ext cx="2721142"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2"/>
                </a:solidFill>
                <a:latin typeface="+mn-lt"/>
                <a:ea typeface="+mn-lt"/>
                <a:cs typeface="+mn-lt"/>
              </a:rPr>
              <a:t>Local FCI · Spirtes profile</a:t>
            </a:r>
          </a:p>
        </p:txBody>
      </p:sp>
      <p:sp>
        <p:nvSpPr>
          <p:cNvPr id="35" name="TextBox 35">
            <a:extLst xmlns:a="http://schemas.openxmlformats.org/drawingml/2006/main">
              <a:ext uri="{FF2B5EF4-FFF2-40B4-BE49-F238E27FC236}">
                <a16:creationId xmlns:a16="http://schemas.microsoft.com/office/drawing/2014/main" id="{6A665AFC-23F7-4969-BBA6-2066C4FB4A3F}"/>
              </a:ext>
            </a:extLst>
          </p:cNvPr>
          <p:cNvSpPr>
            <a:spLocks xmlns:a="http://schemas.openxmlformats.org/drawingml/2006/main" noGrp="1"/>
          </p:cNvSpPr>
          <p:nvPr/>
        </p:nvSpPr>
        <p:spPr>
          <a:xfrm xmlns:a="http://schemas.openxmlformats.org/drawingml/2006/main" rot="0" flipH="0" flipV="0">
            <a:off x="735330" y="3019425"/>
            <a:ext cx="332152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mn-lt"/>
                <a:ea typeface="+mn-lt"/>
                <a:cs typeface="+mn-lt"/>
              </a:rPr>
              <a:t>Local FCI Plus · Claassen profile</a:t>
            </a:r>
          </a:p>
        </p:txBody>
      </p:sp>
      <p:sp>
        <p:nvSpPr>
          <p:cNvPr id="36" name="TextBox 36">
            <a:extLst xmlns:a="http://schemas.openxmlformats.org/drawingml/2006/main">
              <a:ext uri="{FF2B5EF4-FFF2-40B4-BE49-F238E27FC236}">
                <a16:creationId xmlns:a16="http://schemas.microsoft.com/office/drawing/2014/main" id="{71925B7D-C895-4A8E-AD77-B760B4F0DC15}"/>
              </a:ext>
            </a:extLst>
          </p:cNvPr>
          <p:cNvSpPr>
            <a:spLocks xmlns:a="http://schemas.openxmlformats.org/drawingml/2006/main" noGrp="1"/>
          </p:cNvSpPr>
          <p:nvPr/>
        </p:nvSpPr>
        <p:spPr>
          <a:xfrm xmlns:a="http://schemas.openxmlformats.org/drawingml/2006/main" rot="0" flipH="0" flipV="0">
            <a:off x="735330" y="3495675"/>
            <a:ext cx="339100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6"/>
                </a:solidFill>
                <a:latin typeface="+mn-lt"/>
                <a:ea typeface="+mn-lt"/>
                <a:cs typeface="+mn-lt"/>
              </a:rPr>
              <a:t>Local FCI Plus · robust workflow</a:t>
            </a:r>
          </a:p>
        </p:txBody>
      </p:sp>
      <p:sp>
        <p:nvSpPr>
          <p:cNvPr id="37" name="TextBox 37">
            <a:extLst xmlns:a="http://schemas.openxmlformats.org/drawingml/2006/main">
              <a:ext uri="{FF2B5EF4-FFF2-40B4-BE49-F238E27FC236}">
                <a16:creationId xmlns:a16="http://schemas.microsoft.com/office/drawing/2014/main" id="{03C7F8D0-0263-4531-8096-46EF0BBC6229}"/>
              </a:ext>
            </a:extLst>
          </p:cNvPr>
          <p:cNvSpPr>
            <a:spLocks xmlns:a="http://schemas.openxmlformats.org/drawingml/2006/main" noGrp="1"/>
          </p:cNvSpPr>
          <p:nvPr/>
        </p:nvSpPr>
        <p:spPr>
          <a:xfrm xmlns:a="http://schemas.openxmlformats.org/drawingml/2006/main" rot="0" flipH="0" flipV="0">
            <a:off x="735330" y="3971925"/>
            <a:ext cx="276209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7562A8"/>
                </a:solidFill>
                <a:latin typeface="+mn-lt"/>
                <a:ea typeface="+mn-lt"/>
                <a:cs typeface="+mn-lt"/>
              </a:rPr>
              <a:t>causal-learn FCI · 0.1.4.7</a:t>
            </a:r>
          </a:p>
        </p:txBody>
      </p:sp>
      <p:sp>
        <p:nvSpPr>
          <p:cNvPr id="38" name="TextBox 38">
            <a:extLst xmlns:a="http://schemas.openxmlformats.org/drawingml/2006/main">
              <a:ext uri="{FF2B5EF4-FFF2-40B4-BE49-F238E27FC236}">
                <a16:creationId xmlns:a16="http://schemas.microsoft.com/office/drawing/2014/main" id="{E911DE60-751F-442F-ABEA-1FAECC29A115}"/>
              </a:ext>
            </a:extLst>
          </p:cNvPr>
          <p:cNvSpPr>
            <a:spLocks xmlns:a="http://schemas.openxmlformats.org/drawingml/2006/main" noGrp="1"/>
          </p:cNvSpPr>
          <p:nvPr/>
        </p:nvSpPr>
        <p:spPr>
          <a:xfrm xmlns:a="http://schemas.openxmlformats.org/drawingml/2006/main" rot="0" flipH="0" flipV="0">
            <a:off x="735330" y="4448175"/>
            <a:ext cx="236993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7562A8"/>
                </a:solidFill>
                <a:latin typeface="+mn-lt"/>
                <a:ea typeface="+mn-lt"/>
                <a:cs typeface="+mn-lt"/>
              </a:rPr>
              <a:t>pcalg FCI Plus · 2.7-12</a:t>
            </a:r>
          </a:p>
        </p:txBody>
      </p:sp>
      <p:sp>
        <p:nvSpPr>
          <p:cNvPr id="39" name="TextBox 39">
            <a:extLst xmlns:a="http://schemas.openxmlformats.org/drawingml/2006/main">
              <a:ext uri="{FF2B5EF4-FFF2-40B4-BE49-F238E27FC236}">
                <a16:creationId xmlns:a16="http://schemas.microsoft.com/office/drawing/2014/main" id="{F36D8142-5B57-4221-BA06-2FA13CA8DBE8}"/>
              </a:ext>
            </a:extLst>
          </p:cNvPr>
          <p:cNvSpPr>
            <a:spLocks xmlns:a="http://schemas.openxmlformats.org/drawingml/2006/main" noGrp="1"/>
          </p:cNvSpPr>
          <p:nvPr/>
        </p:nvSpPr>
        <p:spPr>
          <a:xfrm xmlns:a="http://schemas.openxmlformats.org/drawingml/2006/main" rot="0" flipH="0" flipV="0">
            <a:off x="9345930" y="2543175"/>
            <a:ext cx="57054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Consolas"/>
                <a:ea typeface="Consolas"/>
                <a:cs typeface="Consolas"/>
              </a:rPr>
              <a:t>449.7</a:t>
            </a:r>
          </a:p>
        </p:txBody>
      </p:sp>
      <p:sp>
        <p:nvSpPr>
          <p:cNvPr id="40" name="TextBox 40">
            <a:extLst xmlns:a="http://schemas.openxmlformats.org/drawingml/2006/main">
              <a:ext uri="{FF2B5EF4-FFF2-40B4-BE49-F238E27FC236}">
                <a16:creationId xmlns:a16="http://schemas.microsoft.com/office/drawing/2014/main" id="{9069A9F5-3475-46FB-83E4-0A3FDD0EA0ED}"/>
              </a:ext>
            </a:extLst>
          </p:cNvPr>
          <p:cNvSpPr>
            <a:spLocks xmlns:a="http://schemas.openxmlformats.org/drawingml/2006/main" noGrp="1"/>
          </p:cNvSpPr>
          <p:nvPr/>
        </p:nvSpPr>
        <p:spPr>
          <a:xfrm xmlns:a="http://schemas.openxmlformats.org/drawingml/2006/main" rot="0" flipH="0" flipV="0">
            <a:off x="9345930" y="3019425"/>
            <a:ext cx="57054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Consolas"/>
                <a:ea typeface="Consolas"/>
                <a:cs typeface="Consolas"/>
              </a:rPr>
              <a:t>197.1</a:t>
            </a:r>
          </a:p>
        </p:txBody>
      </p:sp>
      <p:sp>
        <p:nvSpPr>
          <p:cNvPr id="41" name="TextBox 41">
            <a:extLst xmlns:a="http://schemas.openxmlformats.org/drawingml/2006/main">
              <a:ext uri="{FF2B5EF4-FFF2-40B4-BE49-F238E27FC236}">
                <a16:creationId xmlns:a16="http://schemas.microsoft.com/office/drawing/2014/main" id="{CA1D2B37-722C-46DA-A651-BE3507A672CB}"/>
              </a:ext>
            </a:extLst>
          </p:cNvPr>
          <p:cNvSpPr>
            <a:spLocks xmlns:a="http://schemas.openxmlformats.org/drawingml/2006/main" noGrp="1"/>
          </p:cNvSpPr>
          <p:nvPr/>
        </p:nvSpPr>
        <p:spPr>
          <a:xfrm xmlns:a="http://schemas.openxmlformats.org/drawingml/2006/main" rot="0" flipH="0" flipV="0">
            <a:off x="9345930" y="3495675"/>
            <a:ext cx="57054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Consolas"/>
                <a:ea typeface="Consolas"/>
                <a:cs typeface="Consolas"/>
              </a:rPr>
              <a:t>401.9</a:t>
            </a:r>
          </a:p>
        </p:txBody>
      </p:sp>
      <p:sp>
        <p:nvSpPr>
          <p:cNvPr id="42" name="TextBox 42">
            <a:extLst xmlns:a="http://schemas.openxmlformats.org/drawingml/2006/main">
              <a:ext uri="{FF2B5EF4-FFF2-40B4-BE49-F238E27FC236}">
                <a16:creationId xmlns:a16="http://schemas.microsoft.com/office/drawing/2014/main" id="{7F515BC9-8F83-49E3-9225-FBDD50A599B9}"/>
              </a:ext>
            </a:extLst>
          </p:cNvPr>
          <p:cNvSpPr>
            <a:spLocks xmlns:a="http://schemas.openxmlformats.org/drawingml/2006/main" noGrp="1"/>
          </p:cNvSpPr>
          <p:nvPr/>
        </p:nvSpPr>
        <p:spPr>
          <a:xfrm xmlns:a="http://schemas.openxmlformats.org/drawingml/2006/main" rot="0" flipH="0" flipV="0">
            <a:off x="9345930" y="3971925"/>
            <a:ext cx="118643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5F6875"/>
                </a:solidFill>
                <a:latin typeface="Consolas"/>
                <a:ea typeface="Consolas"/>
                <a:cs typeface="Consolas"/>
              </a:rPr>
              <a:t>not exposed</a:t>
            </a:r>
          </a:p>
        </p:txBody>
      </p:sp>
      <p:sp>
        <p:nvSpPr>
          <p:cNvPr id="43" name="TextBox 43">
            <a:extLst xmlns:a="http://schemas.openxmlformats.org/drawingml/2006/main">
              <a:ext uri="{FF2B5EF4-FFF2-40B4-BE49-F238E27FC236}">
                <a16:creationId xmlns:a16="http://schemas.microsoft.com/office/drawing/2014/main" id="{D11A5FA9-0558-4F18-9E6A-7411CB9D48B0}"/>
              </a:ext>
            </a:extLst>
          </p:cNvPr>
          <p:cNvSpPr>
            <a:spLocks xmlns:a="http://schemas.openxmlformats.org/drawingml/2006/main" noGrp="1"/>
          </p:cNvSpPr>
          <p:nvPr/>
        </p:nvSpPr>
        <p:spPr>
          <a:xfrm xmlns:a="http://schemas.openxmlformats.org/drawingml/2006/main" rot="0" flipH="0" flipV="0">
            <a:off x="9345930" y="4448175"/>
            <a:ext cx="1186434"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5F6875"/>
                </a:solidFill>
                <a:latin typeface="Consolas"/>
                <a:ea typeface="Consolas"/>
                <a:cs typeface="Consolas"/>
              </a:rPr>
              <a:t>not exposed</a:t>
            </a:r>
          </a:p>
        </p:txBody>
      </p:sp>
      <p:sp>
        <p:nvSpPr>
          <p:cNvPr id="44" name="TextBox 44">
            <a:extLst xmlns:a="http://schemas.openxmlformats.org/drawingml/2006/main">
              <a:ext uri="{FF2B5EF4-FFF2-40B4-BE49-F238E27FC236}">
                <a16:creationId xmlns:a16="http://schemas.microsoft.com/office/drawing/2014/main" id="{BF8C1B36-3DF5-48E2-BB55-FCDB93C19FC6}"/>
              </a:ext>
            </a:extLst>
          </p:cNvPr>
          <p:cNvSpPr>
            <a:spLocks xmlns:a="http://schemas.openxmlformats.org/drawingml/2006/main" noGrp="1"/>
          </p:cNvSpPr>
          <p:nvPr/>
        </p:nvSpPr>
        <p:spPr>
          <a:xfrm xmlns:a="http://schemas.openxmlformats.org/drawingml/2006/main" rot="0" flipH="0" flipV="0">
            <a:off x="4089654" y="4804410"/>
            <a:ext cx="4673689"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a:solidFill>
                  <a:schemeClr val="accent1"/>
                </a:solidFill>
                <a:latin typeface="+mn-lt"/>
                <a:ea typeface="+mn-lt"/>
                <a:cs typeface="+mn-lt"/>
              </a:rPr>
              <a:t>dark dots</a:t>
            </a:r>
            <a:r>
              <a:rPr sz="1200">
                <a:solidFill>
                  <a:srgbClr val="5F6875"/>
                </a:solidFill>
                <a:latin typeface="+mn-lt"/>
                <a:ea typeface="+mn-lt"/>
                <a:cs typeface="+mn-lt"/>
              </a:rPr>
              <a:t> = endpoint accuracy · </a:t>
            </a:r>
            <a:r>
              <a:rPr sz="1200" b="1">
                <a:solidFill>
                  <a:schemeClr val="accent2"/>
                </a:solidFill>
                <a:latin typeface="+mn-lt"/>
                <a:ea typeface="+mn-lt"/>
                <a:cs typeface="+mn-lt"/>
              </a:rPr>
              <a:t>bright dots</a:t>
            </a:r>
            <a:r>
              <a:rPr sz="1200">
                <a:solidFill>
                  <a:srgbClr val="5F6875"/>
                </a:solidFill>
                <a:latin typeface="+mn-lt"/>
                <a:ea typeface="+mn-lt"/>
                <a:cs typeface="+mn-lt"/>
              </a:rPr>
              <a:t> = semantic F1</a:t>
            </a:r>
          </a:p>
        </p:txBody>
      </p:sp>
      <p:sp>
        <p:nvSpPr>
          <p:cNvPr id="46" name="Rectangle 46">
            <a:extLst xmlns:a="http://schemas.openxmlformats.org/drawingml/2006/main">
              <a:ext uri="{FF2B5EF4-FFF2-40B4-BE49-F238E27FC236}">
                <a16:creationId xmlns:a16="http://schemas.microsoft.com/office/drawing/2014/main" id="{70EB79AB-1B36-4A33-A4DA-A5E48F901063}"/>
              </a:ext>
            </a:extLst>
          </p:cNvPr>
          <p:cNvSpPr>
            <a:spLocks xmlns:a="http://schemas.openxmlformats.org/drawingml/2006/main" noGrp="1"/>
          </p:cNvSpPr>
          <p:nvPr/>
        </p:nvSpPr>
        <p:spPr>
          <a:xfrm xmlns:a="http://schemas.openxmlformats.org/drawingml/2006/main" rot="0" flipH="0" flipV="0">
            <a:off x="533400" y="5238750"/>
            <a:ext cx="5334000" cy="752475"/>
          </a:xfrm>
          <a:prstGeom xmlns:a="http://schemas.openxmlformats.org/drawingml/2006/main" prst="roundRect">
            <a:avLst>
              <a:gd name="adj" fmla="val 15190"/>
            </a:avLst>
          </a:prstGeom>
          <a:solidFill xmlns:a="http://schemas.openxmlformats.org/drawingml/2006/main">
            <a:srgbClr val="DDF3EF"/>
          </a:solidFill>
          <a:ln xmlns:a="http://schemas.openxmlformats.org/drawingml/2006/main">
            <a:noFill/>
          </a:ln>
        </p:spPr>
      </p:sp>
      <p:sp>
        <p:nvSpPr>
          <p:cNvPr id="47" name="TextBox 47">
            <a:extLst xmlns:a="http://schemas.openxmlformats.org/drawingml/2006/main">
              <a:ext uri="{FF2B5EF4-FFF2-40B4-BE49-F238E27FC236}">
                <a16:creationId xmlns:a16="http://schemas.microsoft.com/office/drawing/2014/main" id="{63585A8F-EFCA-41CE-A387-7D9D41809AAF}"/>
              </a:ext>
            </a:extLst>
          </p:cNvPr>
          <p:cNvSpPr>
            <a:spLocks xmlns:a="http://schemas.openxmlformats.org/drawingml/2006/main" noGrp="1"/>
          </p:cNvSpPr>
          <p:nvPr/>
        </p:nvSpPr>
        <p:spPr>
          <a:xfrm xmlns:a="http://schemas.openxmlformats.org/drawingml/2006/main" rot="0" flipH="0" flipV="0">
            <a:off x="755142" y="5369242"/>
            <a:ext cx="182834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ROBUST WORKFLOW</a:t>
            </a:r>
          </a:p>
        </p:txBody>
      </p:sp>
      <p:sp>
        <p:nvSpPr>
          <p:cNvPr id="48" name="TextBox 48">
            <a:extLst xmlns:a="http://schemas.openxmlformats.org/drawingml/2006/main">
              <a:ext uri="{FF2B5EF4-FFF2-40B4-BE49-F238E27FC236}">
                <a16:creationId xmlns:a16="http://schemas.microsoft.com/office/drawing/2014/main" id="{AF503E15-2F4C-4FBF-8456-40862E6E45D1}"/>
              </a:ext>
            </a:extLst>
          </p:cNvPr>
          <p:cNvSpPr>
            <a:spLocks xmlns:a="http://schemas.openxmlformats.org/drawingml/2006/main" noGrp="1"/>
          </p:cNvSpPr>
          <p:nvPr/>
        </p:nvSpPr>
        <p:spPr>
          <a:xfrm xmlns:a="http://schemas.openxmlformats.org/drawingml/2006/main" rot="0" flipH="0" flipV="0">
            <a:off x="752856" y="5615940"/>
            <a:ext cx="530970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semantic F1 .985 · endpoint accuracy .840</a:t>
            </a:r>
          </a:p>
        </p:txBody>
      </p:sp>
      <p:sp>
        <p:nvSpPr>
          <p:cNvPr id="49" name="Rectangle 49">
            <a:extLst xmlns:a="http://schemas.openxmlformats.org/drawingml/2006/main">
              <a:ext uri="{FF2B5EF4-FFF2-40B4-BE49-F238E27FC236}">
                <a16:creationId xmlns:a16="http://schemas.microsoft.com/office/drawing/2014/main" id="{91AC6315-A946-4796-870B-02FE84A0FB71}"/>
              </a:ext>
            </a:extLst>
          </p:cNvPr>
          <p:cNvSpPr>
            <a:spLocks xmlns:a="http://schemas.openxmlformats.org/drawingml/2006/main" noGrp="1"/>
          </p:cNvSpPr>
          <p:nvPr/>
        </p:nvSpPr>
        <p:spPr>
          <a:xfrm xmlns:a="http://schemas.openxmlformats.org/drawingml/2006/main" rot="0" flipH="0" flipV="0">
            <a:off x="6096000" y="5238750"/>
            <a:ext cx="5562600" cy="752475"/>
          </a:xfrm>
          <a:prstGeom xmlns:a="http://schemas.openxmlformats.org/drawingml/2006/main" prst="roundRect">
            <a:avLst>
              <a:gd name="adj" fmla="val 15190"/>
            </a:avLst>
          </a:prstGeom>
          <a:solidFill xmlns:a="http://schemas.openxmlformats.org/drawingml/2006/main">
            <a:srgbClr val="FFF1E9"/>
          </a:solidFill>
          <a:ln xmlns:a="http://schemas.openxmlformats.org/drawingml/2006/main">
            <a:noFill/>
          </a:ln>
        </p:spPr>
      </p:sp>
      <p:sp>
        <p:nvSpPr>
          <p:cNvPr id="50" name="TextBox 50">
            <a:extLst xmlns:a="http://schemas.openxmlformats.org/drawingml/2006/main">
              <a:ext uri="{FF2B5EF4-FFF2-40B4-BE49-F238E27FC236}">
                <a16:creationId xmlns:a16="http://schemas.microsoft.com/office/drawing/2014/main" id="{0810B7B4-2F85-4A18-8703-9A2EE3163B6E}"/>
              </a:ext>
            </a:extLst>
          </p:cNvPr>
          <p:cNvSpPr>
            <a:spLocks xmlns:a="http://schemas.openxmlformats.org/drawingml/2006/main" noGrp="1"/>
          </p:cNvSpPr>
          <p:nvPr/>
        </p:nvSpPr>
        <p:spPr>
          <a:xfrm xmlns:a="http://schemas.openxmlformats.org/drawingml/2006/main" rot="0" flipH="0" flipV="0">
            <a:off x="6317742" y="5369242"/>
            <a:ext cx="206021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B45F4A"/>
                </a:solidFill>
                <a:latin typeface="+mn-lt"/>
                <a:ea typeface="+mn-lt"/>
                <a:cs typeface="+mn-lt"/>
              </a:rPr>
              <a:t>INTERPRETATION LIMIT</a:t>
            </a:r>
          </a:p>
        </p:txBody>
      </p:sp>
      <p:sp>
        <p:nvSpPr>
          <p:cNvPr id="51" name="TextBox 51">
            <a:extLst xmlns:a="http://schemas.openxmlformats.org/drawingml/2006/main">
              <a:ext uri="{FF2B5EF4-FFF2-40B4-BE49-F238E27FC236}">
                <a16:creationId xmlns:a16="http://schemas.microsoft.com/office/drawing/2014/main" id="{54E3EF77-0520-432A-818C-AD42A3182AFA}"/>
              </a:ext>
            </a:extLst>
          </p:cNvPr>
          <p:cNvSpPr>
            <a:spLocks xmlns:a="http://schemas.openxmlformats.org/drawingml/2006/main" noGrp="1"/>
          </p:cNvSpPr>
          <p:nvPr/>
        </p:nvSpPr>
        <p:spPr>
          <a:xfrm xmlns:a="http://schemas.openxmlformats.org/drawingml/2006/main" rot="0" flipH="0" flipV="0">
            <a:off x="6317742" y="5531168"/>
            <a:ext cx="348193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Different α policy: workflow evidence,</a:t>
            </a:r>
          </a:p>
        </p:txBody>
      </p:sp>
      <p:sp>
        <p:nvSpPr>
          <p:cNvPr id="52" name="TextBox 52">
            <a:extLst xmlns:a="http://schemas.openxmlformats.org/drawingml/2006/main">
              <a:ext uri="{FF2B5EF4-FFF2-40B4-BE49-F238E27FC236}">
                <a16:creationId xmlns:a16="http://schemas.microsoft.com/office/drawing/2014/main" id="{BE0C5BC8-14DA-404A-9821-BFAFDC58CE7D}"/>
              </a:ext>
            </a:extLst>
          </p:cNvPr>
          <p:cNvSpPr>
            <a:spLocks xmlns:a="http://schemas.openxmlformats.org/drawingml/2006/main" noGrp="1"/>
          </p:cNvSpPr>
          <p:nvPr/>
        </p:nvSpPr>
        <p:spPr>
          <a:xfrm xmlns:a="http://schemas.openxmlformats.org/drawingml/2006/main" rot="0" flipH="0" flipV="0">
            <a:off x="6317742" y="5750242"/>
            <a:ext cx="313959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not isolated algorithm superiority.</a:t>
            </a:r>
          </a:p>
        </p:txBody>
      </p:sp>
      <p:sp>
        <p:nvSpPr>
          <p:cNvPr id="54" name="TextBox 54">
            <a:extLst xmlns:a="http://schemas.openxmlformats.org/drawingml/2006/main">
              <a:ext uri="{FF2B5EF4-FFF2-40B4-BE49-F238E27FC236}">
                <a16:creationId xmlns:a16="http://schemas.microsoft.com/office/drawing/2014/main" id="{AF5E88A2-173D-4314-A013-0D52ADED42BC}"/>
              </a:ext>
            </a:extLst>
          </p:cNvPr>
          <p:cNvSpPr>
            <a:spLocks xmlns:a="http://schemas.openxmlformats.org/drawingml/2006/main" noGrp="1"/>
          </p:cNvSpPr>
          <p:nvPr/>
        </p:nvSpPr>
        <p:spPr>
          <a:xfrm xmlns:a="http://schemas.openxmlformats.org/drawingml/2006/main" rot="0" flipH="0" flipV="0">
            <a:off x="527304" y="6290310"/>
            <a:ext cx="10025565"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reports/data/software_benchmark_summary.csv · pcalg timing includes R startup · wall time is not a cross-language contest</a:t>
            </a:r>
          </a:p>
        </p:txBody>
      </p:sp>
      <p:sp>
        <p:nvSpPr>
          <p:cNvPr id="55" name="TextBox 55">
            <a:extLst xmlns:a="http://schemas.openxmlformats.org/drawingml/2006/main">
              <a:ext uri="{FF2B5EF4-FFF2-40B4-BE49-F238E27FC236}">
                <a16:creationId xmlns:a16="http://schemas.microsoft.com/office/drawing/2014/main" id="{0BD63006-3446-4C3F-8394-48999D1CC66A}"/>
              </a:ext>
            </a:extLst>
          </p:cNvPr>
          <p:cNvSpPr>
            <a:spLocks xmlns:a="http://schemas.openxmlformats.org/drawingml/2006/main" noGrp="1"/>
          </p:cNvSpPr>
          <p:nvPr/>
        </p:nvSpPr>
        <p:spPr>
          <a:xfrm xmlns:a="http://schemas.openxmlformats.org/drawingml/2006/main" rot="0" flipH="0" flipV="0">
            <a:off x="11111332" y="62903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10 / 15</a:t>
            </a:r>
          </a:p>
        </p:txBody>
      </p:sp>
    </p:spTree>
    <p:extLst>
      <p:ext uri="{BB962C8B-B14F-4D97-AF65-F5344CB8AC3E}">
        <p14:creationId xmlns:p14="http://schemas.microsoft.com/office/powerpoint/2010/main" val="1170204058"/>
      </p:ext>
    </p:extLst>
  </p:cSld>
</p:sld>
</file>

<file path=ppt/slides/slide11.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F675FC85-28FB-483B-BD03-78FBAE79B608}"/>
              </a:ext>
            </a:extLst>
          </p:cNvPr>
          <p:cNvSpPr>
            <a:spLocks xmlns:a="http://schemas.openxmlformats.org/drawingml/2006/main" noGrp="1"/>
          </p:cNvSpPr>
          <p:nvPr/>
        </p:nvSpPr>
        <p:spPr>
          <a:xfrm xmlns:a="http://schemas.openxmlformats.org/drawingml/2006/main" rot="0" flipH="0" flipV="0">
            <a:off x="518160" y="361950"/>
            <a:ext cx="10649954"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STAR Supplies Randomization—and Selection Risk</a:t>
            </a:r>
          </a:p>
        </p:txBody>
      </p:sp>
      <p:sp>
        <p:nvSpPr>
          <p:cNvPr id="3" name="TextBox 3">
            <a:extLst xmlns:a="http://schemas.openxmlformats.org/drawingml/2006/main">
              <a:ext uri="{FF2B5EF4-FFF2-40B4-BE49-F238E27FC236}">
                <a16:creationId xmlns:a16="http://schemas.microsoft.com/office/drawing/2014/main" id="{1BFD50E6-7441-43B7-B155-D92017C33A6D}"/>
              </a:ext>
            </a:extLst>
          </p:cNvPr>
          <p:cNvSpPr>
            <a:spLocks xmlns:a="http://schemas.openxmlformats.org/drawingml/2006/main" noGrp="1"/>
          </p:cNvSpPr>
          <p:nvPr/>
        </p:nvSpPr>
        <p:spPr>
          <a:xfrm xmlns:a="http://schemas.openxmlformats.org/drawingml/2006/main" rot="0" flipH="0" flipV="0">
            <a:off x="9606686" y="844868"/>
            <a:ext cx="205877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chemeClr val="accent6"/>
                </a:solidFill>
                <a:latin typeface="Consolas"/>
                <a:ea typeface="Consolas"/>
                <a:cs typeface="Consolas"/>
              </a:rPr>
              <a:t>APPLICATION BOUNDARY</a:t>
            </a:r>
          </a:p>
        </p:txBody>
      </p:sp>
      <p:sp>
        <p:nvSpPr>
          <p:cNvPr id="4" name="Line 4">
            <a:extLst xmlns:a="http://schemas.openxmlformats.org/drawingml/2006/main">
              <a:ext uri="{FF2B5EF4-FFF2-40B4-BE49-F238E27FC236}">
                <a16:creationId xmlns:a16="http://schemas.microsoft.com/office/drawing/2014/main" id="{E851F744-E4FF-4DCF-9721-DCCB3556A5D7}"/>
              </a:ext>
            </a:extLst>
          </p:cNvPr>
          <p:cNvSpPr>
            <a:spLocks xmlns:a="http://schemas.openxmlformats.org/drawingml/2006/main" noGrp="1"/>
          </p:cNvSpPr>
          <p:nvPr/>
        </p:nvSpPr>
        <p:spPr>
          <a:xfrm xmlns:a="http://schemas.openxmlformats.org/drawingml/2006/main" rot="0" flipH="0" flipV="0">
            <a:off x="533400" y="11430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D69CEE20-E4BA-478D-9ADD-4268080DC467}"/>
              </a:ext>
            </a:extLst>
          </p:cNvPr>
          <p:cNvSpPr>
            <a:spLocks xmlns:a="http://schemas.openxmlformats.org/drawingml/2006/main" noGrp="1"/>
          </p:cNvSpPr>
          <p:nvPr/>
        </p:nvSpPr>
        <p:spPr>
          <a:xfrm xmlns:a="http://schemas.openxmlformats.org/drawingml/2006/main" rot="0" flipH="0" flipV="0">
            <a:off x="533400" y="1162050"/>
            <a:ext cx="152400" cy="152400"/>
          </a:xfrm>
          <a:prstGeom xmlns:a="http://schemas.openxmlformats.org/drawingml/2006/main" prst="roundRect">
            <a:avLst>
              <a:gd name="adj" fmla="val 18750"/>
            </a:avLst>
          </a:prstGeom>
          <a:solidFill xmlns:a="http://schemas.openxmlformats.org/drawingml/2006/main">
            <a:srgbClr val="2E7D5B"/>
          </a:solidFill>
          <a:ln xmlns:a="http://schemas.openxmlformats.org/drawingml/2006/main">
            <a:noFill/>
          </a:ln>
        </p:spPr>
      </p:sp>
      <p:sp>
        <p:nvSpPr>
          <p:cNvPr id="7" name="TextBox 7">
            <a:extLst xmlns:a="http://schemas.openxmlformats.org/drawingml/2006/main">
              <a:ext uri="{FF2B5EF4-FFF2-40B4-BE49-F238E27FC236}">
                <a16:creationId xmlns:a16="http://schemas.microsoft.com/office/drawing/2014/main" id="{3C784501-1D70-4FE6-A566-4B4674BC1978}"/>
              </a:ext>
            </a:extLst>
          </p:cNvPr>
          <p:cNvSpPr>
            <a:spLocks xmlns:a="http://schemas.openxmlformats.org/drawingml/2006/main" noGrp="1"/>
          </p:cNvSpPr>
          <p:nvPr/>
        </p:nvSpPr>
        <p:spPr>
          <a:xfrm xmlns:a="http://schemas.openxmlformats.org/drawingml/2006/main" rot="0" flipH="0" flipV="0">
            <a:off x="781050" y="1133475"/>
            <a:ext cx="1809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rgbClr val="2E7D5B"/>
                </a:solidFill>
                <a:latin typeface="+mn-lt"/>
                <a:ea typeface="+mn-lt"/>
                <a:cs typeface="+mn-lt"/>
              </a:rPr>
              <a:t>DESIGN-BASED</a:t>
            </a:r>
          </a:p>
        </p:txBody>
      </p:sp>
      <p:sp>
        <p:nvSpPr>
          <p:cNvPr id="8" name="Rectangle 8">
            <a:extLst xmlns:a="http://schemas.openxmlformats.org/drawingml/2006/main">
              <a:ext uri="{FF2B5EF4-FFF2-40B4-BE49-F238E27FC236}">
                <a16:creationId xmlns:a16="http://schemas.microsoft.com/office/drawing/2014/main" id="{966F3CD7-ABB9-4582-9DD3-4B124AC6F7D2}"/>
              </a:ext>
            </a:extLst>
          </p:cNvPr>
          <p:cNvSpPr>
            <a:spLocks xmlns:a="http://schemas.openxmlformats.org/drawingml/2006/main" noGrp="1"/>
          </p:cNvSpPr>
          <p:nvPr/>
        </p:nvSpPr>
        <p:spPr>
          <a:xfrm xmlns:a="http://schemas.openxmlformats.org/drawingml/2006/main" rot="0" flipH="0" flipV="0">
            <a:off x="2905125" y="1162050"/>
            <a:ext cx="152400" cy="152400"/>
          </a:xfrm>
          <a:prstGeom xmlns:a="http://schemas.openxmlformats.org/drawingml/2006/main" prst="roundRect">
            <a:avLst>
              <a:gd name="adj" fmla="val 18750"/>
            </a:avLst>
          </a:prstGeom>
          <a:solidFill xmlns:a="http://schemas.openxmlformats.org/drawingml/2006/main">
            <a:schemeClr val="accent2"/>
          </a:solidFill>
          <a:ln xmlns:a="http://schemas.openxmlformats.org/drawingml/2006/main">
            <a:noFill/>
          </a:ln>
        </p:spPr>
      </p:sp>
      <p:sp>
        <p:nvSpPr>
          <p:cNvPr id="9" name="TextBox 9">
            <a:extLst xmlns:a="http://schemas.openxmlformats.org/drawingml/2006/main">
              <a:ext uri="{FF2B5EF4-FFF2-40B4-BE49-F238E27FC236}">
                <a16:creationId xmlns:a16="http://schemas.microsoft.com/office/drawing/2014/main" id="{5ECA3F53-C1A1-4E7E-8194-65FE7E928539}"/>
              </a:ext>
            </a:extLst>
          </p:cNvPr>
          <p:cNvSpPr>
            <a:spLocks xmlns:a="http://schemas.openxmlformats.org/drawingml/2006/main" noGrp="1"/>
          </p:cNvSpPr>
          <p:nvPr/>
        </p:nvSpPr>
        <p:spPr>
          <a:xfrm xmlns:a="http://schemas.openxmlformats.org/drawingml/2006/main" rot="0" flipH="0" flipV="0">
            <a:off x="3152775" y="1133475"/>
            <a:ext cx="2000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chemeClr val="accent2"/>
                </a:solidFill>
                <a:latin typeface="+mn-lt"/>
                <a:ea typeface="+mn-lt"/>
                <a:cs typeface="+mn-lt"/>
              </a:rPr>
              <a:t>EXPLORATORY PAG</a:t>
            </a:r>
          </a:p>
        </p:txBody>
      </p:sp>
      <p:sp>
        <p:nvSpPr>
          <p:cNvPr id="11" name="TextBox 11">
            <a:extLst xmlns:a="http://schemas.openxmlformats.org/drawingml/2006/main">
              <a:ext uri="{FF2B5EF4-FFF2-40B4-BE49-F238E27FC236}">
                <a16:creationId xmlns:a16="http://schemas.microsoft.com/office/drawing/2014/main" id="{3AB4D9BA-665E-400E-9E1C-749778E945D3}"/>
              </a:ext>
            </a:extLst>
          </p:cNvPr>
          <p:cNvSpPr>
            <a:spLocks xmlns:a="http://schemas.openxmlformats.org/drawingml/2006/main" noGrp="1"/>
          </p:cNvSpPr>
          <p:nvPr/>
        </p:nvSpPr>
        <p:spPr>
          <a:xfrm xmlns:a="http://schemas.openxmlformats.org/drawingml/2006/main" rot="0" flipH="0" flipV="0">
            <a:off x="526542" y="1702118"/>
            <a:ext cx="218118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COHORT CONSTRUCTION</a:t>
            </a:r>
          </a:p>
        </p:txBody>
      </p:sp>
      <p:sp>
        <p:nvSpPr>
          <p:cNvPr id="12" name="Line 12">
            <a:extLst xmlns:a="http://schemas.openxmlformats.org/drawingml/2006/main">
              <a:ext uri="{FF2B5EF4-FFF2-40B4-BE49-F238E27FC236}">
                <a16:creationId xmlns:a16="http://schemas.microsoft.com/office/drawing/2014/main" id="{2C8D996F-F042-4C8A-8313-5633A06E0439}"/>
              </a:ext>
            </a:extLst>
          </p:cNvPr>
          <p:cNvSpPr>
            <a:spLocks xmlns:a="http://schemas.openxmlformats.org/drawingml/2006/main" noGrp="1"/>
          </p:cNvSpPr>
          <p:nvPr/>
        </p:nvSpPr>
        <p:spPr>
          <a:xfrm xmlns:a="http://schemas.openxmlformats.org/drawingml/2006/main" rot="0" flipH="0" flipV="0">
            <a:off x="685800" y="5181600"/>
            <a:ext cx="6400800" cy="9525"/>
          </a:xfrm>
          <a:custGeom xmlns:a="http://schemas.openxmlformats.org/drawingml/2006/main">
            <a:rect l="l" t="t" r="r" b="b"/>
            <a:pathLst>
              <a:path w="6400800" h="9525">
                <a:moveTo>
                  <a:pt x="0" y="0"/>
                </a:moveTo>
                <a:lnTo>
                  <a:pt x="6400800" y="0"/>
                </a:lnTo>
              </a:path>
            </a:pathLst>
          </a:custGeom>
          <a:noFill xmlns:a="http://schemas.openxmlformats.org/drawingml/2006/main"/>
          <a:ln xmlns:a="http://schemas.openxmlformats.org/drawingml/2006/main" w="14288">
            <a:solidFill>
              <a:srgbClr val="CBD2DC"/>
            </a:solidFill>
          </a:ln>
        </p:spPr>
      </p:sp>
      <p:sp>
        <p:nvSpPr>
          <p:cNvPr id="13" name="Polygon 13">
            <a:extLst xmlns:a="http://schemas.openxmlformats.org/drawingml/2006/main">
              <a:ext uri="{FF2B5EF4-FFF2-40B4-BE49-F238E27FC236}">
                <a16:creationId xmlns:a16="http://schemas.microsoft.com/office/drawing/2014/main" id="{38B90C97-0544-4478-8974-0B4FDDDF9E19}"/>
              </a:ext>
            </a:extLst>
          </p:cNvPr>
          <p:cNvSpPr>
            <a:spLocks xmlns:a="http://schemas.openxmlformats.org/drawingml/2006/main" noGrp="1"/>
          </p:cNvSpPr>
          <p:nvPr/>
        </p:nvSpPr>
        <p:spPr>
          <a:xfrm xmlns:a="http://schemas.openxmlformats.org/drawingml/2006/main" rot="0" flipH="0" flipV="0">
            <a:off x="685800" y="2038350"/>
            <a:ext cx="6400800" cy="838200"/>
          </a:xfrm>
          <a:custGeom xmlns:a="http://schemas.openxmlformats.org/drawingml/2006/main">
            <a:rect l="l" t="t" r="r" b="b"/>
            <a:pathLst>
              <a:path w="6400800" h="838200">
                <a:moveTo>
                  <a:pt x="0" y="0"/>
                </a:moveTo>
                <a:lnTo>
                  <a:pt x="6400800" y="0"/>
                </a:lnTo>
                <a:lnTo>
                  <a:pt x="4943475" y="838200"/>
                </a:lnTo>
                <a:lnTo>
                  <a:pt x="1457325" y="838200"/>
                </a:lnTo>
                <a:close/>
              </a:path>
            </a:pathLst>
          </a:custGeom>
          <a:solidFill xmlns:a="http://schemas.openxmlformats.org/drawingml/2006/main">
            <a:schemeClr val="accent5"/>
          </a:solidFill>
          <a:ln xmlns:a="http://schemas.openxmlformats.org/drawingml/2006/main" w="14288">
            <a:solidFill>
              <a:srgbClr val="CBD2DC"/>
            </a:solidFill>
          </a:ln>
        </p:spPr>
      </p:sp>
      <p:sp>
        <p:nvSpPr>
          <p:cNvPr id="14" name="Rectangle 14">
            <a:extLst xmlns:a="http://schemas.openxmlformats.org/drawingml/2006/main">
              <a:ext uri="{FF2B5EF4-FFF2-40B4-BE49-F238E27FC236}">
                <a16:creationId xmlns:a16="http://schemas.microsoft.com/office/drawing/2014/main" id="{B548FDFB-33C1-4014-BE46-325E2ECCF4B0}"/>
              </a:ext>
            </a:extLst>
          </p:cNvPr>
          <p:cNvSpPr>
            <a:spLocks xmlns:a="http://schemas.openxmlformats.org/drawingml/2006/main" noGrp="1"/>
          </p:cNvSpPr>
          <p:nvPr/>
        </p:nvSpPr>
        <p:spPr>
          <a:xfrm xmlns:a="http://schemas.openxmlformats.org/drawingml/2006/main" rot="0" flipH="0" flipV="0">
            <a:off x="2143125" y="3009900"/>
            <a:ext cx="3486150" cy="838200"/>
          </a:xfrm>
          <a:prstGeom xmlns:a="http://schemas.openxmlformats.org/drawingml/2006/main" prst="roundRect">
            <a:avLst>
              <a:gd name="adj" fmla="val 13636"/>
            </a:avLst>
          </a:prstGeom>
          <a:solidFill xmlns:a="http://schemas.openxmlformats.org/drawingml/2006/main">
            <a:srgbClr val="DDF3EF"/>
          </a:solidFill>
          <a:ln xmlns:a="http://schemas.openxmlformats.org/drawingml/2006/main" w="19050">
            <a:solidFill>
              <a:schemeClr val="accent6"/>
            </a:solidFill>
          </a:ln>
        </p:spPr>
      </p:sp>
      <p:sp>
        <p:nvSpPr>
          <p:cNvPr id="15" name="Rectangle 15">
            <a:extLst xmlns:a="http://schemas.openxmlformats.org/drawingml/2006/main">
              <a:ext uri="{FF2B5EF4-FFF2-40B4-BE49-F238E27FC236}">
                <a16:creationId xmlns:a16="http://schemas.microsoft.com/office/drawing/2014/main" id="{FFB3D5BB-C12F-440F-B135-61A42D4C35A1}"/>
              </a:ext>
            </a:extLst>
          </p:cNvPr>
          <p:cNvSpPr>
            <a:spLocks xmlns:a="http://schemas.openxmlformats.org/drawingml/2006/main" noGrp="1"/>
          </p:cNvSpPr>
          <p:nvPr/>
        </p:nvSpPr>
        <p:spPr>
          <a:xfrm xmlns:a="http://schemas.openxmlformats.org/drawingml/2006/main" rot="0" flipH="0" flipV="0">
            <a:off x="685800" y="4171950"/>
            <a:ext cx="1981200" cy="933450"/>
          </a:xfrm>
          <a:prstGeom xmlns:a="http://schemas.openxmlformats.org/drawingml/2006/main" prst="roundRect">
            <a:avLst>
              <a:gd name="adj" fmla="val 12245"/>
            </a:avLst>
          </a:prstGeom>
          <a:solidFill xmlns:a="http://schemas.openxmlformats.org/drawingml/2006/main">
            <a:srgbClr val="E8F0FF"/>
          </a:solidFill>
          <a:ln xmlns:a="http://schemas.openxmlformats.org/drawingml/2006/main" w="19050">
            <a:solidFill>
              <a:schemeClr val="accent2"/>
            </a:solidFill>
          </a:ln>
        </p:spPr>
      </p:sp>
      <p:sp>
        <p:nvSpPr>
          <p:cNvPr id="16" name="Rectangle 16">
            <a:extLst xmlns:a="http://schemas.openxmlformats.org/drawingml/2006/main">
              <a:ext uri="{FF2B5EF4-FFF2-40B4-BE49-F238E27FC236}">
                <a16:creationId xmlns:a16="http://schemas.microsoft.com/office/drawing/2014/main" id="{69253602-2E21-49E1-A0E9-28A1CC93959A}"/>
              </a:ext>
            </a:extLst>
          </p:cNvPr>
          <p:cNvSpPr>
            <a:spLocks xmlns:a="http://schemas.openxmlformats.org/drawingml/2006/main" noGrp="1"/>
          </p:cNvSpPr>
          <p:nvPr/>
        </p:nvSpPr>
        <p:spPr>
          <a:xfrm xmlns:a="http://schemas.openxmlformats.org/drawingml/2006/main" rot="0" flipH="0" flipV="0">
            <a:off x="2895600" y="4171950"/>
            <a:ext cx="1981200" cy="933450"/>
          </a:xfrm>
          <a:prstGeom xmlns:a="http://schemas.openxmlformats.org/drawingml/2006/main" prst="roundRect">
            <a:avLst>
              <a:gd name="adj" fmla="val 12245"/>
            </a:avLst>
          </a:prstGeom>
          <a:solidFill xmlns:a="http://schemas.openxmlformats.org/drawingml/2006/main">
            <a:srgbClr val="E8F0FF"/>
          </a:solidFill>
          <a:ln xmlns:a="http://schemas.openxmlformats.org/drawingml/2006/main" w="19050">
            <a:solidFill>
              <a:schemeClr val="accent2"/>
            </a:solidFill>
          </a:ln>
        </p:spPr>
      </p:sp>
      <p:sp>
        <p:nvSpPr>
          <p:cNvPr id="17" name="Rectangle 17">
            <a:extLst xmlns:a="http://schemas.openxmlformats.org/drawingml/2006/main">
              <a:ext uri="{FF2B5EF4-FFF2-40B4-BE49-F238E27FC236}">
                <a16:creationId xmlns:a16="http://schemas.microsoft.com/office/drawing/2014/main" id="{C2A8B91A-D514-4C32-A740-9EA15A0C1DC5}"/>
              </a:ext>
            </a:extLst>
          </p:cNvPr>
          <p:cNvSpPr>
            <a:spLocks xmlns:a="http://schemas.openxmlformats.org/drawingml/2006/main" noGrp="1"/>
          </p:cNvSpPr>
          <p:nvPr/>
        </p:nvSpPr>
        <p:spPr>
          <a:xfrm xmlns:a="http://schemas.openxmlformats.org/drawingml/2006/main" rot="0" flipH="0" flipV="0">
            <a:off x="5105400" y="4171950"/>
            <a:ext cx="1981200" cy="933450"/>
          </a:xfrm>
          <a:prstGeom xmlns:a="http://schemas.openxmlformats.org/drawingml/2006/main" prst="roundRect">
            <a:avLst>
              <a:gd name="adj" fmla="val 12245"/>
            </a:avLst>
          </a:prstGeom>
          <a:solidFill xmlns:a="http://schemas.openxmlformats.org/drawingml/2006/main">
            <a:srgbClr val="E8F0FF"/>
          </a:solidFill>
          <a:ln xmlns:a="http://schemas.openxmlformats.org/drawingml/2006/main" w="19050">
            <a:solidFill>
              <a:schemeClr val="accent2"/>
            </a:solidFill>
          </a:ln>
        </p:spPr>
      </p:sp>
      <p:sp>
        <p:nvSpPr>
          <p:cNvPr id="19" name="TextBox 19">
            <a:extLst xmlns:a="http://schemas.openxmlformats.org/drawingml/2006/main">
              <a:ext uri="{FF2B5EF4-FFF2-40B4-BE49-F238E27FC236}">
                <a16:creationId xmlns:a16="http://schemas.microsoft.com/office/drawing/2014/main" id="{23D18B24-CAE1-4481-9114-22F7412D5EC4}"/>
              </a:ext>
            </a:extLst>
          </p:cNvPr>
          <p:cNvSpPr>
            <a:spLocks xmlns:a="http://schemas.openxmlformats.org/drawingml/2006/main" noGrp="1"/>
          </p:cNvSpPr>
          <p:nvPr/>
        </p:nvSpPr>
        <p:spPr>
          <a:xfrm xmlns:a="http://schemas.openxmlformats.org/drawingml/2006/main" rot="0" flipH="0" flipV="0">
            <a:off x="1759839" y="2215515"/>
            <a:ext cx="425272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800" b="1">
                <a:solidFill>
                  <a:schemeClr val="accent1"/>
                </a:solidFill>
                <a:latin typeface="+mn-lt"/>
                <a:ea typeface="+mn-lt"/>
                <a:cs typeface="+mn-lt"/>
              </a:rPr>
              <a:t>Official record · 11,601 students</a:t>
            </a:r>
          </a:p>
        </p:txBody>
      </p:sp>
      <p:sp>
        <p:nvSpPr>
          <p:cNvPr id="20" name="TextBox 20">
            <a:extLst xmlns:a="http://schemas.openxmlformats.org/drawingml/2006/main">
              <a:ext uri="{FF2B5EF4-FFF2-40B4-BE49-F238E27FC236}">
                <a16:creationId xmlns:a16="http://schemas.microsoft.com/office/drawing/2014/main" id="{CB8EFB76-57B1-4035-8687-870D5092D48A}"/>
              </a:ext>
            </a:extLst>
          </p:cNvPr>
          <p:cNvSpPr>
            <a:spLocks xmlns:a="http://schemas.openxmlformats.org/drawingml/2006/main" noGrp="1"/>
          </p:cNvSpPr>
          <p:nvPr/>
        </p:nvSpPr>
        <p:spPr>
          <a:xfrm xmlns:a="http://schemas.openxmlformats.org/drawingml/2006/main" rot="0" flipH="0" flipV="0">
            <a:off x="2210807" y="3152775"/>
            <a:ext cx="335078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6"/>
                </a:solidFill>
                <a:latin typeface="+mn-lt"/>
                <a:ea typeface="+mn-lt"/>
                <a:cs typeface="+mn-lt"/>
              </a:rPr>
              <a:t>Kindergarten assignment cohort</a:t>
            </a:r>
          </a:p>
        </p:txBody>
      </p:sp>
      <p:sp>
        <p:nvSpPr>
          <p:cNvPr id="21" name="TextBox 21">
            <a:extLst xmlns:a="http://schemas.openxmlformats.org/drawingml/2006/main">
              <a:ext uri="{FF2B5EF4-FFF2-40B4-BE49-F238E27FC236}">
                <a16:creationId xmlns:a16="http://schemas.microsoft.com/office/drawing/2014/main" id="{66275EFD-08D2-4A1B-93BA-33250F54DDF0}"/>
              </a:ext>
            </a:extLst>
          </p:cNvPr>
          <p:cNvSpPr>
            <a:spLocks xmlns:a="http://schemas.openxmlformats.org/drawingml/2006/main" noGrp="1"/>
          </p:cNvSpPr>
          <p:nvPr/>
        </p:nvSpPr>
        <p:spPr>
          <a:xfrm xmlns:a="http://schemas.openxmlformats.org/drawingml/2006/main" rot="0" flipH="0" flipV="0">
            <a:off x="2505456" y="3448050"/>
            <a:ext cx="276148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a:solidFill>
                  <a:schemeClr val="accent1"/>
                </a:solidFill>
                <a:latin typeface="Consolas"/>
                <a:ea typeface="Consolas"/>
                <a:cs typeface="Consolas"/>
              </a:rPr>
              <a:t>6,325 students · 79 schools</a:t>
            </a:r>
          </a:p>
        </p:txBody>
      </p:sp>
      <p:sp>
        <p:nvSpPr>
          <p:cNvPr id="22" name="TextBox 22">
            <a:extLst xmlns:a="http://schemas.openxmlformats.org/drawingml/2006/main">
              <a:ext uri="{FF2B5EF4-FFF2-40B4-BE49-F238E27FC236}">
                <a16:creationId xmlns:a16="http://schemas.microsoft.com/office/drawing/2014/main" id="{D1DAC684-2A60-4518-9B9E-1A395178F32D}"/>
              </a:ext>
            </a:extLst>
          </p:cNvPr>
          <p:cNvSpPr>
            <a:spLocks xmlns:a="http://schemas.openxmlformats.org/drawingml/2006/main" noGrp="1"/>
          </p:cNvSpPr>
          <p:nvPr/>
        </p:nvSpPr>
        <p:spPr>
          <a:xfrm xmlns:a="http://schemas.openxmlformats.org/drawingml/2006/main" rot="0" flipH="0" flipV="0">
            <a:off x="1194054" y="4333875"/>
            <a:ext cx="964692"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mn-lt"/>
                <a:ea typeface="+mn-lt"/>
                <a:cs typeface="+mn-lt"/>
              </a:rPr>
              <a:t>Attrition</a:t>
            </a:r>
          </a:p>
        </p:txBody>
      </p:sp>
      <p:sp>
        <p:nvSpPr>
          <p:cNvPr id="23" name="TextBox 23">
            <a:extLst xmlns:a="http://schemas.openxmlformats.org/drawingml/2006/main">
              <a:ext uri="{FF2B5EF4-FFF2-40B4-BE49-F238E27FC236}">
                <a16:creationId xmlns:a16="http://schemas.microsoft.com/office/drawing/2014/main" id="{90365A1B-C105-4634-BD15-9C3565516387}"/>
              </a:ext>
            </a:extLst>
          </p:cNvPr>
          <p:cNvSpPr>
            <a:spLocks xmlns:a="http://schemas.openxmlformats.org/drawingml/2006/main" noGrp="1"/>
          </p:cNvSpPr>
          <p:nvPr/>
        </p:nvSpPr>
        <p:spPr>
          <a:xfrm xmlns:a="http://schemas.openxmlformats.org/drawingml/2006/main" rot="0" flipH="0" flipV="0">
            <a:off x="911542" y="4667250"/>
            <a:ext cx="152971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a:solidFill>
                  <a:schemeClr val="accent1"/>
                </a:solidFill>
                <a:latin typeface="Consolas"/>
                <a:ea typeface="Consolas"/>
                <a:cs typeface="Consolas"/>
              </a:rPr>
              <a:t>5,744 · 9 nodes</a:t>
            </a:r>
          </a:p>
        </p:txBody>
      </p:sp>
      <p:sp>
        <p:nvSpPr>
          <p:cNvPr id="24" name="TextBox 24">
            <a:extLst xmlns:a="http://schemas.openxmlformats.org/drawingml/2006/main">
              <a:ext uri="{FF2B5EF4-FFF2-40B4-BE49-F238E27FC236}">
                <a16:creationId xmlns:a16="http://schemas.microsoft.com/office/drawing/2014/main" id="{BEE0634A-183D-4250-AA05-E55F1AF31A93}"/>
              </a:ext>
            </a:extLst>
          </p:cNvPr>
          <p:cNvSpPr>
            <a:spLocks xmlns:a="http://schemas.openxmlformats.org/drawingml/2006/main" noGrp="1"/>
          </p:cNvSpPr>
          <p:nvPr/>
        </p:nvSpPr>
        <p:spPr>
          <a:xfrm xmlns:a="http://schemas.openxmlformats.org/drawingml/2006/main" rot="0" flipH="0" flipV="0">
            <a:off x="3255477" y="4333875"/>
            <a:ext cx="1261446"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mn-lt"/>
                <a:ea typeface="+mn-lt"/>
                <a:cs typeface="+mn-lt"/>
              </a:rPr>
              <a:t>Longitudinal</a:t>
            </a:r>
          </a:p>
        </p:txBody>
      </p:sp>
      <p:sp>
        <p:nvSpPr>
          <p:cNvPr id="25" name="TextBox 25">
            <a:extLst xmlns:a="http://schemas.openxmlformats.org/drawingml/2006/main">
              <a:ext uri="{FF2B5EF4-FFF2-40B4-BE49-F238E27FC236}">
                <a16:creationId xmlns:a16="http://schemas.microsoft.com/office/drawing/2014/main" id="{DDB24BE6-F9D6-4318-AD59-C3BF1A5CF74B}"/>
              </a:ext>
            </a:extLst>
          </p:cNvPr>
          <p:cNvSpPr>
            <a:spLocks xmlns:a="http://schemas.openxmlformats.org/drawingml/2006/main" noGrp="1"/>
          </p:cNvSpPr>
          <p:nvPr/>
        </p:nvSpPr>
        <p:spPr>
          <a:xfrm xmlns:a="http://schemas.openxmlformats.org/drawingml/2006/main" rot="0" flipH="0" flipV="0">
            <a:off x="3121342" y="4667250"/>
            <a:ext cx="152971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a:solidFill>
                  <a:schemeClr val="accent1"/>
                </a:solidFill>
                <a:latin typeface="Consolas"/>
                <a:ea typeface="Consolas"/>
                <a:cs typeface="Consolas"/>
              </a:rPr>
              <a:t>2,787 · 9 nodes</a:t>
            </a:r>
          </a:p>
        </p:txBody>
      </p:sp>
      <p:sp>
        <p:nvSpPr>
          <p:cNvPr id="26" name="TextBox 26">
            <a:extLst xmlns:a="http://schemas.openxmlformats.org/drawingml/2006/main">
              <a:ext uri="{FF2B5EF4-FFF2-40B4-BE49-F238E27FC236}">
                <a16:creationId xmlns:a16="http://schemas.microsoft.com/office/drawing/2014/main" id="{9BDF58D1-C0B6-43BF-8DEF-A6D37CBB96EA}"/>
              </a:ext>
            </a:extLst>
          </p:cNvPr>
          <p:cNvSpPr>
            <a:spLocks xmlns:a="http://schemas.openxmlformats.org/drawingml/2006/main" noGrp="1"/>
          </p:cNvSpPr>
          <p:nvPr/>
        </p:nvSpPr>
        <p:spPr>
          <a:xfrm xmlns:a="http://schemas.openxmlformats.org/drawingml/2006/main" rot="0" flipH="0" flipV="0">
            <a:off x="5676929" y="4333875"/>
            <a:ext cx="83814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mn-lt"/>
                <a:ea typeface="+mn-lt"/>
                <a:cs typeface="+mn-lt"/>
              </a:rPr>
              <a:t>Focused</a:t>
            </a:r>
          </a:p>
        </p:txBody>
      </p:sp>
      <p:sp>
        <p:nvSpPr>
          <p:cNvPr id="27" name="TextBox 27">
            <a:extLst xmlns:a="http://schemas.openxmlformats.org/drawingml/2006/main">
              <a:ext uri="{FF2B5EF4-FFF2-40B4-BE49-F238E27FC236}">
                <a16:creationId xmlns:a16="http://schemas.microsoft.com/office/drawing/2014/main" id="{1BDDD55D-D677-43D3-BA13-82E57D3BA58D}"/>
              </a:ext>
            </a:extLst>
          </p:cNvPr>
          <p:cNvSpPr>
            <a:spLocks xmlns:a="http://schemas.openxmlformats.org/drawingml/2006/main" noGrp="1"/>
          </p:cNvSpPr>
          <p:nvPr/>
        </p:nvSpPr>
        <p:spPr>
          <a:xfrm xmlns:a="http://schemas.openxmlformats.org/drawingml/2006/main" rot="0" flipH="0" flipV="0">
            <a:off x="5331142" y="4667250"/>
            <a:ext cx="152971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a:solidFill>
                  <a:schemeClr val="accent1"/>
                </a:solidFill>
                <a:latin typeface="Consolas"/>
                <a:ea typeface="Consolas"/>
                <a:cs typeface="Consolas"/>
              </a:rPr>
              <a:t>2,976 · 8 nodes</a:t>
            </a:r>
          </a:p>
        </p:txBody>
      </p:sp>
      <p:sp>
        <p:nvSpPr>
          <p:cNvPr id="29" name="Rectangle 29">
            <a:extLst xmlns:a="http://schemas.openxmlformats.org/drawingml/2006/main">
              <a:ext uri="{FF2B5EF4-FFF2-40B4-BE49-F238E27FC236}">
                <a16:creationId xmlns:a16="http://schemas.microsoft.com/office/drawing/2014/main" id="{4922FE29-D234-41DF-A685-897468A820C3}"/>
              </a:ext>
            </a:extLst>
          </p:cNvPr>
          <p:cNvSpPr>
            <a:spLocks xmlns:a="http://schemas.openxmlformats.org/drawingml/2006/main" noGrp="1"/>
          </p:cNvSpPr>
          <p:nvPr/>
        </p:nvSpPr>
        <p:spPr>
          <a:xfrm xmlns:a="http://schemas.openxmlformats.org/drawingml/2006/main" rot="0" flipH="0" flipV="0">
            <a:off x="7810500" y="1619250"/>
            <a:ext cx="3848100" cy="3810000"/>
          </a:xfrm>
          <a:prstGeom xmlns:a="http://schemas.openxmlformats.org/drawingml/2006/main" prst="roundRect">
            <a:avLst>
              <a:gd name="adj" fmla="val 4000"/>
            </a:avLst>
          </a:prstGeom>
          <a:solidFill xmlns:a="http://schemas.openxmlformats.org/drawingml/2006/main">
            <a:schemeClr val="accent1"/>
          </a:solidFill>
          <a:ln xmlns:a="http://schemas.openxmlformats.org/drawingml/2006/main">
            <a:noFill/>
          </a:ln>
        </p:spPr>
      </p:sp>
      <p:sp>
        <p:nvSpPr>
          <p:cNvPr id="30" name="TextBox 30">
            <a:extLst xmlns:a="http://schemas.openxmlformats.org/drawingml/2006/main">
              <a:ext uri="{FF2B5EF4-FFF2-40B4-BE49-F238E27FC236}">
                <a16:creationId xmlns:a16="http://schemas.microsoft.com/office/drawing/2014/main" id="{45105288-41EB-4FC9-9865-C28AC5D29574}"/>
              </a:ext>
            </a:extLst>
          </p:cNvPr>
          <p:cNvSpPr>
            <a:spLocks xmlns:a="http://schemas.openxmlformats.org/drawingml/2006/main" noGrp="1"/>
          </p:cNvSpPr>
          <p:nvPr/>
        </p:nvSpPr>
        <p:spPr>
          <a:xfrm xmlns:a="http://schemas.openxmlformats.org/drawingml/2006/main" rot="0" flipH="0" flipV="0">
            <a:off x="8089392" y="1825942"/>
            <a:ext cx="239289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A7E8DF"/>
                </a:solidFill>
                <a:latin typeface="+mn-lt"/>
                <a:ea typeface="+mn-lt"/>
                <a:cs typeface="+mn-lt"/>
              </a:rPr>
              <a:t>IDENTIFICATION BOUNDARY</a:t>
            </a:r>
          </a:p>
        </p:txBody>
      </p:sp>
      <p:sp>
        <p:nvSpPr>
          <p:cNvPr id="31" name="TextBox 31">
            <a:extLst xmlns:a="http://schemas.openxmlformats.org/drawingml/2006/main">
              <a:ext uri="{FF2B5EF4-FFF2-40B4-BE49-F238E27FC236}">
                <a16:creationId xmlns:a16="http://schemas.microsoft.com/office/drawing/2014/main" id="{76DA2B68-1BBB-456B-9DE7-775F1118098A}"/>
              </a:ext>
            </a:extLst>
          </p:cNvPr>
          <p:cNvSpPr>
            <a:spLocks xmlns:a="http://schemas.openxmlformats.org/drawingml/2006/main" noGrp="1"/>
          </p:cNvSpPr>
          <p:nvPr/>
        </p:nvSpPr>
        <p:spPr>
          <a:xfrm xmlns:a="http://schemas.openxmlformats.org/drawingml/2006/main" rot="0" flipH="0" flipV="0">
            <a:off x="8084820" y="2157412"/>
            <a:ext cx="2834811"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250" b="1">
                <a:solidFill>
                  <a:srgbClr val="FFFFFF"/>
                </a:solidFill>
                <a:latin typeface="+mj-lt"/>
                <a:ea typeface="+mj-lt"/>
                <a:cs typeface="+mj-lt"/>
              </a:rPr>
              <a:t>Experiment first</a:t>
            </a:r>
          </a:p>
        </p:txBody>
      </p:sp>
      <p:sp>
        <p:nvSpPr>
          <p:cNvPr id="32" name="TextBox 32">
            <a:extLst xmlns:a="http://schemas.openxmlformats.org/drawingml/2006/main">
              <a:ext uri="{FF2B5EF4-FFF2-40B4-BE49-F238E27FC236}">
                <a16:creationId xmlns:a16="http://schemas.microsoft.com/office/drawing/2014/main" id="{4F4D8B8C-BC53-4B9A-8D96-57A8EB0A552C}"/>
              </a:ext>
            </a:extLst>
          </p:cNvPr>
          <p:cNvSpPr>
            <a:spLocks xmlns:a="http://schemas.openxmlformats.org/drawingml/2006/main" noGrp="1"/>
          </p:cNvSpPr>
          <p:nvPr/>
        </p:nvSpPr>
        <p:spPr>
          <a:xfrm xmlns:a="http://schemas.openxmlformats.org/drawingml/2006/main" rot="0" flipH="0" flipV="0">
            <a:off x="8088630" y="2590800"/>
            <a:ext cx="374723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Kindergarten arm assignment supplies</a:t>
            </a:r>
          </a:p>
        </p:txBody>
      </p:sp>
      <p:sp>
        <p:nvSpPr>
          <p:cNvPr id="33" name="TextBox 33">
            <a:extLst xmlns:a="http://schemas.openxmlformats.org/drawingml/2006/main">
              <a:ext uri="{FF2B5EF4-FFF2-40B4-BE49-F238E27FC236}">
                <a16:creationId xmlns:a16="http://schemas.microsoft.com/office/drawing/2014/main" id="{0965AC03-74AB-4D9F-9A6A-EE585EF360DC}"/>
              </a:ext>
            </a:extLst>
          </p:cNvPr>
          <p:cNvSpPr>
            <a:spLocks xmlns:a="http://schemas.openxmlformats.org/drawingml/2006/main" noGrp="1"/>
          </p:cNvSpPr>
          <p:nvPr/>
        </p:nvSpPr>
        <p:spPr>
          <a:xfrm xmlns:a="http://schemas.openxmlformats.org/drawingml/2006/main" rot="0" flipH="0" flipV="0">
            <a:off x="8088630" y="2847975"/>
            <a:ext cx="276148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the strongest design basis.</a:t>
            </a:r>
          </a:p>
        </p:txBody>
      </p:sp>
      <p:sp>
        <p:nvSpPr>
          <p:cNvPr id="34" name="Line 34">
            <a:extLst xmlns:a="http://schemas.openxmlformats.org/drawingml/2006/main">
              <a:ext uri="{FF2B5EF4-FFF2-40B4-BE49-F238E27FC236}">
                <a16:creationId xmlns:a16="http://schemas.microsoft.com/office/drawing/2014/main" id="{9EDEE43A-6F8C-4448-875E-2DC45491734A}"/>
              </a:ext>
            </a:extLst>
          </p:cNvPr>
          <p:cNvSpPr>
            <a:spLocks xmlns:a="http://schemas.openxmlformats.org/drawingml/2006/main" noGrp="1"/>
          </p:cNvSpPr>
          <p:nvPr/>
        </p:nvSpPr>
        <p:spPr>
          <a:xfrm xmlns:a="http://schemas.openxmlformats.org/drawingml/2006/main" rot="0" flipH="0" flipV="0">
            <a:off x="8096250" y="3314700"/>
            <a:ext cx="3276600" cy="9525"/>
          </a:xfrm>
          <a:custGeom xmlns:a="http://schemas.openxmlformats.org/drawingml/2006/main">
            <a:rect l="l" t="t" r="r" b="b"/>
            <a:pathLst>
              <a:path w="3276600" h="9525">
                <a:moveTo>
                  <a:pt x="0" y="0"/>
                </a:moveTo>
                <a:lnTo>
                  <a:pt x="3276600" y="0"/>
                </a:lnTo>
              </a:path>
            </a:pathLst>
          </a:custGeom>
          <a:noFill xmlns:a="http://schemas.openxmlformats.org/drawingml/2006/main"/>
          <a:ln xmlns:a="http://schemas.openxmlformats.org/drawingml/2006/main" w="14288">
            <a:solidFill>
              <a:srgbClr val="5C7190"/>
            </a:solidFill>
          </a:ln>
        </p:spPr>
      </p:sp>
      <p:sp>
        <p:nvSpPr>
          <p:cNvPr id="35" name="TextBox 35">
            <a:extLst xmlns:a="http://schemas.openxmlformats.org/drawingml/2006/main">
              <a:ext uri="{FF2B5EF4-FFF2-40B4-BE49-F238E27FC236}">
                <a16:creationId xmlns:a16="http://schemas.microsoft.com/office/drawing/2014/main" id="{BF902630-83A6-4C46-90DA-F1E57A6D216B}"/>
              </a:ext>
            </a:extLst>
          </p:cNvPr>
          <p:cNvSpPr>
            <a:spLocks xmlns:a="http://schemas.openxmlformats.org/drawingml/2006/main" noGrp="1"/>
          </p:cNvSpPr>
          <p:nvPr/>
        </p:nvSpPr>
        <p:spPr>
          <a:xfrm xmlns:a="http://schemas.openxmlformats.org/drawingml/2006/main" rot="0" flipH="0" flipV="0">
            <a:off x="8084820" y="3424238"/>
            <a:ext cx="1913096" cy="4400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250" b="1">
                <a:solidFill>
                  <a:srgbClr val="FFFFFF"/>
                </a:solidFill>
                <a:latin typeface="+mj-lt"/>
                <a:ea typeface="+mj-lt"/>
                <a:cs typeface="+mj-lt"/>
              </a:rPr>
              <a:t>PAG second</a:t>
            </a:r>
          </a:p>
        </p:txBody>
      </p:sp>
      <p:sp>
        <p:nvSpPr>
          <p:cNvPr id="36" name="TextBox 36">
            <a:extLst xmlns:a="http://schemas.openxmlformats.org/drawingml/2006/main">
              <a:ext uri="{FF2B5EF4-FFF2-40B4-BE49-F238E27FC236}">
                <a16:creationId xmlns:a16="http://schemas.microsoft.com/office/drawing/2014/main" id="{7350AE41-C6C9-44E0-838B-62531C77AE16}"/>
              </a:ext>
            </a:extLst>
          </p:cNvPr>
          <p:cNvSpPr>
            <a:spLocks xmlns:a="http://schemas.openxmlformats.org/drawingml/2006/main" noGrp="1"/>
          </p:cNvSpPr>
          <p:nvPr/>
        </p:nvSpPr>
        <p:spPr>
          <a:xfrm xmlns:a="http://schemas.openxmlformats.org/drawingml/2006/main" rot="0" flipH="0" flipV="0">
            <a:off x="8088630" y="3857625"/>
            <a:ext cx="390926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Later complete-case panels may encode</a:t>
            </a:r>
          </a:p>
        </p:txBody>
      </p:sp>
      <p:sp>
        <p:nvSpPr>
          <p:cNvPr id="37" name="TextBox 37">
            <a:extLst xmlns:a="http://schemas.openxmlformats.org/drawingml/2006/main">
              <a:ext uri="{FF2B5EF4-FFF2-40B4-BE49-F238E27FC236}">
                <a16:creationId xmlns:a16="http://schemas.microsoft.com/office/drawing/2014/main" id="{1EF96B89-CB2C-44F2-9B7B-E4F07CF1662E}"/>
              </a:ext>
            </a:extLst>
          </p:cNvPr>
          <p:cNvSpPr>
            <a:spLocks xmlns:a="http://schemas.openxmlformats.org/drawingml/2006/main" noGrp="1"/>
          </p:cNvSpPr>
          <p:nvPr/>
        </p:nvSpPr>
        <p:spPr>
          <a:xfrm xmlns:a="http://schemas.openxmlformats.org/drawingml/2006/main" rot="0" flipH="0" flipV="0">
            <a:off x="8088630" y="4114800"/>
            <a:ext cx="349853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attrition and conditioning effects.</a:t>
            </a:r>
          </a:p>
        </p:txBody>
      </p:sp>
      <p:sp>
        <p:nvSpPr>
          <p:cNvPr id="38" name="Rectangle 38">
            <a:extLst xmlns:a="http://schemas.openxmlformats.org/drawingml/2006/main">
              <a:ext uri="{FF2B5EF4-FFF2-40B4-BE49-F238E27FC236}">
                <a16:creationId xmlns:a16="http://schemas.microsoft.com/office/drawing/2014/main" id="{55CDA0DE-14E8-4807-8960-67D900488B43}"/>
              </a:ext>
            </a:extLst>
          </p:cNvPr>
          <p:cNvSpPr>
            <a:spLocks xmlns:a="http://schemas.openxmlformats.org/drawingml/2006/main" noGrp="1"/>
          </p:cNvSpPr>
          <p:nvPr/>
        </p:nvSpPr>
        <p:spPr>
          <a:xfrm xmlns:a="http://schemas.openxmlformats.org/drawingml/2006/main" rot="0" flipH="0" flipV="0">
            <a:off x="8096250" y="4667250"/>
            <a:ext cx="3276600" cy="514350"/>
          </a:xfrm>
          <a:prstGeom xmlns:a="http://schemas.openxmlformats.org/drawingml/2006/main" prst="roundRect">
            <a:avLst>
              <a:gd name="adj" fmla="val 18519"/>
            </a:avLst>
          </a:prstGeom>
          <a:solidFill xmlns:a="http://schemas.openxmlformats.org/drawingml/2006/main">
            <a:srgbClr val="B45F4A"/>
          </a:solidFill>
          <a:ln xmlns:a="http://schemas.openxmlformats.org/drawingml/2006/main">
            <a:noFill/>
          </a:ln>
        </p:spPr>
      </p:sp>
      <p:sp>
        <p:nvSpPr>
          <p:cNvPr id="39" name="TextBox 39">
            <a:extLst xmlns:a="http://schemas.openxmlformats.org/drawingml/2006/main">
              <a:ext uri="{FF2B5EF4-FFF2-40B4-BE49-F238E27FC236}">
                <a16:creationId xmlns:a16="http://schemas.microsoft.com/office/drawing/2014/main" id="{44FE90D9-8328-4692-B463-22163B0EF678}"/>
              </a:ext>
            </a:extLst>
          </p:cNvPr>
          <p:cNvSpPr>
            <a:spLocks xmlns:a="http://schemas.openxmlformats.org/drawingml/2006/main" noGrp="1"/>
          </p:cNvSpPr>
          <p:nvPr/>
        </p:nvSpPr>
        <p:spPr>
          <a:xfrm xmlns:a="http://schemas.openxmlformats.org/drawingml/2006/main" rot="0" flipH="0" flipV="0">
            <a:off x="8193342" y="4740592"/>
            <a:ext cx="308241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No temporal constraints supplied</a:t>
            </a:r>
          </a:p>
        </p:txBody>
      </p:sp>
      <p:sp>
        <p:nvSpPr>
          <p:cNvPr id="40" name="TextBox 40">
            <a:extLst xmlns:a="http://schemas.openxmlformats.org/drawingml/2006/main">
              <a:ext uri="{FF2B5EF4-FFF2-40B4-BE49-F238E27FC236}">
                <a16:creationId xmlns:a16="http://schemas.microsoft.com/office/drawing/2014/main" id="{AE353851-85A1-4625-8ED4-C00C3ACFAE64}"/>
              </a:ext>
            </a:extLst>
          </p:cNvPr>
          <p:cNvSpPr>
            <a:spLocks xmlns:a="http://schemas.openxmlformats.org/drawingml/2006/main" noGrp="1"/>
          </p:cNvSpPr>
          <p:nvPr/>
        </p:nvSpPr>
        <p:spPr>
          <a:xfrm xmlns:a="http://schemas.openxmlformats.org/drawingml/2006/main" rot="0" flipH="0" flipV="0">
            <a:off x="8434860" y="4950142"/>
            <a:ext cx="259937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to the discovery algorithms</a:t>
            </a:r>
          </a:p>
        </p:txBody>
      </p:sp>
      <p:sp>
        <p:nvSpPr>
          <p:cNvPr id="42" name="TextBox 42">
            <a:extLst xmlns:a="http://schemas.openxmlformats.org/drawingml/2006/main">
              <a:ext uri="{FF2B5EF4-FFF2-40B4-BE49-F238E27FC236}">
                <a16:creationId xmlns:a16="http://schemas.microsoft.com/office/drawing/2014/main" id="{C622E169-C978-4035-9728-7517F36B2C48}"/>
              </a:ext>
            </a:extLst>
          </p:cNvPr>
          <p:cNvSpPr>
            <a:spLocks xmlns:a="http://schemas.openxmlformats.org/drawingml/2006/main" noGrp="1"/>
          </p:cNvSpPr>
          <p:nvPr/>
        </p:nvSpPr>
        <p:spPr>
          <a:xfrm xmlns:a="http://schemas.openxmlformats.org/drawingml/2006/main" rot="0" flipH="0" flipV="0">
            <a:off x="525780" y="5762625"/>
            <a:ext cx="1035441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2E7D5B"/>
                </a:solidFill>
                <a:latin typeface="+mn-lt"/>
                <a:ea typeface="+mn-lt"/>
                <a:cs typeface="+mn-lt"/>
              </a:rPr>
              <a:t>1,000 school-cluster resamples</a:t>
            </a:r>
            <a:r>
              <a:rPr sz="1500">
                <a:solidFill>
                  <a:schemeClr val="dk1"/>
                </a:solidFill>
                <a:latin typeface="+mn-lt"/>
                <a:ea typeface="+mn-lt"/>
                <a:cs typeface="+mn-lt"/>
              </a:rPr>
              <a:t> for arm contrasts · </a:t>
            </a:r>
            <a:r>
              <a:rPr sz="1500" b="1">
                <a:solidFill>
                  <a:schemeClr val="accent2"/>
                </a:solidFill>
                <a:latin typeface="+mn-lt"/>
                <a:ea typeface="+mn-lt"/>
                <a:cs typeface="+mn-lt"/>
              </a:rPr>
              <a:t>100 school resamples</a:t>
            </a:r>
            <a:r>
              <a:rPr sz="1500">
                <a:solidFill>
                  <a:schemeClr val="dk1"/>
                </a:solidFill>
                <a:latin typeface="+mn-lt"/>
                <a:ea typeface="+mn-lt"/>
                <a:cs typeface="+mn-lt"/>
              </a:rPr>
              <a:t> for PAG adjacency stability</a:t>
            </a:r>
          </a:p>
        </p:txBody>
      </p:sp>
      <p:sp>
        <p:nvSpPr>
          <p:cNvPr id="44" name="TextBox 44">
            <a:extLst xmlns:a="http://schemas.openxmlformats.org/drawingml/2006/main">
              <a:ext uri="{FF2B5EF4-FFF2-40B4-BE49-F238E27FC236}">
                <a16:creationId xmlns:a16="http://schemas.microsoft.com/office/drawing/2014/main" id="{43DA8A11-DD96-4A4F-9F5C-94A4D4D4B080}"/>
              </a:ext>
            </a:extLst>
          </p:cNvPr>
          <p:cNvSpPr>
            <a:spLocks xmlns:a="http://schemas.openxmlformats.org/drawingml/2006/main" noGrp="1"/>
          </p:cNvSpPr>
          <p:nvPr/>
        </p:nvSpPr>
        <p:spPr>
          <a:xfrm xmlns:a="http://schemas.openxmlformats.org/drawingml/2006/main" rot="0" flipH="0" flipV="0">
            <a:off x="527304" y="6309360"/>
            <a:ext cx="726830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Tennessee STAR DOI 10.7910/DVN/SIWH9F · committed cohort and preprocessing provenance</a:t>
            </a:r>
          </a:p>
        </p:txBody>
      </p:sp>
      <p:sp>
        <p:nvSpPr>
          <p:cNvPr id="45" name="TextBox 45">
            <a:extLst xmlns:a="http://schemas.openxmlformats.org/drawingml/2006/main">
              <a:ext uri="{FF2B5EF4-FFF2-40B4-BE49-F238E27FC236}">
                <a16:creationId xmlns:a16="http://schemas.microsoft.com/office/drawing/2014/main" id="{586FE1C3-FF9C-467D-B21A-56D2D5409DDB}"/>
              </a:ext>
            </a:extLst>
          </p:cNvPr>
          <p:cNvSpPr>
            <a:spLocks xmlns:a="http://schemas.openxmlformats.org/drawingml/2006/main" noGrp="1"/>
          </p:cNvSpPr>
          <p:nvPr/>
        </p:nvSpPr>
        <p:spPr>
          <a:xfrm xmlns:a="http://schemas.openxmlformats.org/drawingml/2006/main" rot="0" flipH="0" flipV="0">
            <a:off x="11111332" y="630936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11 / 15</a:t>
            </a:r>
          </a:p>
        </p:txBody>
      </p:sp>
    </p:spTree>
    <p:extLst>
      <p:ext uri="{BB962C8B-B14F-4D97-AF65-F5344CB8AC3E}">
        <p14:creationId xmlns:p14="http://schemas.microsoft.com/office/powerpoint/2010/main" val="1961328022"/>
      </p:ext>
    </p:extLst>
  </p:cSld>
</p:sld>
</file>

<file path=ppt/slides/slide12.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817A5A05-BA0A-4043-B81A-3BC6DFC7C9E1}"/>
              </a:ext>
            </a:extLst>
          </p:cNvPr>
          <p:cNvSpPr>
            <a:spLocks xmlns:a="http://schemas.openxmlformats.org/drawingml/2006/main" noGrp="1"/>
          </p:cNvSpPr>
          <p:nvPr/>
        </p:nvSpPr>
        <p:spPr>
          <a:xfrm xmlns:a="http://schemas.openxmlformats.org/drawingml/2006/main" rot="0" flipH="0" flipV="0">
            <a:off x="518160" y="361950"/>
            <a:ext cx="10657808"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The Strongest Signal Comes from Randomization</a:t>
            </a:r>
          </a:p>
        </p:txBody>
      </p:sp>
      <p:sp>
        <p:nvSpPr>
          <p:cNvPr id="3" name="TextBox 3">
            <a:extLst xmlns:a="http://schemas.openxmlformats.org/drawingml/2006/main">
              <a:ext uri="{FF2B5EF4-FFF2-40B4-BE49-F238E27FC236}">
                <a16:creationId xmlns:a16="http://schemas.microsoft.com/office/drawing/2014/main" id="{6A6407DA-AF1D-410D-82EA-98332A8F4160}"/>
              </a:ext>
            </a:extLst>
          </p:cNvPr>
          <p:cNvSpPr>
            <a:spLocks xmlns:a="http://schemas.openxmlformats.org/drawingml/2006/main" noGrp="1"/>
          </p:cNvSpPr>
          <p:nvPr/>
        </p:nvSpPr>
        <p:spPr>
          <a:xfrm xmlns:a="http://schemas.openxmlformats.org/drawingml/2006/main" rot="0" flipH="0" flipV="0">
            <a:off x="9769907" y="844868"/>
            <a:ext cx="189555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rgbClr val="2E7D5B"/>
                </a:solidFill>
                <a:latin typeface="Consolas"/>
                <a:ea typeface="Consolas"/>
                <a:cs typeface="Consolas"/>
              </a:rPr>
              <a:t>STAR ARM CONTRASTS</a:t>
            </a:r>
          </a:p>
        </p:txBody>
      </p:sp>
      <p:sp>
        <p:nvSpPr>
          <p:cNvPr id="4" name="Line 4">
            <a:extLst xmlns:a="http://schemas.openxmlformats.org/drawingml/2006/main">
              <a:ext uri="{FF2B5EF4-FFF2-40B4-BE49-F238E27FC236}">
                <a16:creationId xmlns:a16="http://schemas.microsoft.com/office/drawing/2014/main" id="{88A0E3D6-20C7-4DB8-9566-66E9B5DAD2DE}"/>
              </a:ext>
            </a:extLst>
          </p:cNvPr>
          <p:cNvSpPr>
            <a:spLocks xmlns:a="http://schemas.openxmlformats.org/drawingml/2006/main" noGrp="1"/>
          </p:cNvSpPr>
          <p:nvPr/>
        </p:nvSpPr>
        <p:spPr>
          <a:xfrm xmlns:a="http://schemas.openxmlformats.org/drawingml/2006/main" rot="0" flipH="0" flipV="0">
            <a:off x="533400" y="11049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F6D488AD-5CAC-4F87-A2DB-39A21CD9A76A}"/>
              </a:ext>
            </a:extLst>
          </p:cNvPr>
          <p:cNvSpPr>
            <a:spLocks xmlns:a="http://schemas.openxmlformats.org/drawingml/2006/main" noGrp="1"/>
          </p:cNvSpPr>
          <p:nvPr/>
        </p:nvSpPr>
        <p:spPr>
          <a:xfrm xmlns:a="http://schemas.openxmlformats.org/drawingml/2006/main" rot="0" flipH="0" flipV="0">
            <a:off x="533400" y="1162050"/>
            <a:ext cx="152400" cy="152400"/>
          </a:xfrm>
          <a:prstGeom xmlns:a="http://schemas.openxmlformats.org/drawingml/2006/main" prst="roundRect">
            <a:avLst>
              <a:gd name="adj" fmla="val 18750"/>
            </a:avLst>
          </a:prstGeom>
          <a:solidFill xmlns:a="http://schemas.openxmlformats.org/drawingml/2006/main">
            <a:srgbClr val="2E7D5B"/>
          </a:solidFill>
          <a:ln xmlns:a="http://schemas.openxmlformats.org/drawingml/2006/main">
            <a:noFill/>
          </a:ln>
        </p:spPr>
      </p:sp>
      <p:sp>
        <p:nvSpPr>
          <p:cNvPr id="7" name="TextBox 7">
            <a:extLst xmlns:a="http://schemas.openxmlformats.org/drawingml/2006/main">
              <a:ext uri="{FF2B5EF4-FFF2-40B4-BE49-F238E27FC236}">
                <a16:creationId xmlns:a16="http://schemas.microsoft.com/office/drawing/2014/main" id="{FAA54B0C-3B43-4B9C-A38E-E2E4FB144A5D}"/>
              </a:ext>
            </a:extLst>
          </p:cNvPr>
          <p:cNvSpPr>
            <a:spLocks xmlns:a="http://schemas.openxmlformats.org/drawingml/2006/main" noGrp="1"/>
          </p:cNvSpPr>
          <p:nvPr/>
        </p:nvSpPr>
        <p:spPr>
          <a:xfrm xmlns:a="http://schemas.openxmlformats.org/drawingml/2006/main" rot="0" flipH="0" flipV="0">
            <a:off x="781050" y="1133475"/>
            <a:ext cx="2667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rgbClr val="2E7D5B"/>
                </a:solidFill>
                <a:latin typeface="+mn-lt"/>
                <a:ea typeface="+mn-lt"/>
                <a:cs typeface="+mn-lt"/>
              </a:rPr>
              <a:t>RANDOMIZED K CONTRAST</a:t>
            </a:r>
          </a:p>
        </p:txBody>
      </p:sp>
      <p:sp>
        <p:nvSpPr>
          <p:cNvPr id="8" name="Rectangle 8">
            <a:extLst xmlns:a="http://schemas.openxmlformats.org/drawingml/2006/main">
              <a:ext uri="{FF2B5EF4-FFF2-40B4-BE49-F238E27FC236}">
                <a16:creationId xmlns:a16="http://schemas.microsoft.com/office/drawing/2014/main" id="{DBE45EE9-8E4B-4982-A94D-B24640054517}"/>
              </a:ext>
            </a:extLst>
          </p:cNvPr>
          <p:cNvSpPr>
            <a:spLocks xmlns:a="http://schemas.openxmlformats.org/drawingml/2006/main" noGrp="1"/>
          </p:cNvSpPr>
          <p:nvPr/>
        </p:nvSpPr>
        <p:spPr>
          <a:xfrm xmlns:a="http://schemas.openxmlformats.org/drawingml/2006/main" rot="0" flipH="0" flipV="0">
            <a:off x="4572000" y="1162050"/>
            <a:ext cx="152400" cy="152400"/>
          </a:xfrm>
          <a:prstGeom xmlns:a="http://schemas.openxmlformats.org/drawingml/2006/main" prst="roundRect">
            <a:avLst>
              <a:gd name="adj" fmla="val 18750"/>
            </a:avLst>
          </a:prstGeom>
          <a:solidFill xmlns:a="http://schemas.openxmlformats.org/drawingml/2006/main">
            <a:schemeClr val="accent3"/>
          </a:solidFill>
          <a:ln xmlns:a="http://schemas.openxmlformats.org/drawingml/2006/main">
            <a:noFill/>
          </a:ln>
        </p:spPr>
      </p:sp>
      <p:sp>
        <p:nvSpPr>
          <p:cNvPr id="9" name="TextBox 9">
            <a:extLst xmlns:a="http://schemas.openxmlformats.org/drawingml/2006/main">
              <a:ext uri="{FF2B5EF4-FFF2-40B4-BE49-F238E27FC236}">
                <a16:creationId xmlns:a16="http://schemas.microsoft.com/office/drawing/2014/main" id="{4E4654DC-5348-46F2-AD09-C4404B0215B9}"/>
              </a:ext>
            </a:extLst>
          </p:cNvPr>
          <p:cNvSpPr>
            <a:spLocks xmlns:a="http://schemas.openxmlformats.org/drawingml/2006/main" noGrp="1"/>
          </p:cNvSpPr>
          <p:nvPr/>
        </p:nvSpPr>
        <p:spPr>
          <a:xfrm xmlns:a="http://schemas.openxmlformats.org/drawingml/2006/main" rot="0" flipH="0" flipV="0">
            <a:off x="4819650" y="1133475"/>
            <a:ext cx="2952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chemeClr val="accent3"/>
                </a:solidFill>
                <a:latin typeface="+mn-lt"/>
                <a:ea typeface="+mn-lt"/>
                <a:cs typeface="+mn-lt"/>
              </a:rPr>
              <a:t>OBSERVED GRADE-3 FOLLOW-UP</a:t>
            </a:r>
          </a:p>
        </p:txBody>
      </p:sp>
      <p:sp>
        <p:nvSpPr>
          <p:cNvPr id="11" name="Rectangle 11">
            <a:extLst xmlns:a="http://schemas.openxmlformats.org/drawingml/2006/main">
              <a:ext uri="{FF2B5EF4-FFF2-40B4-BE49-F238E27FC236}">
                <a16:creationId xmlns:a16="http://schemas.microsoft.com/office/drawing/2014/main" id="{C59D454A-7EF3-4284-835B-628B2B4BF0EC}"/>
              </a:ext>
            </a:extLst>
          </p:cNvPr>
          <p:cNvSpPr>
            <a:spLocks xmlns:a="http://schemas.openxmlformats.org/drawingml/2006/main" noGrp="1"/>
          </p:cNvSpPr>
          <p:nvPr/>
        </p:nvSpPr>
        <p:spPr>
          <a:xfrm xmlns:a="http://schemas.openxmlformats.org/drawingml/2006/main" rot="0" flipH="0" flipV="0">
            <a:off x="533400" y="1619250"/>
            <a:ext cx="7620000" cy="3857625"/>
          </a:xfrm>
          <a:prstGeom xmlns:a="http://schemas.openxmlformats.org/drawingml/2006/main" prst="roundRect">
            <a:avLst>
              <a:gd name="adj" fmla="val 3457"/>
            </a:avLst>
          </a:prstGeom>
          <a:solidFill xmlns:a="http://schemas.openxmlformats.org/drawingml/2006/main">
            <a:srgbClr val="FFFFFF"/>
          </a:solidFill>
          <a:ln xmlns:a="http://schemas.openxmlformats.org/drawingml/2006/main" w="14288">
            <a:solidFill>
              <a:srgbClr val="CBD2DC"/>
            </a:solidFill>
          </a:ln>
        </p:spPr>
      </p:sp>
      <p:sp>
        <p:nvSpPr>
          <p:cNvPr id="12" name="TextBox 12">
            <a:extLst xmlns:a="http://schemas.openxmlformats.org/drawingml/2006/main">
              <a:ext uri="{FF2B5EF4-FFF2-40B4-BE49-F238E27FC236}">
                <a16:creationId xmlns:a16="http://schemas.microsoft.com/office/drawing/2014/main" id="{9458DE75-C07C-4307-A5C5-029C2692D3DD}"/>
              </a:ext>
            </a:extLst>
          </p:cNvPr>
          <p:cNvSpPr>
            <a:spLocks xmlns:a="http://schemas.openxmlformats.org/drawingml/2006/main" noGrp="1"/>
          </p:cNvSpPr>
          <p:nvPr/>
        </p:nvSpPr>
        <p:spPr>
          <a:xfrm xmlns:a="http://schemas.openxmlformats.org/drawingml/2006/main" rot="0" flipH="0" flipV="0">
            <a:off x="755142" y="1787842"/>
            <a:ext cx="616328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ARM MINUS REGULAR · SCHOOL-CLUSTER BOOTSTRAP 95% INTERVAL</a:t>
            </a:r>
          </a:p>
        </p:txBody>
      </p:sp>
      <p:sp>
        <p:nvSpPr>
          <p:cNvPr id="13" name="TextBox 13">
            <a:extLst xmlns:a="http://schemas.openxmlformats.org/drawingml/2006/main">
              <a:ext uri="{FF2B5EF4-FFF2-40B4-BE49-F238E27FC236}">
                <a16:creationId xmlns:a16="http://schemas.microsoft.com/office/drawing/2014/main" id="{80D0D87B-8680-43D8-9B58-3A7CFED5FD71}"/>
              </a:ext>
            </a:extLst>
          </p:cNvPr>
          <p:cNvSpPr>
            <a:spLocks xmlns:a="http://schemas.openxmlformats.org/drawingml/2006/main" noGrp="1"/>
          </p:cNvSpPr>
          <p:nvPr/>
        </p:nvSpPr>
        <p:spPr>
          <a:xfrm xmlns:a="http://schemas.openxmlformats.org/drawingml/2006/main" rot="0" flipH="0" flipV="0">
            <a:off x="3384804" y="2137410"/>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−10</a:t>
            </a:r>
          </a:p>
        </p:txBody>
      </p:sp>
      <p:sp>
        <p:nvSpPr>
          <p:cNvPr id="14" name="TextBox 14">
            <a:extLst xmlns:a="http://schemas.openxmlformats.org/drawingml/2006/main">
              <a:ext uri="{FF2B5EF4-FFF2-40B4-BE49-F238E27FC236}">
                <a16:creationId xmlns:a16="http://schemas.microsoft.com/office/drawing/2014/main" id="{BB56F824-BA4F-4088-BA9D-3C50E1F22D5C}"/>
              </a:ext>
            </a:extLst>
          </p:cNvPr>
          <p:cNvSpPr>
            <a:spLocks xmlns:a="http://schemas.openxmlformats.org/drawingml/2006/main" noGrp="1"/>
          </p:cNvSpPr>
          <p:nvPr/>
        </p:nvSpPr>
        <p:spPr>
          <a:xfrm xmlns:a="http://schemas.openxmlformats.org/drawingml/2006/main" rot="0" flipH="0" flipV="0">
            <a:off x="4584954" y="2137410"/>
            <a:ext cx="10104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0</a:t>
            </a:r>
          </a:p>
        </p:txBody>
      </p:sp>
      <p:sp>
        <p:nvSpPr>
          <p:cNvPr id="15" name="TextBox 15">
            <a:extLst xmlns:a="http://schemas.openxmlformats.org/drawingml/2006/main">
              <a:ext uri="{FF2B5EF4-FFF2-40B4-BE49-F238E27FC236}">
                <a16:creationId xmlns:a16="http://schemas.microsoft.com/office/drawing/2014/main" id="{00105DFA-0343-4934-AEF6-9AAA777BA4E7}"/>
              </a:ext>
            </a:extLst>
          </p:cNvPr>
          <p:cNvSpPr>
            <a:spLocks xmlns:a="http://schemas.openxmlformats.org/drawingml/2006/main" noGrp="1"/>
          </p:cNvSpPr>
          <p:nvPr/>
        </p:nvSpPr>
        <p:spPr>
          <a:xfrm xmlns:a="http://schemas.openxmlformats.org/drawingml/2006/main" rot="0" flipH="0" flipV="0">
            <a:off x="5775579" y="2137410"/>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+10</a:t>
            </a:r>
          </a:p>
        </p:txBody>
      </p:sp>
      <p:sp>
        <p:nvSpPr>
          <p:cNvPr id="16" name="TextBox 16">
            <a:extLst xmlns:a="http://schemas.openxmlformats.org/drawingml/2006/main">
              <a:ext uri="{FF2B5EF4-FFF2-40B4-BE49-F238E27FC236}">
                <a16:creationId xmlns:a16="http://schemas.microsoft.com/office/drawing/2014/main" id="{0FFECE43-E0A1-4EB6-977F-3601317BEB17}"/>
              </a:ext>
            </a:extLst>
          </p:cNvPr>
          <p:cNvSpPr>
            <a:spLocks xmlns:a="http://schemas.openxmlformats.org/drawingml/2006/main" noGrp="1"/>
          </p:cNvSpPr>
          <p:nvPr/>
        </p:nvSpPr>
        <p:spPr>
          <a:xfrm xmlns:a="http://schemas.openxmlformats.org/drawingml/2006/main" rot="0" flipH="0" flipV="0">
            <a:off x="6975729" y="2137410"/>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+20</a:t>
            </a:r>
          </a:p>
        </p:txBody>
      </p:sp>
      <p:sp>
        <p:nvSpPr>
          <p:cNvPr id="17" name="TextBox 17">
            <a:extLst xmlns:a="http://schemas.openxmlformats.org/drawingml/2006/main">
              <a:ext uri="{FF2B5EF4-FFF2-40B4-BE49-F238E27FC236}">
                <a16:creationId xmlns:a16="http://schemas.microsoft.com/office/drawing/2014/main" id="{791818E5-2F06-4D7C-B3F6-3C0BC27D2035}"/>
              </a:ext>
            </a:extLst>
          </p:cNvPr>
          <p:cNvSpPr>
            <a:spLocks xmlns:a="http://schemas.openxmlformats.org/drawingml/2006/main" noGrp="1"/>
          </p:cNvSpPr>
          <p:nvPr/>
        </p:nvSpPr>
        <p:spPr>
          <a:xfrm xmlns:a="http://schemas.openxmlformats.org/drawingml/2006/main" rot="0" flipH="0" flipV="0">
            <a:off x="7575804" y="2137410"/>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+25</a:t>
            </a:r>
          </a:p>
        </p:txBody>
      </p:sp>
      <p:sp>
        <p:nvSpPr>
          <p:cNvPr id="18" name="Line 18">
            <a:extLst xmlns:a="http://schemas.openxmlformats.org/drawingml/2006/main">
              <a:ext uri="{FF2B5EF4-FFF2-40B4-BE49-F238E27FC236}">
                <a16:creationId xmlns:a16="http://schemas.microsoft.com/office/drawing/2014/main" id="{4077416A-94C4-466F-A84D-3232A85BB812}"/>
              </a:ext>
            </a:extLst>
          </p:cNvPr>
          <p:cNvSpPr>
            <a:spLocks xmlns:a="http://schemas.openxmlformats.org/drawingml/2006/main" noGrp="1"/>
          </p:cNvSpPr>
          <p:nvPr/>
        </p:nvSpPr>
        <p:spPr>
          <a:xfrm xmlns:a="http://schemas.openxmlformats.org/drawingml/2006/main" rot="0" flipH="0" flipV="0">
            <a:off x="3476625" y="2381250"/>
            <a:ext cx="4191000" cy="9525"/>
          </a:xfrm>
          <a:custGeom xmlns:a="http://schemas.openxmlformats.org/drawingml/2006/main">
            <a:rect l="l" t="t" r="r" b="b"/>
            <a:pathLst>
              <a:path w="4191000" h="9525">
                <a:moveTo>
                  <a:pt x="0" y="0"/>
                </a:moveTo>
                <a:lnTo>
                  <a:pt x="4191000" y="0"/>
                </a:lnTo>
              </a:path>
            </a:pathLst>
          </a:custGeom>
          <a:noFill xmlns:a="http://schemas.openxmlformats.org/drawingml/2006/main"/>
          <a:ln xmlns:a="http://schemas.openxmlformats.org/drawingml/2006/main" w="14288">
            <a:solidFill>
              <a:srgbClr val="CBD2DC"/>
            </a:solidFill>
          </a:ln>
        </p:spPr>
      </p:sp>
      <p:sp>
        <p:nvSpPr>
          <p:cNvPr id="19" name="Line 19">
            <a:extLst xmlns:a="http://schemas.openxmlformats.org/drawingml/2006/main">
              <a:ext uri="{FF2B5EF4-FFF2-40B4-BE49-F238E27FC236}">
                <a16:creationId xmlns:a16="http://schemas.microsoft.com/office/drawing/2014/main" id="{16767E59-411D-4B71-B5EC-AC739337D05D}"/>
              </a:ext>
            </a:extLst>
          </p:cNvPr>
          <p:cNvSpPr>
            <a:spLocks xmlns:a="http://schemas.openxmlformats.org/drawingml/2006/main" noGrp="1"/>
          </p:cNvSpPr>
          <p:nvPr/>
        </p:nvSpPr>
        <p:spPr>
          <a:xfrm xmlns:a="http://schemas.openxmlformats.org/drawingml/2006/main" rot="0" flipH="0" flipV="0">
            <a:off x="4676775" y="2381250"/>
            <a:ext cx="9525" cy="2714625"/>
          </a:xfrm>
          <a:custGeom xmlns:a="http://schemas.openxmlformats.org/drawingml/2006/main">
            <a:rect l="l" t="t" r="r" b="b"/>
            <a:pathLst>
              <a:path w="9525" h="2714625">
                <a:moveTo>
                  <a:pt x="0" y="0"/>
                </a:moveTo>
                <a:lnTo>
                  <a:pt x="0" y="2714625"/>
                </a:lnTo>
              </a:path>
            </a:pathLst>
          </a:custGeom>
          <a:noFill xmlns:a="http://schemas.openxmlformats.org/drawingml/2006/main"/>
          <a:ln xmlns:a="http://schemas.openxmlformats.org/drawingml/2006/main" w="19050">
            <a:solidFill>
              <a:srgbClr val="5F6875"/>
            </a:solidFill>
          </a:ln>
        </p:spPr>
      </p:sp>
      <p:sp>
        <p:nvSpPr>
          <p:cNvPr id="20" name="Line 20">
            <a:extLst xmlns:a="http://schemas.openxmlformats.org/drawingml/2006/main">
              <a:ext uri="{FF2B5EF4-FFF2-40B4-BE49-F238E27FC236}">
                <a16:creationId xmlns:a16="http://schemas.microsoft.com/office/drawing/2014/main" id="{3922A7D9-8F6B-4E38-B221-E779B34FE05E}"/>
              </a:ext>
            </a:extLst>
          </p:cNvPr>
          <p:cNvSpPr>
            <a:spLocks xmlns:a="http://schemas.openxmlformats.org/drawingml/2006/main" noGrp="1"/>
          </p:cNvSpPr>
          <p:nvPr/>
        </p:nvSpPr>
        <p:spPr>
          <a:xfrm xmlns:a="http://schemas.openxmlformats.org/drawingml/2006/main" rot="0" flipH="0" flipV="0">
            <a:off x="3476625" y="2381250"/>
            <a:ext cx="9525" cy="2714625"/>
          </a:xfrm>
          <a:custGeom xmlns:a="http://schemas.openxmlformats.org/drawingml/2006/main">
            <a:rect l="l" t="t" r="r" b="b"/>
            <a:pathLst>
              <a:path w="9525" h="2714625">
                <a:moveTo>
                  <a:pt x="0" y="0"/>
                </a:moveTo>
                <a:lnTo>
                  <a:pt x="0" y="2714625"/>
                </a:lnTo>
              </a:path>
            </a:pathLst>
          </a:custGeom>
          <a:noFill xmlns:a="http://schemas.openxmlformats.org/drawingml/2006/main"/>
          <a:ln xmlns:a="http://schemas.openxmlformats.org/drawingml/2006/main" w="14288">
            <a:solidFill>
              <a:srgbClr val="E9EDF5"/>
            </a:solidFill>
          </a:ln>
        </p:spPr>
      </p:sp>
      <p:sp>
        <p:nvSpPr>
          <p:cNvPr id="21" name="Line 21">
            <a:extLst xmlns:a="http://schemas.openxmlformats.org/drawingml/2006/main">
              <a:ext uri="{FF2B5EF4-FFF2-40B4-BE49-F238E27FC236}">
                <a16:creationId xmlns:a16="http://schemas.microsoft.com/office/drawing/2014/main" id="{B015E402-7578-4E06-9CD0-4151B65553A9}"/>
              </a:ext>
            </a:extLst>
          </p:cNvPr>
          <p:cNvSpPr>
            <a:spLocks xmlns:a="http://schemas.openxmlformats.org/drawingml/2006/main" noGrp="1"/>
          </p:cNvSpPr>
          <p:nvPr/>
        </p:nvSpPr>
        <p:spPr>
          <a:xfrm xmlns:a="http://schemas.openxmlformats.org/drawingml/2006/main" rot="0" flipH="0" flipV="0">
            <a:off x="5867400" y="2381250"/>
            <a:ext cx="9525" cy="2714625"/>
          </a:xfrm>
          <a:custGeom xmlns:a="http://schemas.openxmlformats.org/drawingml/2006/main">
            <a:rect l="l" t="t" r="r" b="b"/>
            <a:pathLst>
              <a:path w="9525" h="2714625">
                <a:moveTo>
                  <a:pt x="0" y="0"/>
                </a:moveTo>
                <a:lnTo>
                  <a:pt x="0" y="2714625"/>
                </a:lnTo>
              </a:path>
            </a:pathLst>
          </a:custGeom>
          <a:noFill xmlns:a="http://schemas.openxmlformats.org/drawingml/2006/main"/>
          <a:ln xmlns:a="http://schemas.openxmlformats.org/drawingml/2006/main" w="14288">
            <a:solidFill>
              <a:srgbClr val="E9EDF5"/>
            </a:solidFill>
          </a:ln>
        </p:spPr>
      </p:sp>
      <p:sp>
        <p:nvSpPr>
          <p:cNvPr id="22" name="Line 22">
            <a:extLst xmlns:a="http://schemas.openxmlformats.org/drawingml/2006/main">
              <a:ext uri="{FF2B5EF4-FFF2-40B4-BE49-F238E27FC236}">
                <a16:creationId xmlns:a16="http://schemas.microsoft.com/office/drawing/2014/main" id="{E05057B1-2EF5-4EA6-8E42-44C41E353B4D}"/>
              </a:ext>
            </a:extLst>
          </p:cNvPr>
          <p:cNvSpPr>
            <a:spLocks xmlns:a="http://schemas.openxmlformats.org/drawingml/2006/main" noGrp="1"/>
          </p:cNvSpPr>
          <p:nvPr/>
        </p:nvSpPr>
        <p:spPr>
          <a:xfrm xmlns:a="http://schemas.openxmlformats.org/drawingml/2006/main" rot="0" flipH="0" flipV="0">
            <a:off x="7067550" y="2381250"/>
            <a:ext cx="9525" cy="2714625"/>
          </a:xfrm>
          <a:custGeom xmlns:a="http://schemas.openxmlformats.org/drawingml/2006/main">
            <a:rect l="l" t="t" r="r" b="b"/>
            <a:pathLst>
              <a:path w="9525" h="2714625">
                <a:moveTo>
                  <a:pt x="0" y="0"/>
                </a:moveTo>
                <a:lnTo>
                  <a:pt x="0" y="2714625"/>
                </a:lnTo>
              </a:path>
            </a:pathLst>
          </a:custGeom>
          <a:noFill xmlns:a="http://schemas.openxmlformats.org/drawingml/2006/main"/>
          <a:ln xmlns:a="http://schemas.openxmlformats.org/drawingml/2006/main" w="14288">
            <a:solidFill>
              <a:srgbClr val="E9EDF5"/>
            </a:solidFill>
          </a:ln>
        </p:spPr>
      </p:sp>
      <p:sp>
        <p:nvSpPr>
          <p:cNvPr id="23" name="Line 23">
            <a:extLst xmlns:a="http://schemas.openxmlformats.org/drawingml/2006/main">
              <a:ext uri="{FF2B5EF4-FFF2-40B4-BE49-F238E27FC236}">
                <a16:creationId xmlns:a16="http://schemas.microsoft.com/office/drawing/2014/main" id="{98F5760E-3F3C-4250-BCE4-87D5B41CE3E6}"/>
              </a:ext>
            </a:extLst>
          </p:cNvPr>
          <p:cNvSpPr>
            <a:spLocks xmlns:a="http://schemas.openxmlformats.org/drawingml/2006/main" noGrp="1"/>
          </p:cNvSpPr>
          <p:nvPr/>
        </p:nvSpPr>
        <p:spPr>
          <a:xfrm xmlns:a="http://schemas.openxmlformats.org/drawingml/2006/main" rot="0" flipH="0" flipV="0">
            <a:off x="7667625" y="2381250"/>
            <a:ext cx="9525" cy="2714625"/>
          </a:xfrm>
          <a:custGeom xmlns:a="http://schemas.openxmlformats.org/drawingml/2006/main">
            <a:rect l="l" t="t" r="r" b="b"/>
            <a:pathLst>
              <a:path w="9525" h="2714625">
                <a:moveTo>
                  <a:pt x="0" y="0"/>
                </a:moveTo>
                <a:lnTo>
                  <a:pt x="0" y="2714625"/>
                </a:lnTo>
              </a:path>
            </a:pathLst>
          </a:custGeom>
          <a:noFill xmlns:a="http://schemas.openxmlformats.org/drawingml/2006/main"/>
          <a:ln xmlns:a="http://schemas.openxmlformats.org/drawingml/2006/main" w="14288">
            <a:solidFill>
              <a:srgbClr val="E9EDF5"/>
            </a:solidFill>
          </a:ln>
        </p:spPr>
      </p:sp>
      <p:sp>
        <p:nvSpPr>
          <p:cNvPr id="24" name="Line 24">
            <a:extLst xmlns:a="http://schemas.openxmlformats.org/drawingml/2006/main">
              <a:ext uri="{FF2B5EF4-FFF2-40B4-BE49-F238E27FC236}">
                <a16:creationId xmlns:a16="http://schemas.microsoft.com/office/drawing/2014/main" id="{ED04E6EA-FF89-4F33-B07C-EEB61A0D2453}"/>
              </a:ext>
            </a:extLst>
          </p:cNvPr>
          <p:cNvSpPr>
            <a:spLocks xmlns:a="http://schemas.openxmlformats.org/drawingml/2006/main" noGrp="1"/>
          </p:cNvSpPr>
          <p:nvPr/>
        </p:nvSpPr>
        <p:spPr>
          <a:xfrm xmlns:a="http://schemas.openxmlformats.org/drawingml/2006/main" rot="0" flipH="0" flipV="0">
            <a:off x="5295900" y="2838450"/>
            <a:ext cx="2019300" cy="9525"/>
          </a:xfrm>
          <a:custGeom xmlns:a="http://schemas.openxmlformats.org/drawingml/2006/main">
            <a:rect l="l" t="t" r="r" b="b"/>
            <a:pathLst>
              <a:path w="2019300" h="9525">
                <a:moveTo>
                  <a:pt x="0" y="0"/>
                </a:moveTo>
                <a:lnTo>
                  <a:pt x="2019300" y="0"/>
                </a:lnTo>
              </a:path>
            </a:pathLst>
          </a:custGeom>
          <a:noFill xmlns:a="http://schemas.openxmlformats.org/drawingml/2006/main"/>
          <a:ln xmlns:a="http://schemas.openxmlformats.org/drawingml/2006/main" w="47625">
            <a:solidFill>
              <a:srgbClr val="2E7D5B"/>
            </a:solidFill>
          </a:ln>
        </p:spPr>
      </p:sp>
      <p:sp>
        <p:nvSpPr>
          <p:cNvPr id="25" name="Ellipse 25">
            <a:extLst xmlns:a="http://schemas.openxmlformats.org/drawingml/2006/main">
              <a:ext uri="{FF2B5EF4-FFF2-40B4-BE49-F238E27FC236}">
                <a16:creationId xmlns:a16="http://schemas.microsoft.com/office/drawing/2014/main" id="{BB57BD06-D883-4726-9A36-0E156916131D}"/>
              </a:ext>
            </a:extLst>
          </p:cNvPr>
          <p:cNvSpPr>
            <a:spLocks xmlns:a="http://schemas.openxmlformats.org/drawingml/2006/main" noGrp="1"/>
          </p:cNvSpPr>
          <p:nvPr/>
        </p:nvSpPr>
        <p:spPr>
          <a:xfrm xmlns:a="http://schemas.openxmlformats.org/drawingml/2006/main" rot="0" flipH="0" flipV="0">
            <a:off x="6238875" y="2743200"/>
            <a:ext cx="190500" cy="190500"/>
          </a:xfrm>
          <a:prstGeom xmlns:a="http://schemas.openxmlformats.org/drawingml/2006/main" prst="ellipse">
            <a:avLst/>
          </a:prstGeom>
          <a:solidFill xmlns:a="http://schemas.openxmlformats.org/drawingml/2006/main">
            <a:srgbClr val="2E7D5B"/>
          </a:solidFill>
          <a:ln xmlns:a="http://schemas.openxmlformats.org/drawingml/2006/main">
            <a:noFill/>
          </a:ln>
        </p:spPr>
      </p:sp>
      <p:sp>
        <p:nvSpPr>
          <p:cNvPr id="26" name="Line 26">
            <a:extLst xmlns:a="http://schemas.openxmlformats.org/drawingml/2006/main">
              <a:ext uri="{FF2B5EF4-FFF2-40B4-BE49-F238E27FC236}">
                <a16:creationId xmlns:a16="http://schemas.microsoft.com/office/drawing/2014/main" id="{AFCFADED-202E-45E1-9FCD-C6D476DADB30}"/>
              </a:ext>
            </a:extLst>
          </p:cNvPr>
          <p:cNvSpPr>
            <a:spLocks xmlns:a="http://schemas.openxmlformats.org/drawingml/2006/main" noGrp="1"/>
          </p:cNvSpPr>
          <p:nvPr/>
        </p:nvSpPr>
        <p:spPr>
          <a:xfrm xmlns:a="http://schemas.openxmlformats.org/drawingml/2006/main" rot="0" flipH="0" flipV="0">
            <a:off x="3790950" y="3409950"/>
            <a:ext cx="1771650" cy="9525"/>
          </a:xfrm>
          <a:custGeom xmlns:a="http://schemas.openxmlformats.org/drawingml/2006/main">
            <a:rect l="l" t="t" r="r" b="b"/>
            <a:pathLst>
              <a:path w="1771650" h="9525">
                <a:moveTo>
                  <a:pt x="0" y="0"/>
                </a:moveTo>
                <a:lnTo>
                  <a:pt x="1771650" y="0"/>
                </a:lnTo>
              </a:path>
            </a:pathLst>
          </a:custGeom>
          <a:noFill xmlns:a="http://schemas.openxmlformats.org/drawingml/2006/main"/>
          <a:ln xmlns:a="http://schemas.openxmlformats.org/drawingml/2006/main" w="38100">
            <a:solidFill>
              <a:srgbClr val="5F6875"/>
            </a:solidFill>
          </a:ln>
        </p:spPr>
      </p:sp>
      <p:sp>
        <p:nvSpPr>
          <p:cNvPr id="27" name="Ellipse 27">
            <a:extLst xmlns:a="http://schemas.openxmlformats.org/drawingml/2006/main">
              <a:ext uri="{FF2B5EF4-FFF2-40B4-BE49-F238E27FC236}">
                <a16:creationId xmlns:a16="http://schemas.microsoft.com/office/drawing/2014/main" id="{058042BC-2E59-4D5B-A3DB-0B9354D85F1D}"/>
              </a:ext>
            </a:extLst>
          </p:cNvPr>
          <p:cNvSpPr>
            <a:spLocks xmlns:a="http://schemas.openxmlformats.org/drawingml/2006/main" noGrp="1"/>
          </p:cNvSpPr>
          <p:nvPr/>
        </p:nvSpPr>
        <p:spPr>
          <a:xfrm xmlns:a="http://schemas.openxmlformats.org/drawingml/2006/main" rot="0" flipH="0" flipV="0">
            <a:off x="4629150" y="3324225"/>
            <a:ext cx="171450" cy="171450"/>
          </a:xfrm>
          <a:prstGeom xmlns:a="http://schemas.openxmlformats.org/drawingml/2006/main" prst="ellipse">
            <a:avLst/>
          </a:prstGeom>
          <a:solidFill xmlns:a="http://schemas.openxmlformats.org/drawingml/2006/main">
            <a:srgbClr val="5F6875"/>
          </a:solidFill>
          <a:ln xmlns:a="http://schemas.openxmlformats.org/drawingml/2006/main">
            <a:noFill/>
          </a:ln>
        </p:spPr>
      </p:sp>
      <p:sp>
        <p:nvSpPr>
          <p:cNvPr id="28" name="Line 28">
            <a:extLst xmlns:a="http://schemas.openxmlformats.org/drawingml/2006/main">
              <a:ext uri="{FF2B5EF4-FFF2-40B4-BE49-F238E27FC236}">
                <a16:creationId xmlns:a16="http://schemas.microsoft.com/office/drawing/2014/main" id="{9B3FCBA0-A6A5-4C2F-A713-A32E53926E69}"/>
              </a:ext>
            </a:extLst>
          </p:cNvPr>
          <p:cNvSpPr>
            <a:spLocks xmlns:a="http://schemas.openxmlformats.org/drawingml/2006/main" noGrp="1"/>
          </p:cNvSpPr>
          <p:nvPr/>
        </p:nvSpPr>
        <p:spPr>
          <a:xfrm xmlns:a="http://schemas.openxmlformats.org/drawingml/2006/main" rot="0" flipH="0" flipV="0">
            <a:off x="5124450" y="4171950"/>
            <a:ext cx="1866900" cy="9525"/>
          </a:xfrm>
          <a:custGeom xmlns:a="http://schemas.openxmlformats.org/drawingml/2006/main">
            <a:rect l="l" t="t" r="r" b="b"/>
            <a:pathLst>
              <a:path w="1866900" h="9525">
                <a:moveTo>
                  <a:pt x="0" y="0"/>
                </a:moveTo>
                <a:lnTo>
                  <a:pt x="1866900" y="0"/>
                </a:lnTo>
              </a:path>
            </a:pathLst>
          </a:custGeom>
          <a:noFill xmlns:a="http://schemas.openxmlformats.org/drawingml/2006/main"/>
          <a:ln xmlns:a="http://schemas.openxmlformats.org/drawingml/2006/main" w="47625">
            <a:solidFill>
              <a:schemeClr val="accent3"/>
            </a:solidFill>
          </a:ln>
        </p:spPr>
      </p:sp>
      <p:sp>
        <p:nvSpPr>
          <p:cNvPr id="29" name="Ellipse 29">
            <a:extLst xmlns:a="http://schemas.openxmlformats.org/drawingml/2006/main">
              <a:ext uri="{FF2B5EF4-FFF2-40B4-BE49-F238E27FC236}">
                <a16:creationId xmlns:a16="http://schemas.microsoft.com/office/drawing/2014/main" id="{F95445A6-7CD7-49E4-B5B4-B79980E0E5D1}"/>
              </a:ext>
            </a:extLst>
          </p:cNvPr>
          <p:cNvSpPr>
            <a:spLocks xmlns:a="http://schemas.openxmlformats.org/drawingml/2006/main" noGrp="1"/>
          </p:cNvSpPr>
          <p:nvPr/>
        </p:nvSpPr>
        <p:spPr>
          <a:xfrm xmlns:a="http://schemas.openxmlformats.org/drawingml/2006/main" rot="0" flipH="0" flipV="0">
            <a:off x="5981700" y="4076700"/>
            <a:ext cx="190500" cy="190500"/>
          </a:xfrm>
          <a:prstGeom xmlns:a="http://schemas.openxmlformats.org/drawingml/2006/main" prst="ellipse">
            <a:avLst/>
          </a:prstGeom>
          <a:solidFill xmlns:a="http://schemas.openxmlformats.org/drawingml/2006/main">
            <a:schemeClr val="accent3"/>
          </a:solidFill>
          <a:ln xmlns:a="http://schemas.openxmlformats.org/drawingml/2006/main">
            <a:noFill/>
          </a:ln>
        </p:spPr>
      </p:sp>
      <p:sp>
        <p:nvSpPr>
          <p:cNvPr id="30" name="Line 30">
            <a:extLst xmlns:a="http://schemas.openxmlformats.org/drawingml/2006/main">
              <a:ext uri="{FF2B5EF4-FFF2-40B4-BE49-F238E27FC236}">
                <a16:creationId xmlns:a16="http://schemas.microsoft.com/office/drawing/2014/main" id="{6775A602-139E-4BCD-8941-351DD26262C4}"/>
              </a:ext>
            </a:extLst>
          </p:cNvPr>
          <p:cNvSpPr>
            <a:spLocks xmlns:a="http://schemas.openxmlformats.org/drawingml/2006/main" noGrp="1"/>
          </p:cNvSpPr>
          <p:nvPr/>
        </p:nvSpPr>
        <p:spPr>
          <a:xfrm xmlns:a="http://schemas.openxmlformats.org/drawingml/2006/main" rot="0" flipH="0" flipV="0">
            <a:off x="3990975" y="4743450"/>
            <a:ext cx="1552575" cy="9525"/>
          </a:xfrm>
          <a:custGeom xmlns:a="http://schemas.openxmlformats.org/drawingml/2006/main">
            <a:rect l="l" t="t" r="r" b="b"/>
            <a:pathLst>
              <a:path w="1552575" h="9525">
                <a:moveTo>
                  <a:pt x="0" y="0"/>
                </a:moveTo>
                <a:lnTo>
                  <a:pt x="1552575" y="0"/>
                </a:lnTo>
              </a:path>
            </a:pathLst>
          </a:custGeom>
          <a:noFill xmlns:a="http://schemas.openxmlformats.org/drawingml/2006/main"/>
          <a:ln xmlns:a="http://schemas.openxmlformats.org/drawingml/2006/main" w="38100">
            <a:solidFill>
              <a:srgbClr val="5F6875"/>
            </a:solidFill>
          </a:ln>
        </p:spPr>
      </p:sp>
      <p:sp>
        <p:nvSpPr>
          <p:cNvPr id="31" name="Ellipse 31">
            <a:extLst xmlns:a="http://schemas.openxmlformats.org/drawingml/2006/main">
              <a:ext uri="{FF2B5EF4-FFF2-40B4-BE49-F238E27FC236}">
                <a16:creationId xmlns:a16="http://schemas.microsoft.com/office/drawing/2014/main" id="{4E616811-FB6E-4E8E-9AF4-551092DFB8D7}"/>
              </a:ext>
            </a:extLst>
          </p:cNvPr>
          <p:cNvSpPr>
            <a:spLocks xmlns:a="http://schemas.openxmlformats.org/drawingml/2006/main" noGrp="1"/>
          </p:cNvSpPr>
          <p:nvPr/>
        </p:nvSpPr>
        <p:spPr>
          <a:xfrm xmlns:a="http://schemas.openxmlformats.org/drawingml/2006/main" rot="0" flipH="0" flipV="0">
            <a:off x="4648200" y="4657725"/>
            <a:ext cx="171450" cy="171450"/>
          </a:xfrm>
          <a:prstGeom xmlns:a="http://schemas.openxmlformats.org/drawingml/2006/main" prst="ellipse">
            <a:avLst/>
          </a:prstGeom>
          <a:solidFill xmlns:a="http://schemas.openxmlformats.org/drawingml/2006/main">
            <a:srgbClr val="5F6875"/>
          </a:solidFill>
          <a:ln xmlns:a="http://schemas.openxmlformats.org/drawingml/2006/main">
            <a:noFill/>
          </a:ln>
        </p:spPr>
      </p:sp>
      <p:sp>
        <p:nvSpPr>
          <p:cNvPr id="33" name="TextBox 33">
            <a:extLst xmlns:a="http://schemas.openxmlformats.org/drawingml/2006/main">
              <a:ext uri="{FF2B5EF4-FFF2-40B4-BE49-F238E27FC236}">
                <a16:creationId xmlns:a16="http://schemas.microsoft.com/office/drawing/2014/main" id="{2F4AEDCD-D9E0-4146-BFB0-EE2883F5399B}"/>
              </a:ext>
            </a:extLst>
          </p:cNvPr>
          <p:cNvSpPr>
            <a:spLocks xmlns:a="http://schemas.openxmlformats.org/drawingml/2006/main" noGrp="1"/>
          </p:cNvSpPr>
          <p:nvPr/>
        </p:nvSpPr>
        <p:spPr>
          <a:xfrm xmlns:a="http://schemas.openxmlformats.org/drawingml/2006/main" rot="0" flipH="0" flipV="0">
            <a:off x="754380" y="2581275"/>
            <a:ext cx="1557542"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2E7D5B"/>
                </a:solidFill>
                <a:latin typeface="+mn-lt"/>
                <a:ea typeface="+mn-lt"/>
                <a:cs typeface="+mn-lt"/>
              </a:rPr>
              <a:t>K score · Small</a:t>
            </a:r>
          </a:p>
        </p:txBody>
      </p:sp>
      <p:sp>
        <p:nvSpPr>
          <p:cNvPr id="34" name="TextBox 34">
            <a:extLst xmlns:a="http://schemas.openxmlformats.org/drawingml/2006/main">
              <a:ext uri="{FF2B5EF4-FFF2-40B4-BE49-F238E27FC236}">
                <a16:creationId xmlns:a16="http://schemas.microsoft.com/office/drawing/2014/main" id="{52899C7C-F5DF-45EC-B1E6-D6AAF638C4FD}"/>
              </a:ext>
            </a:extLst>
          </p:cNvPr>
          <p:cNvSpPr>
            <a:spLocks xmlns:a="http://schemas.openxmlformats.org/drawingml/2006/main" noGrp="1"/>
          </p:cNvSpPr>
          <p:nvPr/>
        </p:nvSpPr>
        <p:spPr>
          <a:xfrm xmlns:a="http://schemas.openxmlformats.org/drawingml/2006/main" rot="0" flipH="0" flipV="0">
            <a:off x="754380" y="3152775"/>
            <a:ext cx="1383487"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mn-lt"/>
                <a:ea typeface="+mn-lt"/>
                <a:cs typeface="+mn-lt"/>
              </a:rPr>
              <a:t>K score · Aide</a:t>
            </a:r>
          </a:p>
        </p:txBody>
      </p:sp>
      <p:sp>
        <p:nvSpPr>
          <p:cNvPr id="35" name="TextBox 35">
            <a:extLst xmlns:a="http://schemas.openxmlformats.org/drawingml/2006/main">
              <a:ext uri="{FF2B5EF4-FFF2-40B4-BE49-F238E27FC236}">
                <a16:creationId xmlns:a16="http://schemas.microsoft.com/office/drawing/2014/main" id="{EFCCEB4D-35E2-4F7A-8785-1F3F64FCDFE5}"/>
              </a:ext>
            </a:extLst>
          </p:cNvPr>
          <p:cNvSpPr>
            <a:spLocks xmlns:a="http://schemas.openxmlformats.org/drawingml/2006/main" noGrp="1"/>
          </p:cNvSpPr>
          <p:nvPr/>
        </p:nvSpPr>
        <p:spPr>
          <a:xfrm xmlns:a="http://schemas.openxmlformats.org/drawingml/2006/main" rot="0" flipH="0" flipV="0">
            <a:off x="754380" y="3914775"/>
            <a:ext cx="155911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mn-lt"/>
                <a:ea typeface="+mn-lt"/>
                <a:cs typeface="+mn-lt"/>
              </a:rPr>
              <a:t>Grade 3 · Small</a:t>
            </a:r>
          </a:p>
        </p:txBody>
      </p:sp>
      <p:sp>
        <p:nvSpPr>
          <p:cNvPr id="36" name="TextBox 36">
            <a:extLst xmlns:a="http://schemas.openxmlformats.org/drawingml/2006/main">
              <a:ext uri="{FF2B5EF4-FFF2-40B4-BE49-F238E27FC236}">
                <a16:creationId xmlns:a16="http://schemas.microsoft.com/office/drawing/2014/main" id="{74C39031-A89A-4189-8041-27B33A81FFC7}"/>
              </a:ext>
            </a:extLst>
          </p:cNvPr>
          <p:cNvSpPr>
            <a:spLocks xmlns:a="http://schemas.openxmlformats.org/drawingml/2006/main" noGrp="1"/>
          </p:cNvSpPr>
          <p:nvPr/>
        </p:nvSpPr>
        <p:spPr>
          <a:xfrm xmlns:a="http://schemas.openxmlformats.org/drawingml/2006/main" rot="0" flipH="0" flipV="0">
            <a:off x="754380" y="4486275"/>
            <a:ext cx="1385189"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chemeClr val="dk1"/>
                </a:solidFill>
                <a:latin typeface="+mn-lt"/>
                <a:ea typeface="+mn-lt"/>
                <a:cs typeface="+mn-lt"/>
              </a:rPr>
              <a:t>Grade 3 · Aide</a:t>
            </a:r>
          </a:p>
        </p:txBody>
      </p:sp>
      <p:sp>
        <p:nvSpPr>
          <p:cNvPr id="37" name="TextBox 37">
            <a:extLst xmlns:a="http://schemas.openxmlformats.org/drawingml/2006/main">
              <a:ext uri="{FF2B5EF4-FFF2-40B4-BE49-F238E27FC236}">
                <a16:creationId xmlns:a16="http://schemas.microsoft.com/office/drawing/2014/main" id="{C5C463F0-B35D-4F0E-8453-30F649F6CD48}"/>
              </a:ext>
            </a:extLst>
          </p:cNvPr>
          <p:cNvSpPr>
            <a:spLocks xmlns:a="http://schemas.openxmlformats.org/drawingml/2006/main" noGrp="1"/>
          </p:cNvSpPr>
          <p:nvPr/>
        </p:nvSpPr>
        <p:spPr>
          <a:xfrm xmlns:a="http://schemas.openxmlformats.org/drawingml/2006/main" rot="0" flipH="0" flipV="0">
            <a:off x="755904" y="4918710"/>
            <a:ext cx="479156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Score points; grade-3 rows include only observed outcomes.</a:t>
            </a:r>
          </a:p>
        </p:txBody>
      </p:sp>
      <p:sp>
        <p:nvSpPr>
          <p:cNvPr id="39" name="Rectangle 39">
            <a:extLst xmlns:a="http://schemas.openxmlformats.org/drawingml/2006/main">
              <a:ext uri="{FF2B5EF4-FFF2-40B4-BE49-F238E27FC236}">
                <a16:creationId xmlns:a16="http://schemas.microsoft.com/office/drawing/2014/main" id="{756DB541-F1ED-41DB-9ED8-A44C9223AE7E}"/>
              </a:ext>
            </a:extLst>
          </p:cNvPr>
          <p:cNvSpPr>
            <a:spLocks xmlns:a="http://schemas.openxmlformats.org/drawingml/2006/main" noGrp="1"/>
          </p:cNvSpPr>
          <p:nvPr/>
        </p:nvSpPr>
        <p:spPr>
          <a:xfrm xmlns:a="http://schemas.openxmlformats.org/drawingml/2006/main" rot="0" flipH="0" flipV="0">
            <a:off x="8458200" y="1619250"/>
            <a:ext cx="3200400" cy="3857625"/>
          </a:xfrm>
          <a:prstGeom xmlns:a="http://schemas.openxmlformats.org/drawingml/2006/main" prst="roundRect">
            <a:avLst>
              <a:gd name="adj" fmla="val 4762"/>
            </a:avLst>
          </a:prstGeom>
          <a:solidFill xmlns:a="http://schemas.openxmlformats.org/drawingml/2006/main">
            <a:schemeClr val="accent1"/>
          </a:solidFill>
          <a:ln xmlns:a="http://schemas.openxmlformats.org/drawingml/2006/main">
            <a:noFill/>
          </a:ln>
        </p:spPr>
      </p:sp>
      <p:sp>
        <p:nvSpPr>
          <p:cNvPr id="40" name="TextBox 40">
            <a:extLst xmlns:a="http://schemas.openxmlformats.org/drawingml/2006/main">
              <a:ext uri="{FF2B5EF4-FFF2-40B4-BE49-F238E27FC236}">
                <a16:creationId xmlns:a16="http://schemas.microsoft.com/office/drawing/2014/main" id="{64924ABB-81AA-4593-940E-DFAFBD48F922}"/>
              </a:ext>
            </a:extLst>
          </p:cNvPr>
          <p:cNvSpPr>
            <a:spLocks xmlns:a="http://schemas.openxmlformats.org/drawingml/2006/main" noGrp="1"/>
          </p:cNvSpPr>
          <p:nvPr/>
        </p:nvSpPr>
        <p:spPr>
          <a:xfrm xmlns:a="http://schemas.openxmlformats.org/drawingml/2006/main" rot="0" flipH="0" flipV="0">
            <a:off x="8743950" y="1752600"/>
            <a:ext cx="25336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A7E8DF"/>
                </a:solidFill>
                <a:latin typeface="+mn-lt"/>
                <a:ea typeface="+mn-lt"/>
                <a:cs typeface="+mn-lt"/>
              </a:rPr>
              <a:t>DESIGN-BASED READOUT</a:t>
            </a:r>
          </a:p>
        </p:txBody>
      </p:sp>
      <p:sp>
        <p:nvSpPr>
          <p:cNvPr id="41" name="TextBox 41">
            <a:extLst xmlns:a="http://schemas.openxmlformats.org/drawingml/2006/main">
              <a:ext uri="{FF2B5EF4-FFF2-40B4-BE49-F238E27FC236}">
                <a16:creationId xmlns:a16="http://schemas.microsoft.com/office/drawing/2014/main" id="{7AD2CF24-380F-41F5-B576-0B0D9222CF1E}"/>
              </a:ext>
            </a:extLst>
          </p:cNvPr>
          <p:cNvSpPr>
            <a:spLocks xmlns:a="http://schemas.openxmlformats.org/drawingml/2006/main" noGrp="1"/>
          </p:cNvSpPr>
          <p:nvPr/>
        </p:nvSpPr>
        <p:spPr>
          <a:xfrm xmlns:a="http://schemas.openxmlformats.org/drawingml/2006/main" rot="0" flipH="0" flipV="0">
            <a:off x="8743950" y="2095500"/>
            <a:ext cx="26289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90488" rIns="0" bIns="0" anchor="t">
            <a:noAutofit/>
          </a:bodyPr>
          <a:lstStyle xmlns:a="http://schemas.openxmlformats.org/drawingml/2006/main"/>
          <a:p xmlns:a="http://schemas.openxmlformats.org/drawingml/2006/main">
            <a:pPr algn="l">
              <a:buNone/>
            </a:pPr>
            <a:r>
              <a:rPr sz="2250" b="1">
                <a:solidFill>
                  <a:srgbClr val="FFFFFF"/>
                </a:solidFill>
                <a:latin typeface="+mj-lt"/>
                <a:ea typeface="+mj-lt"/>
                <a:cs typeface="+mj-lt"/>
              </a:rPr>
              <a:t>13.90 points</a:t>
            </a:r>
          </a:p>
        </p:txBody>
      </p:sp>
      <p:sp>
        <p:nvSpPr>
          <p:cNvPr id="42" name="TextBox 42">
            <a:extLst xmlns:a="http://schemas.openxmlformats.org/drawingml/2006/main">
              <a:ext uri="{FF2B5EF4-FFF2-40B4-BE49-F238E27FC236}">
                <a16:creationId xmlns:a16="http://schemas.microsoft.com/office/drawing/2014/main" id="{17116C59-0A4F-44B5-A986-CB361F0B5C79}"/>
              </a:ext>
            </a:extLst>
          </p:cNvPr>
          <p:cNvSpPr>
            <a:spLocks xmlns:a="http://schemas.openxmlformats.org/drawingml/2006/main" noGrp="1"/>
          </p:cNvSpPr>
          <p:nvPr/>
        </p:nvSpPr>
        <p:spPr>
          <a:xfrm xmlns:a="http://schemas.openxmlformats.org/drawingml/2006/main" rot="0" flipH="0" flipV="0">
            <a:off x="8736330" y="2590800"/>
            <a:ext cx="292989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Small − regular, kindergarten</a:t>
            </a:r>
          </a:p>
        </p:txBody>
      </p:sp>
      <p:sp>
        <p:nvSpPr>
          <p:cNvPr id="43" name="TextBox 43">
            <a:extLst xmlns:a="http://schemas.openxmlformats.org/drawingml/2006/main">
              <a:ext uri="{FF2B5EF4-FFF2-40B4-BE49-F238E27FC236}">
                <a16:creationId xmlns:a16="http://schemas.microsoft.com/office/drawing/2014/main" id="{8D92ABE9-59E3-430D-9590-B51B923253F2}"/>
              </a:ext>
            </a:extLst>
          </p:cNvPr>
          <p:cNvSpPr>
            <a:spLocks xmlns:a="http://schemas.openxmlformats.org/drawingml/2006/main" noGrp="1"/>
          </p:cNvSpPr>
          <p:nvPr/>
        </p:nvSpPr>
        <p:spPr>
          <a:xfrm xmlns:a="http://schemas.openxmlformats.org/drawingml/2006/main" rot="0" flipH="0" flipV="0">
            <a:off x="8736330" y="2847975"/>
            <a:ext cx="269081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95% interval [5.21, 22.07]</a:t>
            </a:r>
          </a:p>
        </p:txBody>
      </p:sp>
      <p:sp>
        <p:nvSpPr>
          <p:cNvPr id="44" name="Line 44">
            <a:extLst xmlns:a="http://schemas.openxmlformats.org/drawingml/2006/main">
              <a:ext uri="{FF2B5EF4-FFF2-40B4-BE49-F238E27FC236}">
                <a16:creationId xmlns:a16="http://schemas.microsoft.com/office/drawing/2014/main" id="{67B8DBF9-D8E5-4002-99EF-2835376C037D}"/>
              </a:ext>
            </a:extLst>
          </p:cNvPr>
          <p:cNvSpPr>
            <a:spLocks xmlns:a="http://schemas.openxmlformats.org/drawingml/2006/main" noGrp="1"/>
          </p:cNvSpPr>
          <p:nvPr/>
        </p:nvSpPr>
        <p:spPr>
          <a:xfrm xmlns:a="http://schemas.openxmlformats.org/drawingml/2006/main" rot="0" flipH="0" flipV="0">
            <a:off x="8743950" y="3400425"/>
            <a:ext cx="2628900" cy="9525"/>
          </a:xfrm>
          <a:custGeom xmlns:a="http://schemas.openxmlformats.org/drawingml/2006/main">
            <a:rect l="l" t="t" r="r" b="b"/>
            <a:pathLst>
              <a:path w="2628900" h="9525">
                <a:moveTo>
                  <a:pt x="0" y="0"/>
                </a:moveTo>
                <a:lnTo>
                  <a:pt x="2628900" y="0"/>
                </a:lnTo>
              </a:path>
            </a:pathLst>
          </a:custGeom>
          <a:noFill xmlns:a="http://schemas.openxmlformats.org/drawingml/2006/main"/>
          <a:ln xmlns:a="http://schemas.openxmlformats.org/drawingml/2006/main" w="14288">
            <a:solidFill>
              <a:srgbClr val="5C7190"/>
            </a:solidFill>
          </a:ln>
        </p:spPr>
      </p:sp>
      <p:sp>
        <p:nvSpPr>
          <p:cNvPr id="45" name="TextBox 45">
            <a:extLst xmlns:a="http://schemas.openxmlformats.org/drawingml/2006/main">
              <a:ext uri="{FF2B5EF4-FFF2-40B4-BE49-F238E27FC236}">
                <a16:creationId xmlns:a16="http://schemas.microsoft.com/office/drawing/2014/main" id="{0C3CFDD9-6C30-4640-B7A1-7F1687D69FE2}"/>
              </a:ext>
            </a:extLst>
          </p:cNvPr>
          <p:cNvSpPr>
            <a:spLocks xmlns:a="http://schemas.openxmlformats.org/drawingml/2006/main" noGrp="1"/>
          </p:cNvSpPr>
          <p:nvPr/>
        </p:nvSpPr>
        <p:spPr>
          <a:xfrm xmlns:a="http://schemas.openxmlformats.org/drawingml/2006/main" rot="0" flipH="0" flipV="0">
            <a:off x="8743950" y="3467100"/>
            <a:ext cx="262890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7630" rIns="0" bIns="0" anchor="t">
            <a:noAutofit/>
          </a:bodyPr>
          <a:lstStyle xmlns:a="http://schemas.openxmlformats.org/drawingml/2006/main"/>
          <a:p xmlns:a="http://schemas.openxmlformats.org/drawingml/2006/main">
            <a:pPr algn="l">
              <a:buNone/>
            </a:pPr>
            <a:r>
              <a:rPr sz="2100" b="1">
                <a:solidFill>
                  <a:srgbClr val="FFFFFF"/>
                </a:solidFill>
                <a:latin typeface="+mj-lt"/>
                <a:ea typeface="+mj-lt"/>
                <a:cs typeface="+mj-lt"/>
              </a:rPr>
              <a:t>0.31 points</a:t>
            </a:r>
          </a:p>
        </p:txBody>
      </p:sp>
      <p:sp>
        <p:nvSpPr>
          <p:cNvPr id="46" name="TextBox 46">
            <a:extLst xmlns:a="http://schemas.openxmlformats.org/drawingml/2006/main">
              <a:ext uri="{FF2B5EF4-FFF2-40B4-BE49-F238E27FC236}">
                <a16:creationId xmlns:a16="http://schemas.microsoft.com/office/drawing/2014/main" id="{2A7AB071-7D32-4BB1-85E8-4BD7A160DC85}"/>
              </a:ext>
            </a:extLst>
          </p:cNvPr>
          <p:cNvSpPr>
            <a:spLocks xmlns:a="http://schemas.openxmlformats.org/drawingml/2006/main" noGrp="1"/>
          </p:cNvSpPr>
          <p:nvPr/>
        </p:nvSpPr>
        <p:spPr>
          <a:xfrm xmlns:a="http://schemas.openxmlformats.org/drawingml/2006/main" rot="0" flipH="0" flipV="0">
            <a:off x="8736330" y="3943350"/>
            <a:ext cx="282897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Aide − regular, kindergarten</a:t>
            </a:r>
          </a:p>
        </p:txBody>
      </p:sp>
      <p:sp>
        <p:nvSpPr>
          <p:cNvPr id="47" name="TextBox 47">
            <a:extLst xmlns:a="http://schemas.openxmlformats.org/drawingml/2006/main">
              <a:ext uri="{FF2B5EF4-FFF2-40B4-BE49-F238E27FC236}">
                <a16:creationId xmlns:a16="http://schemas.microsoft.com/office/drawing/2014/main" id="{D7D6C9BE-D2EA-4B05-A239-DC186613C57B}"/>
              </a:ext>
            </a:extLst>
          </p:cNvPr>
          <p:cNvSpPr>
            <a:spLocks xmlns:a="http://schemas.openxmlformats.org/drawingml/2006/main" noGrp="1"/>
          </p:cNvSpPr>
          <p:nvPr/>
        </p:nvSpPr>
        <p:spPr>
          <a:xfrm xmlns:a="http://schemas.openxmlformats.org/drawingml/2006/main" rot="0" flipH="0" flipV="0">
            <a:off x="8736330" y="4200525"/>
            <a:ext cx="269081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95% interval [−7.40, 7.38]</a:t>
            </a:r>
          </a:p>
        </p:txBody>
      </p:sp>
      <p:sp>
        <p:nvSpPr>
          <p:cNvPr id="48" name="Rectangle 48">
            <a:extLst xmlns:a="http://schemas.openxmlformats.org/drawingml/2006/main">
              <a:ext uri="{FF2B5EF4-FFF2-40B4-BE49-F238E27FC236}">
                <a16:creationId xmlns:a16="http://schemas.microsoft.com/office/drawing/2014/main" id="{D3ADC52A-597B-4CD9-B55E-50CA67C09160}"/>
              </a:ext>
            </a:extLst>
          </p:cNvPr>
          <p:cNvSpPr>
            <a:spLocks xmlns:a="http://schemas.openxmlformats.org/drawingml/2006/main" noGrp="1"/>
          </p:cNvSpPr>
          <p:nvPr/>
        </p:nvSpPr>
        <p:spPr>
          <a:xfrm xmlns:a="http://schemas.openxmlformats.org/drawingml/2006/main" rot="0" flipH="0" flipV="0">
            <a:off x="8743950" y="4724400"/>
            <a:ext cx="2628900" cy="514350"/>
          </a:xfrm>
          <a:prstGeom xmlns:a="http://schemas.openxmlformats.org/drawingml/2006/main" prst="roundRect">
            <a:avLst>
              <a:gd name="adj" fmla="val 18519"/>
            </a:avLst>
          </a:prstGeom>
          <a:solidFill xmlns:a="http://schemas.openxmlformats.org/drawingml/2006/main">
            <a:srgbClr val="2E7D5B"/>
          </a:solidFill>
          <a:ln xmlns:a="http://schemas.openxmlformats.org/drawingml/2006/main">
            <a:noFill/>
          </a:ln>
        </p:spPr>
      </p:sp>
      <p:sp>
        <p:nvSpPr>
          <p:cNvPr id="49" name="TextBox 49">
            <a:extLst xmlns:a="http://schemas.openxmlformats.org/drawingml/2006/main">
              <a:ext uri="{FF2B5EF4-FFF2-40B4-BE49-F238E27FC236}">
                <a16:creationId xmlns:a16="http://schemas.microsoft.com/office/drawing/2014/main" id="{B540E984-24BC-40D8-A1C3-EC027C62BF3C}"/>
              </a:ext>
            </a:extLst>
          </p:cNvPr>
          <p:cNvSpPr>
            <a:spLocks xmlns:a="http://schemas.openxmlformats.org/drawingml/2006/main" noGrp="1"/>
          </p:cNvSpPr>
          <p:nvPr/>
        </p:nvSpPr>
        <p:spPr>
          <a:xfrm xmlns:a="http://schemas.openxmlformats.org/drawingml/2006/main" rot="0" flipH="0" flipV="0">
            <a:off x="8483506" y="4797742"/>
            <a:ext cx="314978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Observed-arm contrast supports</a:t>
            </a:r>
          </a:p>
        </p:txBody>
      </p:sp>
      <p:sp>
        <p:nvSpPr>
          <p:cNvPr id="50" name="TextBox 50">
            <a:extLst xmlns:a="http://schemas.openxmlformats.org/drawingml/2006/main">
              <a:ext uri="{FF2B5EF4-FFF2-40B4-BE49-F238E27FC236}">
                <a16:creationId xmlns:a16="http://schemas.microsoft.com/office/drawing/2014/main" id="{C26A836F-4DEA-4998-B1DC-4916EA8279E2}"/>
              </a:ext>
            </a:extLst>
          </p:cNvPr>
          <p:cNvSpPr>
            <a:spLocks xmlns:a="http://schemas.openxmlformats.org/drawingml/2006/main" noGrp="1"/>
          </p:cNvSpPr>
          <p:nvPr/>
        </p:nvSpPr>
        <p:spPr>
          <a:xfrm xmlns:a="http://schemas.openxmlformats.org/drawingml/2006/main" rot="0" flipH="0" flipV="0">
            <a:off x="8672840" y="5007292"/>
            <a:ext cx="277112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350" b="1">
                <a:solidFill>
                  <a:srgbClr val="FFFFFF"/>
                </a:solidFill>
                <a:latin typeface="+mn-lt"/>
                <a:ea typeface="+mn-lt"/>
                <a:cs typeface="+mn-lt"/>
              </a:rPr>
              <a:t>a possible small-class benefit</a:t>
            </a:r>
          </a:p>
        </p:txBody>
      </p:sp>
      <p:sp>
        <p:nvSpPr>
          <p:cNvPr id="52" name="TextBox 52">
            <a:extLst xmlns:a="http://schemas.openxmlformats.org/drawingml/2006/main">
              <a:ext uri="{FF2B5EF4-FFF2-40B4-BE49-F238E27FC236}">
                <a16:creationId xmlns:a16="http://schemas.microsoft.com/office/drawing/2014/main" id="{A9403FC5-0157-45CF-835B-B213E202FA98}"/>
              </a:ext>
            </a:extLst>
          </p:cNvPr>
          <p:cNvSpPr>
            <a:spLocks xmlns:a="http://schemas.openxmlformats.org/drawingml/2006/main" noGrp="1"/>
          </p:cNvSpPr>
          <p:nvPr/>
        </p:nvSpPr>
        <p:spPr>
          <a:xfrm xmlns:a="http://schemas.openxmlformats.org/drawingml/2006/main" rot="0" flipH="0" flipV="0">
            <a:off x="526542" y="5626418"/>
            <a:ext cx="871068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dk1"/>
                </a:solidFill>
                <a:latin typeface="+mn-lt"/>
                <a:ea typeface="+mn-lt"/>
                <a:cs typeface="+mn-lt"/>
              </a:rPr>
              <a:t>Observed grade-3 score, Small − Regular: </a:t>
            </a:r>
            <a:r>
              <a:rPr sz="1350" b="1">
                <a:solidFill>
                  <a:schemeClr val="accent3"/>
                </a:solidFill>
                <a:latin typeface="+mn-lt"/>
                <a:ea typeface="+mn-lt"/>
                <a:cs typeface="+mn-lt"/>
              </a:rPr>
              <a:t>+11.69 [3.74, 19.38]</a:t>
            </a:r>
            <a:r>
              <a:rPr sz="1350">
                <a:solidFill>
                  <a:schemeClr val="dk1"/>
                </a:solidFill>
                <a:latin typeface="+mn-lt"/>
                <a:ea typeface="+mn-lt"/>
                <a:cs typeface="+mn-lt"/>
              </a:rPr>
              <a:t> — descriptive, not long-run ITT.</a:t>
            </a:r>
          </a:p>
        </p:txBody>
      </p:sp>
      <p:sp>
        <p:nvSpPr>
          <p:cNvPr id="53" name="TextBox 53">
            <a:extLst xmlns:a="http://schemas.openxmlformats.org/drawingml/2006/main">
              <a:ext uri="{FF2B5EF4-FFF2-40B4-BE49-F238E27FC236}">
                <a16:creationId xmlns:a16="http://schemas.microsoft.com/office/drawing/2014/main" id="{B134DABD-0A3C-4D1E-BE5A-5CF89BB3D0B3}"/>
              </a:ext>
            </a:extLst>
          </p:cNvPr>
          <p:cNvSpPr>
            <a:spLocks xmlns:a="http://schemas.openxmlformats.org/drawingml/2006/main" noGrp="1"/>
          </p:cNvSpPr>
          <p:nvPr/>
        </p:nvSpPr>
        <p:spPr>
          <a:xfrm xmlns:a="http://schemas.openxmlformats.org/drawingml/2006/main" rot="0" flipH="0" flipV="0">
            <a:off x="527304" y="5909310"/>
            <a:ext cx="857067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Grade-3 observation rate: Small − Regular </a:t>
            </a:r>
            <a:r>
              <a:rPr sz="1200" b="1">
                <a:solidFill>
                  <a:srgbClr val="5F6875"/>
                </a:solidFill>
                <a:latin typeface="+mn-lt"/>
                <a:ea typeface="+mn-lt"/>
                <a:cs typeface="+mn-lt"/>
              </a:rPr>
              <a:t>+1.54 pp [−1.73, 4.56]</a:t>
            </a:r>
            <a:r>
              <a:rPr sz="1200">
                <a:solidFill>
                  <a:srgbClr val="5F6875"/>
                </a:solidFill>
                <a:latin typeface="+mn-lt"/>
                <a:ea typeface="+mn-lt"/>
                <a:cs typeface="+mn-lt"/>
              </a:rPr>
              <a:t> · Aide − Regular </a:t>
            </a:r>
            <a:r>
              <a:rPr sz="1200" b="1">
                <a:solidFill>
                  <a:srgbClr val="5F6875"/>
                </a:solidFill>
                <a:latin typeface="+mn-lt"/>
                <a:ea typeface="+mn-lt"/>
                <a:cs typeface="+mn-lt"/>
              </a:rPr>
              <a:t>−2.05 pp [−5.35, 1.41]</a:t>
            </a:r>
          </a:p>
        </p:txBody>
      </p:sp>
      <p:sp>
        <p:nvSpPr>
          <p:cNvPr id="55" name="TextBox 55">
            <a:extLst xmlns:a="http://schemas.openxmlformats.org/drawingml/2006/main">
              <a:ext uri="{FF2B5EF4-FFF2-40B4-BE49-F238E27FC236}">
                <a16:creationId xmlns:a16="http://schemas.microsoft.com/office/drawing/2014/main" id="{45030364-79B7-487D-9D8C-727B12959EEA}"/>
              </a:ext>
            </a:extLst>
          </p:cNvPr>
          <p:cNvSpPr>
            <a:spLocks xmlns:a="http://schemas.openxmlformats.org/drawingml/2006/main" noGrp="1"/>
          </p:cNvSpPr>
          <p:nvPr/>
        </p:nvSpPr>
        <p:spPr>
          <a:xfrm xmlns:a="http://schemas.openxmlformats.org/drawingml/2006/main" rot="0" flipH="0" flipV="0">
            <a:off x="527304" y="6309360"/>
            <a:ext cx="853363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6,325 kindergarten-assignment cohort · 1,000 school-cluster resamples · star_descriptive_contrasts.csv</a:t>
            </a:r>
          </a:p>
        </p:txBody>
      </p:sp>
      <p:sp>
        <p:nvSpPr>
          <p:cNvPr id="56" name="TextBox 56">
            <a:extLst xmlns:a="http://schemas.openxmlformats.org/drawingml/2006/main">
              <a:ext uri="{FF2B5EF4-FFF2-40B4-BE49-F238E27FC236}">
                <a16:creationId xmlns:a16="http://schemas.microsoft.com/office/drawing/2014/main" id="{0E2CD9DC-D7EE-42A2-917B-0C2A6ABB8F63}"/>
              </a:ext>
            </a:extLst>
          </p:cNvPr>
          <p:cNvSpPr>
            <a:spLocks xmlns:a="http://schemas.openxmlformats.org/drawingml/2006/main" noGrp="1"/>
          </p:cNvSpPr>
          <p:nvPr/>
        </p:nvSpPr>
        <p:spPr>
          <a:xfrm xmlns:a="http://schemas.openxmlformats.org/drawingml/2006/main" rot="0" flipH="0" flipV="0">
            <a:off x="11111332" y="630936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12 / 15</a:t>
            </a:r>
          </a:p>
        </p:txBody>
      </p:sp>
    </p:spTree>
    <p:extLst>
      <p:ext uri="{BB962C8B-B14F-4D97-AF65-F5344CB8AC3E}">
        <p14:creationId xmlns:p14="http://schemas.microsoft.com/office/powerpoint/2010/main" val="1512771286"/>
      </p:ext>
    </p:extLst>
  </p:cSld>
</p:sld>
</file>

<file path=ppt/slides/slide13.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FE532EF7-FD74-4277-934B-C2831F50BED3}"/>
              </a:ext>
            </a:extLst>
          </p:cNvPr>
          <p:cNvSpPr>
            <a:spLocks xmlns:a="http://schemas.openxmlformats.org/drawingml/2006/main" noGrp="1"/>
          </p:cNvSpPr>
          <p:nvPr/>
        </p:nvSpPr>
        <p:spPr>
          <a:xfrm xmlns:a="http://schemas.openxmlformats.org/drawingml/2006/main" rot="0" flipH="0" flipV="0">
            <a:off x="518160" y="361950"/>
            <a:ext cx="10598658"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chemeClr val="accent1"/>
                </a:solidFill>
                <a:latin typeface="+mj-lt"/>
                <a:ea typeface="+mj-lt"/>
                <a:cs typeface="+mj-lt"/>
              </a:rPr>
              <a:t>Stable Adjacencies Outrank Endpoint Directions</a:t>
            </a:r>
          </a:p>
        </p:txBody>
      </p:sp>
      <p:sp>
        <p:nvSpPr>
          <p:cNvPr id="3" name="TextBox 3">
            <a:extLst xmlns:a="http://schemas.openxmlformats.org/drawingml/2006/main">
              <a:ext uri="{FF2B5EF4-FFF2-40B4-BE49-F238E27FC236}">
                <a16:creationId xmlns:a16="http://schemas.microsoft.com/office/drawing/2014/main" id="{F4F69409-1127-4550-92AD-0E8E0D334CA9}"/>
              </a:ext>
            </a:extLst>
          </p:cNvPr>
          <p:cNvSpPr>
            <a:spLocks xmlns:a="http://schemas.openxmlformats.org/drawingml/2006/main" noGrp="1"/>
          </p:cNvSpPr>
          <p:nvPr/>
        </p:nvSpPr>
        <p:spPr>
          <a:xfrm xmlns:a="http://schemas.openxmlformats.org/drawingml/2006/main" rot="0" flipH="0" flipV="0">
            <a:off x="10317175" y="387668"/>
            <a:ext cx="134828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chemeClr val="accent6"/>
                </a:solidFill>
                <a:latin typeface="Consolas"/>
                <a:ea typeface="Consolas"/>
                <a:cs typeface="Consolas"/>
              </a:rPr>
              <a:t>STAR PAG AUDIT</a:t>
            </a:r>
          </a:p>
        </p:txBody>
      </p:sp>
      <p:sp>
        <p:nvSpPr>
          <p:cNvPr id="4" name="Line 4">
            <a:extLst xmlns:a="http://schemas.openxmlformats.org/drawingml/2006/main">
              <a:ext uri="{FF2B5EF4-FFF2-40B4-BE49-F238E27FC236}">
                <a16:creationId xmlns:a16="http://schemas.microsoft.com/office/drawing/2014/main" id="{2C679EB4-3E05-4C51-93DE-0007BDF12386}"/>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E315CFC3-3DE1-4E23-A6E7-4B4ECA673BD8}"/>
              </a:ext>
            </a:extLst>
          </p:cNvPr>
          <p:cNvSpPr>
            <a:spLocks xmlns:a="http://schemas.openxmlformats.org/drawingml/2006/main" noGrp="1"/>
          </p:cNvSpPr>
          <p:nvPr/>
        </p:nvSpPr>
        <p:spPr>
          <a:xfrm xmlns:a="http://schemas.openxmlformats.org/drawingml/2006/main" rot="0" flipH="0" flipV="0">
            <a:off x="533400" y="1162050"/>
            <a:ext cx="152400" cy="152400"/>
          </a:xfrm>
          <a:prstGeom xmlns:a="http://schemas.openxmlformats.org/drawingml/2006/main" prst="roundRect">
            <a:avLst>
              <a:gd name="adj" fmla="val 18750"/>
            </a:avLst>
          </a:prstGeom>
          <a:solidFill xmlns:a="http://schemas.openxmlformats.org/drawingml/2006/main">
            <a:srgbClr val="2E7D5B"/>
          </a:solidFill>
          <a:ln xmlns:a="http://schemas.openxmlformats.org/drawingml/2006/main">
            <a:noFill/>
          </a:ln>
        </p:spPr>
      </p:sp>
      <p:sp>
        <p:nvSpPr>
          <p:cNvPr id="7" name="TextBox 7">
            <a:extLst xmlns:a="http://schemas.openxmlformats.org/drawingml/2006/main">
              <a:ext uri="{FF2B5EF4-FFF2-40B4-BE49-F238E27FC236}">
                <a16:creationId xmlns:a16="http://schemas.microsoft.com/office/drawing/2014/main" id="{AC355926-A8F5-4719-A77B-9F90B6375E7E}"/>
              </a:ext>
            </a:extLst>
          </p:cNvPr>
          <p:cNvSpPr>
            <a:spLocks xmlns:a="http://schemas.openxmlformats.org/drawingml/2006/main" noGrp="1"/>
          </p:cNvSpPr>
          <p:nvPr/>
        </p:nvSpPr>
        <p:spPr>
          <a:xfrm xmlns:a="http://schemas.openxmlformats.org/drawingml/2006/main" rot="0" flipH="0" flipV="0">
            <a:off x="781050" y="1133475"/>
            <a:ext cx="1476375"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rgbClr val="2E7D5B"/>
                </a:solidFill>
                <a:latin typeface="+mn-lt"/>
                <a:ea typeface="+mn-lt"/>
                <a:cs typeface="+mn-lt"/>
              </a:rPr>
              <a:t>STABLE STRUCTURE</a:t>
            </a:r>
          </a:p>
        </p:txBody>
      </p:sp>
      <p:sp>
        <p:nvSpPr>
          <p:cNvPr id="8" name="Rectangle 8">
            <a:extLst xmlns:a="http://schemas.openxmlformats.org/drawingml/2006/main">
              <a:ext uri="{FF2B5EF4-FFF2-40B4-BE49-F238E27FC236}">
                <a16:creationId xmlns:a16="http://schemas.microsoft.com/office/drawing/2014/main" id="{506B7B8F-4DD3-46D0-9541-27F2303B7185}"/>
              </a:ext>
            </a:extLst>
          </p:cNvPr>
          <p:cNvSpPr>
            <a:spLocks xmlns:a="http://schemas.openxmlformats.org/drawingml/2006/main" noGrp="1"/>
          </p:cNvSpPr>
          <p:nvPr/>
        </p:nvSpPr>
        <p:spPr>
          <a:xfrm xmlns:a="http://schemas.openxmlformats.org/drawingml/2006/main" rot="0" flipH="0" flipV="0">
            <a:off x="2428875" y="1162050"/>
            <a:ext cx="152400" cy="152400"/>
          </a:xfrm>
          <a:prstGeom xmlns:a="http://schemas.openxmlformats.org/drawingml/2006/main" prst="roundRect">
            <a:avLst>
              <a:gd name="adj" fmla="val 18750"/>
            </a:avLst>
          </a:prstGeom>
          <a:solidFill xmlns:a="http://schemas.openxmlformats.org/drawingml/2006/main">
            <a:srgbClr val="B45F4A"/>
          </a:solidFill>
          <a:ln xmlns:a="http://schemas.openxmlformats.org/drawingml/2006/main">
            <a:noFill/>
          </a:ln>
        </p:spPr>
      </p:sp>
      <p:sp>
        <p:nvSpPr>
          <p:cNvPr id="9" name="TextBox 9">
            <a:extLst xmlns:a="http://schemas.openxmlformats.org/drawingml/2006/main">
              <a:ext uri="{FF2B5EF4-FFF2-40B4-BE49-F238E27FC236}">
                <a16:creationId xmlns:a16="http://schemas.microsoft.com/office/drawing/2014/main" id="{F8D08C76-6AAD-4DDB-9296-30453188DBE0}"/>
              </a:ext>
            </a:extLst>
          </p:cNvPr>
          <p:cNvSpPr>
            <a:spLocks xmlns:a="http://schemas.openxmlformats.org/drawingml/2006/main" noGrp="1"/>
          </p:cNvSpPr>
          <p:nvPr/>
        </p:nvSpPr>
        <p:spPr>
          <a:xfrm xmlns:a="http://schemas.openxmlformats.org/drawingml/2006/main" rot="0" flipH="0" flipV="0">
            <a:off x="2676525" y="1133475"/>
            <a:ext cx="1857375"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rgbClr val="B45F4A"/>
                </a:solidFill>
                <a:latin typeface="+mn-lt"/>
                <a:ea typeface="+mn-lt"/>
                <a:cs typeface="+mn-lt"/>
              </a:rPr>
              <a:t>DIRECTION CONFLICT</a:t>
            </a:r>
          </a:p>
        </p:txBody>
      </p:sp>
      <p:sp>
        <p:nvSpPr>
          <p:cNvPr id="10" name="Rectangle 10">
            <a:extLst xmlns:a="http://schemas.openxmlformats.org/drawingml/2006/main">
              <a:ext uri="{FF2B5EF4-FFF2-40B4-BE49-F238E27FC236}">
                <a16:creationId xmlns:a16="http://schemas.microsoft.com/office/drawing/2014/main" id="{C41381EB-7370-49EC-BA6D-D27B0CAA742F}"/>
              </a:ext>
            </a:extLst>
          </p:cNvPr>
          <p:cNvSpPr>
            <a:spLocks xmlns:a="http://schemas.openxmlformats.org/drawingml/2006/main" noGrp="1"/>
          </p:cNvSpPr>
          <p:nvPr/>
        </p:nvSpPr>
        <p:spPr>
          <a:xfrm xmlns:a="http://schemas.openxmlformats.org/drawingml/2006/main" rot="0" flipH="0" flipV="0">
            <a:off x="4953000" y="1162050"/>
            <a:ext cx="152400" cy="152400"/>
          </a:xfrm>
          <a:prstGeom xmlns:a="http://schemas.openxmlformats.org/drawingml/2006/main" prst="roundRect">
            <a:avLst>
              <a:gd name="adj" fmla="val 50000"/>
            </a:avLst>
          </a:prstGeom>
          <a:solidFill xmlns:a="http://schemas.openxmlformats.org/drawingml/2006/main">
            <a:schemeClr val="lt1"/>
          </a:solidFill>
          <a:ln xmlns:a="http://schemas.openxmlformats.org/drawingml/2006/main" w="28575">
            <a:solidFill>
              <a:schemeClr val="accent6"/>
            </a:solidFill>
          </a:ln>
        </p:spPr>
      </p:sp>
      <p:sp>
        <p:nvSpPr>
          <p:cNvPr id="11" name="TextBox 11">
            <a:extLst xmlns:a="http://schemas.openxmlformats.org/drawingml/2006/main">
              <a:ext uri="{FF2B5EF4-FFF2-40B4-BE49-F238E27FC236}">
                <a16:creationId xmlns:a16="http://schemas.microsoft.com/office/drawing/2014/main" id="{ACB20BC5-363C-42D0-9F06-88CEF10CF226}"/>
              </a:ext>
            </a:extLst>
          </p:cNvPr>
          <p:cNvSpPr>
            <a:spLocks xmlns:a="http://schemas.openxmlformats.org/drawingml/2006/main" noGrp="1"/>
          </p:cNvSpPr>
          <p:nvPr/>
        </p:nvSpPr>
        <p:spPr>
          <a:xfrm xmlns:a="http://schemas.openxmlformats.org/drawingml/2006/main" rot="0" flipH="0" flipV="0">
            <a:off x="5200650" y="1133475"/>
            <a:ext cx="1762125"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0006" rIns="0" bIns="0" anchor="t">
            <a:noAutofit/>
          </a:bodyPr>
          <a:lstStyle xmlns:a="http://schemas.openxmlformats.org/drawingml/2006/main"/>
          <a:p xmlns:a="http://schemas.openxmlformats.org/drawingml/2006/main">
            <a:pPr algn="l">
              <a:buNone/>
            </a:pPr>
            <a:r>
              <a:rPr sz="1120" b="1">
                <a:solidFill>
                  <a:schemeClr val="accent6"/>
                </a:solidFill>
                <a:latin typeface="+mn-lt"/>
                <a:ea typeface="+mn-lt"/>
                <a:cs typeface="+mn-lt"/>
              </a:rPr>
              <a:t>ROBUST ABSTENTION</a:t>
            </a:r>
          </a:p>
        </p:txBody>
      </p:sp>
      <p:sp>
        <p:nvSpPr>
          <p:cNvPr id="13" name="Rectangle 13">
            <a:extLst xmlns:a="http://schemas.openxmlformats.org/drawingml/2006/main">
              <a:ext uri="{FF2B5EF4-FFF2-40B4-BE49-F238E27FC236}">
                <a16:creationId xmlns:a16="http://schemas.microsoft.com/office/drawing/2014/main" id="{D16EF6D9-35B4-4F14-AA0F-519A239BA817}"/>
              </a:ext>
            </a:extLst>
          </p:cNvPr>
          <p:cNvSpPr>
            <a:spLocks xmlns:a="http://schemas.openxmlformats.org/drawingml/2006/main" noGrp="1"/>
          </p:cNvSpPr>
          <p:nvPr/>
        </p:nvSpPr>
        <p:spPr>
          <a:xfrm xmlns:a="http://schemas.openxmlformats.org/drawingml/2006/main" rot="0" flipH="0" flipV="0">
            <a:off x="533400" y="1657350"/>
            <a:ext cx="5238750" cy="3505200"/>
          </a:xfrm>
          <a:prstGeom xmlns:a="http://schemas.openxmlformats.org/drawingml/2006/main" prst="roundRect">
            <a:avLst>
              <a:gd name="adj" fmla="val 3804"/>
            </a:avLst>
          </a:prstGeom>
          <a:solidFill xmlns:a="http://schemas.openxmlformats.org/drawingml/2006/main">
            <a:srgbClr val="FFFFFF"/>
          </a:solidFill>
          <a:ln xmlns:a="http://schemas.openxmlformats.org/drawingml/2006/main" w="14288">
            <a:solidFill>
              <a:srgbClr val="CBD2DC"/>
            </a:solidFill>
          </a:ln>
        </p:spPr>
      </p:sp>
      <p:sp>
        <p:nvSpPr>
          <p:cNvPr id="14" name="TextBox 14">
            <a:extLst xmlns:a="http://schemas.openxmlformats.org/drawingml/2006/main">
              <a:ext uri="{FF2B5EF4-FFF2-40B4-BE49-F238E27FC236}">
                <a16:creationId xmlns:a16="http://schemas.microsoft.com/office/drawing/2014/main" id="{C30A453A-9A93-44F3-AA9D-62EA0BE24FA8}"/>
              </a:ext>
            </a:extLst>
          </p:cNvPr>
          <p:cNvSpPr>
            <a:spLocks xmlns:a="http://schemas.openxmlformats.org/drawingml/2006/main" noGrp="1"/>
          </p:cNvSpPr>
          <p:nvPr/>
        </p:nvSpPr>
        <p:spPr>
          <a:xfrm xmlns:a="http://schemas.openxmlformats.org/drawingml/2006/main" rot="0" flipH="0" flipV="0">
            <a:off x="781050" y="1762125"/>
            <a:ext cx="3429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5F6875"/>
                </a:solidFill>
                <a:latin typeface="+mn-lt"/>
                <a:ea typeface="+mn-lt"/>
                <a:cs typeface="+mn-lt"/>
              </a:rPr>
              <a:t>ORDER-SHIFT REPRODUCTIONS</a:t>
            </a:r>
          </a:p>
        </p:txBody>
      </p:sp>
      <p:sp>
        <p:nvSpPr>
          <p:cNvPr id="15" name="TextBox 15">
            <a:extLst xmlns:a="http://schemas.openxmlformats.org/drawingml/2006/main">
              <a:ext uri="{FF2B5EF4-FFF2-40B4-BE49-F238E27FC236}">
                <a16:creationId xmlns:a16="http://schemas.microsoft.com/office/drawing/2014/main" id="{8A44538F-4998-4EC8-88CC-9D8BEE27A8F1}"/>
              </a:ext>
            </a:extLst>
          </p:cNvPr>
          <p:cNvSpPr>
            <a:spLocks xmlns:a="http://schemas.openxmlformats.org/drawingml/2006/main" noGrp="1"/>
          </p:cNvSpPr>
          <p:nvPr/>
        </p:nvSpPr>
        <p:spPr>
          <a:xfrm xmlns:a="http://schemas.openxmlformats.org/drawingml/2006/main" rot="0" flipH="0" flipV="0">
            <a:off x="774192" y="2216468"/>
            <a:ext cx="122226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tested shifts</a:t>
            </a:r>
          </a:p>
        </p:txBody>
      </p:sp>
      <p:sp>
        <p:nvSpPr>
          <p:cNvPr id="16" name="TextBox 16">
            <a:extLst xmlns:a="http://schemas.openxmlformats.org/drawingml/2006/main">
              <a:ext uri="{FF2B5EF4-FFF2-40B4-BE49-F238E27FC236}">
                <a16:creationId xmlns:a16="http://schemas.microsoft.com/office/drawing/2014/main" id="{9283E793-53DC-482E-9ABE-FF7A10D54630}"/>
              </a:ext>
            </a:extLst>
          </p:cNvPr>
          <p:cNvSpPr>
            <a:spLocks xmlns:a="http://schemas.openxmlformats.org/drawingml/2006/main" noGrp="1"/>
          </p:cNvSpPr>
          <p:nvPr/>
        </p:nvSpPr>
        <p:spPr>
          <a:xfrm xmlns:a="http://schemas.openxmlformats.org/drawingml/2006/main" rot="0" flipH="0" flipV="0">
            <a:off x="2422017" y="2216468"/>
            <a:ext cx="29599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2"/>
                </a:solidFill>
                <a:latin typeface="+mn-lt"/>
                <a:ea typeface="+mn-lt"/>
                <a:cs typeface="+mn-lt"/>
              </a:rPr>
              <a:t>FCI</a:t>
            </a:r>
          </a:p>
        </p:txBody>
      </p:sp>
      <p:sp>
        <p:nvSpPr>
          <p:cNvPr id="17" name="TextBox 17">
            <a:extLst xmlns:a="http://schemas.openxmlformats.org/drawingml/2006/main">
              <a:ext uri="{FF2B5EF4-FFF2-40B4-BE49-F238E27FC236}">
                <a16:creationId xmlns:a16="http://schemas.microsoft.com/office/drawing/2014/main" id="{E0089C01-CB95-4DBC-AB9A-80D84D09E9AF}"/>
              </a:ext>
            </a:extLst>
          </p:cNvPr>
          <p:cNvSpPr>
            <a:spLocks xmlns:a="http://schemas.openxmlformats.org/drawingml/2006/main" noGrp="1"/>
          </p:cNvSpPr>
          <p:nvPr/>
        </p:nvSpPr>
        <p:spPr>
          <a:xfrm xmlns:a="http://schemas.openxmlformats.org/drawingml/2006/main" rot="0" flipH="0" flipV="0">
            <a:off x="3336417" y="2216468"/>
            <a:ext cx="131635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paper FCI Plus</a:t>
            </a:r>
          </a:p>
        </p:txBody>
      </p:sp>
      <p:sp>
        <p:nvSpPr>
          <p:cNvPr id="18" name="TextBox 18">
            <a:extLst xmlns:a="http://schemas.openxmlformats.org/drawingml/2006/main">
              <a:ext uri="{FF2B5EF4-FFF2-40B4-BE49-F238E27FC236}">
                <a16:creationId xmlns:a16="http://schemas.microsoft.com/office/drawing/2014/main" id="{A7535B27-27FD-4DD0-89F3-68AFC0ED501C}"/>
              </a:ext>
            </a:extLst>
          </p:cNvPr>
          <p:cNvSpPr>
            <a:spLocks xmlns:a="http://schemas.openxmlformats.org/drawingml/2006/main" noGrp="1"/>
          </p:cNvSpPr>
          <p:nvPr/>
        </p:nvSpPr>
        <p:spPr>
          <a:xfrm xmlns:a="http://schemas.openxmlformats.org/drawingml/2006/main" rot="0" flipH="0" flipV="0">
            <a:off x="4688967" y="2216468"/>
            <a:ext cx="643435"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robust</a:t>
            </a:r>
          </a:p>
        </p:txBody>
      </p:sp>
      <p:sp>
        <p:nvSpPr>
          <p:cNvPr id="19" name="Line 19">
            <a:extLst xmlns:a="http://schemas.openxmlformats.org/drawingml/2006/main">
              <a:ext uri="{FF2B5EF4-FFF2-40B4-BE49-F238E27FC236}">
                <a16:creationId xmlns:a16="http://schemas.microsoft.com/office/drawing/2014/main" id="{AD84CB87-8657-4FC5-BE9A-F6E389A7BADA}"/>
              </a:ext>
            </a:extLst>
          </p:cNvPr>
          <p:cNvSpPr>
            <a:spLocks xmlns:a="http://schemas.openxmlformats.org/drawingml/2006/main" noGrp="1"/>
          </p:cNvSpPr>
          <p:nvPr/>
        </p:nvSpPr>
        <p:spPr>
          <a:xfrm xmlns:a="http://schemas.openxmlformats.org/drawingml/2006/main" rot="0" flipH="0" flipV="0">
            <a:off x="781050" y="2533650"/>
            <a:ext cx="4743450" cy="9525"/>
          </a:xfrm>
          <a:custGeom xmlns:a="http://schemas.openxmlformats.org/drawingml/2006/main">
            <a:rect l="l" t="t" r="r" b="b"/>
            <a:pathLst>
              <a:path w="4743450" h="9525">
                <a:moveTo>
                  <a:pt x="0" y="0"/>
                </a:moveTo>
                <a:lnTo>
                  <a:pt x="4743450" y="0"/>
                </a:lnTo>
              </a:path>
            </a:pathLst>
          </a:custGeom>
          <a:noFill xmlns:a="http://schemas.openxmlformats.org/drawingml/2006/main"/>
          <a:ln xmlns:a="http://schemas.openxmlformats.org/drawingml/2006/main" w="14288">
            <a:solidFill>
              <a:srgbClr val="CBD2DC"/>
            </a:solidFill>
          </a:ln>
        </p:spPr>
      </p:sp>
      <p:sp>
        <p:nvSpPr>
          <p:cNvPr id="20" name="Line 20">
            <a:extLst xmlns:a="http://schemas.openxmlformats.org/drawingml/2006/main">
              <a:ext uri="{FF2B5EF4-FFF2-40B4-BE49-F238E27FC236}">
                <a16:creationId xmlns:a16="http://schemas.microsoft.com/office/drawing/2014/main" id="{CB45AF15-E729-4C0D-82C8-2F5332E48F4A}"/>
              </a:ext>
            </a:extLst>
          </p:cNvPr>
          <p:cNvSpPr>
            <a:spLocks xmlns:a="http://schemas.openxmlformats.org/drawingml/2006/main" noGrp="1"/>
          </p:cNvSpPr>
          <p:nvPr/>
        </p:nvSpPr>
        <p:spPr>
          <a:xfrm xmlns:a="http://schemas.openxmlformats.org/drawingml/2006/main" rot="0" flipH="0" flipV="0">
            <a:off x="781050" y="4629150"/>
            <a:ext cx="4743450" cy="9525"/>
          </a:xfrm>
          <a:custGeom xmlns:a="http://schemas.openxmlformats.org/drawingml/2006/main">
            <a:rect l="l" t="t" r="r" b="b"/>
            <a:pathLst>
              <a:path w="4743450" h="9525">
                <a:moveTo>
                  <a:pt x="0" y="0"/>
                </a:moveTo>
                <a:lnTo>
                  <a:pt x="4743450" y="0"/>
                </a:lnTo>
              </a:path>
            </a:pathLst>
          </a:custGeom>
          <a:noFill xmlns:a="http://schemas.openxmlformats.org/drawingml/2006/main"/>
          <a:ln xmlns:a="http://schemas.openxmlformats.org/drawingml/2006/main" w="14288">
            <a:solidFill>
              <a:srgbClr val="CBD2DC"/>
            </a:solidFill>
          </a:ln>
        </p:spPr>
      </p:sp>
      <p:sp>
        <p:nvSpPr>
          <p:cNvPr id="21" name="Rectangle 21">
            <a:extLst xmlns:a="http://schemas.openxmlformats.org/drawingml/2006/main">
              <a:ext uri="{FF2B5EF4-FFF2-40B4-BE49-F238E27FC236}">
                <a16:creationId xmlns:a16="http://schemas.microsoft.com/office/drawing/2014/main" id="{27CBAD93-72D1-4CBC-A6DC-5D08B38996E4}"/>
              </a:ext>
            </a:extLst>
          </p:cNvPr>
          <p:cNvSpPr>
            <a:spLocks xmlns:a="http://schemas.openxmlformats.org/drawingml/2006/main" noGrp="1"/>
          </p:cNvSpPr>
          <p:nvPr/>
        </p:nvSpPr>
        <p:spPr>
          <a:xfrm xmlns:a="http://schemas.openxmlformats.org/drawingml/2006/main" rot="0" flipH="0" flipV="0">
            <a:off x="2247900" y="2724150"/>
            <a:ext cx="704850" cy="476250"/>
          </a:xfrm>
          <a:prstGeom xmlns:a="http://schemas.openxmlformats.org/drawingml/2006/main" prst="roundRect">
            <a:avLst>
              <a:gd name="adj" fmla="val 16000"/>
            </a:avLst>
          </a:prstGeom>
          <a:solidFill xmlns:a="http://schemas.openxmlformats.org/drawingml/2006/main">
            <a:srgbClr val="F5C9C1"/>
          </a:solidFill>
          <a:ln xmlns:a="http://schemas.openxmlformats.org/drawingml/2006/main">
            <a:noFill/>
          </a:ln>
        </p:spPr>
      </p:sp>
      <p:sp>
        <p:nvSpPr>
          <p:cNvPr id="22" name="Rectangle 22">
            <a:extLst xmlns:a="http://schemas.openxmlformats.org/drawingml/2006/main">
              <a:ext uri="{FF2B5EF4-FFF2-40B4-BE49-F238E27FC236}">
                <a16:creationId xmlns:a16="http://schemas.microsoft.com/office/drawing/2014/main" id="{C721326F-4C99-4289-B7B3-DC86114DDDBE}"/>
              </a:ext>
            </a:extLst>
          </p:cNvPr>
          <p:cNvSpPr>
            <a:spLocks xmlns:a="http://schemas.openxmlformats.org/drawingml/2006/main" noGrp="1"/>
          </p:cNvSpPr>
          <p:nvPr/>
        </p:nvSpPr>
        <p:spPr>
          <a:xfrm xmlns:a="http://schemas.openxmlformats.org/drawingml/2006/main" rot="0" flipH="0" flipV="0">
            <a:off x="3162300" y="2724150"/>
            <a:ext cx="990600" cy="476250"/>
          </a:xfrm>
          <a:prstGeom xmlns:a="http://schemas.openxmlformats.org/drawingml/2006/main" prst="roundRect">
            <a:avLst>
              <a:gd name="adj" fmla="val 16000"/>
            </a:avLst>
          </a:prstGeom>
          <a:solidFill xmlns:a="http://schemas.openxmlformats.org/drawingml/2006/main">
            <a:srgbClr val="DDF3EF"/>
          </a:solidFill>
          <a:ln xmlns:a="http://schemas.openxmlformats.org/drawingml/2006/main">
            <a:noFill/>
          </a:ln>
        </p:spPr>
      </p:sp>
      <p:sp>
        <p:nvSpPr>
          <p:cNvPr id="23" name="Rectangle 23">
            <a:extLst xmlns:a="http://schemas.openxmlformats.org/drawingml/2006/main">
              <a:ext uri="{FF2B5EF4-FFF2-40B4-BE49-F238E27FC236}">
                <a16:creationId xmlns:a16="http://schemas.microsoft.com/office/drawing/2014/main" id="{3334B0F1-0859-464A-986E-F3BE024345CF}"/>
              </a:ext>
            </a:extLst>
          </p:cNvPr>
          <p:cNvSpPr>
            <a:spLocks xmlns:a="http://schemas.openxmlformats.org/drawingml/2006/main" noGrp="1"/>
          </p:cNvSpPr>
          <p:nvPr/>
        </p:nvSpPr>
        <p:spPr>
          <a:xfrm xmlns:a="http://schemas.openxmlformats.org/drawingml/2006/main" rot="0" flipH="0" flipV="0">
            <a:off x="4514850" y="2724150"/>
            <a:ext cx="990600" cy="476250"/>
          </a:xfrm>
          <a:prstGeom xmlns:a="http://schemas.openxmlformats.org/drawingml/2006/main" prst="roundRect">
            <a:avLst>
              <a:gd name="adj" fmla="val 16000"/>
            </a:avLst>
          </a:prstGeom>
          <a:solidFill xmlns:a="http://schemas.openxmlformats.org/drawingml/2006/main">
            <a:schemeClr val="accent6"/>
          </a:solidFill>
          <a:ln xmlns:a="http://schemas.openxmlformats.org/drawingml/2006/main">
            <a:noFill/>
          </a:ln>
        </p:spPr>
      </p:sp>
      <p:sp>
        <p:nvSpPr>
          <p:cNvPr id="24" name="Rectangle 24">
            <a:extLst xmlns:a="http://schemas.openxmlformats.org/drawingml/2006/main">
              <a:ext uri="{FF2B5EF4-FFF2-40B4-BE49-F238E27FC236}">
                <a16:creationId xmlns:a16="http://schemas.microsoft.com/office/drawing/2014/main" id="{278D3324-A606-4EF9-BF84-5409D53D7192}"/>
              </a:ext>
            </a:extLst>
          </p:cNvPr>
          <p:cNvSpPr>
            <a:spLocks xmlns:a="http://schemas.openxmlformats.org/drawingml/2006/main" noGrp="1"/>
          </p:cNvSpPr>
          <p:nvPr/>
        </p:nvSpPr>
        <p:spPr>
          <a:xfrm xmlns:a="http://schemas.openxmlformats.org/drawingml/2006/main" rot="0" flipH="0" flipV="0">
            <a:off x="2247900" y="3390900"/>
            <a:ext cx="704850" cy="476250"/>
          </a:xfrm>
          <a:prstGeom xmlns:a="http://schemas.openxmlformats.org/drawingml/2006/main" prst="roundRect">
            <a:avLst>
              <a:gd name="adj" fmla="val 16000"/>
            </a:avLst>
          </a:prstGeom>
          <a:solidFill xmlns:a="http://schemas.openxmlformats.org/drawingml/2006/main">
            <a:srgbClr val="E8F0FF"/>
          </a:solidFill>
          <a:ln xmlns:a="http://schemas.openxmlformats.org/drawingml/2006/main">
            <a:noFill/>
          </a:ln>
        </p:spPr>
      </p:sp>
      <p:sp>
        <p:nvSpPr>
          <p:cNvPr id="25" name="Rectangle 25">
            <a:extLst xmlns:a="http://schemas.openxmlformats.org/drawingml/2006/main">
              <a:ext uri="{FF2B5EF4-FFF2-40B4-BE49-F238E27FC236}">
                <a16:creationId xmlns:a16="http://schemas.microsoft.com/office/drawing/2014/main" id="{A7BAD4F9-1023-4AA1-9EE9-8C41FD047995}"/>
              </a:ext>
            </a:extLst>
          </p:cNvPr>
          <p:cNvSpPr>
            <a:spLocks xmlns:a="http://schemas.openxmlformats.org/drawingml/2006/main" noGrp="1"/>
          </p:cNvSpPr>
          <p:nvPr/>
        </p:nvSpPr>
        <p:spPr>
          <a:xfrm xmlns:a="http://schemas.openxmlformats.org/drawingml/2006/main" rot="0" flipH="0" flipV="0">
            <a:off x="3162300" y="3390900"/>
            <a:ext cx="990600" cy="476250"/>
          </a:xfrm>
          <a:prstGeom xmlns:a="http://schemas.openxmlformats.org/drawingml/2006/main" prst="roundRect">
            <a:avLst>
              <a:gd name="adj" fmla="val 16000"/>
            </a:avLst>
          </a:prstGeom>
          <a:solidFill xmlns:a="http://schemas.openxmlformats.org/drawingml/2006/main">
            <a:srgbClr val="F5C9C1"/>
          </a:solidFill>
          <a:ln xmlns:a="http://schemas.openxmlformats.org/drawingml/2006/main">
            <a:noFill/>
          </a:ln>
        </p:spPr>
      </p:sp>
      <p:sp>
        <p:nvSpPr>
          <p:cNvPr id="26" name="Rectangle 26">
            <a:extLst xmlns:a="http://schemas.openxmlformats.org/drawingml/2006/main">
              <a:ext uri="{FF2B5EF4-FFF2-40B4-BE49-F238E27FC236}">
                <a16:creationId xmlns:a16="http://schemas.microsoft.com/office/drawing/2014/main" id="{77A74B88-151A-4E1B-A443-A483EE455864}"/>
              </a:ext>
            </a:extLst>
          </p:cNvPr>
          <p:cNvSpPr>
            <a:spLocks xmlns:a="http://schemas.openxmlformats.org/drawingml/2006/main" noGrp="1"/>
          </p:cNvSpPr>
          <p:nvPr/>
        </p:nvSpPr>
        <p:spPr>
          <a:xfrm xmlns:a="http://schemas.openxmlformats.org/drawingml/2006/main" rot="0" flipH="0" flipV="0">
            <a:off x="4514850" y="3390900"/>
            <a:ext cx="990600" cy="476250"/>
          </a:xfrm>
          <a:prstGeom xmlns:a="http://schemas.openxmlformats.org/drawingml/2006/main" prst="roundRect">
            <a:avLst>
              <a:gd name="adj" fmla="val 16000"/>
            </a:avLst>
          </a:prstGeom>
          <a:solidFill xmlns:a="http://schemas.openxmlformats.org/drawingml/2006/main">
            <a:schemeClr val="accent6"/>
          </a:solidFill>
          <a:ln xmlns:a="http://schemas.openxmlformats.org/drawingml/2006/main">
            <a:noFill/>
          </a:ln>
        </p:spPr>
      </p:sp>
      <p:sp>
        <p:nvSpPr>
          <p:cNvPr id="27" name="Rectangle 27">
            <a:extLst xmlns:a="http://schemas.openxmlformats.org/drawingml/2006/main">
              <a:ext uri="{FF2B5EF4-FFF2-40B4-BE49-F238E27FC236}">
                <a16:creationId xmlns:a16="http://schemas.microsoft.com/office/drawing/2014/main" id="{234647B0-6969-4D34-80CB-67F0CF2E15C8}"/>
              </a:ext>
            </a:extLst>
          </p:cNvPr>
          <p:cNvSpPr>
            <a:spLocks xmlns:a="http://schemas.openxmlformats.org/drawingml/2006/main" noGrp="1"/>
          </p:cNvSpPr>
          <p:nvPr/>
        </p:nvSpPr>
        <p:spPr>
          <a:xfrm xmlns:a="http://schemas.openxmlformats.org/drawingml/2006/main" rot="0" flipH="0" flipV="0">
            <a:off x="2247900" y="4057650"/>
            <a:ext cx="704850" cy="476250"/>
          </a:xfrm>
          <a:prstGeom xmlns:a="http://schemas.openxmlformats.org/drawingml/2006/main" prst="roundRect">
            <a:avLst>
              <a:gd name="adj" fmla="val 16000"/>
            </a:avLst>
          </a:prstGeom>
          <a:solidFill xmlns:a="http://schemas.openxmlformats.org/drawingml/2006/main">
            <a:srgbClr val="E8F0FF"/>
          </a:solidFill>
          <a:ln xmlns:a="http://schemas.openxmlformats.org/drawingml/2006/main">
            <a:noFill/>
          </a:ln>
        </p:spPr>
      </p:sp>
      <p:sp>
        <p:nvSpPr>
          <p:cNvPr id="28" name="Rectangle 28">
            <a:extLst xmlns:a="http://schemas.openxmlformats.org/drawingml/2006/main">
              <a:ext uri="{FF2B5EF4-FFF2-40B4-BE49-F238E27FC236}">
                <a16:creationId xmlns:a16="http://schemas.microsoft.com/office/drawing/2014/main" id="{5CF2A5F9-D878-4B15-8CE7-1D89EED95283}"/>
              </a:ext>
            </a:extLst>
          </p:cNvPr>
          <p:cNvSpPr>
            <a:spLocks xmlns:a="http://schemas.openxmlformats.org/drawingml/2006/main" noGrp="1"/>
          </p:cNvSpPr>
          <p:nvPr/>
        </p:nvSpPr>
        <p:spPr>
          <a:xfrm xmlns:a="http://schemas.openxmlformats.org/drawingml/2006/main" rot="0" flipH="0" flipV="0">
            <a:off x="3162300" y="4057650"/>
            <a:ext cx="990600" cy="476250"/>
          </a:xfrm>
          <a:prstGeom xmlns:a="http://schemas.openxmlformats.org/drawingml/2006/main" prst="roundRect">
            <a:avLst>
              <a:gd name="adj" fmla="val 16000"/>
            </a:avLst>
          </a:prstGeom>
          <a:solidFill xmlns:a="http://schemas.openxmlformats.org/drawingml/2006/main">
            <a:srgbClr val="DDF3EF"/>
          </a:solidFill>
          <a:ln xmlns:a="http://schemas.openxmlformats.org/drawingml/2006/main">
            <a:noFill/>
          </a:ln>
        </p:spPr>
      </p:sp>
      <p:sp>
        <p:nvSpPr>
          <p:cNvPr id="29" name="Rectangle 29">
            <a:extLst xmlns:a="http://schemas.openxmlformats.org/drawingml/2006/main">
              <a:ext uri="{FF2B5EF4-FFF2-40B4-BE49-F238E27FC236}">
                <a16:creationId xmlns:a16="http://schemas.microsoft.com/office/drawing/2014/main" id="{0F10FBE0-4C06-4FC7-B232-8C067CF70874}"/>
              </a:ext>
            </a:extLst>
          </p:cNvPr>
          <p:cNvSpPr>
            <a:spLocks xmlns:a="http://schemas.openxmlformats.org/drawingml/2006/main" noGrp="1"/>
          </p:cNvSpPr>
          <p:nvPr/>
        </p:nvSpPr>
        <p:spPr>
          <a:xfrm xmlns:a="http://schemas.openxmlformats.org/drawingml/2006/main" rot="0" flipH="0" flipV="0">
            <a:off x="4514850" y="4057650"/>
            <a:ext cx="990600" cy="476250"/>
          </a:xfrm>
          <a:prstGeom xmlns:a="http://schemas.openxmlformats.org/drawingml/2006/main" prst="roundRect">
            <a:avLst>
              <a:gd name="adj" fmla="val 16000"/>
            </a:avLst>
          </a:prstGeom>
          <a:solidFill xmlns:a="http://schemas.openxmlformats.org/drawingml/2006/main">
            <a:schemeClr val="accent6"/>
          </a:solidFill>
          <a:ln xmlns:a="http://schemas.openxmlformats.org/drawingml/2006/main">
            <a:noFill/>
          </a:ln>
        </p:spPr>
      </p:sp>
      <p:sp>
        <p:nvSpPr>
          <p:cNvPr id="31" name="TextBox 31">
            <a:extLst xmlns:a="http://schemas.openxmlformats.org/drawingml/2006/main">
              <a:ext uri="{FF2B5EF4-FFF2-40B4-BE49-F238E27FC236}">
                <a16:creationId xmlns:a16="http://schemas.microsoft.com/office/drawing/2014/main" id="{5F919759-71CC-4087-9D74-D4FC594D69D5}"/>
              </a:ext>
            </a:extLst>
          </p:cNvPr>
          <p:cNvSpPr>
            <a:spLocks xmlns:a="http://schemas.openxmlformats.org/drawingml/2006/main" noGrp="1"/>
          </p:cNvSpPr>
          <p:nvPr/>
        </p:nvSpPr>
        <p:spPr>
          <a:xfrm xmlns:a="http://schemas.openxmlformats.org/drawingml/2006/main" rot="0" flipH="0" flipV="0">
            <a:off x="773430" y="2867025"/>
            <a:ext cx="964692"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Attrition</a:t>
            </a:r>
          </a:p>
        </p:txBody>
      </p:sp>
      <p:sp>
        <p:nvSpPr>
          <p:cNvPr id="32" name="TextBox 32">
            <a:extLst xmlns:a="http://schemas.openxmlformats.org/drawingml/2006/main">
              <a:ext uri="{FF2B5EF4-FFF2-40B4-BE49-F238E27FC236}">
                <a16:creationId xmlns:a16="http://schemas.microsoft.com/office/drawing/2014/main" id="{28DFDA7B-5C99-4219-8FB8-0AB2D993CE94}"/>
              </a:ext>
            </a:extLst>
          </p:cNvPr>
          <p:cNvSpPr>
            <a:spLocks xmlns:a="http://schemas.openxmlformats.org/drawingml/2006/main" noGrp="1"/>
          </p:cNvSpPr>
          <p:nvPr/>
        </p:nvSpPr>
        <p:spPr>
          <a:xfrm xmlns:a="http://schemas.openxmlformats.org/drawingml/2006/main" rot="0" flipH="0" flipV="0">
            <a:off x="773430" y="3533775"/>
            <a:ext cx="1261446"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Longitudinal</a:t>
            </a:r>
          </a:p>
        </p:txBody>
      </p:sp>
      <p:sp>
        <p:nvSpPr>
          <p:cNvPr id="33" name="TextBox 33">
            <a:extLst xmlns:a="http://schemas.openxmlformats.org/drawingml/2006/main">
              <a:ext uri="{FF2B5EF4-FFF2-40B4-BE49-F238E27FC236}">
                <a16:creationId xmlns:a16="http://schemas.microsoft.com/office/drawing/2014/main" id="{DF8A4945-2BE2-4313-AA9B-55467123FBEC}"/>
              </a:ext>
            </a:extLst>
          </p:cNvPr>
          <p:cNvSpPr>
            <a:spLocks xmlns:a="http://schemas.openxmlformats.org/drawingml/2006/main" noGrp="1"/>
          </p:cNvSpPr>
          <p:nvPr/>
        </p:nvSpPr>
        <p:spPr>
          <a:xfrm xmlns:a="http://schemas.openxmlformats.org/drawingml/2006/main" rot="0" flipH="0" flipV="0">
            <a:off x="773430" y="4200525"/>
            <a:ext cx="838143"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dk1"/>
                </a:solidFill>
                <a:latin typeface="+mn-lt"/>
                <a:ea typeface="+mn-lt"/>
                <a:cs typeface="+mn-lt"/>
              </a:rPr>
              <a:t>Focused</a:t>
            </a:r>
          </a:p>
        </p:txBody>
      </p:sp>
      <p:sp>
        <p:nvSpPr>
          <p:cNvPr id="34" name="TextBox 34">
            <a:extLst xmlns:a="http://schemas.openxmlformats.org/drawingml/2006/main">
              <a:ext uri="{FF2B5EF4-FFF2-40B4-BE49-F238E27FC236}">
                <a16:creationId xmlns:a16="http://schemas.microsoft.com/office/drawing/2014/main" id="{FE448ACB-94CB-4CE2-B6BA-007D79CB8D4C}"/>
              </a:ext>
            </a:extLst>
          </p:cNvPr>
          <p:cNvSpPr>
            <a:spLocks xmlns:a="http://schemas.openxmlformats.org/drawingml/2006/main" noGrp="1"/>
          </p:cNvSpPr>
          <p:nvPr/>
        </p:nvSpPr>
        <p:spPr>
          <a:xfrm xmlns:a="http://schemas.openxmlformats.org/drawingml/2006/main" rot="0" flipH="0" flipV="0">
            <a:off x="2354175" y="28670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B45F4A"/>
                </a:solidFill>
                <a:latin typeface="Consolas"/>
                <a:ea typeface="Consolas"/>
                <a:cs typeface="Consolas"/>
              </a:rPr>
              <a:t>2 / 9</a:t>
            </a:r>
          </a:p>
        </p:txBody>
      </p:sp>
      <p:sp>
        <p:nvSpPr>
          <p:cNvPr id="35" name="TextBox 35">
            <a:extLst xmlns:a="http://schemas.openxmlformats.org/drawingml/2006/main">
              <a:ext uri="{FF2B5EF4-FFF2-40B4-BE49-F238E27FC236}">
                <a16:creationId xmlns:a16="http://schemas.microsoft.com/office/drawing/2014/main" id="{C5C37A73-9270-4DDC-AF09-2A79CD876496}"/>
              </a:ext>
            </a:extLst>
          </p:cNvPr>
          <p:cNvSpPr>
            <a:spLocks xmlns:a="http://schemas.openxmlformats.org/drawingml/2006/main" noGrp="1"/>
          </p:cNvSpPr>
          <p:nvPr/>
        </p:nvSpPr>
        <p:spPr>
          <a:xfrm xmlns:a="http://schemas.openxmlformats.org/drawingml/2006/main" rot="0" flipH="0" flipV="0">
            <a:off x="3411450" y="28670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6"/>
                </a:solidFill>
                <a:latin typeface="Consolas"/>
                <a:ea typeface="Consolas"/>
                <a:cs typeface="Consolas"/>
              </a:rPr>
              <a:t>9 / 9</a:t>
            </a:r>
          </a:p>
        </p:txBody>
      </p:sp>
      <p:sp>
        <p:nvSpPr>
          <p:cNvPr id="36" name="TextBox 36">
            <a:extLst xmlns:a="http://schemas.openxmlformats.org/drawingml/2006/main">
              <a:ext uri="{FF2B5EF4-FFF2-40B4-BE49-F238E27FC236}">
                <a16:creationId xmlns:a16="http://schemas.microsoft.com/office/drawing/2014/main" id="{A2364297-450A-42F5-8599-E32C70FE7091}"/>
              </a:ext>
            </a:extLst>
          </p:cNvPr>
          <p:cNvSpPr>
            <a:spLocks xmlns:a="http://schemas.openxmlformats.org/drawingml/2006/main" noGrp="1"/>
          </p:cNvSpPr>
          <p:nvPr/>
        </p:nvSpPr>
        <p:spPr>
          <a:xfrm xmlns:a="http://schemas.openxmlformats.org/drawingml/2006/main" rot="0" flipH="0" flipV="0">
            <a:off x="4764000" y="28670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FFFFFF"/>
                </a:solidFill>
                <a:latin typeface="Consolas"/>
                <a:ea typeface="Consolas"/>
                <a:cs typeface="Consolas"/>
              </a:rPr>
              <a:t>9 / 9</a:t>
            </a:r>
          </a:p>
        </p:txBody>
      </p:sp>
      <p:sp>
        <p:nvSpPr>
          <p:cNvPr id="37" name="TextBox 37">
            <a:extLst xmlns:a="http://schemas.openxmlformats.org/drawingml/2006/main">
              <a:ext uri="{FF2B5EF4-FFF2-40B4-BE49-F238E27FC236}">
                <a16:creationId xmlns:a16="http://schemas.microsoft.com/office/drawing/2014/main" id="{D9FF922C-60F9-40EA-BB27-F36C0B2FE86C}"/>
              </a:ext>
            </a:extLst>
          </p:cNvPr>
          <p:cNvSpPr>
            <a:spLocks xmlns:a="http://schemas.openxmlformats.org/drawingml/2006/main" noGrp="1"/>
          </p:cNvSpPr>
          <p:nvPr/>
        </p:nvSpPr>
        <p:spPr>
          <a:xfrm xmlns:a="http://schemas.openxmlformats.org/drawingml/2006/main" rot="0" flipH="0" flipV="0">
            <a:off x="2354175" y="353377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8 / 9</a:t>
            </a:r>
          </a:p>
        </p:txBody>
      </p:sp>
      <p:sp>
        <p:nvSpPr>
          <p:cNvPr id="38" name="TextBox 38">
            <a:extLst xmlns:a="http://schemas.openxmlformats.org/drawingml/2006/main">
              <a:ext uri="{FF2B5EF4-FFF2-40B4-BE49-F238E27FC236}">
                <a16:creationId xmlns:a16="http://schemas.microsoft.com/office/drawing/2014/main" id="{275D3C78-07D0-4119-B84B-02F01665C3BA}"/>
              </a:ext>
            </a:extLst>
          </p:cNvPr>
          <p:cNvSpPr>
            <a:spLocks xmlns:a="http://schemas.openxmlformats.org/drawingml/2006/main" noGrp="1"/>
          </p:cNvSpPr>
          <p:nvPr/>
        </p:nvSpPr>
        <p:spPr>
          <a:xfrm xmlns:a="http://schemas.openxmlformats.org/drawingml/2006/main" rot="0" flipH="0" flipV="0">
            <a:off x="3411450" y="353377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B45F4A"/>
                </a:solidFill>
                <a:latin typeface="Consolas"/>
                <a:ea typeface="Consolas"/>
                <a:cs typeface="Consolas"/>
              </a:rPr>
              <a:t>5 / 9</a:t>
            </a:r>
          </a:p>
        </p:txBody>
      </p:sp>
      <p:sp>
        <p:nvSpPr>
          <p:cNvPr id="39" name="TextBox 39">
            <a:extLst xmlns:a="http://schemas.openxmlformats.org/drawingml/2006/main">
              <a:ext uri="{FF2B5EF4-FFF2-40B4-BE49-F238E27FC236}">
                <a16:creationId xmlns:a16="http://schemas.microsoft.com/office/drawing/2014/main" id="{6138C269-E74E-4B76-8347-3561D3CCFD63}"/>
              </a:ext>
            </a:extLst>
          </p:cNvPr>
          <p:cNvSpPr>
            <a:spLocks xmlns:a="http://schemas.openxmlformats.org/drawingml/2006/main" noGrp="1"/>
          </p:cNvSpPr>
          <p:nvPr/>
        </p:nvSpPr>
        <p:spPr>
          <a:xfrm xmlns:a="http://schemas.openxmlformats.org/drawingml/2006/main" rot="0" flipH="0" flipV="0">
            <a:off x="4764000" y="353377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FFFFFF"/>
                </a:solidFill>
                <a:latin typeface="Consolas"/>
                <a:ea typeface="Consolas"/>
                <a:cs typeface="Consolas"/>
              </a:rPr>
              <a:t>9 / 9</a:t>
            </a:r>
          </a:p>
        </p:txBody>
      </p:sp>
      <p:sp>
        <p:nvSpPr>
          <p:cNvPr id="40" name="TextBox 40">
            <a:extLst xmlns:a="http://schemas.openxmlformats.org/drawingml/2006/main">
              <a:ext uri="{FF2B5EF4-FFF2-40B4-BE49-F238E27FC236}">
                <a16:creationId xmlns:a16="http://schemas.microsoft.com/office/drawing/2014/main" id="{4DDEFF89-E640-416A-8808-424F97261BAA}"/>
              </a:ext>
            </a:extLst>
          </p:cNvPr>
          <p:cNvSpPr>
            <a:spLocks xmlns:a="http://schemas.openxmlformats.org/drawingml/2006/main" noGrp="1"/>
          </p:cNvSpPr>
          <p:nvPr/>
        </p:nvSpPr>
        <p:spPr>
          <a:xfrm xmlns:a="http://schemas.openxmlformats.org/drawingml/2006/main" rot="0" flipH="0" flipV="0">
            <a:off x="2354175" y="42005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chemeClr val="accent2"/>
                </a:solidFill>
                <a:latin typeface="Consolas"/>
                <a:ea typeface="Consolas"/>
                <a:cs typeface="Consolas"/>
              </a:rPr>
              <a:t>6 / 8</a:t>
            </a:r>
          </a:p>
        </p:txBody>
      </p:sp>
      <p:sp>
        <p:nvSpPr>
          <p:cNvPr id="41" name="TextBox 41">
            <a:extLst xmlns:a="http://schemas.openxmlformats.org/drawingml/2006/main">
              <a:ext uri="{FF2B5EF4-FFF2-40B4-BE49-F238E27FC236}">
                <a16:creationId xmlns:a16="http://schemas.microsoft.com/office/drawing/2014/main" id="{1C295508-3A2B-4AD1-A1B5-C7A80EAF5CEB}"/>
              </a:ext>
            </a:extLst>
          </p:cNvPr>
          <p:cNvSpPr>
            <a:spLocks xmlns:a="http://schemas.openxmlformats.org/drawingml/2006/main" noGrp="1"/>
          </p:cNvSpPr>
          <p:nvPr/>
        </p:nvSpPr>
        <p:spPr>
          <a:xfrm xmlns:a="http://schemas.openxmlformats.org/drawingml/2006/main" rot="0" flipH="0" flipV="0">
            <a:off x="3411450" y="42005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B45F4A"/>
                </a:solidFill>
                <a:latin typeface="Consolas"/>
                <a:ea typeface="Consolas"/>
                <a:cs typeface="Consolas"/>
              </a:rPr>
              <a:t>6 / 8</a:t>
            </a:r>
          </a:p>
        </p:txBody>
      </p:sp>
      <p:sp>
        <p:nvSpPr>
          <p:cNvPr id="42" name="TextBox 42">
            <a:extLst xmlns:a="http://schemas.openxmlformats.org/drawingml/2006/main">
              <a:ext uri="{FF2B5EF4-FFF2-40B4-BE49-F238E27FC236}">
                <a16:creationId xmlns:a16="http://schemas.microsoft.com/office/drawing/2014/main" id="{2234152E-EDB0-4CAD-B7A0-FCDBCA8E4100}"/>
              </a:ext>
            </a:extLst>
          </p:cNvPr>
          <p:cNvSpPr>
            <a:spLocks xmlns:a="http://schemas.openxmlformats.org/drawingml/2006/main" noGrp="1"/>
          </p:cNvSpPr>
          <p:nvPr/>
        </p:nvSpPr>
        <p:spPr>
          <a:xfrm xmlns:a="http://schemas.openxmlformats.org/drawingml/2006/main" rot="0" flipH="0" flipV="0">
            <a:off x="4764000" y="4200525"/>
            <a:ext cx="49230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500" b="1">
                <a:solidFill>
                  <a:srgbClr val="FFFFFF"/>
                </a:solidFill>
                <a:latin typeface="Consolas"/>
                <a:ea typeface="Consolas"/>
                <a:cs typeface="Consolas"/>
              </a:rPr>
              <a:t>8 / 8</a:t>
            </a:r>
          </a:p>
        </p:txBody>
      </p:sp>
      <p:sp>
        <p:nvSpPr>
          <p:cNvPr id="43" name="TextBox 43">
            <a:extLst xmlns:a="http://schemas.openxmlformats.org/drawingml/2006/main">
              <a:ext uri="{FF2B5EF4-FFF2-40B4-BE49-F238E27FC236}">
                <a16:creationId xmlns:a16="http://schemas.microsoft.com/office/drawing/2014/main" id="{2B5C99D1-96C6-415B-828E-57144FB0BC68}"/>
              </a:ext>
            </a:extLst>
          </p:cNvPr>
          <p:cNvSpPr>
            <a:spLocks xmlns:a="http://schemas.openxmlformats.org/drawingml/2006/main" noGrp="1"/>
          </p:cNvSpPr>
          <p:nvPr/>
        </p:nvSpPr>
        <p:spPr>
          <a:xfrm xmlns:a="http://schemas.openxmlformats.org/drawingml/2006/main" rot="0" flipH="0" flipV="0">
            <a:off x="774192" y="4788218"/>
            <a:ext cx="3657028"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F6875"/>
                </a:solidFill>
                <a:latin typeface="+mn-lt"/>
                <a:ea typeface="+mn-lt"/>
                <a:cs typeface="+mn-lt"/>
              </a:rPr>
              <a:t>Robust total: 26 / 26 · temporal flags: 0</a:t>
            </a:r>
          </a:p>
        </p:txBody>
      </p:sp>
      <p:sp>
        <p:nvSpPr>
          <p:cNvPr id="45" name="Rectangle 45">
            <a:extLst xmlns:a="http://schemas.openxmlformats.org/drawingml/2006/main">
              <a:ext uri="{FF2B5EF4-FFF2-40B4-BE49-F238E27FC236}">
                <a16:creationId xmlns:a16="http://schemas.microsoft.com/office/drawing/2014/main" id="{05BDAB07-B936-46E1-B157-A4332EAF599B}"/>
              </a:ext>
            </a:extLst>
          </p:cNvPr>
          <p:cNvSpPr>
            <a:spLocks xmlns:a="http://schemas.openxmlformats.org/drawingml/2006/main" noGrp="1"/>
          </p:cNvSpPr>
          <p:nvPr/>
        </p:nvSpPr>
        <p:spPr>
          <a:xfrm xmlns:a="http://schemas.openxmlformats.org/drawingml/2006/main" rot="0" flipH="0" flipV="0">
            <a:off x="6115050" y="1657350"/>
            <a:ext cx="5543550" cy="3505200"/>
          </a:xfrm>
          <a:prstGeom xmlns:a="http://schemas.openxmlformats.org/drawingml/2006/main" prst="roundRect">
            <a:avLst>
              <a:gd name="adj" fmla="val 3804"/>
            </a:avLst>
          </a:prstGeom>
          <a:solidFill xmlns:a="http://schemas.openxmlformats.org/drawingml/2006/main">
            <a:schemeClr val="accent1"/>
          </a:solidFill>
          <a:ln xmlns:a="http://schemas.openxmlformats.org/drawingml/2006/main">
            <a:noFill/>
          </a:ln>
        </p:spPr>
      </p:sp>
      <p:sp>
        <p:nvSpPr>
          <p:cNvPr id="46" name="TextBox 46">
            <a:extLst xmlns:a="http://schemas.openxmlformats.org/drawingml/2006/main">
              <a:ext uri="{FF2B5EF4-FFF2-40B4-BE49-F238E27FC236}">
                <a16:creationId xmlns:a16="http://schemas.microsoft.com/office/drawing/2014/main" id="{1B18D525-28E4-4AE4-AAC6-4C9599B60EA7}"/>
              </a:ext>
            </a:extLst>
          </p:cNvPr>
          <p:cNvSpPr>
            <a:spLocks xmlns:a="http://schemas.openxmlformats.org/drawingml/2006/main" noGrp="1"/>
          </p:cNvSpPr>
          <p:nvPr/>
        </p:nvSpPr>
        <p:spPr>
          <a:xfrm xmlns:a="http://schemas.openxmlformats.org/drawingml/2006/main" rot="0" flipH="0" flipV="0">
            <a:off x="6393942" y="1835468"/>
            <a:ext cx="346150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E9EDF5"/>
                </a:solidFill>
                <a:latin typeface="+mn-lt"/>
                <a:ea typeface="+mn-lt"/>
                <a:cs typeface="+mn-lt"/>
              </a:rPr>
              <a:t>LONGITUDINAL ENDPOINT COMPARISON</a:t>
            </a:r>
          </a:p>
        </p:txBody>
      </p:sp>
      <p:sp>
        <p:nvSpPr>
          <p:cNvPr id="47" name="TextBox 47">
            <a:extLst xmlns:a="http://schemas.openxmlformats.org/drawingml/2006/main">
              <a:ext uri="{FF2B5EF4-FFF2-40B4-BE49-F238E27FC236}">
                <a16:creationId xmlns:a16="http://schemas.microsoft.com/office/drawing/2014/main" id="{0A868211-9655-40AE-A286-6116E31854F2}"/>
              </a:ext>
            </a:extLst>
          </p:cNvPr>
          <p:cNvSpPr>
            <a:spLocks xmlns:a="http://schemas.openxmlformats.org/drawingml/2006/main" noGrp="1"/>
          </p:cNvSpPr>
          <p:nvPr/>
        </p:nvSpPr>
        <p:spPr>
          <a:xfrm xmlns:a="http://schemas.openxmlformats.org/drawingml/2006/main" rot="0" flipH="0" flipV="0">
            <a:off x="6393180" y="2228850"/>
            <a:ext cx="140498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K achievement</a:t>
            </a:r>
          </a:p>
        </p:txBody>
      </p:sp>
      <p:sp>
        <p:nvSpPr>
          <p:cNvPr id="48" name="TextBox 48">
            <a:extLst xmlns:a="http://schemas.openxmlformats.org/drawingml/2006/main">
              <a:ext uri="{FF2B5EF4-FFF2-40B4-BE49-F238E27FC236}">
                <a16:creationId xmlns:a16="http://schemas.microsoft.com/office/drawing/2014/main" id="{568DFD74-5ABD-4273-AFF7-E2408252C0FA}"/>
              </a:ext>
            </a:extLst>
          </p:cNvPr>
          <p:cNvSpPr>
            <a:spLocks xmlns:a="http://schemas.openxmlformats.org/drawingml/2006/main" noGrp="1"/>
          </p:cNvSpPr>
          <p:nvPr/>
        </p:nvSpPr>
        <p:spPr>
          <a:xfrm xmlns:a="http://schemas.openxmlformats.org/drawingml/2006/main" rot="0" flipH="0" flipV="0">
            <a:off x="8393990" y="2228850"/>
            <a:ext cx="207208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500">
                <a:solidFill>
                  <a:srgbClr val="E9EDF5"/>
                </a:solidFill>
                <a:latin typeface="+mn-lt"/>
                <a:ea typeface="+mn-lt"/>
                <a:cs typeface="+mn-lt"/>
              </a:rPr>
              <a:t>Grade-3 achievement</a:t>
            </a:r>
          </a:p>
        </p:txBody>
      </p:sp>
      <p:sp>
        <p:nvSpPr>
          <p:cNvPr id="49" name="Line 49">
            <a:extLst xmlns:a="http://schemas.openxmlformats.org/drawingml/2006/main">
              <a:ext uri="{FF2B5EF4-FFF2-40B4-BE49-F238E27FC236}">
                <a16:creationId xmlns:a16="http://schemas.microsoft.com/office/drawing/2014/main" id="{C7C4E3CE-286E-488D-AC69-8B45D232FFD1}"/>
              </a:ext>
            </a:extLst>
          </p:cNvPr>
          <p:cNvSpPr>
            <a:spLocks xmlns:a="http://schemas.openxmlformats.org/drawingml/2006/main" noGrp="1"/>
          </p:cNvSpPr>
          <p:nvPr/>
        </p:nvSpPr>
        <p:spPr>
          <a:xfrm xmlns:a="http://schemas.openxmlformats.org/drawingml/2006/main" rot="0" flipH="0" flipV="0">
            <a:off x="7715250" y="2819400"/>
            <a:ext cx="2286000" cy="9525"/>
          </a:xfrm>
          <a:custGeom xmlns:a="http://schemas.openxmlformats.org/drawingml/2006/main">
            <a:rect l="l" t="t" r="r" b="b"/>
            <a:pathLst>
              <a:path w="2286000" h="9525">
                <a:moveTo>
                  <a:pt x="0" y="0"/>
                </a:moveTo>
                <a:lnTo>
                  <a:pt x="2286000" y="0"/>
                </a:lnTo>
              </a:path>
            </a:pathLst>
          </a:custGeom>
          <a:noFill xmlns:a="http://schemas.openxmlformats.org/drawingml/2006/main"/>
          <a:ln xmlns:a="http://schemas.openxmlformats.org/drawingml/2006/main" w="28575">
            <a:solidFill>
              <a:schemeClr val="accent3"/>
            </a:solidFill>
          </a:ln>
        </p:spPr>
      </p:sp>
      <p:sp>
        <p:nvSpPr>
          <p:cNvPr id="50" name="Polygon 50">
            <a:extLst xmlns:a="http://schemas.openxmlformats.org/drawingml/2006/main">
              <a:ext uri="{FF2B5EF4-FFF2-40B4-BE49-F238E27FC236}">
                <a16:creationId xmlns:a16="http://schemas.microsoft.com/office/drawing/2014/main" id="{A98C35FA-4D68-43C3-A402-4B127B5385F6}"/>
              </a:ext>
            </a:extLst>
          </p:cNvPr>
          <p:cNvSpPr>
            <a:spLocks xmlns:a="http://schemas.openxmlformats.org/drawingml/2006/main" noGrp="1"/>
          </p:cNvSpPr>
          <p:nvPr/>
        </p:nvSpPr>
        <p:spPr>
          <a:xfrm xmlns:a="http://schemas.openxmlformats.org/drawingml/2006/main" rot="0" flipH="0" flipV="0">
            <a:off x="7715250" y="2724150"/>
            <a:ext cx="171450" cy="190500"/>
          </a:xfrm>
          <a:custGeom xmlns:a="http://schemas.openxmlformats.org/drawingml/2006/main">
            <a:rect l="l" t="t" r="r" b="b"/>
            <a:pathLst>
              <a:path w="171450" h="190500">
                <a:moveTo>
                  <a:pt x="0" y="95250"/>
                </a:moveTo>
                <a:lnTo>
                  <a:pt x="171450" y="0"/>
                </a:lnTo>
                <a:lnTo>
                  <a:pt x="171450" y="190500"/>
                </a:lnTo>
                <a:close/>
              </a:path>
            </a:pathLst>
          </a:custGeom>
          <a:solidFill xmlns:a="http://schemas.openxmlformats.org/drawingml/2006/main">
            <a:schemeClr val="accent3"/>
          </a:solidFill>
          <a:ln xmlns:a="http://schemas.openxmlformats.org/drawingml/2006/main">
            <a:noFill/>
          </a:ln>
        </p:spPr>
      </p:sp>
      <p:sp>
        <p:nvSpPr>
          <p:cNvPr id="51" name="Ellipse 51">
            <a:extLst xmlns:a="http://schemas.openxmlformats.org/drawingml/2006/main">
              <a:ext uri="{FF2B5EF4-FFF2-40B4-BE49-F238E27FC236}">
                <a16:creationId xmlns:a16="http://schemas.microsoft.com/office/drawing/2014/main" id="{4B0976E8-98AA-4C5B-8755-BDF0AEDD8A18}"/>
              </a:ext>
            </a:extLst>
          </p:cNvPr>
          <p:cNvSpPr>
            <a:spLocks xmlns:a="http://schemas.openxmlformats.org/drawingml/2006/main" noGrp="1"/>
          </p:cNvSpPr>
          <p:nvPr/>
        </p:nvSpPr>
        <p:spPr>
          <a:xfrm xmlns:a="http://schemas.openxmlformats.org/drawingml/2006/main" rot="0" flipH="0" flipV="0">
            <a:off x="9925050" y="2743200"/>
            <a:ext cx="152400" cy="152400"/>
          </a:xfrm>
          <a:prstGeom xmlns:a="http://schemas.openxmlformats.org/drawingml/2006/main" prst="ellipse">
            <a:avLst/>
          </a:prstGeom>
          <a:solidFill xmlns:a="http://schemas.openxmlformats.org/drawingml/2006/main">
            <a:schemeClr val="accent1"/>
          </a:solidFill>
          <a:ln xmlns:a="http://schemas.openxmlformats.org/drawingml/2006/main" w="28575">
            <a:solidFill>
              <a:schemeClr val="accent3"/>
            </a:solidFill>
          </a:ln>
        </p:spPr>
      </p:sp>
      <p:sp>
        <p:nvSpPr>
          <p:cNvPr id="52" name="TextBox 52">
            <a:extLst xmlns:a="http://schemas.openxmlformats.org/drawingml/2006/main">
              <a:ext uri="{FF2B5EF4-FFF2-40B4-BE49-F238E27FC236}">
                <a16:creationId xmlns:a16="http://schemas.microsoft.com/office/drawing/2014/main" id="{1811327B-9560-4BEB-86A9-0E9DACB7C78C}"/>
              </a:ext>
            </a:extLst>
          </p:cNvPr>
          <p:cNvSpPr>
            <a:spLocks xmlns:a="http://schemas.openxmlformats.org/drawingml/2006/main" noGrp="1"/>
          </p:cNvSpPr>
          <p:nvPr/>
        </p:nvSpPr>
        <p:spPr>
          <a:xfrm xmlns:a="http://schemas.openxmlformats.org/drawingml/2006/main" rot="0" flipH="0" flipV="0">
            <a:off x="6393942" y="2730818"/>
            <a:ext cx="131635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3"/>
                </a:solidFill>
                <a:latin typeface="+mn-lt"/>
                <a:ea typeface="+mn-lt"/>
                <a:cs typeface="+mn-lt"/>
              </a:rPr>
              <a:t>paper FCI Plus</a:t>
            </a:r>
          </a:p>
        </p:txBody>
      </p:sp>
      <p:sp>
        <p:nvSpPr>
          <p:cNvPr id="53" name="TextBox 53">
            <a:extLst xmlns:a="http://schemas.openxmlformats.org/drawingml/2006/main">
              <a:ext uri="{FF2B5EF4-FFF2-40B4-BE49-F238E27FC236}">
                <a16:creationId xmlns:a16="http://schemas.microsoft.com/office/drawing/2014/main" id="{B2959841-2F99-423B-B3A4-00334C228113}"/>
              </a:ext>
            </a:extLst>
          </p:cNvPr>
          <p:cNvSpPr>
            <a:spLocks xmlns:a="http://schemas.openxmlformats.org/drawingml/2006/main" noGrp="1"/>
          </p:cNvSpPr>
          <p:nvPr/>
        </p:nvSpPr>
        <p:spPr>
          <a:xfrm xmlns:a="http://schemas.openxmlformats.org/drawingml/2006/main" rot="0" flipH="0" flipV="0">
            <a:off x="10261854" y="2747010"/>
            <a:ext cx="72298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FFC77E"/>
                </a:solidFill>
                <a:latin typeface="+mn-lt"/>
                <a:ea typeface="+mn-lt"/>
                <a:cs typeface="+mn-lt"/>
              </a:rPr>
              <a:t>reversed</a:t>
            </a:r>
          </a:p>
        </p:txBody>
      </p:sp>
      <p:sp>
        <p:nvSpPr>
          <p:cNvPr id="54" name="Line 54">
            <a:extLst xmlns:a="http://schemas.openxmlformats.org/drawingml/2006/main">
              <a:ext uri="{FF2B5EF4-FFF2-40B4-BE49-F238E27FC236}">
                <a16:creationId xmlns:a16="http://schemas.microsoft.com/office/drawing/2014/main" id="{3762B83C-9014-444A-B3D4-4DF0C785FE3F}"/>
              </a:ext>
            </a:extLst>
          </p:cNvPr>
          <p:cNvSpPr>
            <a:spLocks xmlns:a="http://schemas.openxmlformats.org/drawingml/2006/main" noGrp="1"/>
          </p:cNvSpPr>
          <p:nvPr/>
        </p:nvSpPr>
        <p:spPr>
          <a:xfrm xmlns:a="http://schemas.openxmlformats.org/drawingml/2006/main" rot="0" flipH="0" flipV="0">
            <a:off x="7715250" y="3467100"/>
            <a:ext cx="2286000" cy="9525"/>
          </a:xfrm>
          <a:custGeom xmlns:a="http://schemas.openxmlformats.org/drawingml/2006/main">
            <a:rect l="l" t="t" r="r" b="b"/>
            <a:pathLst>
              <a:path w="2286000" h="9525">
                <a:moveTo>
                  <a:pt x="0" y="0"/>
                </a:moveTo>
                <a:lnTo>
                  <a:pt x="2286000" y="0"/>
                </a:lnTo>
              </a:path>
            </a:pathLst>
          </a:custGeom>
          <a:noFill xmlns:a="http://schemas.openxmlformats.org/drawingml/2006/main"/>
          <a:ln xmlns:a="http://schemas.openxmlformats.org/drawingml/2006/main" w="28575">
            <a:solidFill>
              <a:srgbClr val="7562A8"/>
            </a:solidFill>
          </a:ln>
        </p:spPr>
      </p:sp>
      <p:sp>
        <p:nvSpPr>
          <p:cNvPr id="55" name="Polygon 55">
            <a:extLst xmlns:a="http://schemas.openxmlformats.org/drawingml/2006/main">
              <a:ext uri="{FF2B5EF4-FFF2-40B4-BE49-F238E27FC236}">
                <a16:creationId xmlns:a16="http://schemas.microsoft.com/office/drawing/2014/main" id="{FA50FDCD-3596-4F68-8250-295F8F438BD2}"/>
              </a:ext>
            </a:extLst>
          </p:cNvPr>
          <p:cNvSpPr>
            <a:spLocks xmlns:a="http://schemas.openxmlformats.org/drawingml/2006/main" noGrp="1"/>
          </p:cNvSpPr>
          <p:nvPr/>
        </p:nvSpPr>
        <p:spPr>
          <a:xfrm xmlns:a="http://schemas.openxmlformats.org/drawingml/2006/main" rot="0" flipH="0" flipV="0">
            <a:off x="7715250" y="3371850"/>
            <a:ext cx="171450" cy="190500"/>
          </a:xfrm>
          <a:custGeom xmlns:a="http://schemas.openxmlformats.org/drawingml/2006/main">
            <a:rect l="l" t="t" r="r" b="b"/>
            <a:pathLst>
              <a:path w="171450" h="190500">
                <a:moveTo>
                  <a:pt x="0" y="95250"/>
                </a:moveTo>
                <a:lnTo>
                  <a:pt x="171450" y="0"/>
                </a:lnTo>
                <a:lnTo>
                  <a:pt x="171450" y="190500"/>
                </a:lnTo>
                <a:close/>
              </a:path>
            </a:pathLst>
          </a:custGeom>
          <a:solidFill xmlns:a="http://schemas.openxmlformats.org/drawingml/2006/main">
            <a:srgbClr val="7562A8"/>
          </a:solidFill>
          <a:ln xmlns:a="http://schemas.openxmlformats.org/drawingml/2006/main">
            <a:noFill/>
          </a:ln>
        </p:spPr>
      </p:sp>
      <p:sp>
        <p:nvSpPr>
          <p:cNvPr id="56" name="Ellipse 56">
            <a:extLst xmlns:a="http://schemas.openxmlformats.org/drawingml/2006/main">
              <a:ext uri="{FF2B5EF4-FFF2-40B4-BE49-F238E27FC236}">
                <a16:creationId xmlns:a16="http://schemas.microsoft.com/office/drawing/2014/main" id="{021F84FD-70D6-419C-9F6A-B65C6895C4EF}"/>
              </a:ext>
            </a:extLst>
          </p:cNvPr>
          <p:cNvSpPr>
            <a:spLocks xmlns:a="http://schemas.openxmlformats.org/drawingml/2006/main" noGrp="1"/>
          </p:cNvSpPr>
          <p:nvPr/>
        </p:nvSpPr>
        <p:spPr>
          <a:xfrm xmlns:a="http://schemas.openxmlformats.org/drawingml/2006/main" rot="0" flipH="0" flipV="0">
            <a:off x="9925050" y="3390900"/>
            <a:ext cx="152400" cy="152400"/>
          </a:xfrm>
          <a:prstGeom xmlns:a="http://schemas.openxmlformats.org/drawingml/2006/main" prst="ellipse">
            <a:avLst/>
          </a:prstGeom>
          <a:solidFill xmlns:a="http://schemas.openxmlformats.org/drawingml/2006/main">
            <a:schemeClr val="accent1"/>
          </a:solidFill>
          <a:ln xmlns:a="http://schemas.openxmlformats.org/drawingml/2006/main" w="28575">
            <a:solidFill>
              <a:srgbClr val="7562A8"/>
            </a:solidFill>
          </a:ln>
        </p:spPr>
      </p:sp>
      <p:sp>
        <p:nvSpPr>
          <p:cNvPr id="57" name="TextBox 57">
            <a:extLst xmlns:a="http://schemas.openxmlformats.org/drawingml/2006/main">
              <a:ext uri="{FF2B5EF4-FFF2-40B4-BE49-F238E27FC236}">
                <a16:creationId xmlns:a16="http://schemas.microsoft.com/office/drawing/2014/main" id="{EBD2C83E-F0F5-4694-B3AE-34F3A614FCAB}"/>
              </a:ext>
            </a:extLst>
          </p:cNvPr>
          <p:cNvSpPr>
            <a:spLocks xmlns:a="http://schemas.openxmlformats.org/drawingml/2006/main" noGrp="1"/>
          </p:cNvSpPr>
          <p:nvPr/>
        </p:nvSpPr>
        <p:spPr>
          <a:xfrm xmlns:a="http://schemas.openxmlformats.org/drawingml/2006/main" rot="0" flipH="0" flipV="0">
            <a:off x="6393942" y="3378518"/>
            <a:ext cx="143705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BBAFE0"/>
                </a:solidFill>
                <a:latin typeface="+mn-lt"/>
                <a:ea typeface="+mn-lt"/>
                <a:cs typeface="+mn-lt"/>
              </a:rPr>
              <a:t>R pcalg FCI Plus</a:t>
            </a:r>
          </a:p>
        </p:txBody>
      </p:sp>
      <p:sp>
        <p:nvSpPr>
          <p:cNvPr id="58" name="TextBox 58">
            <a:extLst xmlns:a="http://schemas.openxmlformats.org/drawingml/2006/main">
              <a:ext uri="{FF2B5EF4-FFF2-40B4-BE49-F238E27FC236}">
                <a16:creationId xmlns:a16="http://schemas.microsoft.com/office/drawing/2014/main" id="{EBC87AED-4436-459D-A321-3A0A839D9A45}"/>
              </a:ext>
            </a:extLst>
          </p:cNvPr>
          <p:cNvSpPr>
            <a:spLocks xmlns:a="http://schemas.openxmlformats.org/drawingml/2006/main" noGrp="1"/>
          </p:cNvSpPr>
          <p:nvPr/>
        </p:nvSpPr>
        <p:spPr>
          <a:xfrm xmlns:a="http://schemas.openxmlformats.org/drawingml/2006/main" rot="0" flipH="0" flipV="0">
            <a:off x="10261854" y="3394710"/>
            <a:ext cx="72298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BBAFE0"/>
                </a:solidFill>
                <a:latin typeface="+mn-lt"/>
                <a:ea typeface="+mn-lt"/>
                <a:cs typeface="+mn-lt"/>
              </a:rPr>
              <a:t>reversed</a:t>
            </a:r>
          </a:p>
        </p:txBody>
      </p:sp>
      <p:sp>
        <p:nvSpPr>
          <p:cNvPr id="59" name="Line 59">
            <a:extLst xmlns:a="http://schemas.openxmlformats.org/drawingml/2006/main">
              <a:ext uri="{FF2B5EF4-FFF2-40B4-BE49-F238E27FC236}">
                <a16:creationId xmlns:a16="http://schemas.microsoft.com/office/drawing/2014/main" id="{0CD94270-FA86-4CC2-A2C9-7CF5705666DE}"/>
              </a:ext>
            </a:extLst>
          </p:cNvPr>
          <p:cNvSpPr>
            <a:spLocks xmlns:a="http://schemas.openxmlformats.org/drawingml/2006/main" noGrp="1"/>
          </p:cNvSpPr>
          <p:nvPr/>
        </p:nvSpPr>
        <p:spPr>
          <a:xfrm xmlns:a="http://schemas.openxmlformats.org/drawingml/2006/main" rot="0" flipH="0" flipV="0">
            <a:off x="7715250" y="4114800"/>
            <a:ext cx="2286000" cy="9525"/>
          </a:xfrm>
          <a:custGeom xmlns:a="http://schemas.openxmlformats.org/drawingml/2006/main">
            <a:rect l="l" t="t" r="r" b="b"/>
            <a:pathLst>
              <a:path w="2286000" h="9525">
                <a:moveTo>
                  <a:pt x="0" y="0"/>
                </a:moveTo>
                <a:lnTo>
                  <a:pt x="2286000" y="0"/>
                </a:lnTo>
              </a:path>
            </a:pathLst>
          </a:custGeom>
          <a:noFill xmlns:a="http://schemas.openxmlformats.org/drawingml/2006/main"/>
          <a:ln xmlns:a="http://schemas.openxmlformats.org/drawingml/2006/main" w="28575">
            <a:solidFill>
              <a:schemeClr val="accent6"/>
            </a:solidFill>
          </a:ln>
        </p:spPr>
      </p:sp>
      <p:sp>
        <p:nvSpPr>
          <p:cNvPr id="60" name="Ellipse 60">
            <a:extLst xmlns:a="http://schemas.openxmlformats.org/drawingml/2006/main">
              <a:ext uri="{FF2B5EF4-FFF2-40B4-BE49-F238E27FC236}">
                <a16:creationId xmlns:a16="http://schemas.microsoft.com/office/drawing/2014/main" id="{BECA1D21-1333-47B1-9395-707341890CDE}"/>
              </a:ext>
            </a:extLst>
          </p:cNvPr>
          <p:cNvSpPr>
            <a:spLocks xmlns:a="http://schemas.openxmlformats.org/drawingml/2006/main" noGrp="1"/>
          </p:cNvSpPr>
          <p:nvPr/>
        </p:nvSpPr>
        <p:spPr>
          <a:xfrm xmlns:a="http://schemas.openxmlformats.org/drawingml/2006/main" rot="0" flipH="0" flipV="0">
            <a:off x="7639050" y="4038600"/>
            <a:ext cx="152400" cy="152400"/>
          </a:xfrm>
          <a:prstGeom xmlns:a="http://schemas.openxmlformats.org/drawingml/2006/main" prst="ellipse">
            <a:avLst/>
          </a:prstGeom>
          <a:solidFill xmlns:a="http://schemas.openxmlformats.org/drawingml/2006/main">
            <a:schemeClr val="accent1"/>
          </a:solidFill>
          <a:ln xmlns:a="http://schemas.openxmlformats.org/drawingml/2006/main" w="28575">
            <a:solidFill>
              <a:schemeClr val="accent6"/>
            </a:solidFill>
          </a:ln>
        </p:spPr>
      </p:sp>
      <p:sp>
        <p:nvSpPr>
          <p:cNvPr id="61" name="Ellipse 61">
            <a:extLst xmlns:a="http://schemas.openxmlformats.org/drawingml/2006/main">
              <a:ext uri="{FF2B5EF4-FFF2-40B4-BE49-F238E27FC236}">
                <a16:creationId xmlns:a16="http://schemas.microsoft.com/office/drawing/2014/main" id="{ACC4E79D-BC70-45A9-9F3A-7DFFFE5F3965}"/>
              </a:ext>
            </a:extLst>
          </p:cNvPr>
          <p:cNvSpPr>
            <a:spLocks xmlns:a="http://schemas.openxmlformats.org/drawingml/2006/main" noGrp="1"/>
          </p:cNvSpPr>
          <p:nvPr/>
        </p:nvSpPr>
        <p:spPr>
          <a:xfrm xmlns:a="http://schemas.openxmlformats.org/drawingml/2006/main" rot="0" flipH="0" flipV="0">
            <a:off x="9925050" y="4038600"/>
            <a:ext cx="152400" cy="152400"/>
          </a:xfrm>
          <a:prstGeom xmlns:a="http://schemas.openxmlformats.org/drawingml/2006/main" prst="ellipse">
            <a:avLst/>
          </a:prstGeom>
          <a:solidFill xmlns:a="http://schemas.openxmlformats.org/drawingml/2006/main">
            <a:schemeClr val="accent1"/>
          </a:solidFill>
          <a:ln xmlns:a="http://schemas.openxmlformats.org/drawingml/2006/main" w="28575">
            <a:solidFill>
              <a:schemeClr val="accent6"/>
            </a:solidFill>
          </a:ln>
        </p:spPr>
      </p:sp>
      <p:sp>
        <p:nvSpPr>
          <p:cNvPr id="62" name="TextBox 62">
            <a:extLst xmlns:a="http://schemas.openxmlformats.org/drawingml/2006/main">
              <a:ext uri="{FF2B5EF4-FFF2-40B4-BE49-F238E27FC236}">
                <a16:creationId xmlns:a16="http://schemas.microsoft.com/office/drawing/2014/main" id="{DFFC86B5-B37D-4FA8-9970-1F322F5AC8E7}"/>
              </a:ext>
            </a:extLst>
          </p:cNvPr>
          <p:cNvSpPr>
            <a:spLocks xmlns:a="http://schemas.openxmlformats.org/drawingml/2006/main" noGrp="1"/>
          </p:cNvSpPr>
          <p:nvPr/>
        </p:nvSpPr>
        <p:spPr>
          <a:xfrm xmlns:a="http://schemas.openxmlformats.org/drawingml/2006/main" rot="0" flipH="0" flipV="0">
            <a:off x="6393942" y="4026218"/>
            <a:ext cx="1421284"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A7E8DF"/>
                </a:solidFill>
                <a:latin typeface="+mn-lt"/>
                <a:ea typeface="+mn-lt"/>
                <a:cs typeface="+mn-lt"/>
              </a:rPr>
              <a:t>robust FCI Plus</a:t>
            </a:r>
          </a:p>
        </p:txBody>
      </p:sp>
      <p:sp>
        <p:nvSpPr>
          <p:cNvPr id="63" name="TextBox 63">
            <a:extLst xmlns:a="http://schemas.openxmlformats.org/drawingml/2006/main">
              <a:ext uri="{FF2B5EF4-FFF2-40B4-BE49-F238E27FC236}">
                <a16:creationId xmlns:a16="http://schemas.microsoft.com/office/drawing/2014/main" id="{7A3958D9-E786-4870-B9D6-B05FA43454F4}"/>
              </a:ext>
            </a:extLst>
          </p:cNvPr>
          <p:cNvSpPr>
            <a:spLocks xmlns:a="http://schemas.openxmlformats.org/drawingml/2006/main" noGrp="1"/>
          </p:cNvSpPr>
          <p:nvPr/>
        </p:nvSpPr>
        <p:spPr>
          <a:xfrm xmlns:a="http://schemas.openxmlformats.org/drawingml/2006/main" rot="0" flipH="0" flipV="0">
            <a:off x="10261854" y="4042410"/>
            <a:ext cx="86029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A7E8DF"/>
                </a:solidFill>
                <a:latin typeface="+mn-lt"/>
                <a:ea typeface="+mn-lt"/>
                <a:cs typeface="+mn-lt"/>
              </a:rPr>
              <a:t>unresolved</a:t>
            </a:r>
          </a:p>
        </p:txBody>
      </p:sp>
      <p:sp>
        <p:nvSpPr>
          <p:cNvPr id="64" name="TextBox 64">
            <a:extLst xmlns:a="http://schemas.openxmlformats.org/drawingml/2006/main">
              <a:ext uri="{FF2B5EF4-FFF2-40B4-BE49-F238E27FC236}">
                <a16:creationId xmlns:a16="http://schemas.microsoft.com/office/drawing/2014/main" id="{07297AB6-AC8F-4011-A546-97373F41C224}"/>
              </a:ext>
            </a:extLst>
          </p:cNvPr>
          <p:cNvSpPr>
            <a:spLocks xmlns:a="http://schemas.openxmlformats.org/drawingml/2006/main" noGrp="1"/>
          </p:cNvSpPr>
          <p:nvPr/>
        </p:nvSpPr>
        <p:spPr>
          <a:xfrm xmlns:a="http://schemas.openxmlformats.org/drawingml/2006/main" rot="0" flipH="0" flipV="0">
            <a:off x="6393180" y="4629150"/>
            <a:ext cx="4400285"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rgbClr val="FFFFFF"/>
                </a:solidFill>
                <a:latin typeface="+mn-lt"/>
                <a:ea typeface="+mn-lt"/>
                <a:cs typeface="+mn-lt"/>
              </a:rPr>
              <a:t>A circle endpoint is calibrated abstention—</a:t>
            </a:r>
          </a:p>
        </p:txBody>
      </p:sp>
      <p:sp>
        <p:nvSpPr>
          <p:cNvPr id="65" name="TextBox 65">
            <a:extLst xmlns:a="http://schemas.openxmlformats.org/drawingml/2006/main">
              <a:ext uri="{FF2B5EF4-FFF2-40B4-BE49-F238E27FC236}">
                <a16:creationId xmlns:a16="http://schemas.microsoft.com/office/drawing/2014/main" id="{5E77447E-0C34-4BC5-AF8A-5FE9AF5CDE34}"/>
              </a:ext>
            </a:extLst>
          </p:cNvPr>
          <p:cNvSpPr>
            <a:spLocks xmlns:a="http://schemas.openxmlformats.org/drawingml/2006/main" noGrp="1"/>
          </p:cNvSpPr>
          <p:nvPr/>
        </p:nvSpPr>
        <p:spPr>
          <a:xfrm xmlns:a="http://schemas.openxmlformats.org/drawingml/2006/main" rot="0" flipH="0" flipV="0">
            <a:off x="6393180" y="4876800"/>
            <a:ext cx="3569208"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a:solidFill>
                  <a:srgbClr val="E9EDF5"/>
                </a:solidFill>
                <a:latin typeface="+mn-lt"/>
                <a:ea typeface="+mn-lt"/>
                <a:cs typeface="+mn-lt"/>
              </a:rPr>
              <a:t>not additional causal identification.</a:t>
            </a:r>
          </a:p>
        </p:txBody>
      </p:sp>
      <p:sp>
        <p:nvSpPr>
          <p:cNvPr id="67" name="Rectangle 67">
            <a:extLst xmlns:a="http://schemas.openxmlformats.org/drawingml/2006/main">
              <a:ext uri="{FF2B5EF4-FFF2-40B4-BE49-F238E27FC236}">
                <a16:creationId xmlns:a16="http://schemas.microsoft.com/office/drawing/2014/main" id="{0BA92525-B7EA-4E33-B07D-DF543709A052}"/>
              </a:ext>
            </a:extLst>
          </p:cNvPr>
          <p:cNvSpPr>
            <a:spLocks xmlns:a="http://schemas.openxmlformats.org/drawingml/2006/main" noGrp="1"/>
          </p:cNvSpPr>
          <p:nvPr/>
        </p:nvSpPr>
        <p:spPr>
          <a:xfrm xmlns:a="http://schemas.openxmlformats.org/drawingml/2006/main" rot="0" flipH="0" flipV="0">
            <a:off x="533400" y="5400675"/>
            <a:ext cx="11125200" cy="657225"/>
          </a:xfrm>
          <a:prstGeom xmlns:a="http://schemas.openxmlformats.org/drawingml/2006/main" prst="roundRect">
            <a:avLst>
              <a:gd name="adj" fmla="val 17391"/>
            </a:avLst>
          </a:prstGeom>
          <a:solidFill xmlns:a="http://schemas.openxmlformats.org/drawingml/2006/main">
            <a:srgbClr val="DDF3EF"/>
          </a:solidFill>
          <a:ln xmlns:a="http://schemas.openxmlformats.org/drawingml/2006/main">
            <a:noFill/>
          </a:ln>
        </p:spPr>
      </p:sp>
      <p:sp>
        <p:nvSpPr>
          <p:cNvPr id="68" name="TextBox 68">
            <a:extLst xmlns:a="http://schemas.openxmlformats.org/drawingml/2006/main">
              <a:ext uri="{FF2B5EF4-FFF2-40B4-BE49-F238E27FC236}">
                <a16:creationId xmlns:a16="http://schemas.microsoft.com/office/drawing/2014/main" id="{B6263005-DF06-4AEB-950D-1773186BD89D}"/>
              </a:ext>
            </a:extLst>
          </p:cNvPr>
          <p:cNvSpPr>
            <a:spLocks xmlns:a="http://schemas.openxmlformats.org/drawingml/2006/main" noGrp="1"/>
          </p:cNvSpPr>
          <p:nvPr/>
        </p:nvSpPr>
        <p:spPr>
          <a:xfrm xmlns:a="http://schemas.openxmlformats.org/drawingml/2006/main" rot="0" flipH="0" flipV="0">
            <a:off x="762000" y="5476875"/>
            <a:ext cx="21907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4293" rIns="0" bIns="0" anchor="t">
            <a:noAutofit/>
          </a:bodyPr>
          <a:lstStyle xmlns:a="http://schemas.openxmlformats.org/drawingml/2006/main"/>
          <a:p xmlns:a="http://schemas.openxmlformats.org/drawingml/2006/main">
            <a:pPr algn="l">
              <a:buNone/>
            </a:pPr>
            <a:r>
              <a:rPr sz="1350" b="1">
                <a:solidFill>
                  <a:schemeClr val="accent6"/>
                </a:solidFill>
                <a:latin typeface="+mn-lt"/>
                <a:ea typeface="+mn-lt"/>
                <a:cs typeface="+mn-lt"/>
              </a:rPr>
              <a:t>STABLE ADJACENCIES</a:t>
            </a:r>
          </a:p>
        </p:txBody>
      </p:sp>
      <p:sp>
        <p:nvSpPr>
          <p:cNvPr id="69" name="TextBox 69">
            <a:extLst xmlns:a="http://schemas.openxmlformats.org/drawingml/2006/main">
              <a:ext uri="{FF2B5EF4-FFF2-40B4-BE49-F238E27FC236}">
                <a16:creationId xmlns:a16="http://schemas.microsoft.com/office/drawing/2014/main" id="{FD6C89F8-7B65-4986-990C-72DE83B44C49}"/>
              </a:ext>
            </a:extLst>
          </p:cNvPr>
          <p:cNvSpPr>
            <a:spLocks xmlns:a="http://schemas.openxmlformats.org/drawingml/2006/main" noGrp="1"/>
          </p:cNvSpPr>
          <p:nvPr/>
        </p:nvSpPr>
        <p:spPr>
          <a:xfrm xmlns:a="http://schemas.openxmlformats.org/drawingml/2006/main" rot="0" flipH="0" flipV="0">
            <a:off x="762000" y="5734050"/>
            <a:ext cx="10572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5721" rIns="0" bIns="0" anchor="t">
            <a:noAutofit/>
          </a:bodyPr>
          <a:lstStyle xmlns:a="http://schemas.openxmlformats.org/drawingml/2006/main"/>
          <a:p xmlns:a="http://schemas.openxmlformats.org/drawingml/2006/main">
            <a:pPr algn="l">
              <a:buNone/>
            </a:pPr>
            <a:r>
              <a:rPr sz="1420">
                <a:solidFill>
                  <a:schemeClr val="dk1"/>
                </a:solidFill>
                <a:latin typeface="+mn-lt"/>
                <a:ea typeface="+mn-lt"/>
                <a:cs typeface="+mn-lt"/>
              </a:rPr>
              <a:t>Early–later achievement and early achievement–observation: 100% local bootstrap frequency.</a:t>
            </a:r>
          </a:p>
        </p:txBody>
      </p:sp>
      <p:sp>
        <p:nvSpPr>
          <p:cNvPr id="71" name="TextBox 71">
            <a:extLst xmlns:a="http://schemas.openxmlformats.org/drawingml/2006/main">
              <a:ext uri="{FF2B5EF4-FFF2-40B4-BE49-F238E27FC236}">
                <a16:creationId xmlns:a16="http://schemas.microsoft.com/office/drawing/2014/main" id="{E744601B-70B0-4A70-A289-4DF7B3C47815}"/>
              </a:ext>
            </a:extLst>
          </p:cNvPr>
          <p:cNvSpPr>
            <a:spLocks xmlns:a="http://schemas.openxmlformats.org/drawingml/2006/main" noGrp="1"/>
          </p:cNvSpPr>
          <p:nvPr/>
        </p:nvSpPr>
        <p:spPr>
          <a:xfrm xmlns:a="http://schemas.openxmlformats.org/drawingml/2006/main" rot="0" flipH="0" flipV="0">
            <a:off x="527304" y="6271260"/>
            <a:ext cx="961598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26 finite cyclic column shifts, not a theorem of order invariance · focused class—grade-3 adjacency disappears at α = .01</a:t>
            </a:r>
          </a:p>
        </p:txBody>
      </p:sp>
      <p:sp>
        <p:nvSpPr>
          <p:cNvPr id="72" name="TextBox 72">
            <a:extLst xmlns:a="http://schemas.openxmlformats.org/drawingml/2006/main">
              <a:ext uri="{FF2B5EF4-FFF2-40B4-BE49-F238E27FC236}">
                <a16:creationId xmlns:a16="http://schemas.microsoft.com/office/drawing/2014/main" id="{B0E30114-4FC4-453C-86AB-667E6CD89541}"/>
              </a:ext>
            </a:extLst>
          </p:cNvPr>
          <p:cNvSpPr>
            <a:spLocks xmlns:a="http://schemas.openxmlformats.org/drawingml/2006/main" noGrp="1"/>
          </p:cNvSpPr>
          <p:nvPr/>
        </p:nvSpPr>
        <p:spPr>
          <a:xfrm xmlns:a="http://schemas.openxmlformats.org/drawingml/2006/main" rot="0" flipH="0" flipV="0">
            <a:off x="11111332" y="627126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13 / 15</a:t>
            </a:r>
          </a:p>
        </p:txBody>
      </p:sp>
    </p:spTree>
    <p:extLst>
      <p:ext uri="{BB962C8B-B14F-4D97-AF65-F5344CB8AC3E}">
        <p14:creationId xmlns:p14="http://schemas.microsoft.com/office/powerpoint/2010/main" val="1709186965"/>
      </p:ext>
    </p:extLst>
  </p:cSld>
</p:sld>
</file>

<file path=ppt/slides/slide14.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31DB63E6-C1DD-44BA-9B02-02D26B6B4F72}"/>
              </a:ext>
            </a:extLst>
          </p:cNvPr>
          <p:cNvSpPr>
            <a:spLocks xmlns:a="http://schemas.openxmlformats.org/drawingml/2006/main" noGrp="1"/>
          </p:cNvSpPr>
          <p:nvPr/>
        </p:nvSpPr>
        <p:spPr>
          <a:xfrm xmlns:a="http://schemas.openxmlformats.org/drawingml/2006/main" rot="0" flipH="0" flipV="0">
            <a:off x="518541" y="370046"/>
            <a:ext cx="10928364" cy="572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920" b="1">
                <a:solidFill>
                  <a:schemeClr val="accent1"/>
                </a:solidFill>
                <a:latin typeface="+mj-lt"/>
                <a:ea typeface="+mj-lt"/>
                <a:cs typeface="+mj-lt"/>
              </a:rPr>
              <a:t>FCI Plus Reduces CI Work, Not Causal Uncertainty</a:t>
            </a:r>
          </a:p>
        </p:txBody>
      </p:sp>
      <p:sp>
        <p:nvSpPr>
          <p:cNvPr id="3" name="TextBox 3">
            <a:extLst xmlns:a="http://schemas.openxmlformats.org/drawingml/2006/main">
              <a:ext uri="{FF2B5EF4-FFF2-40B4-BE49-F238E27FC236}">
                <a16:creationId xmlns:a16="http://schemas.microsoft.com/office/drawing/2014/main" id="{E8742BA4-ECAC-40F4-9268-452F2A719348}"/>
              </a:ext>
            </a:extLst>
          </p:cNvPr>
          <p:cNvSpPr>
            <a:spLocks xmlns:a="http://schemas.openxmlformats.org/drawingml/2006/main" noGrp="1"/>
          </p:cNvSpPr>
          <p:nvPr/>
        </p:nvSpPr>
        <p:spPr>
          <a:xfrm xmlns:a="http://schemas.openxmlformats.org/drawingml/2006/main" rot="0" flipH="0" flipV="0">
            <a:off x="9942728" y="387668"/>
            <a:ext cx="172273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350">
                <a:solidFill>
                  <a:schemeClr val="accent3"/>
                </a:solidFill>
                <a:latin typeface="Consolas"/>
                <a:ea typeface="Consolas"/>
                <a:cs typeface="Consolas"/>
              </a:rPr>
              <a:t>STAR COMPUTATION</a:t>
            </a:r>
          </a:p>
        </p:txBody>
      </p:sp>
      <p:sp>
        <p:nvSpPr>
          <p:cNvPr id="4" name="Line 4">
            <a:extLst xmlns:a="http://schemas.openxmlformats.org/drawingml/2006/main">
              <a:ext uri="{FF2B5EF4-FFF2-40B4-BE49-F238E27FC236}">
                <a16:creationId xmlns:a16="http://schemas.microsoft.com/office/drawing/2014/main" id="{4C8C5A5C-E719-4976-8761-B0FC83C73A3C}"/>
              </a:ext>
            </a:extLst>
          </p:cNvPr>
          <p:cNvSpPr>
            <a:spLocks xmlns:a="http://schemas.openxmlformats.org/drawingml/2006/main" noGrp="1"/>
          </p:cNvSpPr>
          <p:nvPr/>
        </p:nvSpPr>
        <p:spPr>
          <a:xfrm xmlns:a="http://schemas.openxmlformats.org/drawingml/2006/main" rot="0" flipH="0" flipV="0">
            <a:off x="533400" y="100965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CBD2DC"/>
            </a:solidFill>
          </a:ln>
        </p:spPr>
      </p:sp>
      <p:sp>
        <p:nvSpPr>
          <p:cNvPr id="6" name="Rectangle 6">
            <a:extLst xmlns:a="http://schemas.openxmlformats.org/drawingml/2006/main">
              <a:ext uri="{FF2B5EF4-FFF2-40B4-BE49-F238E27FC236}">
                <a16:creationId xmlns:a16="http://schemas.microsoft.com/office/drawing/2014/main" id="{87487897-2FEE-494C-84A9-732B908FB0D0}"/>
              </a:ext>
            </a:extLst>
          </p:cNvPr>
          <p:cNvSpPr>
            <a:spLocks xmlns:a="http://schemas.openxmlformats.org/drawingml/2006/main" noGrp="1"/>
          </p:cNvSpPr>
          <p:nvPr/>
        </p:nvSpPr>
        <p:spPr>
          <a:xfrm xmlns:a="http://schemas.openxmlformats.org/drawingml/2006/main" rot="0" flipH="0" flipV="0">
            <a:off x="533400" y="1352550"/>
            <a:ext cx="11125200" cy="3886200"/>
          </a:xfrm>
          <a:prstGeom xmlns:a="http://schemas.openxmlformats.org/drawingml/2006/main" prst="roundRect">
            <a:avLst>
              <a:gd name="adj" fmla="val 3431"/>
            </a:avLst>
          </a:prstGeom>
          <a:solidFill xmlns:a="http://schemas.openxmlformats.org/drawingml/2006/main">
            <a:srgbClr val="FFFFFF"/>
          </a:solidFill>
          <a:ln xmlns:a="http://schemas.openxmlformats.org/drawingml/2006/main" w="14288">
            <a:solidFill>
              <a:srgbClr val="CBD2DC"/>
            </a:solidFill>
          </a:ln>
        </p:spPr>
      </p:sp>
      <p:sp>
        <p:nvSpPr>
          <p:cNvPr id="7" name="TextBox 7">
            <a:extLst xmlns:a="http://schemas.openxmlformats.org/drawingml/2006/main">
              <a:ext uri="{FF2B5EF4-FFF2-40B4-BE49-F238E27FC236}">
                <a16:creationId xmlns:a16="http://schemas.microsoft.com/office/drawing/2014/main" id="{ADC87DD0-CAE6-4673-913F-CAA1B642D89F}"/>
              </a:ext>
            </a:extLst>
          </p:cNvPr>
          <p:cNvSpPr>
            <a:spLocks xmlns:a="http://schemas.openxmlformats.org/drawingml/2006/main" noGrp="1"/>
          </p:cNvSpPr>
          <p:nvPr/>
        </p:nvSpPr>
        <p:spPr>
          <a:xfrm xmlns:a="http://schemas.openxmlformats.org/drawingml/2006/main" rot="0" flipH="0" flipV="0">
            <a:off x="774192" y="1530668"/>
            <a:ext cx="318931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F6875"/>
                </a:solidFill>
                <a:latin typeface="+mn-lt"/>
                <a:ea typeface="+mn-lt"/>
                <a:cs typeface="+mn-lt"/>
              </a:rPr>
              <a:t>CI TEST COUNTS · FULL-DATA RUNS</a:t>
            </a:r>
          </a:p>
        </p:txBody>
      </p:sp>
      <p:sp>
        <p:nvSpPr>
          <p:cNvPr id="8" name="TextBox 8">
            <a:extLst xmlns:a="http://schemas.openxmlformats.org/drawingml/2006/main">
              <a:ext uri="{FF2B5EF4-FFF2-40B4-BE49-F238E27FC236}">
                <a16:creationId xmlns:a16="http://schemas.microsoft.com/office/drawing/2014/main" id="{74288367-7AEB-47B3-8EF7-C15F8651F411}"/>
              </a:ext>
            </a:extLst>
          </p:cNvPr>
          <p:cNvSpPr>
            <a:spLocks xmlns:a="http://schemas.openxmlformats.org/drawingml/2006/main" noGrp="1"/>
          </p:cNvSpPr>
          <p:nvPr/>
        </p:nvSpPr>
        <p:spPr>
          <a:xfrm xmlns:a="http://schemas.openxmlformats.org/drawingml/2006/main" rot="0" flipH="0" flipV="0">
            <a:off x="2851404" y="1842135"/>
            <a:ext cx="10104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0</a:t>
            </a:r>
          </a:p>
        </p:txBody>
      </p:sp>
      <p:sp>
        <p:nvSpPr>
          <p:cNvPr id="9" name="TextBox 9">
            <a:extLst xmlns:a="http://schemas.openxmlformats.org/drawingml/2006/main">
              <a:ext uri="{FF2B5EF4-FFF2-40B4-BE49-F238E27FC236}">
                <a16:creationId xmlns:a16="http://schemas.microsoft.com/office/drawing/2014/main" id="{AF543C40-872E-4613-97F6-252643C216A9}"/>
              </a:ext>
            </a:extLst>
          </p:cNvPr>
          <p:cNvSpPr>
            <a:spLocks xmlns:a="http://schemas.openxmlformats.org/drawingml/2006/main" noGrp="1"/>
          </p:cNvSpPr>
          <p:nvPr/>
        </p:nvSpPr>
        <p:spPr>
          <a:xfrm xmlns:a="http://schemas.openxmlformats.org/drawingml/2006/main" rot="0" flipH="0" flipV="0">
            <a:off x="4946904" y="1842135"/>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500</a:t>
            </a:r>
          </a:p>
        </p:txBody>
      </p:sp>
      <p:sp>
        <p:nvSpPr>
          <p:cNvPr id="10" name="TextBox 10">
            <a:extLst xmlns:a="http://schemas.openxmlformats.org/drawingml/2006/main">
              <a:ext uri="{FF2B5EF4-FFF2-40B4-BE49-F238E27FC236}">
                <a16:creationId xmlns:a16="http://schemas.microsoft.com/office/drawing/2014/main" id="{AE137C81-D346-4BAA-937B-01E99E767FC8}"/>
              </a:ext>
            </a:extLst>
          </p:cNvPr>
          <p:cNvSpPr>
            <a:spLocks xmlns:a="http://schemas.openxmlformats.org/drawingml/2006/main" noGrp="1"/>
          </p:cNvSpPr>
          <p:nvPr/>
        </p:nvSpPr>
        <p:spPr>
          <a:xfrm xmlns:a="http://schemas.openxmlformats.org/drawingml/2006/main" rot="0" flipH="0" flipV="0">
            <a:off x="7042404" y="1842135"/>
            <a:ext cx="45643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1,000</a:t>
            </a:r>
          </a:p>
        </p:txBody>
      </p:sp>
      <p:sp>
        <p:nvSpPr>
          <p:cNvPr id="11" name="TextBox 11">
            <a:extLst xmlns:a="http://schemas.openxmlformats.org/drawingml/2006/main">
              <a:ext uri="{FF2B5EF4-FFF2-40B4-BE49-F238E27FC236}">
                <a16:creationId xmlns:a16="http://schemas.microsoft.com/office/drawing/2014/main" id="{CADAE9E7-D15B-43CD-9B7A-F34637B74151}"/>
              </a:ext>
            </a:extLst>
          </p:cNvPr>
          <p:cNvSpPr>
            <a:spLocks xmlns:a="http://schemas.openxmlformats.org/drawingml/2006/main" noGrp="1"/>
          </p:cNvSpPr>
          <p:nvPr/>
        </p:nvSpPr>
        <p:spPr>
          <a:xfrm xmlns:a="http://schemas.openxmlformats.org/drawingml/2006/main" rot="0" flipH="0" flipV="0">
            <a:off x="9137904" y="1842135"/>
            <a:ext cx="45643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mn-lt"/>
                <a:ea typeface="+mn-lt"/>
                <a:cs typeface="+mn-lt"/>
              </a:rPr>
              <a:t>1,500</a:t>
            </a:r>
          </a:p>
        </p:txBody>
      </p:sp>
      <p:sp>
        <p:nvSpPr>
          <p:cNvPr id="12" name="TextBox 12">
            <a:extLst xmlns:a="http://schemas.openxmlformats.org/drawingml/2006/main">
              <a:ext uri="{FF2B5EF4-FFF2-40B4-BE49-F238E27FC236}">
                <a16:creationId xmlns:a16="http://schemas.microsoft.com/office/drawing/2014/main" id="{EE6B5948-3694-495A-8A83-30347F328C62}"/>
              </a:ext>
            </a:extLst>
          </p:cNvPr>
          <p:cNvSpPr>
            <a:spLocks xmlns:a="http://schemas.openxmlformats.org/drawingml/2006/main" noGrp="1"/>
          </p:cNvSpPr>
          <p:nvPr/>
        </p:nvSpPr>
        <p:spPr>
          <a:xfrm xmlns:a="http://schemas.openxmlformats.org/drawingml/2006/main" rot="0" flipH="0" flipV="0">
            <a:off x="10789158" y="1842135"/>
            <a:ext cx="456438"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mn-lt"/>
                <a:ea typeface="+mn-lt"/>
                <a:cs typeface="+mn-lt"/>
              </a:rPr>
              <a:t>2,000</a:t>
            </a:r>
          </a:p>
        </p:txBody>
      </p:sp>
      <p:sp>
        <p:nvSpPr>
          <p:cNvPr id="13" name="Line 13">
            <a:extLst xmlns:a="http://schemas.openxmlformats.org/drawingml/2006/main">
              <a:ext uri="{FF2B5EF4-FFF2-40B4-BE49-F238E27FC236}">
                <a16:creationId xmlns:a16="http://schemas.microsoft.com/office/drawing/2014/main" id="{43D165B6-B4F0-480B-AC83-1E1062E75FF6}"/>
              </a:ext>
            </a:extLst>
          </p:cNvPr>
          <p:cNvSpPr>
            <a:spLocks xmlns:a="http://schemas.openxmlformats.org/drawingml/2006/main" noGrp="1"/>
          </p:cNvSpPr>
          <p:nvPr/>
        </p:nvSpPr>
        <p:spPr>
          <a:xfrm xmlns:a="http://schemas.openxmlformats.org/drawingml/2006/main" rot="0" flipH="0" flipV="0">
            <a:off x="2857500" y="2076450"/>
            <a:ext cx="8382000" cy="9525"/>
          </a:xfrm>
          <a:custGeom xmlns:a="http://schemas.openxmlformats.org/drawingml/2006/main">
            <a:rect l="l" t="t" r="r" b="b"/>
            <a:pathLst>
              <a:path w="8382000" h="9525">
                <a:moveTo>
                  <a:pt x="0" y="0"/>
                </a:moveTo>
                <a:lnTo>
                  <a:pt x="8382000" y="0"/>
                </a:lnTo>
              </a:path>
            </a:pathLst>
          </a:custGeom>
          <a:noFill xmlns:a="http://schemas.openxmlformats.org/drawingml/2006/main"/>
          <a:ln xmlns:a="http://schemas.openxmlformats.org/drawingml/2006/main" w="14288">
            <a:solidFill>
              <a:srgbClr val="CBD2DC"/>
            </a:solidFill>
          </a:ln>
        </p:spPr>
      </p:sp>
      <p:sp>
        <p:nvSpPr>
          <p:cNvPr id="14" name="Line 14">
            <a:extLst xmlns:a="http://schemas.openxmlformats.org/drawingml/2006/main">
              <a:ext uri="{FF2B5EF4-FFF2-40B4-BE49-F238E27FC236}">
                <a16:creationId xmlns:a16="http://schemas.microsoft.com/office/drawing/2014/main" id="{5E3BCC18-2D3D-4769-A3C2-BA41A421C308}"/>
              </a:ext>
            </a:extLst>
          </p:cNvPr>
          <p:cNvSpPr>
            <a:spLocks xmlns:a="http://schemas.openxmlformats.org/drawingml/2006/main" noGrp="1"/>
          </p:cNvSpPr>
          <p:nvPr/>
        </p:nvSpPr>
        <p:spPr>
          <a:xfrm xmlns:a="http://schemas.openxmlformats.org/drawingml/2006/main" rot="0" flipH="0" flipV="0">
            <a:off x="2857500" y="207645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5" name="Line 15">
            <a:extLst xmlns:a="http://schemas.openxmlformats.org/drawingml/2006/main">
              <a:ext uri="{FF2B5EF4-FFF2-40B4-BE49-F238E27FC236}">
                <a16:creationId xmlns:a16="http://schemas.microsoft.com/office/drawing/2014/main" id="{A1E3C950-6BC0-41C6-AD20-25DEEA00BD84}"/>
              </a:ext>
            </a:extLst>
          </p:cNvPr>
          <p:cNvSpPr>
            <a:spLocks xmlns:a="http://schemas.openxmlformats.org/drawingml/2006/main" noGrp="1"/>
          </p:cNvSpPr>
          <p:nvPr/>
        </p:nvSpPr>
        <p:spPr>
          <a:xfrm xmlns:a="http://schemas.openxmlformats.org/drawingml/2006/main" rot="0" flipH="0" flipV="0">
            <a:off x="4953000" y="207645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E9EDF5"/>
            </a:solidFill>
          </a:ln>
        </p:spPr>
      </p:sp>
      <p:sp>
        <p:nvSpPr>
          <p:cNvPr id="16" name="Line 16">
            <a:extLst xmlns:a="http://schemas.openxmlformats.org/drawingml/2006/main">
              <a:ext uri="{FF2B5EF4-FFF2-40B4-BE49-F238E27FC236}">
                <a16:creationId xmlns:a16="http://schemas.microsoft.com/office/drawing/2014/main" id="{0537DCA9-9C84-4330-AD08-F9496680091F}"/>
              </a:ext>
            </a:extLst>
          </p:cNvPr>
          <p:cNvSpPr>
            <a:spLocks xmlns:a="http://schemas.openxmlformats.org/drawingml/2006/main" noGrp="1"/>
          </p:cNvSpPr>
          <p:nvPr/>
        </p:nvSpPr>
        <p:spPr>
          <a:xfrm xmlns:a="http://schemas.openxmlformats.org/drawingml/2006/main" rot="0" flipH="0" flipV="0">
            <a:off x="7048500" y="207645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E9EDF5"/>
            </a:solidFill>
          </a:ln>
        </p:spPr>
      </p:sp>
      <p:sp>
        <p:nvSpPr>
          <p:cNvPr id="17" name="Line 17">
            <a:extLst xmlns:a="http://schemas.openxmlformats.org/drawingml/2006/main">
              <a:ext uri="{FF2B5EF4-FFF2-40B4-BE49-F238E27FC236}">
                <a16:creationId xmlns:a16="http://schemas.microsoft.com/office/drawing/2014/main" id="{04E10FB9-2F57-4F35-A135-4554B5506C36}"/>
              </a:ext>
            </a:extLst>
          </p:cNvPr>
          <p:cNvSpPr>
            <a:spLocks xmlns:a="http://schemas.openxmlformats.org/drawingml/2006/main" noGrp="1"/>
          </p:cNvSpPr>
          <p:nvPr/>
        </p:nvSpPr>
        <p:spPr>
          <a:xfrm xmlns:a="http://schemas.openxmlformats.org/drawingml/2006/main" rot="0" flipH="0" flipV="0">
            <a:off x="9144000" y="207645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E9EDF5"/>
            </a:solidFill>
          </a:ln>
        </p:spPr>
      </p:sp>
      <p:sp>
        <p:nvSpPr>
          <p:cNvPr id="18" name="Line 18">
            <a:extLst xmlns:a="http://schemas.openxmlformats.org/drawingml/2006/main">
              <a:ext uri="{FF2B5EF4-FFF2-40B4-BE49-F238E27FC236}">
                <a16:creationId xmlns:a16="http://schemas.microsoft.com/office/drawing/2014/main" id="{7434C6BC-3D24-4933-9F8A-0BC64793DDD4}"/>
              </a:ext>
            </a:extLst>
          </p:cNvPr>
          <p:cNvSpPr>
            <a:spLocks xmlns:a="http://schemas.openxmlformats.org/drawingml/2006/main" noGrp="1"/>
          </p:cNvSpPr>
          <p:nvPr/>
        </p:nvSpPr>
        <p:spPr>
          <a:xfrm xmlns:a="http://schemas.openxmlformats.org/drawingml/2006/main" rot="0" flipH="0" flipV="0">
            <a:off x="11239500" y="2076450"/>
            <a:ext cx="9525" cy="3143250"/>
          </a:xfrm>
          <a:custGeom xmlns:a="http://schemas.openxmlformats.org/drawingml/2006/main">
            <a:rect l="l" t="t" r="r" b="b"/>
            <a:pathLst>
              <a:path w="9525" h="3143250">
                <a:moveTo>
                  <a:pt x="0" y="0"/>
                </a:moveTo>
                <a:lnTo>
                  <a:pt x="0" y="3143250"/>
                </a:lnTo>
              </a:path>
            </a:pathLst>
          </a:custGeom>
          <a:noFill xmlns:a="http://schemas.openxmlformats.org/drawingml/2006/main"/>
          <a:ln xmlns:a="http://schemas.openxmlformats.org/drawingml/2006/main" w="14288">
            <a:solidFill>
              <a:srgbClr val="CBD2DC"/>
            </a:solidFill>
          </a:ln>
        </p:spPr>
      </p:sp>
      <p:sp>
        <p:nvSpPr>
          <p:cNvPr id="19" name="Rectangle 19">
            <a:extLst xmlns:a="http://schemas.openxmlformats.org/drawingml/2006/main">
              <a:ext uri="{FF2B5EF4-FFF2-40B4-BE49-F238E27FC236}">
                <a16:creationId xmlns:a16="http://schemas.microsoft.com/office/drawing/2014/main" id="{4DD3A797-842E-44DD-846C-5B709454FEF7}"/>
              </a:ext>
            </a:extLst>
          </p:cNvPr>
          <p:cNvSpPr>
            <a:spLocks xmlns:a="http://schemas.openxmlformats.org/drawingml/2006/main" noGrp="1"/>
          </p:cNvSpPr>
          <p:nvPr/>
        </p:nvSpPr>
        <p:spPr>
          <a:xfrm xmlns:a="http://schemas.openxmlformats.org/drawingml/2006/main" rot="0" flipH="0" flipV="0">
            <a:off x="2857500" y="2324100"/>
            <a:ext cx="7143750" cy="171450"/>
          </a:xfrm>
          <a:prstGeom xmlns:a="http://schemas.openxmlformats.org/drawingml/2006/main" prst="roundRect">
            <a:avLst>
              <a:gd name="adj" fmla="val 22222"/>
            </a:avLst>
          </a:prstGeom>
          <a:solidFill xmlns:a="http://schemas.openxmlformats.org/drawingml/2006/main">
            <a:schemeClr val="accent2"/>
          </a:solidFill>
          <a:ln xmlns:a="http://schemas.openxmlformats.org/drawingml/2006/main">
            <a:noFill/>
          </a:ln>
        </p:spPr>
      </p:sp>
      <p:sp>
        <p:nvSpPr>
          <p:cNvPr id="20" name="Rectangle 20">
            <a:extLst xmlns:a="http://schemas.openxmlformats.org/drawingml/2006/main">
              <a:ext uri="{FF2B5EF4-FFF2-40B4-BE49-F238E27FC236}">
                <a16:creationId xmlns:a16="http://schemas.microsoft.com/office/drawing/2014/main" id="{741F2C2D-D444-4BEE-8D9B-6176099799FD}"/>
              </a:ext>
            </a:extLst>
          </p:cNvPr>
          <p:cNvSpPr>
            <a:spLocks xmlns:a="http://schemas.openxmlformats.org/drawingml/2006/main" noGrp="1"/>
          </p:cNvSpPr>
          <p:nvPr/>
        </p:nvSpPr>
        <p:spPr>
          <a:xfrm xmlns:a="http://schemas.openxmlformats.org/drawingml/2006/main" rot="0" flipH="0" flipV="0">
            <a:off x="2857500" y="2552700"/>
            <a:ext cx="3324225" cy="171450"/>
          </a:xfrm>
          <a:prstGeom xmlns:a="http://schemas.openxmlformats.org/drawingml/2006/main" prst="roundRect">
            <a:avLst>
              <a:gd name="adj" fmla="val 22222"/>
            </a:avLst>
          </a:prstGeom>
          <a:solidFill xmlns:a="http://schemas.openxmlformats.org/drawingml/2006/main">
            <a:schemeClr val="accent3"/>
          </a:solidFill>
          <a:ln xmlns:a="http://schemas.openxmlformats.org/drawingml/2006/main">
            <a:noFill/>
          </a:ln>
        </p:spPr>
      </p:sp>
      <p:sp>
        <p:nvSpPr>
          <p:cNvPr id="21" name="Rectangle 21">
            <a:extLst xmlns:a="http://schemas.openxmlformats.org/drawingml/2006/main">
              <a:ext uri="{FF2B5EF4-FFF2-40B4-BE49-F238E27FC236}">
                <a16:creationId xmlns:a16="http://schemas.microsoft.com/office/drawing/2014/main" id="{F1FAE1CC-56A3-4352-AC5D-116E7D4CC1BD}"/>
              </a:ext>
            </a:extLst>
          </p:cNvPr>
          <p:cNvSpPr>
            <a:spLocks xmlns:a="http://schemas.openxmlformats.org/drawingml/2006/main" noGrp="1"/>
          </p:cNvSpPr>
          <p:nvPr/>
        </p:nvSpPr>
        <p:spPr>
          <a:xfrm xmlns:a="http://schemas.openxmlformats.org/drawingml/2006/main" rot="0" flipH="0" flipV="0">
            <a:off x="2857500" y="2781300"/>
            <a:ext cx="5467350" cy="171450"/>
          </a:xfrm>
          <a:prstGeom xmlns:a="http://schemas.openxmlformats.org/drawingml/2006/main" prst="roundRect">
            <a:avLst>
              <a:gd name="adj" fmla="val 22222"/>
            </a:avLst>
          </a:prstGeom>
          <a:solidFill xmlns:a="http://schemas.openxmlformats.org/drawingml/2006/main">
            <a:schemeClr val="accent6"/>
          </a:solidFill>
          <a:ln xmlns:a="http://schemas.openxmlformats.org/drawingml/2006/main">
            <a:noFill/>
          </a:ln>
        </p:spPr>
      </p:sp>
      <p:sp>
        <p:nvSpPr>
          <p:cNvPr id="22" name="Rectangle 22">
            <a:extLst xmlns:a="http://schemas.openxmlformats.org/drawingml/2006/main">
              <a:ext uri="{FF2B5EF4-FFF2-40B4-BE49-F238E27FC236}">
                <a16:creationId xmlns:a16="http://schemas.microsoft.com/office/drawing/2014/main" id="{6FAA74E0-972C-4D9E-815A-596C29689EDB}"/>
              </a:ext>
            </a:extLst>
          </p:cNvPr>
          <p:cNvSpPr>
            <a:spLocks xmlns:a="http://schemas.openxmlformats.org/drawingml/2006/main" noGrp="1"/>
          </p:cNvSpPr>
          <p:nvPr/>
        </p:nvSpPr>
        <p:spPr>
          <a:xfrm xmlns:a="http://schemas.openxmlformats.org/drawingml/2006/main" rot="0" flipH="0" flipV="0">
            <a:off x="2857500" y="3009900"/>
            <a:ext cx="4991100" cy="171450"/>
          </a:xfrm>
          <a:prstGeom xmlns:a="http://schemas.openxmlformats.org/drawingml/2006/main" prst="roundRect">
            <a:avLst>
              <a:gd name="adj" fmla="val 22222"/>
            </a:avLst>
          </a:prstGeom>
          <a:solidFill xmlns:a="http://schemas.openxmlformats.org/drawingml/2006/main">
            <a:srgbClr val="7562A8"/>
          </a:solidFill>
          <a:ln xmlns:a="http://schemas.openxmlformats.org/drawingml/2006/main">
            <a:noFill/>
          </a:ln>
        </p:spPr>
      </p:sp>
      <p:sp>
        <p:nvSpPr>
          <p:cNvPr id="23" name="Rectangle 23">
            <a:extLst xmlns:a="http://schemas.openxmlformats.org/drawingml/2006/main">
              <a:ext uri="{FF2B5EF4-FFF2-40B4-BE49-F238E27FC236}">
                <a16:creationId xmlns:a16="http://schemas.microsoft.com/office/drawing/2014/main" id="{3F90BAC4-B416-4197-928D-04F99587AFB4}"/>
              </a:ext>
            </a:extLst>
          </p:cNvPr>
          <p:cNvSpPr>
            <a:spLocks xmlns:a="http://schemas.openxmlformats.org/drawingml/2006/main" noGrp="1"/>
          </p:cNvSpPr>
          <p:nvPr/>
        </p:nvSpPr>
        <p:spPr>
          <a:xfrm xmlns:a="http://schemas.openxmlformats.org/drawingml/2006/main" rot="0" flipH="0" flipV="0">
            <a:off x="2857500" y="3543300"/>
            <a:ext cx="4019550" cy="171450"/>
          </a:xfrm>
          <a:prstGeom xmlns:a="http://schemas.openxmlformats.org/drawingml/2006/main" prst="roundRect">
            <a:avLst>
              <a:gd name="adj" fmla="val 22222"/>
            </a:avLst>
          </a:prstGeom>
          <a:solidFill xmlns:a="http://schemas.openxmlformats.org/drawingml/2006/main">
            <a:schemeClr val="accent2"/>
          </a:solidFill>
          <a:ln xmlns:a="http://schemas.openxmlformats.org/drawingml/2006/main">
            <a:noFill/>
          </a:ln>
        </p:spPr>
      </p:sp>
      <p:sp>
        <p:nvSpPr>
          <p:cNvPr id="24" name="Rectangle 24">
            <a:extLst xmlns:a="http://schemas.openxmlformats.org/drawingml/2006/main">
              <a:ext uri="{FF2B5EF4-FFF2-40B4-BE49-F238E27FC236}">
                <a16:creationId xmlns:a16="http://schemas.microsoft.com/office/drawing/2014/main" id="{AE64F8FE-43E0-4A9D-870A-401016C33E8D}"/>
              </a:ext>
            </a:extLst>
          </p:cNvPr>
          <p:cNvSpPr>
            <a:spLocks xmlns:a="http://schemas.openxmlformats.org/drawingml/2006/main" noGrp="1"/>
          </p:cNvSpPr>
          <p:nvPr/>
        </p:nvSpPr>
        <p:spPr>
          <a:xfrm xmlns:a="http://schemas.openxmlformats.org/drawingml/2006/main" rot="0" flipH="0" flipV="0">
            <a:off x="2857500" y="3771900"/>
            <a:ext cx="1400175" cy="171450"/>
          </a:xfrm>
          <a:prstGeom xmlns:a="http://schemas.openxmlformats.org/drawingml/2006/main" prst="roundRect">
            <a:avLst>
              <a:gd name="adj" fmla="val 22222"/>
            </a:avLst>
          </a:prstGeom>
          <a:solidFill xmlns:a="http://schemas.openxmlformats.org/drawingml/2006/main">
            <a:schemeClr val="accent3"/>
          </a:solidFill>
          <a:ln xmlns:a="http://schemas.openxmlformats.org/drawingml/2006/main">
            <a:noFill/>
          </a:ln>
        </p:spPr>
      </p:sp>
      <p:sp>
        <p:nvSpPr>
          <p:cNvPr id="25" name="Rectangle 25">
            <a:extLst xmlns:a="http://schemas.openxmlformats.org/drawingml/2006/main">
              <a:ext uri="{FF2B5EF4-FFF2-40B4-BE49-F238E27FC236}">
                <a16:creationId xmlns:a16="http://schemas.microsoft.com/office/drawing/2014/main" id="{DFA4015D-AE46-4662-AC6F-77D39AAF0F02}"/>
              </a:ext>
            </a:extLst>
          </p:cNvPr>
          <p:cNvSpPr>
            <a:spLocks xmlns:a="http://schemas.openxmlformats.org/drawingml/2006/main" noGrp="1"/>
          </p:cNvSpPr>
          <p:nvPr/>
        </p:nvSpPr>
        <p:spPr>
          <a:xfrm xmlns:a="http://schemas.openxmlformats.org/drawingml/2006/main" rot="0" flipH="0" flipV="0">
            <a:off x="2857500" y="4000500"/>
            <a:ext cx="2590800" cy="171450"/>
          </a:xfrm>
          <a:prstGeom xmlns:a="http://schemas.openxmlformats.org/drawingml/2006/main" prst="roundRect">
            <a:avLst>
              <a:gd name="adj" fmla="val 22222"/>
            </a:avLst>
          </a:prstGeom>
          <a:solidFill xmlns:a="http://schemas.openxmlformats.org/drawingml/2006/main">
            <a:schemeClr val="accent6"/>
          </a:solidFill>
          <a:ln xmlns:a="http://schemas.openxmlformats.org/drawingml/2006/main">
            <a:noFill/>
          </a:ln>
        </p:spPr>
      </p:sp>
      <p:sp>
        <p:nvSpPr>
          <p:cNvPr id="26" name="Rectangle 26">
            <a:extLst xmlns:a="http://schemas.openxmlformats.org/drawingml/2006/main">
              <a:ext uri="{FF2B5EF4-FFF2-40B4-BE49-F238E27FC236}">
                <a16:creationId xmlns:a16="http://schemas.microsoft.com/office/drawing/2014/main" id="{A668BAD3-4463-4FCD-AA5B-1591491CA15E}"/>
              </a:ext>
            </a:extLst>
          </p:cNvPr>
          <p:cNvSpPr>
            <a:spLocks xmlns:a="http://schemas.openxmlformats.org/drawingml/2006/main" noGrp="1"/>
          </p:cNvSpPr>
          <p:nvPr/>
        </p:nvSpPr>
        <p:spPr>
          <a:xfrm xmlns:a="http://schemas.openxmlformats.org/drawingml/2006/main" rot="0" flipH="0" flipV="0">
            <a:off x="2857500" y="4229100"/>
            <a:ext cx="1990725" cy="171450"/>
          </a:xfrm>
          <a:prstGeom xmlns:a="http://schemas.openxmlformats.org/drawingml/2006/main" prst="roundRect">
            <a:avLst>
              <a:gd name="adj" fmla="val 22222"/>
            </a:avLst>
          </a:prstGeom>
          <a:solidFill xmlns:a="http://schemas.openxmlformats.org/drawingml/2006/main">
            <a:srgbClr val="7562A8"/>
          </a:solidFill>
          <a:ln xmlns:a="http://schemas.openxmlformats.org/drawingml/2006/main">
            <a:noFill/>
          </a:ln>
        </p:spPr>
      </p:sp>
      <p:sp>
        <p:nvSpPr>
          <p:cNvPr id="27" name="Rectangle 27">
            <a:extLst xmlns:a="http://schemas.openxmlformats.org/drawingml/2006/main">
              <a:ext uri="{FF2B5EF4-FFF2-40B4-BE49-F238E27FC236}">
                <a16:creationId xmlns:a16="http://schemas.microsoft.com/office/drawing/2014/main" id="{9E5176B3-4297-41FD-883B-7152CFED3B63}"/>
              </a:ext>
            </a:extLst>
          </p:cNvPr>
          <p:cNvSpPr>
            <a:spLocks xmlns:a="http://schemas.openxmlformats.org/drawingml/2006/main" noGrp="1"/>
          </p:cNvSpPr>
          <p:nvPr/>
        </p:nvSpPr>
        <p:spPr>
          <a:xfrm xmlns:a="http://schemas.openxmlformats.org/drawingml/2006/main" rot="0" flipH="0" flipV="0">
            <a:off x="2857500" y="4362450"/>
            <a:ext cx="1219200" cy="171450"/>
          </a:xfrm>
          <a:prstGeom xmlns:a="http://schemas.openxmlformats.org/drawingml/2006/main" prst="roundRect">
            <a:avLst>
              <a:gd name="adj" fmla="val 22222"/>
            </a:avLst>
          </a:prstGeom>
          <a:solidFill xmlns:a="http://schemas.openxmlformats.org/drawingml/2006/main">
            <a:schemeClr val="accent2"/>
          </a:solidFill>
          <a:ln xmlns:a="http://schemas.openxmlformats.org/drawingml/2006/main">
            <a:noFill/>
          </a:ln>
        </p:spPr>
      </p:sp>
      <p:sp>
        <p:nvSpPr>
          <p:cNvPr id="28" name="Rectangle 28">
            <a:extLst xmlns:a="http://schemas.openxmlformats.org/drawingml/2006/main">
              <a:ext uri="{FF2B5EF4-FFF2-40B4-BE49-F238E27FC236}">
                <a16:creationId xmlns:a16="http://schemas.microsoft.com/office/drawing/2014/main" id="{2CBB4F22-4D30-404B-A985-829851B214C3}"/>
              </a:ext>
            </a:extLst>
          </p:cNvPr>
          <p:cNvSpPr>
            <a:spLocks xmlns:a="http://schemas.openxmlformats.org/drawingml/2006/main" noGrp="1"/>
          </p:cNvSpPr>
          <p:nvPr/>
        </p:nvSpPr>
        <p:spPr>
          <a:xfrm xmlns:a="http://schemas.openxmlformats.org/drawingml/2006/main" rot="0" flipH="0" flipV="0">
            <a:off x="2857500" y="4591050"/>
            <a:ext cx="771525" cy="171450"/>
          </a:xfrm>
          <a:prstGeom xmlns:a="http://schemas.openxmlformats.org/drawingml/2006/main" prst="roundRect">
            <a:avLst>
              <a:gd name="adj" fmla="val 22222"/>
            </a:avLst>
          </a:prstGeom>
          <a:solidFill xmlns:a="http://schemas.openxmlformats.org/drawingml/2006/main">
            <a:schemeClr val="accent3"/>
          </a:solidFill>
          <a:ln xmlns:a="http://schemas.openxmlformats.org/drawingml/2006/main">
            <a:noFill/>
          </a:ln>
        </p:spPr>
      </p:sp>
      <p:sp>
        <p:nvSpPr>
          <p:cNvPr id="29" name="Rectangle 29">
            <a:extLst xmlns:a="http://schemas.openxmlformats.org/drawingml/2006/main">
              <a:ext uri="{FF2B5EF4-FFF2-40B4-BE49-F238E27FC236}">
                <a16:creationId xmlns:a16="http://schemas.microsoft.com/office/drawing/2014/main" id="{0AC25014-C00E-40B2-8711-A3A500C2A2BB}"/>
              </a:ext>
            </a:extLst>
          </p:cNvPr>
          <p:cNvSpPr>
            <a:spLocks xmlns:a="http://schemas.openxmlformats.org/drawingml/2006/main" noGrp="1"/>
          </p:cNvSpPr>
          <p:nvPr/>
        </p:nvSpPr>
        <p:spPr>
          <a:xfrm xmlns:a="http://schemas.openxmlformats.org/drawingml/2006/main" rot="0" flipH="0" flipV="0">
            <a:off x="2857500" y="4819650"/>
            <a:ext cx="1400175" cy="171450"/>
          </a:xfrm>
          <a:prstGeom xmlns:a="http://schemas.openxmlformats.org/drawingml/2006/main" prst="roundRect">
            <a:avLst>
              <a:gd name="adj" fmla="val 22222"/>
            </a:avLst>
          </a:prstGeom>
          <a:solidFill xmlns:a="http://schemas.openxmlformats.org/drawingml/2006/main">
            <a:schemeClr val="accent6"/>
          </a:solidFill>
          <a:ln xmlns:a="http://schemas.openxmlformats.org/drawingml/2006/main">
            <a:noFill/>
          </a:ln>
        </p:spPr>
      </p:sp>
      <p:sp>
        <p:nvSpPr>
          <p:cNvPr id="30" name="Rectangle 30">
            <a:extLst xmlns:a="http://schemas.openxmlformats.org/drawingml/2006/main">
              <a:ext uri="{FF2B5EF4-FFF2-40B4-BE49-F238E27FC236}">
                <a16:creationId xmlns:a16="http://schemas.microsoft.com/office/drawing/2014/main" id="{61695DF0-97BB-48AC-8EA9-D9EF13CA936B}"/>
              </a:ext>
            </a:extLst>
          </p:cNvPr>
          <p:cNvSpPr>
            <a:spLocks xmlns:a="http://schemas.openxmlformats.org/drawingml/2006/main" noGrp="1"/>
          </p:cNvSpPr>
          <p:nvPr/>
        </p:nvSpPr>
        <p:spPr>
          <a:xfrm xmlns:a="http://schemas.openxmlformats.org/drawingml/2006/main" rot="0" flipH="0" flipV="0">
            <a:off x="2857500" y="5048250"/>
            <a:ext cx="1076325" cy="171450"/>
          </a:xfrm>
          <a:prstGeom xmlns:a="http://schemas.openxmlformats.org/drawingml/2006/main" prst="roundRect">
            <a:avLst>
              <a:gd name="adj" fmla="val 22222"/>
            </a:avLst>
          </a:prstGeom>
          <a:solidFill xmlns:a="http://schemas.openxmlformats.org/drawingml/2006/main">
            <a:srgbClr val="7562A8"/>
          </a:solidFill>
          <a:ln xmlns:a="http://schemas.openxmlformats.org/drawingml/2006/main">
            <a:noFill/>
          </a:ln>
        </p:spPr>
      </p:sp>
      <p:sp>
        <p:nvSpPr>
          <p:cNvPr id="32" name="TextBox 32">
            <a:extLst xmlns:a="http://schemas.openxmlformats.org/drawingml/2006/main">
              <a:ext uri="{FF2B5EF4-FFF2-40B4-BE49-F238E27FC236}">
                <a16:creationId xmlns:a16="http://schemas.microsoft.com/office/drawing/2014/main" id="{F1EBB25D-BA0A-4582-B919-D928A3EBC409}"/>
              </a:ext>
            </a:extLst>
          </p:cNvPr>
          <p:cNvSpPr>
            <a:spLocks xmlns:a="http://schemas.openxmlformats.org/drawingml/2006/main" noGrp="1"/>
          </p:cNvSpPr>
          <p:nvPr/>
        </p:nvSpPr>
        <p:spPr>
          <a:xfrm xmlns:a="http://schemas.openxmlformats.org/drawingml/2006/main" rot="0" flipH="0" flipV="0">
            <a:off x="771906" y="2463165"/>
            <a:ext cx="1157630"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Attrition</a:t>
            </a:r>
          </a:p>
        </p:txBody>
      </p:sp>
      <p:sp>
        <p:nvSpPr>
          <p:cNvPr id="33" name="TextBox 33">
            <a:extLst xmlns:a="http://schemas.openxmlformats.org/drawingml/2006/main">
              <a:ext uri="{FF2B5EF4-FFF2-40B4-BE49-F238E27FC236}">
                <a16:creationId xmlns:a16="http://schemas.microsoft.com/office/drawing/2014/main" id="{1A695849-2EE7-46F3-9E57-E22EE3983D75}"/>
              </a:ext>
            </a:extLst>
          </p:cNvPr>
          <p:cNvSpPr>
            <a:spLocks xmlns:a="http://schemas.openxmlformats.org/drawingml/2006/main" noGrp="1"/>
          </p:cNvSpPr>
          <p:nvPr/>
        </p:nvSpPr>
        <p:spPr>
          <a:xfrm xmlns:a="http://schemas.openxmlformats.org/drawingml/2006/main" rot="0" flipH="0" flipV="0">
            <a:off x="771906" y="3682365"/>
            <a:ext cx="1513735"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Longitudinal</a:t>
            </a:r>
          </a:p>
        </p:txBody>
      </p:sp>
      <p:sp>
        <p:nvSpPr>
          <p:cNvPr id="34" name="TextBox 34">
            <a:extLst xmlns:a="http://schemas.openxmlformats.org/drawingml/2006/main">
              <a:ext uri="{FF2B5EF4-FFF2-40B4-BE49-F238E27FC236}">
                <a16:creationId xmlns:a16="http://schemas.microsoft.com/office/drawing/2014/main" id="{0D5BC507-BBC3-44AD-966F-0FAB206CF899}"/>
              </a:ext>
            </a:extLst>
          </p:cNvPr>
          <p:cNvSpPr>
            <a:spLocks xmlns:a="http://schemas.openxmlformats.org/drawingml/2006/main" noGrp="1"/>
          </p:cNvSpPr>
          <p:nvPr/>
        </p:nvSpPr>
        <p:spPr>
          <a:xfrm xmlns:a="http://schemas.openxmlformats.org/drawingml/2006/main" rot="0" flipH="0" flipV="0">
            <a:off x="771906" y="4558665"/>
            <a:ext cx="100577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Focused</a:t>
            </a:r>
          </a:p>
        </p:txBody>
      </p:sp>
      <p:sp>
        <p:nvSpPr>
          <p:cNvPr id="35" name="TextBox 35">
            <a:extLst xmlns:a="http://schemas.openxmlformats.org/drawingml/2006/main">
              <a:ext uri="{FF2B5EF4-FFF2-40B4-BE49-F238E27FC236}">
                <a16:creationId xmlns:a16="http://schemas.microsoft.com/office/drawing/2014/main" id="{E7AD46A0-8C56-4382-A413-7C603A53B22A}"/>
              </a:ext>
            </a:extLst>
          </p:cNvPr>
          <p:cNvSpPr>
            <a:spLocks xmlns:a="http://schemas.openxmlformats.org/drawingml/2006/main" noGrp="1"/>
          </p:cNvSpPr>
          <p:nvPr/>
        </p:nvSpPr>
        <p:spPr>
          <a:xfrm xmlns:a="http://schemas.openxmlformats.org/drawingml/2006/main" rot="0" flipH="0" flipV="0">
            <a:off x="10089642" y="2302192"/>
            <a:ext cx="868223"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2"/>
                </a:solidFill>
                <a:latin typeface="Consolas"/>
                <a:ea typeface="Consolas"/>
                <a:cs typeface="Consolas"/>
              </a:rPr>
              <a:t>FCI 1,705</a:t>
            </a:r>
          </a:p>
        </p:txBody>
      </p:sp>
      <p:sp>
        <p:nvSpPr>
          <p:cNvPr id="36" name="TextBox 36">
            <a:extLst xmlns:a="http://schemas.openxmlformats.org/drawingml/2006/main">
              <a:ext uri="{FF2B5EF4-FFF2-40B4-BE49-F238E27FC236}">
                <a16:creationId xmlns:a16="http://schemas.microsoft.com/office/drawing/2014/main" id="{55F29CF0-4DA3-4DFF-98C2-37A788B095C3}"/>
              </a:ext>
            </a:extLst>
          </p:cNvPr>
          <p:cNvSpPr>
            <a:spLocks xmlns:a="http://schemas.openxmlformats.org/drawingml/2006/main" noGrp="1"/>
          </p:cNvSpPr>
          <p:nvPr/>
        </p:nvSpPr>
        <p:spPr>
          <a:xfrm xmlns:a="http://schemas.openxmlformats.org/drawingml/2006/main" rot="0" flipH="0" flipV="0">
            <a:off x="6279642" y="2530792"/>
            <a:ext cx="86788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3"/>
                </a:solidFill>
                <a:latin typeface="Consolas"/>
                <a:ea typeface="Consolas"/>
                <a:cs typeface="Consolas"/>
              </a:rPr>
              <a:t>paper 793</a:t>
            </a:r>
          </a:p>
        </p:txBody>
      </p:sp>
      <p:sp>
        <p:nvSpPr>
          <p:cNvPr id="37" name="TextBox 37">
            <a:extLst xmlns:a="http://schemas.openxmlformats.org/drawingml/2006/main">
              <a:ext uri="{FF2B5EF4-FFF2-40B4-BE49-F238E27FC236}">
                <a16:creationId xmlns:a16="http://schemas.microsoft.com/office/drawing/2014/main" id="{82D34E8C-F704-4D3A-A262-8A555CB9E112}"/>
              </a:ext>
            </a:extLst>
          </p:cNvPr>
          <p:cNvSpPr>
            <a:spLocks xmlns:a="http://schemas.openxmlformats.org/drawingml/2006/main" noGrp="1"/>
          </p:cNvSpPr>
          <p:nvPr/>
        </p:nvSpPr>
        <p:spPr>
          <a:xfrm xmlns:a="http://schemas.openxmlformats.org/drawingml/2006/main" rot="0" flipH="0" flipV="0">
            <a:off x="8394192" y="2759392"/>
            <a:ext cx="116774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6"/>
                </a:solidFill>
                <a:latin typeface="Consolas"/>
                <a:ea typeface="Consolas"/>
                <a:cs typeface="Consolas"/>
              </a:rPr>
              <a:t>robust 1,304</a:t>
            </a:r>
          </a:p>
        </p:txBody>
      </p:sp>
      <p:sp>
        <p:nvSpPr>
          <p:cNvPr id="38" name="TextBox 38">
            <a:extLst xmlns:a="http://schemas.openxmlformats.org/drawingml/2006/main">
              <a:ext uri="{FF2B5EF4-FFF2-40B4-BE49-F238E27FC236}">
                <a16:creationId xmlns:a16="http://schemas.microsoft.com/office/drawing/2014/main" id="{0D8D5E33-3EB2-41B3-8555-B29E269D48B8}"/>
              </a:ext>
            </a:extLst>
          </p:cNvPr>
          <p:cNvSpPr>
            <a:spLocks xmlns:a="http://schemas.openxmlformats.org/drawingml/2006/main" noGrp="1"/>
          </p:cNvSpPr>
          <p:nvPr/>
        </p:nvSpPr>
        <p:spPr>
          <a:xfrm xmlns:a="http://schemas.openxmlformats.org/drawingml/2006/main" rot="0" flipH="0" flipV="0">
            <a:off x="7917942" y="2987992"/>
            <a:ext cx="70500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7562A8"/>
                </a:solidFill>
                <a:latin typeface="Consolas"/>
                <a:ea typeface="Consolas"/>
                <a:cs typeface="Consolas"/>
              </a:rPr>
              <a:t>R 1,191</a:t>
            </a:r>
          </a:p>
        </p:txBody>
      </p:sp>
      <p:sp>
        <p:nvSpPr>
          <p:cNvPr id="39" name="TextBox 39">
            <a:extLst xmlns:a="http://schemas.openxmlformats.org/drawingml/2006/main">
              <a:ext uri="{FF2B5EF4-FFF2-40B4-BE49-F238E27FC236}">
                <a16:creationId xmlns:a16="http://schemas.microsoft.com/office/drawing/2014/main" id="{CDB10FB3-2607-4FD8-95C8-D1F15C9722E6}"/>
              </a:ext>
            </a:extLst>
          </p:cNvPr>
          <p:cNvSpPr>
            <a:spLocks xmlns:a="http://schemas.openxmlformats.org/drawingml/2006/main" noGrp="1"/>
          </p:cNvSpPr>
          <p:nvPr/>
        </p:nvSpPr>
        <p:spPr>
          <a:xfrm xmlns:a="http://schemas.openxmlformats.org/drawingml/2006/main" rot="0" flipH="0" flipV="0">
            <a:off x="6946392" y="3521392"/>
            <a:ext cx="31358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2"/>
                </a:solidFill>
                <a:latin typeface="Consolas"/>
                <a:ea typeface="Consolas"/>
                <a:cs typeface="Consolas"/>
              </a:rPr>
              <a:t>960</a:t>
            </a:r>
          </a:p>
        </p:txBody>
      </p:sp>
      <p:sp>
        <p:nvSpPr>
          <p:cNvPr id="40" name="TextBox 40">
            <a:extLst xmlns:a="http://schemas.openxmlformats.org/drawingml/2006/main">
              <a:ext uri="{FF2B5EF4-FFF2-40B4-BE49-F238E27FC236}">
                <a16:creationId xmlns:a16="http://schemas.microsoft.com/office/drawing/2014/main" id="{226CC6CB-2B91-4AC1-AFE7-1B7931D09044}"/>
              </a:ext>
            </a:extLst>
          </p:cNvPr>
          <p:cNvSpPr>
            <a:spLocks xmlns:a="http://schemas.openxmlformats.org/drawingml/2006/main" noGrp="1"/>
          </p:cNvSpPr>
          <p:nvPr/>
        </p:nvSpPr>
        <p:spPr>
          <a:xfrm xmlns:a="http://schemas.openxmlformats.org/drawingml/2006/main" rot="0" flipH="0" flipV="0">
            <a:off x="4327017" y="3749992"/>
            <a:ext cx="31358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3"/>
                </a:solidFill>
                <a:latin typeface="Consolas"/>
                <a:ea typeface="Consolas"/>
                <a:cs typeface="Consolas"/>
              </a:rPr>
              <a:t>335</a:t>
            </a:r>
          </a:p>
        </p:txBody>
      </p:sp>
      <p:sp>
        <p:nvSpPr>
          <p:cNvPr id="41" name="TextBox 41">
            <a:extLst xmlns:a="http://schemas.openxmlformats.org/drawingml/2006/main">
              <a:ext uri="{FF2B5EF4-FFF2-40B4-BE49-F238E27FC236}">
                <a16:creationId xmlns:a16="http://schemas.microsoft.com/office/drawing/2014/main" id="{C91F6DC6-F147-4A85-B4FD-D5CEE8113877}"/>
              </a:ext>
            </a:extLst>
          </p:cNvPr>
          <p:cNvSpPr>
            <a:spLocks xmlns:a="http://schemas.openxmlformats.org/drawingml/2006/main" noGrp="1"/>
          </p:cNvSpPr>
          <p:nvPr/>
        </p:nvSpPr>
        <p:spPr>
          <a:xfrm xmlns:a="http://schemas.openxmlformats.org/drawingml/2006/main" rot="0" flipH="0" flipV="0">
            <a:off x="5517642" y="3978592"/>
            <a:ext cx="31358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chemeClr val="accent6"/>
                </a:solidFill>
                <a:latin typeface="Consolas"/>
                <a:ea typeface="Consolas"/>
                <a:cs typeface="Consolas"/>
              </a:rPr>
              <a:t>619</a:t>
            </a:r>
          </a:p>
        </p:txBody>
      </p:sp>
      <p:sp>
        <p:nvSpPr>
          <p:cNvPr id="42" name="TextBox 42">
            <a:extLst xmlns:a="http://schemas.openxmlformats.org/drawingml/2006/main">
              <a:ext uri="{FF2B5EF4-FFF2-40B4-BE49-F238E27FC236}">
                <a16:creationId xmlns:a16="http://schemas.microsoft.com/office/drawing/2014/main" id="{2BBFADBA-4C72-4C9B-BF10-0E7AF559BD82}"/>
              </a:ext>
            </a:extLst>
          </p:cNvPr>
          <p:cNvSpPr>
            <a:spLocks xmlns:a="http://schemas.openxmlformats.org/drawingml/2006/main" noGrp="1"/>
          </p:cNvSpPr>
          <p:nvPr/>
        </p:nvSpPr>
        <p:spPr>
          <a:xfrm xmlns:a="http://schemas.openxmlformats.org/drawingml/2006/main" rot="0" flipH="0" flipV="0">
            <a:off x="4917567" y="4207192"/>
            <a:ext cx="313582"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7562A8"/>
                </a:solidFill>
                <a:latin typeface="Consolas"/>
                <a:ea typeface="Consolas"/>
                <a:cs typeface="Consolas"/>
              </a:rPr>
              <a:t>475</a:t>
            </a:r>
          </a:p>
        </p:txBody>
      </p:sp>
      <p:sp>
        <p:nvSpPr>
          <p:cNvPr id="43" name="TextBox 43">
            <a:extLst xmlns:a="http://schemas.openxmlformats.org/drawingml/2006/main">
              <a:ext uri="{FF2B5EF4-FFF2-40B4-BE49-F238E27FC236}">
                <a16:creationId xmlns:a16="http://schemas.microsoft.com/office/drawing/2014/main" id="{E6790BD6-85CC-48A2-9725-4CF7EEC16885}"/>
              </a:ext>
            </a:extLst>
          </p:cNvPr>
          <p:cNvSpPr>
            <a:spLocks xmlns:a="http://schemas.openxmlformats.org/drawingml/2006/main" noGrp="1"/>
          </p:cNvSpPr>
          <p:nvPr/>
        </p:nvSpPr>
        <p:spPr>
          <a:xfrm xmlns:a="http://schemas.openxmlformats.org/drawingml/2006/main" rot="0" flipH="0" flipV="0">
            <a:off x="4165854" y="4375785"/>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chemeClr val="accent2"/>
                </a:solidFill>
                <a:latin typeface="Consolas"/>
                <a:ea typeface="Consolas"/>
                <a:cs typeface="Consolas"/>
              </a:rPr>
              <a:t>291</a:t>
            </a:r>
          </a:p>
        </p:txBody>
      </p:sp>
      <p:sp>
        <p:nvSpPr>
          <p:cNvPr id="44" name="TextBox 44">
            <a:extLst xmlns:a="http://schemas.openxmlformats.org/drawingml/2006/main">
              <a:ext uri="{FF2B5EF4-FFF2-40B4-BE49-F238E27FC236}">
                <a16:creationId xmlns:a16="http://schemas.microsoft.com/office/drawing/2014/main" id="{23C79E45-4FEA-4C0F-ACA1-9C3850A196CB}"/>
              </a:ext>
            </a:extLst>
          </p:cNvPr>
          <p:cNvSpPr>
            <a:spLocks xmlns:a="http://schemas.openxmlformats.org/drawingml/2006/main" noGrp="1"/>
          </p:cNvSpPr>
          <p:nvPr/>
        </p:nvSpPr>
        <p:spPr>
          <a:xfrm xmlns:a="http://schemas.openxmlformats.org/drawingml/2006/main" rot="0" flipH="0" flipV="0">
            <a:off x="3718179" y="4604385"/>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chemeClr val="accent3"/>
                </a:solidFill>
                <a:latin typeface="Consolas"/>
                <a:ea typeface="Consolas"/>
                <a:cs typeface="Consolas"/>
              </a:rPr>
              <a:t>185</a:t>
            </a:r>
          </a:p>
        </p:txBody>
      </p:sp>
      <p:sp>
        <p:nvSpPr>
          <p:cNvPr id="45" name="TextBox 45">
            <a:extLst xmlns:a="http://schemas.openxmlformats.org/drawingml/2006/main">
              <a:ext uri="{FF2B5EF4-FFF2-40B4-BE49-F238E27FC236}">
                <a16:creationId xmlns:a16="http://schemas.microsoft.com/office/drawing/2014/main" id="{1FF3AA34-933F-43BE-B75A-4BD6F3DFCE6C}"/>
              </a:ext>
            </a:extLst>
          </p:cNvPr>
          <p:cNvSpPr>
            <a:spLocks xmlns:a="http://schemas.openxmlformats.org/drawingml/2006/main" noGrp="1"/>
          </p:cNvSpPr>
          <p:nvPr/>
        </p:nvSpPr>
        <p:spPr>
          <a:xfrm xmlns:a="http://schemas.openxmlformats.org/drawingml/2006/main" rot="0" flipH="0" flipV="0">
            <a:off x="4346829" y="4832985"/>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chemeClr val="accent6"/>
                </a:solidFill>
                <a:latin typeface="Consolas"/>
                <a:ea typeface="Consolas"/>
                <a:cs typeface="Consolas"/>
              </a:rPr>
              <a:t>334</a:t>
            </a:r>
          </a:p>
        </p:txBody>
      </p:sp>
      <p:sp>
        <p:nvSpPr>
          <p:cNvPr id="46" name="TextBox 46">
            <a:extLst xmlns:a="http://schemas.openxmlformats.org/drawingml/2006/main">
              <a:ext uri="{FF2B5EF4-FFF2-40B4-BE49-F238E27FC236}">
                <a16:creationId xmlns:a16="http://schemas.microsoft.com/office/drawing/2014/main" id="{7D820184-B99E-4BBE-8EE0-FBA58A25C19A}"/>
              </a:ext>
            </a:extLst>
          </p:cNvPr>
          <p:cNvSpPr>
            <a:spLocks xmlns:a="http://schemas.openxmlformats.org/drawingml/2006/main" noGrp="1"/>
          </p:cNvSpPr>
          <p:nvPr/>
        </p:nvSpPr>
        <p:spPr>
          <a:xfrm xmlns:a="http://schemas.openxmlformats.org/drawingml/2006/main" rot="0" flipH="0" flipV="0">
            <a:off x="4022979" y="5061585"/>
            <a:ext cx="278740"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7562A8"/>
                </a:solidFill>
                <a:latin typeface="Consolas"/>
                <a:ea typeface="Consolas"/>
                <a:cs typeface="Consolas"/>
              </a:rPr>
              <a:t>256</a:t>
            </a:r>
          </a:p>
        </p:txBody>
      </p:sp>
      <p:sp>
        <p:nvSpPr>
          <p:cNvPr id="48" name="Rectangle 48">
            <a:extLst xmlns:a="http://schemas.openxmlformats.org/drawingml/2006/main">
              <a:ext uri="{FF2B5EF4-FFF2-40B4-BE49-F238E27FC236}">
                <a16:creationId xmlns:a16="http://schemas.microsoft.com/office/drawing/2014/main" id="{8A494FDB-764D-4E53-A9A5-B38AF9EF3C42}"/>
              </a:ext>
            </a:extLst>
          </p:cNvPr>
          <p:cNvSpPr>
            <a:spLocks xmlns:a="http://schemas.openxmlformats.org/drawingml/2006/main" noGrp="1"/>
          </p:cNvSpPr>
          <p:nvPr/>
        </p:nvSpPr>
        <p:spPr>
          <a:xfrm xmlns:a="http://schemas.openxmlformats.org/drawingml/2006/main" rot="0" flipH="0" flipV="0">
            <a:off x="533400" y="5391150"/>
            <a:ext cx="11125200" cy="685800"/>
          </a:xfrm>
          <a:prstGeom xmlns:a="http://schemas.openxmlformats.org/drawingml/2006/main" prst="roundRect">
            <a:avLst>
              <a:gd name="adj" fmla="val 16667"/>
            </a:avLst>
          </a:prstGeom>
          <a:solidFill xmlns:a="http://schemas.openxmlformats.org/drawingml/2006/main">
            <a:srgbClr val="FFF3E3"/>
          </a:solidFill>
          <a:ln xmlns:a="http://schemas.openxmlformats.org/drawingml/2006/main">
            <a:noFill/>
          </a:ln>
        </p:spPr>
      </p:sp>
      <p:sp>
        <p:nvSpPr>
          <p:cNvPr id="49" name="TextBox 49">
            <a:extLst xmlns:a="http://schemas.openxmlformats.org/drawingml/2006/main">
              <a:ext uri="{FF2B5EF4-FFF2-40B4-BE49-F238E27FC236}">
                <a16:creationId xmlns:a16="http://schemas.microsoft.com/office/drawing/2014/main" id="{0D17B515-B353-4CC0-84E3-1A04F354E62D}"/>
              </a:ext>
            </a:extLst>
          </p:cNvPr>
          <p:cNvSpPr>
            <a:spLocks xmlns:a="http://schemas.openxmlformats.org/drawingml/2006/main" noGrp="1"/>
          </p:cNvSpPr>
          <p:nvPr/>
        </p:nvSpPr>
        <p:spPr>
          <a:xfrm xmlns:a="http://schemas.openxmlformats.org/drawingml/2006/main" rot="0" flipH="0" flipV="0">
            <a:off x="754380" y="5457825"/>
            <a:ext cx="2987411"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3"/>
                </a:solidFill>
                <a:latin typeface="+mn-lt"/>
                <a:ea typeface="+mn-lt"/>
                <a:cs typeface="+mn-lt"/>
              </a:rPr>
              <a:t>Paper FCI Plus / FCI CI work:</a:t>
            </a:r>
          </a:p>
        </p:txBody>
      </p:sp>
      <p:sp>
        <p:nvSpPr>
          <p:cNvPr id="50" name="TextBox 50">
            <a:extLst xmlns:a="http://schemas.openxmlformats.org/drawingml/2006/main">
              <a:ext uri="{FF2B5EF4-FFF2-40B4-BE49-F238E27FC236}">
                <a16:creationId xmlns:a16="http://schemas.microsoft.com/office/drawing/2014/main" id="{490AACDC-3597-4D1E-993F-7DC3BB612025}"/>
              </a:ext>
            </a:extLst>
          </p:cNvPr>
          <p:cNvSpPr>
            <a:spLocks xmlns:a="http://schemas.openxmlformats.org/drawingml/2006/main" noGrp="1"/>
          </p:cNvSpPr>
          <p:nvPr/>
        </p:nvSpPr>
        <p:spPr>
          <a:xfrm xmlns:a="http://schemas.openxmlformats.org/drawingml/2006/main" rot="0" flipH="0" flipV="0">
            <a:off x="3497580" y="5457825"/>
            <a:ext cx="4817640" cy="2933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Consolas"/>
                <a:ea typeface="Consolas"/>
                <a:cs typeface="Consolas"/>
              </a:rPr>
              <a:t>47% attrition · 35% longitudinal · 64% focused</a:t>
            </a:r>
          </a:p>
        </p:txBody>
      </p:sp>
      <p:sp>
        <p:nvSpPr>
          <p:cNvPr id="51" name="TextBox 51">
            <a:extLst xmlns:a="http://schemas.openxmlformats.org/drawingml/2006/main">
              <a:ext uri="{FF2B5EF4-FFF2-40B4-BE49-F238E27FC236}">
                <a16:creationId xmlns:a16="http://schemas.microsoft.com/office/drawing/2014/main" id="{4AA94FB7-CC20-434D-82FF-0D0316988EDC}"/>
              </a:ext>
            </a:extLst>
          </p:cNvPr>
          <p:cNvSpPr>
            <a:spLocks xmlns:a="http://schemas.openxmlformats.org/drawingml/2006/main" noGrp="1"/>
          </p:cNvSpPr>
          <p:nvPr/>
        </p:nvSpPr>
        <p:spPr>
          <a:xfrm xmlns:a="http://schemas.openxmlformats.org/drawingml/2006/main" rot="0" flipH="0" flipV="0">
            <a:off x="755904" y="5775960"/>
            <a:ext cx="927275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a:solidFill>
                  <a:srgbClr val="5F6875"/>
                </a:solidFill>
                <a:latin typeface="Consolas"/>
                <a:ea typeface="Consolas"/>
                <a:cs typeface="Consolas"/>
              </a:rPr>
              <a:t>Median seconds [FCI / paper / robust / R] — </a:t>
            </a:r>
            <a:r>
              <a:rPr sz="1200">
                <a:solidFill>
                  <a:srgbClr val="5F6875"/>
                </a:solidFill>
                <a:latin typeface="Consolas"/>
                <a:ea typeface="Consolas"/>
                <a:cs typeface="Consolas"/>
              </a:rPr>
              <a:t>A: 5.66/1.82/2.61/10.39 · L: 2.14/.33/.55/1.65 · F: .33/.16/.25/.88</a:t>
            </a:r>
          </a:p>
        </p:txBody>
      </p:sp>
      <p:sp>
        <p:nvSpPr>
          <p:cNvPr id="53" name="TextBox 53">
            <a:extLst xmlns:a="http://schemas.openxmlformats.org/drawingml/2006/main">
              <a:ext uri="{FF2B5EF4-FFF2-40B4-BE49-F238E27FC236}">
                <a16:creationId xmlns:a16="http://schemas.microsoft.com/office/drawing/2014/main" id="{8685FF24-5102-4DEC-917E-C2CCC6B184F5}"/>
              </a:ext>
            </a:extLst>
          </p:cNvPr>
          <p:cNvSpPr>
            <a:spLocks xmlns:a="http://schemas.openxmlformats.org/drawingml/2006/main" noGrp="1"/>
          </p:cNvSpPr>
          <p:nvPr/>
        </p:nvSpPr>
        <p:spPr>
          <a:xfrm xmlns:a="http://schemas.openxmlformats.org/drawingml/2006/main" rot="0" flipH="0" flipV="0">
            <a:off x="528066" y="6306502"/>
            <a:ext cx="8633079"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a:solidFill>
                  <a:srgbClr val="5F6875"/>
                </a:solidFill>
                <a:latin typeface="+mn-lt"/>
                <a:ea typeface="+mn-lt"/>
                <a:cs typeface="+mn-lt"/>
              </a:rPr>
              <a:t>star_benchmark.csv · three-run timing is not a cross-language speed contest · efficiency does not identify a causal effect</a:t>
            </a:r>
          </a:p>
        </p:txBody>
      </p:sp>
      <p:sp>
        <p:nvSpPr>
          <p:cNvPr id="54" name="TextBox 54">
            <a:extLst xmlns:a="http://schemas.openxmlformats.org/drawingml/2006/main">
              <a:ext uri="{FF2B5EF4-FFF2-40B4-BE49-F238E27FC236}">
                <a16:creationId xmlns:a16="http://schemas.microsoft.com/office/drawing/2014/main" id="{EE37D1A1-F6B9-455D-9D8B-A1475DFF3D8E}"/>
              </a:ext>
            </a:extLst>
          </p:cNvPr>
          <p:cNvSpPr>
            <a:spLocks xmlns:a="http://schemas.openxmlformats.org/drawingml/2006/main" noGrp="1"/>
          </p:cNvSpPr>
          <p:nvPr/>
        </p:nvSpPr>
        <p:spPr>
          <a:xfrm xmlns:a="http://schemas.openxmlformats.org/drawingml/2006/main" rot="0" flipH="0" flipV="0">
            <a:off x="11111332" y="62903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5F6875"/>
                </a:solidFill>
                <a:latin typeface="Consolas"/>
                <a:ea typeface="Consolas"/>
                <a:cs typeface="Consolas"/>
              </a:rPr>
              <a:t>14 / 15</a:t>
            </a:r>
          </a:p>
        </p:txBody>
      </p:sp>
    </p:spTree>
    <p:extLst>
      <p:ext uri="{BB962C8B-B14F-4D97-AF65-F5344CB8AC3E}">
        <p14:creationId xmlns:p14="http://schemas.microsoft.com/office/powerpoint/2010/main" val="1982633874"/>
      </p:ext>
    </p:extLst>
  </p:cSld>
</p:sld>
</file>

<file path=ppt/slides/slide15.xml><?xml version="1.0" encoding="utf-8"?>
<p:sld xmlns:p="http://schemas.openxmlformats.org/presentationml/2006/main">
  <p:cSld>
    <p:bg>
      <p:bgPr>
        <a:solidFill xmlns:a="http://schemas.openxmlformats.org/drawingml/2006/main">
          <a:schemeClr val="accen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780BF539-C57B-4453-9F36-9D6C8A781B27}"/>
              </a:ext>
            </a:extLst>
          </p:cNvPr>
          <p:cNvSpPr>
            <a:spLocks xmlns:a="http://schemas.openxmlformats.org/drawingml/2006/main" noGrp="1"/>
          </p:cNvSpPr>
          <p:nvPr/>
        </p:nvSpPr>
        <p:spPr>
          <a:xfrm xmlns:a="http://schemas.openxmlformats.org/drawingml/2006/main" rot="0" flipH="0" flipV="0">
            <a:off x="518160" y="419100"/>
            <a:ext cx="8735968" cy="5867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a:solidFill>
                  <a:srgbClr val="FFFFFF"/>
                </a:solidFill>
                <a:latin typeface="+mj-lt"/>
                <a:ea typeface="+mj-lt"/>
                <a:cs typeface="+mj-lt"/>
              </a:rPr>
              <a:t>From Source Text to Cautious Evidence</a:t>
            </a:r>
          </a:p>
        </p:txBody>
      </p:sp>
      <p:sp>
        <p:nvSpPr>
          <p:cNvPr id="3" name="TextBox 3">
            <a:extLst xmlns:a="http://schemas.openxmlformats.org/drawingml/2006/main">
              <a:ext uri="{FF2B5EF4-FFF2-40B4-BE49-F238E27FC236}">
                <a16:creationId xmlns:a16="http://schemas.microsoft.com/office/drawing/2014/main" id="{886513BF-78B8-4837-863D-877062605A4E}"/>
              </a:ext>
            </a:extLst>
          </p:cNvPr>
          <p:cNvSpPr>
            <a:spLocks xmlns:a="http://schemas.openxmlformats.org/drawingml/2006/main" noGrp="1"/>
          </p:cNvSpPr>
          <p:nvPr/>
        </p:nvSpPr>
        <p:spPr>
          <a:xfrm xmlns:a="http://schemas.openxmlformats.org/drawingml/2006/main" rot="0" flipH="0" flipV="0">
            <a:off x="525018" y="945832"/>
            <a:ext cx="8786407"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650">
                <a:solidFill>
                  <a:srgbClr val="E9EDF5"/>
                </a:solidFill>
                <a:latin typeface="+mn-lt"/>
                <a:ea typeface="+mn-lt"/>
                <a:cs typeface="+mn-lt"/>
              </a:rPr>
              <a:t>Randomized evidence remains primary; the PAG is a disciplined uncertainty audit.</a:t>
            </a:r>
          </a:p>
        </p:txBody>
      </p:sp>
      <p:sp>
        <p:nvSpPr>
          <p:cNvPr id="5" name="TextBox 5">
            <a:extLst xmlns:a="http://schemas.openxmlformats.org/drawingml/2006/main">
              <a:ext uri="{FF2B5EF4-FFF2-40B4-BE49-F238E27FC236}">
                <a16:creationId xmlns:a16="http://schemas.microsoft.com/office/drawing/2014/main" id="{C9F78B72-31FF-4DE2-B367-54D601EDFB68}"/>
              </a:ext>
            </a:extLst>
          </p:cNvPr>
          <p:cNvSpPr>
            <a:spLocks xmlns:a="http://schemas.openxmlformats.org/drawingml/2006/main" noGrp="1"/>
          </p:cNvSpPr>
          <p:nvPr/>
        </p:nvSpPr>
        <p:spPr>
          <a:xfrm xmlns:a="http://schemas.openxmlformats.org/drawingml/2006/main" rot="0" flipH="0" flipV="0">
            <a:off x="533400" y="1590675"/>
            <a:ext cx="3714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AFC7FF"/>
                </a:solidFill>
                <a:latin typeface="+mn-lt"/>
                <a:ea typeface="+mn-lt"/>
                <a:cs typeface="+mn-lt"/>
              </a:rPr>
              <a:t>DEFENSIBLE STAR EVIDENCE HIERARCHY</a:t>
            </a:r>
          </a:p>
        </p:txBody>
      </p:sp>
      <p:sp>
        <p:nvSpPr>
          <p:cNvPr id="6" name="Polygon 6">
            <a:extLst xmlns:a="http://schemas.openxmlformats.org/drawingml/2006/main">
              <a:ext uri="{FF2B5EF4-FFF2-40B4-BE49-F238E27FC236}">
                <a16:creationId xmlns:a16="http://schemas.microsoft.com/office/drawing/2014/main" id="{9004F4FE-CC0B-4A32-A887-6E626D1C22E1}"/>
              </a:ext>
            </a:extLst>
          </p:cNvPr>
          <p:cNvSpPr>
            <a:spLocks xmlns:a="http://schemas.openxmlformats.org/drawingml/2006/main" noGrp="1"/>
          </p:cNvSpPr>
          <p:nvPr/>
        </p:nvSpPr>
        <p:spPr>
          <a:xfrm xmlns:a="http://schemas.openxmlformats.org/drawingml/2006/main" rot="0" flipH="0" flipV="0">
            <a:off x="533400" y="2095500"/>
            <a:ext cx="5181600" cy="628650"/>
          </a:xfrm>
          <a:custGeom xmlns:a="http://schemas.openxmlformats.org/drawingml/2006/main">
            <a:rect l="l" t="t" r="r" b="b"/>
            <a:pathLst>
              <a:path w="5181600" h="628650">
                <a:moveTo>
                  <a:pt x="0" y="0"/>
                </a:moveTo>
                <a:lnTo>
                  <a:pt x="5181600" y="0"/>
                </a:lnTo>
                <a:lnTo>
                  <a:pt x="4724400" y="628650"/>
                </a:lnTo>
                <a:lnTo>
                  <a:pt x="457200" y="628650"/>
                </a:lnTo>
                <a:close/>
              </a:path>
            </a:pathLst>
          </a:custGeom>
          <a:solidFill xmlns:a="http://schemas.openxmlformats.org/drawingml/2006/main">
            <a:srgbClr val="2E7D5B"/>
          </a:solidFill>
          <a:ln xmlns:a="http://schemas.openxmlformats.org/drawingml/2006/main">
            <a:noFill/>
          </a:ln>
        </p:spPr>
      </p:sp>
      <p:sp>
        <p:nvSpPr>
          <p:cNvPr id="7" name="TextBox 7">
            <a:extLst xmlns:a="http://schemas.openxmlformats.org/drawingml/2006/main">
              <a:ext uri="{FF2B5EF4-FFF2-40B4-BE49-F238E27FC236}">
                <a16:creationId xmlns:a16="http://schemas.microsoft.com/office/drawing/2014/main" id="{C4E892E2-193A-4EC3-83F1-BF19E469ABBA}"/>
              </a:ext>
            </a:extLst>
          </p:cNvPr>
          <p:cNvSpPr>
            <a:spLocks xmlns:a="http://schemas.openxmlformats.org/drawingml/2006/main" noGrp="1"/>
          </p:cNvSpPr>
          <p:nvPr/>
        </p:nvSpPr>
        <p:spPr>
          <a:xfrm xmlns:a="http://schemas.openxmlformats.org/drawingml/2006/main" rot="0" flipH="0" flipV="0">
            <a:off x="990600" y="2152650"/>
            <a:ext cx="4267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47625" rIns="0" bIns="0" anchor="t">
            <a:noAutofit/>
          </a:bodyPr>
          <a:lstStyle xmlns:a="http://schemas.openxmlformats.org/drawingml/2006/main"/>
          <a:p xmlns:a="http://schemas.openxmlformats.org/drawingml/2006/main">
            <a:pPr algn="ctr">
              <a:buNone/>
            </a:pPr>
            <a:r>
              <a:rPr sz="1500" b="1">
                <a:solidFill>
                  <a:srgbClr val="FFFFFF"/>
                </a:solidFill>
                <a:latin typeface="+mn-lt"/>
                <a:ea typeface="+mn-lt"/>
                <a:cs typeface="+mn-lt"/>
              </a:rPr>
              <a:t>DESIGN-BASED</a:t>
            </a:r>
          </a:p>
        </p:txBody>
      </p:sp>
      <p:sp>
        <p:nvSpPr>
          <p:cNvPr id="8" name="TextBox 8">
            <a:extLst xmlns:a="http://schemas.openxmlformats.org/drawingml/2006/main">
              <a:ext uri="{FF2B5EF4-FFF2-40B4-BE49-F238E27FC236}">
                <a16:creationId xmlns:a16="http://schemas.microsoft.com/office/drawing/2014/main" id="{A1A468D7-56C7-465C-ACA5-C15BC8212938}"/>
              </a:ext>
            </a:extLst>
          </p:cNvPr>
          <p:cNvSpPr>
            <a:spLocks xmlns:a="http://schemas.openxmlformats.org/drawingml/2006/main" noGrp="1"/>
          </p:cNvSpPr>
          <p:nvPr/>
        </p:nvSpPr>
        <p:spPr>
          <a:xfrm xmlns:a="http://schemas.openxmlformats.org/drawingml/2006/main" rot="0" flipH="0" flipV="0">
            <a:off x="1047750" y="2390775"/>
            <a:ext cx="4152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8106" rIns="0" bIns="0" anchor="t">
            <a:noAutofit/>
          </a:bodyPr>
          <a:lstStyle xmlns:a="http://schemas.openxmlformats.org/drawingml/2006/main"/>
          <a:p xmlns:a="http://schemas.openxmlformats.org/drawingml/2006/main">
            <a:pPr algn="ctr">
              <a:buNone/>
            </a:pPr>
            <a:r>
              <a:rPr sz="1120">
                <a:solidFill>
                  <a:srgbClr val="FFFFFF"/>
                </a:solidFill>
                <a:latin typeface="+mn-lt"/>
                <a:ea typeface="+mn-lt"/>
                <a:cs typeface="+mn-lt"/>
              </a:rPr>
              <a:t>Observed K contrast favors small classes</a:t>
            </a:r>
          </a:p>
        </p:txBody>
      </p:sp>
      <p:sp>
        <p:nvSpPr>
          <p:cNvPr id="9" name="Polygon 9">
            <a:extLst xmlns:a="http://schemas.openxmlformats.org/drawingml/2006/main">
              <a:ext uri="{FF2B5EF4-FFF2-40B4-BE49-F238E27FC236}">
                <a16:creationId xmlns:a16="http://schemas.microsoft.com/office/drawing/2014/main" id="{CC6181C7-C48B-430D-ACA2-53C8F8AF506B}"/>
              </a:ext>
            </a:extLst>
          </p:cNvPr>
          <p:cNvSpPr>
            <a:spLocks xmlns:a="http://schemas.openxmlformats.org/drawingml/2006/main" noGrp="1"/>
          </p:cNvSpPr>
          <p:nvPr/>
        </p:nvSpPr>
        <p:spPr>
          <a:xfrm xmlns:a="http://schemas.openxmlformats.org/drawingml/2006/main" rot="0" flipH="0" flipV="0">
            <a:off x="990600" y="2857500"/>
            <a:ext cx="4267200" cy="628650"/>
          </a:xfrm>
          <a:custGeom xmlns:a="http://schemas.openxmlformats.org/drawingml/2006/main">
            <a:rect l="l" t="t" r="r" b="b"/>
            <a:pathLst>
              <a:path w="4267200" h="628650">
                <a:moveTo>
                  <a:pt x="0" y="0"/>
                </a:moveTo>
                <a:lnTo>
                  <a:pt x="4267200" y="0"/>
                </a:lnTo>
                <a:lnTo>
                  <a:pt x="3886200" y="628650"/>
                </a:lnTo>
                <a:lnTo>
                  <a:pt x="381000" y="628650"/>
                </a:lnTo>
                <a:close/>
              </a:path>
            </a:pathLst>
          </a:custGeom>
          <a:solidFill xmlns:a="http://schemas.openxmlformats.org/drawingml/2006/main">
            <a:schemeClr val="accent2"/>
          </a:solidFill>
          <a:ln xmlns:a="http://schemas.openxmlformats.org/drawingml/2006/main">
            <a:noFill/>
          </a:ln>
        </p:spPr>
      </p:sp>
      <p:sp>
        <p:nvSpPr>
          <p:cNvPr id="10" name="TextBox 10">
            <a:extLst xmlns:a="http://schemas.openxmlformats.org/drawingml/2006/main">
              <a:ext uri="{FF2B5EF4-FFF2-40B4-BE49-F238E27FC236}">
                <a16:creationId xmlns:a16="http://schemas.microsoft.com/office/drawing/2014/main" id="{8A075F35-9D48-438B-9EB9-67AA4E1638AF}"/>
              </a:ext>
            </a:extLst>
          </p:cNvPr>
          <p:cNvSpPr>
            <a:spLocks xmlns:a="http://schemas.openxmlformats.org/drawingml/2006/main" noGrp="1"/>
          </p:cNvSpPr>
          <p:nvPr/>
        </p:nvSpPr>
        <p:spPr>
          <a:xfrm xmlns:a="http://schemas.openxmlformats.org/drawingml/2006/main" rot="0" flipH="0" flipV="0">
            <a:off x="1371600" y="2914650"/>
            <a:ext cx="3505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47625" rIns="0" bIns="0" anchor="t">
            <a:noAutofit/>
          </a:bodyPr>
          <a:lstStyle xmlns:a="http://schemas.openxmlformats.org/drawingml/2006/main"/>
          <a:p xmlns:a="http://schemas.openxmlformats.org/drawingml/2006/main">
            <a:pPr algn="ctr">
              <a:buNone/>
            </a:pPr>
            <a:r>
              <a:rPr sz="1500" b="1">
                <a:solidFill>
                  <a:srgbClr val="FFFFFF"/>
                </a:solidFill>
                <a:latin typeface="+mn-lt"/>
                <a:ea typeface="+mn-lt"/>
                <a:cs typeface="+mn-lt"/>
              </a:rPr>
              <a:t>STRUCTURAL</a:t>
            </a:r>
          </a:p>
        </p:txBody>
      </p:sp>
      <p:sp>
        <p:nvSpPr>
          <p:cNvPr id="11" name="TextBox 11">
            <a:extLst xmlns:a="http://schemas.openxmlformats.org/drawingml/2006/main">
              <a:ext uri="{FF2B5EF4-FFF2-40B4-BE49-F238E27FC236}">
                <a16:creationId xmlns:a16="http://schemas.microsoft.com/office/drawing/2014/main" id="{69CA1D67-20DF-4AE2-A435-3D2B8366A12E}"/>
              </a:ext>
            </a:extLst>
          </p:cNvPr>
          <p:cNvSpPr>
            <a:spLocks xmlns:a="http://schemas.openxmlformats.org/drawingml/2006/main" noGrp="1"/>
          </p:cNvSpPr>
          <p:nvPr/>
        </p:nvSpPr>
        <p:spPr>
          <a:xfrm xmlns:a="http://schemas.openxmlformats.org/drawingml/2006/main" rot="0" flipH="0" flipV="0">
            <a:off x="1428750" y="3152775"/>
            <a:ext cx="3390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8106" rIns="0" bIns="0" anchor="t">
            <a:noAutofit/>
          </a:bodyPr>
          <a:lstStyle xmlns:a="http://schemas.openxmlformats.org/drawingml/2006/main"/>
          <a:p xmlns:a="http://schemas.openxmlformats.org/drawingml/2006/main">
            <a:pPr algn="ctr">
              <a:buNone/>
            </a:pPr>
            <a:r>
              <a:rPr sz="1120">
                <a:solidFill>
                  <a:srgbClr val="FFFFFF"/>
                </a:solidFill>
                <a:latin typeface="+mn-lt"/>
                <a:ea typeface="+mn-lt"/>
                <a:cs typeface="+mn-lt"/>
              </a:rPr>
              <a:t>Early achievement has stable adjacencies</a:t>
            </a:r>
          </a:p>
        </p:txBody>
      </p:sp>
      <p:sp>
        <p:nvSpPr>
          <p:cNvPr id="12" name="Polygon 12">
            <a:extLst xmlns:a="http://schemas.openxmlformats.org/drawingml/2006/main">
              <a:ext uri="{FF2B5EF4-FFF2-40B4-BE49-F238E27FC236}">
                <a16:creationId xmlns:a16="http://schemas.microsoft.com/office/drawing/2014/main" id="{F7095A55-FD23-4B97-98D0-8F1172A31539}"/>
              </a:ext>
            </a:extLst>
          </p:cNvPr>
          <p:cNvSpPr>
            <a:spLocks xmlns:a="http://schemas.openxmlformats.org/drawingml/2006/main" noGrp="1"/>
          </p:cNvSpPr>
          <p:nvPr/>
        </p:nvSpPr>
        <p:spPr>
          <a:xfrm xmlns:a="http://schemas.openxmlformats.org/drawingml/2006/main" rot="0" flipH="0" flipV="0">
            <a:off x="1371600" y="3619500"/>
            <a:ext cx="3505200" cy="628650"/>
          </a:xfrm>
          <a:custGeom xmlns:a="http://schemas.openxmlformats.org/drawingml/2006/main">
            <a:rect l="l" t="t" r="r" b="b"/>
            <a:pathLst>
              <a:path w="3505200" h="628650">
                <a:moveTo>
                  <a:pt x="0" y="0"/>
                </a:moveTo>
                <a:lnTo>
                  <a:pt x="3505200" y="0"/>
                </a:lnTo>
                <a:lnTo>
                  <a:pt x="3124200" y="628650"/>
                </a:lnTo>
                <a:lnTo>
                  <a:pt x="381000" y="628650"/>
                </a:lnTo>
                <a:close/>
              </a:path>
            </a:pathLst>
          </a:custGeom>
          <a:solidFill xmlns:a="http://schemas.openxmlformats.org/drawingml/2006/main">
            <a:schemeClr val="accent3"/>
          </a:solidFill>
          <a:ln xmlns:a="http://schemas.openxmlformats.org/drawingml/2006/main">
            <a:noFill/>
          </a:ln>
        </p:spPr>
      </p:sp>
      <p:sp>
        <p:nvSpPr>
          <p:cNvPr id="13" name="TextBox 13">
            <a:extLst xmlns:a="http://schemas.openxmlformats.org/drawingml/2006/main">
              <a:ext uri="{FF2B5EF4-FFF2-40B4-BE49-F238E27FC236}">
                <a16:creationId xmlns:a16="http://schemas.microsoft.com/office/drawing/2014/main" id="{068EC419-0083-4F32-B81D-2B05868AD4A2}"/>
              </a:ext>
            </a:extLst>
          </p:cNvPr>
          <p:cNvSpPr>
            <a:spLocks xmlns:a="http://schemas.openxmlformats.org/drawingml/2006/main" noGrp="1"/>
          </p:cNvSpPr>
          <p:nvPr/>
        </p:nvSpPr>
        <p:spPr>
          <a:xfrm xmlns:a="http://schemas.openxmlformats.org/drawingml/2006/main" rot="0" flipH="0" flipV="0">
            <a:off x="1752600" y="3676650"/>
            <a:ext cx="2743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47625" rIns="0" bIns="0" anchor="t">
            <a:noAutofit/>
          </a:bodyPr>
          <a:lstStyle xmlns:a="http://schemas.openxmlformats.org/drawingml/2006/main"/>
          <a:p xmlns:a="http://schemas.openxmlformats.org/drawingml/2006/main">
            <a:pPr algn="ctr">
              <a:buNone/>
            </a:pPr>
            <a:r>
              <a:rPr sz="1500" b="1">
                <a:solidFill>
                  <a:srgbClr val="FFFFFF"/>
                </a:solidFill>
                <a:latin typeface="+mn-lt"/>
                <a:ea typeface="+mn-lt"/>
                <a:cs typeface="+mn-lt"/>
              </a:rPr>
              <a:t>UNCERTAIN</a:t>
            </a:r>
          </a:p>
        </p:txBody>
      </p:sp>
      <p:sp>
        <p:nvSpPr>
          <p:cNvPr id="14" name="TextBox 14">
            <a:extLst xmlns:a="http://schemas.openxmlformats.org/drawingml/2006/main">
              <a:ext uri="{FF2B5EF4-FFF2-40B4-BE49-F238E27FC236}">
                <a16:creationId xmlns:a16="http://schemas.microsoft.com/office/drawing/2014/main" id="{3472448D-A4F2-4CD7-9892-669B68B66B1B}"/>
              </a:ext>
            </a:extLst>
          </p:cNvPr>
          <p:cNvSpPr>
            <a:spLocks xmlns:a="http://schemas.openxmlformats.org/drawingml/2006/main" noGrp="1"/>
          </p:cNvSpPr>
          <p:nvPr/>
        </p:nvSpPr>
        <p:spPr>
          <a:xfrm xmlns:a="http://schemas.openxmlformats.org/drawingml/2006/main" rot="0" flipH="0" flipV="0">
            <a:off x="1809750" y="3914775"/>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8106" rIns="0" bIns="0" anchor="t">
            <a:noAutofit/>
          </a:bodyPr>
          <a:lstStyle xmlns:a="http://schemas.openxmlformats.org/drawingml/2006/main"/>
          <a:p xmlns:a="http://schemas.openxmlformats.org/drawingml/2006/main">
            <a:pPr algn="ctr">
              <a:buNone/>
            </a:pPr>
            <a:r>
              <a:rPr sz="1120">
                <a:solidFill>
                  <a:srgbClr val="FFFFFF"/>
                </a:solidFill>
                <a:latin typeface="+mn-lt"/>
                <a:ea typeface="+mn-lt"/>
                <a:cs typeface="+mn-lt"/>
              </a:rPr>
              <a:t>Later directions vary by specification</a:t>
            </a:r>
          </a:p>
        </p:txBody>
      </p:sp>
      <p:sp>
        <p:nvSpPr>
          <p:cNvPr id="15" name="Polygon 15">
            <a:extLst xmlns:a="http://schemas.openxmlformats.org/drawingml/2006/main">
              <a:ext uri="{FF2B5EF4-FFF2-40B4-BE49-F238E27FC236}">
                <a16:creationId xmlns:a16="http://schemas.microsoft.com/office/drawing/2014/main" id="{CE761BE8-B520-445F-B4AB-499CA18C8F3F}"/>
              </a:ext>
            </a:extLst>
          </p:cNvPr>
          <p:cNvSpPr>
            <a:spLocks xmlns:a="http://schemas.openxmlformats.org/drawingml/2006/main" noGrp="1"/>
          </p:cNvSpPr>
          <p:nvPr/>
        </p:nvSpPr>
        <p:spPr>
          <a:xfrm xmlns:a="http://schemas.openxmlformats.org/drawingml/2006/main" rot="0" flipH="0" flipV="0">
            <a:off x="1562100" y="4381500"/>
            <a:ext cx="3124200" cy="628650"/>
          </a:xfrm>
          <a:custGeom xmlns:a="http://schemas.openxmlformats.org/drawingml/2006/main">
            <a:rect l="l" t="t" r="r" b="b"/>
            <a:pathLst>
              <a:path w="3124200" h="628650">
                <a:moveTo>
                  <a:pt x="0" y="0"/>
                </a:moveTo>
                <a:lnTo>
                  <a:pt x="3124200" y="0"/>
                </a:lnTo>
                <a:lnTo>
                  <a:pt x="2743200" y="628650"/>
                </a:lnTo>
                <a:lnTo>
                  <a:pt x="381000" y="628650"/>
                </a:lnTo>
                <a:close/>
              </a:path>
            </a:pathLst>
          </a:custGeom>
          <a:solidFill xmlns:a="http://schemas.openxmlformats.org/drawingml/2006/main">
            <a:srgbClr val="5F6875"/>
          </a:solidFill>
          <a:ln xmlns:a="http://schemas.openxmlformats.org/drawingml/2006/main">
            <a:noFill/>
          </a:ln>
        </p:spPr>
      </p:sp>
      <p:sp>
        <p:nvSpPr>
          <p:cNvPr id="16" name="TextBox 16">
            <a:extLst xmlns:a="http://schemas.openxmlformats.org/drawingml/2006/main">
              <a:ext uri="{FF2B5EF4-FFF2-40B4-BE49-F238E27FC236}">
                <a16:creationId xmlns:a16="http://schemas.microsoft.com/office/drawing/2014/main" id="{A32F5EA4-990B-4C35-8831-C67E0F9C19C3}"/>
              </a:ext>
            </a:extLst>
          </p:cNvPr>
          <p:cNvSpPr>
            <a:spLocks xmlns:a="http://schemas.openxmlformats.org/drawingml/2006/main" noGrp="1"/>
          </p:cNvSpPr>
          <p:nvPr/>
        </p:nvSpPr>
        <p:spPr>
          <a:xfrm xmlns:a="http://schemas.openxmlformats.org/drawingml/2006/main" rot="0" flipH="0" flipV="0">
            <a:off x="1657350" y="4438650"/>
            <a:ext cx="2933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63817" rIns="0" bIns="0" anchor="t">
            <a:noAutofit/>
          </a:bodyPr>
          <a:lstStyle xmlns:a="http://schemas.openxmlformats.org/drawingml/2006/main"/>
          <a:p xmlns:a="http://schemas.openxmlformats.org/drawingml/2006/main">
            <a:pPr algn="ctr">
              <a:buNone/>
            </a:pPr>
            <a:r>
              <a:rPr sz="1350" b="1">
                <a:solidFill>
                  <a:srgbClr val="FFFFFF"/>
                </a:solidFill>
                <a:latin typeface="+mn-lt"/>
                <a:ea typeface="+mn-lt"/>
                <a:cs typeface="+mn-lt"/>
              </a:rPr>
              <a:t>NOT IDENTIFIED</a:t>
            </a:r>
          </a:p>
        </p:txBody>
      </p:sp>
      <p:sp>
        <p:nvSpPr>
          <p:cNvPr id="17" name="TextBox 17">
            <a:extLst xmlns:a="http://schemas.openxmlformats.org/drawingml/2006/main">
              <a:ext uri="{FF2B5EF4-FFF2-40B4-BE49-F238E27FC236}">
                <a16:creationId xmlns:a16="http://schemas.microsoft.com/office/drawing/2014/main" id="{C1F90528-FD0F-49AE-B7A3-9F1DED38146F}"/>
              </a:ext>
            </a:extLst>
          </p:cNvPr>
          <p:cNvSpPr>
            <a:spLocks xmlns:a="http://schemas.openxmlformats.org/drawingml/2006/main" noGrp="1"/>
          </p:cNvSpPr>
          <p:nvPr/>
        </p:nvSpPr>
        <p:spPr>
          <a:xfrm xmlns:a="http://schemas.openxmlformats.org/drawingml/2006/main" rot="0" flipH="0" flipV="0">
            <a:off x="1809750" y="4695825"/>
            <a:ext cx="2628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96203" rIns="0" bIns="0" anchor="t">
            <a:noAutofit/>
          </a:bodyPr>
          <a:lstStyle xmlns:a="http://schemas.openxmlformats.org/drawingml/2006/main"/>
          <a:p xmlns:a="http://schemas.openxmlformats.org/drawingml/2006/main">
            <a:pPr algn="ctr">
              <a:buNone/>
            </a:pPr>
            <a:r>
              <a:rPr sz="1050">
                <a:solidFill>
                  <a:srgbClr val="FFFFFF"/>
                </a:solidFill>
                <a:latin typeface="+mn-lt"/>
                <a:ea typeface="+mn-lt"/>
                <a:cs typeface="+mn-lt"/>
              </a:rPr>
              <a:t>PAG yields no unique DAG or effect</a:t>
            </a:r>
          </a:p>
        </p:txBody>
      </p:sp>
      <p:sp>
        <p:nvSpPr>
          <p:cNvPr id="19" name="TextBox 19">
            <a:extLst xmlns:a="http://schemas.openxmlformats.org/drawingml/2006/main">
              <a:ext uri="{FF2B5EF4-FFF2-40B4-BE49-F238E27FC236}">
                <a16:creationId xmlns:a16="http://schemas.microsoft.com/office/drawing/2014/main" id="{43D866A1-C722-400F-A759-A466C9D2E036}"/>
              </a:ext>
            </a:extLst>
          </p:cNvPr>
          <p:cNvSpPr>
            <a:spLocks xmlns:a="http://schemas.openxmlformats.org/drawingml/2006/main" noGrp="1"/>
          </p:cNvSpPr>
          <p:nvPr/>
        </p:nvSpPr>
        <p:spPr>
          <a:xfrm xmlns:a="http://schemas.openxmlformats.org/drawingml/2006/main" rot="0" flipH="0" flipV="0">
            <a:off x="6553200" y="1590675"/>
            <a:ext cx="285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73342" rIns="0" bIns="0" anchor="t">
            <a:noAutofit/>
          </a:bodyPr>
          <a:lstStyle xmlns:a="http://schemas.openxmlformats.org/drawingml/2006/main"/>
          <a:p xmlns:a="http://schemas.openxmlformats.org/drawingml/2006/main">
            <a:pPr algn="l">
              <a:buNone/>
            </a:pPr>
            <a:r>
              <a:rPr sz="1350" b="1">
                <a:solidFill>
                  <a:srgbClr val="FFC77E"/>
                </a:solidFill>
                <a:latin typeface="+mn-lt"/>
                <a:ea typeface="+mn-lt"/>
                <a:cs typeface="+mn-lt"/>
              </a:rPr>
              <a:t>COMPLETED DELIVERABLES</a:t>
            </a:r>
          </a:p>
        </p:txBody>
      </p:sp>
      <p:sp>
        <p:nvSpPr>
          <p:cNvPr id="20" name="Rectangle 20">
            <a:extLst xmlns:a="http://schemas.openxmlformats.org/drawingml/2006/main">
              <a:ext uri="{FF2B5EF4-FFF2-40B4-BE49-F238E27FC236}">
                <a16:creationId xmlns:a16="http://schemas.microsoft.com/office/drawing/2014/main" id="{4FD7F8C6-DA04-465B-B434-B1F011F2E171}"/>
              </a:ext>
            </a:extLst>
          </p:cNvPr>
          <p:cNvSpPr>
            <a:spLocks xmlns:a="http://schemas.openxmlformats.org/drawingml/2006/main" noGrp="1"/>
          </p:cNvSpPr>
          <p:nvPr/>
        </p:nvSpPr>
        <p:spPr>
          <a:xfrm xmlns:a="http://schemas.openxmlformats.org/drawingml/2006/main" rot="0" flipH="0" flipV="0">
            <a:off x="6553200" y="2095500"/>
            <a:ext cx="51054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a:noFill/>
          </a:ln>
        </p:spPr>
      </p:sp>
      <p:sp>
        <p:nvSpPr>
          <p:cNvPr id="21" name="Rectangle 21">
            <a:extLst xmlns:a="http://schemas.openxmlformats.org/drawingml/2006/main">
              <a:ext uri="{FF2B5EF4-FFF2-40B4-BE49-F238E27FC236}">
                <a16:creationId xmlns:a16="http://schemas.microsoft.com/office/drawing/2014/main" id="{A4594602-A403-4F6C-83F2-7ED5BC3C0411}"/>
              </a:ext>
            </a:extLst>
          </p:cNvPr>
          <p:cNvSpPr>
            <a:spLocks xmlns:a="http://schemas.openxmlformats.org/drawingml/2006/main" noGrp="1"/>
          </p:cNvSpPr>
          <p:nvPr/>
        </p:nvSpPr>
        <p:spPr>
          <a:xfrm xmlns:a="http://schemas.openxmlformats.org/drawingml/2006/main" rot="0" flipH="0" flipV="0">
            <a:off x="6553200" y="2095500"/>
            <a:ext cx="95250" cy="838200"/>
          </a:xfrm>
          <a:prstGeom xmlns:a="http://schemas.openxmlformats.org/drawingml/2006/main" prst="roundRect">
            <a:avLst>
              <a:gd name="adj" fmla="val 50000"/>
            </a:avLst>
          </a:prstGeom>
          <a:solidFill xmlns:a="http://schemas.openxmlformats.org/drawingml/2006/main">
            <a:schemeClr val="accent2"/>
          </a:solidFill>
          <a:ln xmlns:a="http://schemas.openxmlformats.org/drawingml/2006/main">
            <a:noFill/>
          </a:ln>
        </p:spPr>
      </p:sp>
      <p:sp>
        <p:nvSpPr>
          <p:cNvPr id="22" name="TextBox 22">
            <a:extLst xmlns:a="http://schemas.openxmlformats.org/drawingml/2006/main">
              <a:ext uri="{FF2B5EF4-FFF2-40B4-BE49-F238E27FC236}">
                <a16:creationId xmlns:a16="http://schemas.microsoft.com/office/drawing/2014/main" id="{4DD071F5-6FC4-4FA5-ACC9-8973FAE6DD66}"/>
              </a:ext>
            </a:extLst>
          </p:cNvPr>
          <p:cNvSpPr>
            <a:spLocks xmlns:a="http://schemas.openxmlformats.org/drawingml/2006/main" noGrp="1"/>
          </p:cNvSpPr>
          <p:nvPr/>
        </p:nvSpPr>
        <p:spPr>
          <a:xfrm xmlns:a="http://schemas.openxmlformats.org/drawingml/2006/main" rot="0" flipH="0" flipV="0">
            <a:off x="6858000" y="2181225"/>
            <a:ext cx="44767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34290" rIns="0" bIns="0" anchor="t">
            <a:no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Paper profiles + source map</a:t>
            </a:r>
          </a:p>
        </p:txBody>
      </p:sp>
      <p:sp>
        <p:nvSpPr>
          <p:cNvPr id="23" name="TextBox 23">
            <a:extLst xmlns:a="http://schemas.openxmlformats.org/drawingml/2006/main">
              <a:ext uri="{FF2B5EF4-FFF2-40B4-BE49-F238E27FC236}">
                <a16:creationId xmlns:a16="http://schemas.microsoft.com/office/drawing/2014/main" id="{328FC5B2-316A-440E-9475-3144D748980F}"/>
              </a:ext>
            </a:extLst>
          </p:cNvPr>
          <p:cNvSpPr>
            <a:spLocks xmlns:a="http://schemas.openxmlformats.org/drawingml/2006/main" noGrp="1"/>
          </p:cNvSpPr>
          <p:nvPr/>
        </p:nvSpPr>
        <p:spPr>
          <a:xfrm xmlns:a="http://schemas.openxmlformats.org/drawingml/2006/main" rot="0" flipH="0" flipV="0">
            <a:off x="6858000" y="2505075"/>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4292" rIns="0" bIns="0" anchor="t">
            <a:noAutofit/>
          </a:bodyPr>
          <a:lstStyle xmlns:a="http://schemas.openxmlformats.org/drawingml/2006/main"/>
          <a:p xmlns:a="http://schemas.openxmlformats.org/drawingml/2006/main">
            <a:pPr algn="l">
              <a:buNone/>
            </a:pPr>
            <a:r>
              <a:rPr sz="1350">
                <a:solidFill>
                  <a:srgbClr val="5F6875"/>
                </a:solidFill>
                <a:latin typeface="+mn-lt"/>
                <a:ea typeface="+mn-lt"/>
                <a:cs typeface="+mn-lt"/>
              </a:rPr>
              <a:t>FCI and FCI Plus stages traced to code and tests</a:t>
            </a:r>
          </a:p>
        </p:txBody>
      </p:sp>
      <p:sp>
        <p:nvSpPr>
          <p:cNvPr id="24" name="Rectangle 24">
            <a:extLst xmlns:a="http://schemas.openxmlformats.org/drawingml/2006/main">
              <a:ext uri="{FF2B5EF4-FFF2-40B4-BE49-F238E27FC236}">
                <a16:creationId xmlns:a16="http://schemas.microsoft.com/office/drawing/2014/main" id="{51662E6A-11B1-4B87-A164-5736E9761E59}"/>
              </a:ext>
            </a:extLst>
          </p:cNvPr>
          <p:cNvSpPr>
            <a:spLocks xmlns:a="http://schemas.openxmlformats.org/drawingml/2006/main" noGrp="1"/>
          </p:cNvSpPr>
          <p:nvPr/>
        </p:nvSpPr>
        <p:spPr>
          <a:xfrm xmlns:a="http://schemas.openxmlformats.org/drawingml/2006/main" rot="0" flipH="0" flipV="0">
            <a:off x="6553200" y="3143250"/>
            <a:ext cx="51054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a:noFill/>
          </a:ln>
        </p:spPr>
      </p:sp>
      <p:sp>
        <p:nvSpPr>
          <p:cNvPr id="25" name="Rectangle 25">
            <a:extLst xmlns:a="http://schemas.openxmlformats.org/drawingml/2006/main">
              <a:ext uri="{FF2B5EF4-FFF2-40B4-BE49-F238E27FC236}">
                <a16:creationId xmlns:a16="http://schemas.microsoft.com/office/drawing/2014/main" id="{BD1CD744-1475-4870-BFA9-748696504D9D}"/>
              </a:ext>
            </a:extLst>
          </p:cNvPr>
          <p:cNvSpPr>
            <a:spLocks xmlns:a="http://schemas.openxmlformats.org/drawingml/2006/main" noGrp="1"/>
          </p:cNvSpPr>
          <p:nvPr/>
        </p:nvSpPr>
        <p:spPr>
          <a:xfrm xmlns:a="http://schemas.openxmlformats.org/drawingml/2006/main" rot="0" flipH="0" flipV="0">
            <a:off x="6553200" y="3143250"/>
            <a:ext cx="95250" cy="838200"/>
          </a:xfrm>
          <a:prstGeom xmlns:a="http://schemas.openxmlformats.org/drawingml/2006/main" prst="roundRect">
            <a:avLst>
              <a:gd name="adj" fmla="val 50000"/>
            </a:avLst>
          </a:prstGeom>
          <a:solidFill xmlns:a="http://schemas.openxmlformats.org/drawingml/2006/main">
            <a:schemeClr val="accent3"/>
          </a:solidFill>
          <a:ln xmlns:a="http://schemas.openxmlformats.org/drawingml/2006/main">
            <a:noFill/>
          </a:ln>
        </p:spPr>
      </p:sp>
      <p:sp>
        <p:nvSpPr>
          <p:cNvPr id="26" name="TextBox 26">
            <a:extLst xmlns:a="http://schemas.openxmlformats.org/drawingml/2006/main">
              <a:ext uri="{FF2B5EF4-FFF2-40B4-BE49-F238E27FC236}">
                <a16:creationId xmlns:a16="http://schemas.microsoft.com/office/drawing/2014/main" id="{D3D14C52-5434-40C6-8EAA-3C1EC1609AEB}"/>
              </a:ext>
            </a:extLst>
          </p:cNvPr>
          <p:cNvSpPr>
            <a:spLocks xmlns:a="http://schemas.openxmlformats.org/drawingml/2006/main" noGrp="1"/>
          </p:cNvSpPr>
          <p:nvPr/>
        </p:nvSpPr>
        <p:spPr>
          <a:xfrm xmlns:a="http://schemas.openxmlformats.org/drawingml/2006/main" rot="0" flipH="0" flipV="0">
            <a:off x="6858000" y="3228975"/>
            <a:ext cx="44767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34290" rIns="0" bIns="0" anchor="t">
            <a:no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Known-truth + software audits</a:t>
            </a:r>
          </a:p>
        </p:txBody>
      </p:sp>
      <p:sp>
        <p:nvSpPr>
          <p:cNvPr id="27" name="TextBox 27">
            <a:extLst xmlns:a="http://schemas.openxmlformats.org/drawingml/2006/main">
              <a:ext uri="{FF2B5EF4-FFF2-40B4-BE49-F238E27FC236}">
                <a16:creationId xmlns:a16="http://schemas.microsoft.com/office/drawing/2014/main" id="{A08CF353-AA0B-442F-86BF-F2EA849C6FDD}"/>
              </a:ext>
            </a:extLst>
          </p:cNvPr>
          <p:cNvSpPr>
            <a:spLocks xmlns:a="http://schemas.openxmlformats.org/drawingml/2006/main" noGrp="1"/>
          </p:cNvSpPr>
          <p:nvPr/>
        </p:nvSpPr>
        <p:spPr>
          <a:xfrm xmlns:a="http://schemas.openxmlformats.org/drawingml/2006/main" rot="0" flipH="0" flipV="0">
            <a:off x="6858000" y="3552825"/>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4292" rIns="0" bIns="0" anchor="t">
            <a:noAutofit/>
          </a:bodyPr>
          <a:lstStyle xmlns:a="http://schemas.openxmlformats.org/drawingml/2006/main"/>
          <a:p xmlns:a="http://schemas.openxmlformats.org/drawingml/2006/main">
            <a:pPr algn="l">
              <a:buNone/>
            </a:pPr>
            <a:r>
              <a:rPr sz="1350">
                <a:solidFill>
                  <a:srgbClr val="5F6875"/>
                </a:solidFill>
                <a:latin typeface="+mn-lt"/>
                <a:ea typeface="+mn-lt"/>
                <a:cs typeface="+mn-lt"/>
              </a:rPr>
              <a:t>Exact oracle, simulation, pcalg, causal-learn</a:t>
            </a:r>
          </a:p>
        </p:txBody>
      </p:sp>
      <p:sp>
        <p:nvSpPr>
          <p:cNvPr id="28" name="Rectangle 28">
            <a:extLst xmlns:a="http://schemas.openxmlformats.org/drawingml/2006/main">
              <a:ext uri="{FF2B5EF4-FFF2-40B4-BE49-F238E27FC236}">
                <a16:creationId xmlns:a16="http://schemas.microsoft.com/office/drawing/2014/main" id="{18F43E09-AC4D-42E3-ABB9-2BC157852E34}"/>
              </a:ext>
            </a:extLst>
          </p:cNvPr>
          <p:cNvSpPr>
            <a:spLocks xmlns:a="http://schemas.openxmlformats.org/drawingml/2006/main" noGrp="1"/>
          </p:cNvSpPr>
          <p:nvPr/>
        </p:nvSpPr>
        <p:spPr>
          <a:xfrm xmlns:a="http://schemas.openxmlformats.org/drawingml/2006/main" rot="0" flipH="0" flipV="0">
            <a:off x="6553200" y="4191000"/>
            <a:ext cx="51054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a:noFill/>
          </a:ln>
        </p:spPr>
      </p:sp>
      <p:sp>
        <p:nvSpPr>
          <p:cNvPr id="29" name="Rectangle 29">
            <a:extLst xmlns:a="http://schemas.openxmlformats.org/drawingml/2006/main">
              <a:ext uri="{FF2B5EF4-FFF2-40B4-BE49-F238E27FC236}">
                <a16:creationId xmlns:a16="http://schemas.microsoft.com/office/drawing/2014/main" id="{5EFC1BF7-6FF7-45BE-A85E-6A05BD76484C}"/>
              </a:ext>
            </a:extLst>
          </p:cNvPr>
          <p:cNvSpPr>
            <a:spLocks xmlns:a="http://schemas.openxmlformats.org/drawingml/2006/main" noGrp="1"/>
          </p:cNvSpPr>
          <p:nvPr/>
        </p:nvSpPr>
        <p:spPr>
          <a:xfrm xmlns:a="http://schemas.openxmlformats.org/drawingml/2006/main" rot="0" flipH="0" flipV="0">
            <a:off x="6553200" y="4191000"/>
            <a:ext cx="95250" cy="838200"/>
          </a:xfrm>
          <a:prstGeom xmlns:a="http://schemas.openxmlformats.org/drawingml/2006/main" prst="roundRect">
            <a:avLst>
              <a:gd name="adj" fmla="val 50000"/>
            </a:avLst>
          </a:prstGeom>
          <a:solidFill xmlns:a="http://schemas.openxmlformats.org/drawingml/2006/main">
            <a:schemeClr val="accent6"/>
          </a:solidFill>
          <a:ln xmlns:a="http://schemas.openxmlformats.org/drawingml/2006/main">
            <a:noFill/>
          </a:ln>
        </p:spPr>
      </p:sp>
      <p:sp>
        <p:nvSpPr>
          <p:cNvPr id="30" name="TextBox 30">
            <a:extLst xmlns:a="http://schemas.openxmlformats.org/drawingml/2006/main">
              <a:ext uri="{FF2B5EF4-FFF2-40B4-BE49-F238E27FC236}">
                <a16:creationId xmlns:a16="http://schemas.microsoft.com/office/drawing/2014/main" id="{97689DD5-2004-4386-B88C-E64A2C33883D}"/>
              </a:ext>
            </a:extLst>
          </p:cNvPr>
          <p:cNvSpPr>
            <a:spLocks xmlns:a="http://schemas.openxmlformats.org/drawingml/2006/main" noGrp="1"/>
          </p:cNvSpPr>
          <p:nvPr/>
        </p:nvSpPr>
        <p:spPr>
          <a:xfrm xmlns:a="http://schemas.openxmlformats.org/drawingml/2006/main" rot="0" flipH="0" flipV="0">
            <a:off x="6858000" y="4276725"/>
            <a:ext cx="44767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34290" rIns="0" bIns="0" anchor="t">
            <a:no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STAR report + reproducible artifacts</a:t>
            </a:r>
          </a:p>
        </p:txBody>
      </p:sp>
      <p:sp>
        <p:nvSpPr>
          <p:cNvPr id="31" name="TextBox 31">
            <a:extLst xmlns:a="http://schemas.openxmlformats.org/drawingml/2006/main">
              <a:ext uri="{FF2B5EF4-FFF2-40B4-BE49-F238E27FC236}">
                <a16:creationId xmlns:a16="http://schemas.microsoft.com/office/drawing/2014/main" id="{358F2804-3F6C-4BFA-B37D-A3E22EA60A56}"/>
              </a:ext>
            </a:extLst>
          </p:cNvPr>
          <p:cNvSpPr>
            <a:spLocks xmlns:a="http://schemas.openxmlformats.org/drawingml/2006/main" noGrp="1"/>
          </p:cNvSpPr>
          <p:nvPr/>
        </p:nvSpPr>
        <p:spPr>
          <a:xfrm xmlns:a="http://schemas.openxmlformats.org/drawingml/2006/main" rot="0" flipH="0" flipV="0">
            <a:off x="6858000" y="4600575"/>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54292" rIns="0" bIns="0" anchor="t">
            <a:noAutofit/>
          </a:bodyPr>
          <a:lstStyle xmlns:a="http://schemas.openxmlformats.org/drawingml/2006/main"/>
          <a:p xmlns:a="http://schemas.openxmlformats.org/drawingml/2006/main">
            <a:pPr algn="l">
              <a:buNone/>
            </a:pPr>
            <a:r>
              <a:rPr sz="1350">
                <a:solidFill>
                  <a:srgbClr val="5F6875"/>
                </a:solidFill>
                <a:latin typeface="+mn-lt"/>
                <a:ea typeface="+mn-lt"/>
                <a:cs typeface="+mn-lt"/>
              </a:rPr>
              <a:t>Data, figures, LaTeX report, deck, and notes</a:t>
            </a:r>
          </a:p>
        </p:txBody>
      </p:sp>
      <p:sp>
        <p:nvSpPr>
          <p:cNvPr id="33" name="Line 33">
            <a:extLst xmlns:a="http://schemas.openxmlformats.org/drawingml/2006/main">
              <a:ext uri="{FF2B5EF4-FFF2-40B4-BE49-F238E27FC236}">
                <a16:creationId xmlns:a16="http://schemas.microsoft.com/office/drawing/2014/main" id="{DAA951BB-82BD-4828-89D0-34F848805052}"/>
              </a:ext>
            </a:extLst>
          </p:cNvPr>
          <p:cNvSpPr>
            <a:spLocks xmlns:a="http://schemas.openxmlformats.org/drawingml/2006/main" noGrp="1"/>
          </p:cNvSpPr>
          <p:nvPr/>
        </p:nvSpPr>
        <p:spPr>
          <a:xfrm xmlns:a="http://schemas.openxmlformats.org/drawingml/2006/main" rot="0" flipH="0" flipV="0">
            <a:off x="533400" y="5562600"/>
            <a:ext cx="11125200" cy="9525"/>
          </a:xfrm>
          <a:custGeom xmlns:a="http://schemas.openxmlformats.org/drawingml/2006/main">
            <a:rect l="l" t="t" r="r" b="b"/>
            <a:pathLst>
              <a:path w="11125200" h="9525">
                <a:moveTo>
                  <a:pt x="0" y="0"/>
                </a:moveTo>
                <a:lnTo>
                  <a:pt x="11125200" y="0"/>
                </a:lnTo>
              </a:path>
            </a:pathLst>
          </a:custGeom>
          <a:noFill xmlns:a="http://schemas.openxmlformats.org/drawingml/2006/main"/>
          <a:ln xmlns:a="http://schemas.openxmlformats.org/drawingml/2006/main" w="14288">
            <a:solidFill>
              <a:srgbClr val="5C7190"/>
            </a:solidFill>
          </a:ln>
        </p:spPr>
      </p:sp>
      <p:sp>
        <p:nvSpPr>
          <p:cNvPr id="34" name="TextBox 34">
            <a:extLst xmlns:a="http://schemas.openxmlformats.org/drawingml/2006/main">
              <a:ext uri="{FF2B5EF4-FFF2-40B4-BE49-F238E27FC236}">
                <a16:creationId xmlns:a16="http://schemas.microsoft.com/office/drawing/2014/main" id="{53A178E1-40E1-4214-BC57-9636FA254048}"/>
              </a:ext>
            </a:extLst>
          </p:cNvPr>
          <p:cNvSpPr>
            <a:spLocks xmlns:a="http://schemas.openxmlformats.org/drawingml/2006/main" noGrp="1"/>
          </p:cNvSpPr>
          <p:nvPr/>
        </p:nvSpPr>
        <p:spPr>
          <a:xfrm xmlns:a="http://schemas.openxmlformats.org/drawingml/2006/main" rot="0" flipH="0" flipV="0">
            <a:off x="533400" y="5676900"/>
            <a:ext cx="1524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2868" rIns="0" bIns="0" anchor="t">
            <a:noAutofit/>
          </a:bodyPr>
          <a:lstStyle xmlns:a="http://schemas.openxmlformats.org/drawingml/2006/main"/>
          <a:p xmlns:a="http://schemas.openxmlformats.org/drawingml/2006/main">
            <a:pPr algn="l">
              <a:buNone/>
            </a:pPr>
            <a:r>
              <a:rPr sz="1350" b="1">
                <a:solidFill>
                  <a:srgbClr val="A7E8DF"/>
                </a:solidFill>
                <a:latin typeface="+mn-lt"/>
                <a:ea typeface="+mn-lt"/>
                <a:cs typeface="+mn-lt"/>
              </a:rPr>
              <a:t>NEXT VALIDATION</a:t>
            </a:r>
          </a:p>
        </p:txBody>
      </p:sp>
      <p:sp>
        <p:nvSpPr>
          <p:cNvPr id="35" name="TextBox 35">
            <a:extLst xmlns:a="http://schemas.openxmlformats.org/drawingml/2006/main">
              <a:ext uri="{FF2B5EF4-FFF2-40B4-BE49-F238E27FC236}">
                <a16:creationId xmlns:a16="http://schemas.microsoft.com/office/drawing/2014/main" id="{3CE4FB90-1F4E-4796-AB5B-ED4A8C1C14FA}"/>
              </a:ext>
            </a:extLst>
          </p:cNvPr>
          <p:cNvSpPr>
            <a:spLocks xmlns:a="http://schemas.openxmlformats.org/drawingml/2006/main" noGrp="1"/>
          </p:cNvSpPr>
          <p:nvPr/>
        </p:nvSpPr>
        <p:spPr>
          <a:xfrm xmlns:a="http://schemas.openxmlformats.org/drawingml/2006/main" rot="0" flipH="0" flipV="0">
            <a:off x="2209800" y="5657850"/>
            <a:ext cx="92392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85725" rIns="0" bIns="0" anchor="t">
            <a:noAutofit/>
          </a:bodyPr>
          <a:lstStyle xmlns:a="http://schemas.openxmlformats.org/drawingml/2006/main"/>
          <a:p xmlns:a="http://schemas.openxmlformats.org/drawingml/2006/main">
            <a:pPr algn="l">
              <a:buNone/>
            </a:pPr>
            <a:r>
              <a:rPr sz="1500">
                <a:solidFill>
                  <a:srgbClr val="FFFFFF"/>
                </a:solidFill>
                <a:latin typeface="+mn-lt"/>
                <a:ea typeface="+mn-lt"/>
                <a:cs typeface="+mn-lt"/>
              </a:rPr>
              <a:t>More CI regimes → larger benchmarks → formal randomized analysis → external replication</a:t>
            </a:r>
          </a:p>
        </p:txBody>
      </p:sp>
      <p:sp>
        <p:nvSpPr>
          <p:cNvPr id="37" name="TextBox 37">
            <a:extLst xmlns:a="http://schemas.openxmlformats.org/drawingml/2006/main">
              <a:ext uri="{FF2B5EF4-FFF2-40B4-BE49-F238E27FC236}">
                <a16:creationId xmlns:a16="http://schemas.microsoft.com/office/drawing/2014/main" id="{1764AEFF-30C8-4B99-8312-E55EA37C1F69}"/>
              </a:ext>
            </a:extLst>
          </p:cNvPr>
          <p:cNvSpPr>
            <a:spLocks xmlns:a="http://schemas.openxmlformats.org/drawingml/2006/main" noGrp="1"/>
          </p:cNvSpPr>
          <p:nvPr/>
        </p:nvSpPr>
        <p:spPr>
          <a:xfrm xmlns:a="http://schemas.openxmlformats.org/drawingml/2006/main" rot="0" flipH="0" flipV="0">
            <a:off x="524256" y="6263640"/>
            <a:ext cx="1391260"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rgbClr val="FFFFFF"/>
                </a:solidFill>
                <a:latin typeface="+mj-lt"/>
                <a:ea typeface="+mj-lt"/>
                <a:cs typeface="+mj-lt"/>
              </a:rPr>
              <a:t>Discussion</a:t>
            </a:r>
          </a:p>
        </p:txBody>
      </p:sp>
      <p:sp>
        <p:nvSpPr>
          <p:cNvPr id="38" name="TextBox 38">
            <a:extLst xmlns:a="http://schemas.openxmlformats.org/drawingml/2006/main">
              <a:ext uri="{FF2B5EF4-FFF2-40B4-BE49-F238E27FC236}">
                <a16:creationId xmlns:a16="http://schemas.microsoft.com/office/drawing/2014/main" id="{25D559F8-EF1B-4679-AF69-B443F31C0102}"/>
              </a:ext>
            </a:extLst>
          </p:cNvPr>
          <p:cNvSpPr>
            <a:spLocks xmlns:a="http://schemas.openxmlformats.org/drawingml/2006/main" noGrp="1"/>
          </p:cNvSpPr>
          <p:nvPr/>
        </p:nvSpPr>
        <p:spPr>
          <a:xfrm xmlns:a="http://schemas.openxmlformats.org/drawingml/2006/main" rot="0" flipH="0" flipV="0">
            <a:off x="11111332" y="6328410"/>
            <a:ext cx="55336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200">
                <a:solidFill>
                  <a:srgbClr val="E9EDF5"/>
                </a:solidFill>
                <a:latin typeface="Consolas"/>
                <a:ea typeface="Consolas"/>
                <a:cs typeface="Consolas"/>
              </a:rPr>
              <a:t>15 / 15</a:t>
            </a:r>
          </a:p>
        </p:txBody>
      </p:sp>
    </p:spTree>
    <p:extLst>
      <p:ext uri="{BB962C8B-B14F-4D97-AF65-F5344CB8AC3E}">
        <p14:creationId xmlns:p14="http://schemas.microsoft.com/office/powerpoint/2010/main" val="437562899"/>
      </p:ext>
    </p:extLst>
  </p:cSld>
</p:sld>
</file>

<file path=ppt/theme/theme1.xml><?xml version="1.0" encoding="utf-8"?>
<a:theme xmlns:a="http://schemas.openxmlformats.org/drawingml/2006/main" name="fci_plus_star_advisor_deck">
  <a:themeElements>
    <a:clrScheme name="fci_plus_star_advisor_deck">
      <a:dk1>
        <a:srgbClr val="1A2433"/>
      </a:dk1>
      <a:lt1>
        <a:srgbClr val="F7F5EF"/>
      </a:lt1>
      <a:dk2>
        <a:srgbClr val="1F497D"/>
      </a:dk2>
      <a:lt2>
        <a:srgbClr val="F7F5EF"/>
      </a:lt2>
      <a:accent1>
        <a:srgbClr val="183153"/>
      </a:accent1>
      <a:accent2>
        <a:srgbClr val="2F6BFF"/>
      </a:accent2>
      <a:accent3>
        <a:srgbClr val="E58A2B"/>
      </a:accent3>
      <a:accent4>
        <a:srgbClr val="183153"/>
      </a:accent4>
      <a:accent5>
        <a:srgbClr val="E9EDF5"/>
      </a:accent5>
      <a:accent6>
        <a:srgbClr val="1C9A8A"/>
      </a:accent6>
      <a:hlink>
        <a:srgbClr val="2F6BFF"/>
      </a:hlink>
      <a:folHlink>
        <a:srgbClr val="E58A2B"/>
      </a:folHlink>
    </a:clrScheme>
    <a:fontScheme name="fci_plus_star_advisor_deck">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ci_plus_star_advisor_de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2026-08-07T08:45:30.3380000Z</dcterms:created>
  <dcterms:modified xsi:type="dcterms:W3CDTF">2026-08-07T08:45:30.3380000Z</dcterms:modified>
</coreProperties>
</file>