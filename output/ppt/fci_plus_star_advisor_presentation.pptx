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  <Relationship Id="rId2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[Timing: 0:55]</a:t>
            </a:r>
          </a:p>
          <a:p>
            <a:endParaRPr lang="en-US" dirty="0"/>
          </a:p>
          <a:p>
            <a:r>
              <a:rPr lang="en-US" dirty="0"/>
              <a:t>This project makes one contribution across two deliberately separate tracks. On the algorithm track, I return to the original FCI and FCI+ sources, implement their stages independently in Python, and validate the implementation where the graphical truth is known. On the application track, I begin with the randomized design of Tennessee STAR, estimate transparent observed-arm contrasts, and use PAG discovery only as a secondary structural diagnostic. The evidence hierarchy on the right is the rule for the entire defense: the randomized assignment gives the observed-arm contrast its strongest design support, stable adjacencies can support a structural interpretation, and unresolved endpoints must remain uncertainty. Missing outcomes and unreconstructed blocks, switching, and compliance still limit selected-subset causal interpretation. The result is an auditable evidence chain, not a claim that observational data reveal one definitive causal DAG.</a:t>
            </a:r>
          </a:p>
          <a:p>
            <a:endParaRPr lang="en-US" dirty="0"/>
          </a:p>
          <a:p>
            <a:r>
              <a:rPr lang="en-US" dirty="0"/>
              <a:t>[Sources]</a:t>
            </a:r>
          </a:p>
          <a:p>
            <a:r>
              <a:rPr lang="en-US" dirty="0"/>
              <a:t>• `reports/research/fci_fci_plus_source_dossier.md`, sections “Spirtes, Glymour, and Scheines (2000)” and “Claassen, Mooij, and Heskes (2013).”</a:t>
            </a:r>
          </a:p>
          <a:p>
            <a:r>
              <a:rPr lang="en-US" dirty="0"/>
              <a:t>• `case_studies/tennessee_star/output/star_case_study_summary.json`, keys `cohorts`, `descriptives.contrasts`, and `robust_application_comparisons`.</a:t>
            </a:r>
          </a:p>
          <a:p>
            <a:r>
              <a:rPr lang="en-US" dirty="0"/>
              <a:t>• `reports/research/claim_evidence_matrix.csv`, claim IDs `FCI-STAGES`, `FCIPLUS-ALGO2`, `IMPL-AUDIT`, and `OUTPUT-SEMANTICS`.</a:t>
            </a:r>
          </a:p>
          <a:p>
            <a:r>
              <a:rPr lang="en-US" dirty="0"/>
              <a:t>[/Sources]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[Timing: 1:00]</a:t>
            </a:r>
          </a:p>
          <a:p>
            <a:endParaRPr lang="en-US" dirty="0"/>
          </a:p>
          <a:p>
            <a:r>
              <a:rPr lang="en-US" dirty="0"/>
              <a:t>FCI is needed because the observed variables may be only a margin of the true causal system. In the schematic, an unobserved common cause affects X and Y, while conditioning on a selection variable can induce additional associations in the observed sample. After latent variables are marginalized and selection is represented, directed acyclic graphs over measured variables are generally the wrong output target. A partial ancestral graph, or PAG, instead represents an equivalence class of maximal ancestral graphs. A tail, arrowhead, or circle is an ancestral constraint, not an estimated direct effect; a circle explicitly reports that an endpoint is unresolved. I will also keep exact conditional-independence oracles separate from sample tests, because the source theorems assume the former while the STAR analysis must use the latter.</a:t>
            </a:r>
          </a:p>
          <a:p>
            <a:endParaRPr lang="en-US" dirty="0"/>
          </a:p>
          <a:p>
            <a:r>
              <a:rPr lang="en-US" dirty="0"/>
              <a:t>[Sources]</a:t>
            </a:r>
          </a:p>
          <a:p>
            <a:r>
              <a:rPr lang="en-US" dirty="0"/>
              <a:t>• Spirtes, Glymour, and Scheines, *Causation, Prediction, and Search*, 2nd ed. (2000), Chapter 6 §§6.3 and 6.5–6.7, printed pp. 129–145.</a:t>
            </a:r>
          </a:p>
          <a:p>
            <a:r>
              <a:rPr lang="en-US" dirty="0"/>
              <a:t>• Richardson and Spirtes (2002), *Annals of Statistics* 30(4), pp. 962–1030, DOI `10.1214/aos/1031689015`.</a:t>
            </a:r>
          </a:p>
          <a:p>
            <a:r>
              <a:rPr lang="en-US" dirty="0"/>
              <a:t>• `reports/research/claim_evidence_matrix.csv`, claim IDs `FCI-LATENT`, `PAG-MODERN`, and `OUTPUT-SEMANTICS`.</a:t>
            </a:r>
          </a:p>
          <a:p>
            <a:r>
              <a:rPr lang="en-US" dirty="0"/>
              <a:t>[/Sources]</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[Timing: 0:45]</a:t>
            </a:r>
          </a:p>
          <a:p>
            <a:endParaRPr lang="en-US" dirty="0"/>
          </a:p>
          <a:p>
            <a:r>
              <a:rPr lang="en-US" dirty="0"/>
              <a:t>The project is evaluated through five questions rather than one vague claim that an algorithm is best. First, what do Spirtes and colleagues in 2000 and Claassen and colleagues in 2013 actually assume and prove? Second, where is every source stage implemented and tested? Third, what happens on graphs where the correct PAG is known independently? Fourth, which comparisons with existing software are technically fair after normalizing endpoints, tests, and profiles? Fifth, which STAR findings arise from random assignment, which are structurally stable, and which remain exploratory? The order matters: source fidelity precedes validation, and validation precedes application interpretation. A visually attractive real-data graph cannot substitute for any earlier layer.</a:t>
            </a:r>
          </a:p>
          <a:p>
            <a:endParaRPr lang="en-US" dirty="0"/>
          </a:p>
          <a:p>
            <a:r>
              <a:rPr lang="en-US" dirty="0"/>
              <a:t>[Sources]</a:t>
            </a:r>
          </a:p>
          <a:p>
            <a:r>
              <a:rPr lang="en-US" dirty="0"/>
              <a:t>• `reports/research/claim_evidence_matrix.csv`, complete claim inventory and locator columns.</a:t>
            </a:r>
          </a:p>
          <a:p>
            <a:r>
              <a:rPr lang="en-US" dirty="0"/>
              <a:t>• `reports/research/fci_fci_plus_source_dossier.md`, sections “Source-to-implementation mapping,” “Claims that require finite-sample qualification,” and “Software-comparison evidence policy.”</a:t>
            </a:r>
          </a:p>
          <a:p>
            <a:r>
              <a:rPr lang="en-US" dirty="0"/>
              <a:t>• `case_studies/tennessee_star/output/star_case_study_summary.json`, key `evidence_hierarchy`.</a:t>
            </a:r>
          </a:p>
          <a:p>
            <a:r>
              <a:rPr lang="en-US" dirty="0"/>
              <a:t>[/Sources]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[Timing: 1:25]</a:t>
            </a:r>
          </a:p>
          <a:p>
            <a:endParaRPr lang="en-US" dirty="0"/>
          </a:p>
          <a:p>
            <a:r>
              <a:rPr lang="en-US" dirty="0"/>
              <a:t>The historical FCI schedule begins with a complete undirected graph, performs a PC-style adjacency search, stores separating sets, and orients unshielded colliders. The central non-local correction is Possible-D-SEP: for each endpoint order, FCI searches vertices reachable along paths whose intermediate triples are colliders or members of triangles. This computable set is a superset of the graphical D-SEP information that may contain a separating set missed by local neighborhoods. When a new independence is found, FCI removes the edge, resets marks, and runs its orientation phase again. Theorem 6.4 in the 2000 book is an oracle-scope soundness result under Faithfulness and correct conditional-independence decisions. It returns a partially oriented inducing-path graph; the same source explicitly did not establish that its historical rule schedule was maximally informative. Modern PAG orientation under Zhang’s later rule set is therefore a separate ingredient, not something retroactively attributed to the book.</a:t>
            </a:r>
          </a:p>
          <a:p>
            <a:endParaRPr lang="en-US" dirty="0"/>
          </a:p>
          <a:p>
            <a:r>
              <a:rPr lang="en-US" dirty="0"/>
              <a:t>[Sources]</a:t>
            </a:r>
          </a:p>
          <a:p>
            <a:r>
              <a:rPr lang="en-US" dirty="0"/>
              <a:t>• Spirtes, Glymour, and Scheines, *Causation, Prediction, and Search*, 2nd ed. (2000), Possible-D-SEP and Fast Causal Inference Algorithm, Chapter 6 §6.7, printed pp. 144–145.</a:t>
            </a:r>
          </a:p>
          <a:p>
            <a:r>
              <a:rPr lang="en-US" dirty="0"/>
              <a:t>• Spirtes et al. (2000), Theorem 6.4 and the immediately following paragraph, printed p. 145.</a:t>
            </a:r>
          </a:p>
          <a:p>
            <a:r>
              <a:rPr lang="en-US" dirty="0"/>
              <a:t>• Zhang (2008), *Artificial Intelligence* 172(16–17), §§3–4, pp. 1873–1896, DOI `10.1016/j.artint.2008.08.001`.</a:t>
            </a:r>
          </a:p>
          <a:p>
            <a:r>
              <a:rPr lang="en-US" dirty="0"/>
              <a:t>• `reports/research/claim_evidence_matrix.csv`, claim IDs `FCI-PDSEP`, `FCI-STAGES`, `FCI-SOUND`, and `FCI-INCOMPLETE`.</a:t>
            </a:r>
          </a:p>
          <a:p>
            <a:r>
              <a:rPr lang="en-US" dirty="0"/>
              <a:t>[/Sources]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[Timing: 1:35]</a:t>
            </a:r>
          </a:p>
          <a:p>
            <a:endParaRPr lang="en-US" dirty="0"/>
          </a:p>
          <a:p>
            <a:r>
              <a:rPr lang="en-US" dirty="0"/>
              <a:t>FCI+ does not merely truncate Possible-D-SEP. Its contribution is a sparse logical characterization of the non-local edges that need attention. Algorithm 2 begins with a locally bounded PC skeleton, constructs an augmented skeleton whose temporary arrowheads encode particular dependence information, recognizes candidate D-SEP-link witnesses, and builds a recursive hierarchy from known separating sets and collider structure. It then tests and minimizes a targeted separator, removes a verified D-SEP link, revisits the candidate set, and finally applies the established Zhang-rule orientation schedule. Claassen and colleagues derive a query bound of O of N to the power two times k plus four, equivalently O of N to the two times open-parenthesis k plus two close-parenthesis. That statement requires a fixed degree bound k for the observed maximal ancestral graph, Faithfulness, and a constant-time exact oracle. It is not a finite-sample accuracy theorem and not a wall-clock guarantee. The supplement abstract contains a different exponent, but the main paper and the supplement’s theorem body support the exponent shown here, so the report documents the discrepancy rather than silently choosing one.</a:t>
            </a:r>
          </a:p>
          <a:p>
            <a:endParaRPr lang="en-US" dirty="0"/>
          </a:p>
          <a:p>
            <a:r>
              <a:rPr lang="en-US" dirty="0"/>
              <a:t>[Sources]</a:t>
            </a:r>
          </a:p>
          <a:p>
            <a:r>
              <a:rPr lang="en-US" dirty="0"/>
              <a:t>• Claassen, Mooij, and Heskes (2013), “Learning Sparse Causal Models is not NP-hard,” Algorithm 2, p. 178, and complexity analysis, p. 179.</a:t>
            </a:r>
          </a:p>
          <a:p>
            <a:r>
              <a:rPr lang="en-US" dirty="0"/>
              <a:t>• Claassen, Mooij, and Heskes proof supplement (2014), Theorem 1 and proof, PDF pp. 10–11; compare the arXiv abstract.</a:t>
            </a:r>
          </a:p>
          <a:p>
            <a:r>
              <a:rPr lang="en-US" dirty="0"/>
              <a:t>• `reports/research/claim_evidence_matrix.csv`, claim IDs `FCIPLUS-ORACLE`, `FCIPLUS-SPARSITY`, `FCIPLUS-AUGMENT`, `FCIPLUS-HIERARCHY`, `FCIPLUS-REVISIT`, `FCIPLUS-ALGO2`, `FCIPLUS-COMPLEXITY`, and `FCIPLUS-EXPONENT-CAVEAT`.</a:t>
            </a:r>
          </a:p>
          <a:p>
            <a:r>
              <a:rPr lang="en-US" dirty="0"/>
              <a:t>[/Sources]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[Timing: 1:10]</a:t>
            </a:r>
          </a:p>
          <a:p>
            <a:endParaRPr lang="en-US" dirty="0"/>
          </a:p>
          <a:p>
            <a:r>
              <a:rPr lang="en-US" dirty="0"/>
              <a:t>The implementation claim is inspectable at module and symbol level. Standard FCI is divided across the skeleton, Possible-D-SEP, orientation, and rule modules; the public fit method calls concrete functions such as possible_dsep and refine_skeleton_with_pdsep. FCI+ is separated into D-SEP and algorithm modules that expose the augmented skeleton, candidate D-SEP links, recursive hierarchy, and FCI+ skeleton refinement. These paths are checked by exact-oracle recovery fixtures, unit tests for the path and hierarchy logic, and regression tests for the historical and Zhang-rule orientation schedules. A third row is intentionally labeled as engineering rather than paper content: the PAG and result objects retain CI and orientation traces, the source of every separating set, per-edge explanations, invariants, stability audits, and exportable artifacts. The linked dossier contains twenty source-to-code-to-test rows. The package therefore offers simple fci and fci_plus entry points while preserving enough internal evidence for a user to audit how the result was obtained.</a:t>
            </a:r>
          </a:p>
          <a:p>
            <a:endParaRPr lang="en-US" dirty="0"/>
          </a:p>
          <a:p>
            <a:r>
              <a:rPr lang="en-US" dirty="0"/>
              <a:t>[Sources]</a:t>
            </a:r>
          </a:p>
          <a:p>
            <a:r>
              <a:rPr lang="en-US" dirty="0"/>
              <a:t>• `reports/research/fci_fci_plus_source_dossier.md`, table “Source-to-implementation mapping,” 20 data rows.</a:t>
            </a:r>
          </a:p>
          <a:p>
            <a:r>
              <a:rPr lang="en-US" dirty="0"/>
              <a:t>• `src/fci_engine/discovery/fci.py::FCI.fit`, `src/fci_engine/discovery/pdsep.py::possible_dsep`, and `src/fci_engine/discovery/pdsep.py::refine_skeleton_with_pdsep`.</a:t>
            </a:r>
          </a:p>
          <a:p>
            <a:r>
              <a:rPr lang="en-US" dirty="0"/>
              <a:t>• `src/fci_engine/discovery/dsep.py::build_augmented_skeleton`, `possible_dsep_links`, `hierarchy`, and `refine_skeleton_with_fci_plus_dsep`.</a:t>
            </a:r>
          </a:p>
          <a:p>
            <a:r>
              <a:rPr lang="en-US" dirty="0"/>
              <a:t>• `tests/test_pdsep.py`, `tests/test_fci_plus.py`, `tests/test_published_reference_graphs.py`, and `tests/test_result_exports.py`.</a:t>
            </a:r>
          </a:p>
          <a:p>
            <a:r>
              <a:rPr lang="en-US" dirty="0"/>
              <a:t>[/Sources]</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[Timing: 1:05]</a:t>
            </a:r>
          </a:p>
          <a:p>
            <a:endParaRPr lang="en-US" dirty="0"/>
          </a:p>
          <a:p>
            <a:r>
              <a:rPr lang="en-US" dirty="0"/>
              <a:t>The package keeps paper fidelity and practical robustness as distinct configurations. The paper FCI+ profile asks the user for k and follows the source-aligned sparse-search policy, including first-found separating sets and the standard Zhang-rule orientation path. The practical profile is a finite-sample engineering policy: it stabilizes the skeleton, selects maximum-p-value separating sets, treats collider evidence conservatively, restricts tail orientation, and adds cyclic-order and bootstrap diagnostics. This choice deliberately trades more conditional-independence work and more circle endpoints for stable skeletons and fewer brittle directions. It is not described as the paper’s FCI+, and it does not create a new correctness or completeness theorem. In STAR, I prefer it only under a predeclared stability-and-chronology criterion; another application could rationally prefer the literal paper profile.</a:t>
            </a:r>
          </a:p>
          <a:p>
            <a:endParaRPr lang="en-US" dirty="0"/>
          </a:p>
          <a:p>
            <a:r>
              <a:rPr lang="en-US" dirty="0"/>
              <a:t>[Sources]</a:t>
            </a:r>
          </a:p>
          <a:p>
            <a:r>
              <a:rPr lang="en-US" dirty="0"/>
              <a:t>• `src/fci_engine/config.py::FCIPlusConfig.paper` and `src/fci_engine/config.py::FCIPlusConfig.practical`.</a:t>
            </a:r>
          </a:p>
          <a:p>
            <a:r>
              <a:rPr lang="en-US" dirty="0"/>
              <a:t>• `reports/research/claim_evidence_matrix.csv`, claim IDs `IMPL-PAPER-FCIPLUS`, `IMPL-ROBUST`, and `FCIPLUS-FINITE`.</a:t>
            </a:r>
          </a:p>
          <a:p>
            <a:r>
              <a:rPr lang="en-US" dirty="0"/>
              <a:t>• `tests/test_robust_application_profile.py::test_practical_profile_improves_seeded_finite_sample_endpoint_recovery`.</a:t>
            </a:r>
          </a:p>
          <a:p>
            <a:r>
              <a:rPr lang="en-US" dirty="0"/>
              <a:t>[/Sources]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[Timing: 1:25]</a:t>
            </a:r>
          </a:p>
          <a:p>
            <a:endParaRPr lang="en-US" dirty="0"/>
          </a:p>
          <a:p>
            <a:r>
              <a:rPr lang="en-US" dirty="0"/>
              <a:t>Known-truth validation separates implementation logic from sampling error. On the left is the graphical fixture based on Figure 4(b) of the FCI+ paper: the source supplies a maximal ancestral graph and exhibits the separator U, V, Z that removes a false X–Y adjacency. The repository independently specifies the corresponding PAG target rather than claiming that the paper printed one. With an exact oracle, both implemented pipelines recover their targets, and FCI+ uses sixty-three logical CI queries compared with one hundred two for FCI on this fixture. The right panel is a separate fixed-alpha regression: both paper and robust profiles use alpha zero point zero zero one across five graph families, three seeds, and two thousand five hundred observations. Skeleton F1 is zero point nine seven nine for both; endpoint-sensitive exact-edge F1 rises from zero point five three six to zero point seven zero three, while mean CI work rises from one hundred ninety-seven point one to three hundred eighty point seven. These values are not the automatic-alpha software benchmark on the next slides. Fewer oracle queries therefore cannot be converted into an automatic finite-sample superiority claim.</a:t>
            </a:r>
          </a:p>
          <a:p>
            <a:endParaRPr lang="en-US" dirty="0"/>
          </a:p>
          <a:p>
            <a:r>
              <a:rPr lang="en-US" dirty="0"/>
              <a:t>[Sources]</a:t>
            </a:r>
          </a:p>
          <a:p>
            <a:r>
              <a:rPr lang="en-US" dirty="0"/>
              <a:t>• Claassen, Mooij, and Heskes (2013), §3.2 and Figure 4(b), pp. 175–176.</a:t>
            </a:r>
          </a:p>
          <a:p>
            <a:r>
              <a:rPr lang="en-US" dirty="0"/>
              <a:t>• `tests/test_published_reference_graphs.py::test_fci_plus_removes_figure4_link_only_in_hierarchical_dsep_stage`.</a:t>
            </a:r>
          </a:p>
          <a:p>
            <a:r>
              <a:rPr lang="en-US" dirty="0"/>
              <a:t>• `tests/test_robust_application_profile.py::test_practical_profile_improves_seeded_finite_sample_endpoint_recovery`, using `src/fci_engine/simulation/oracle_cases.py::realistic_oracle_cases(n_repeats=3, n_samples=2500)` with each case’s fixed `alpha=0.001`.</a:t>
            </a:r>
          </a:p>
          <a:p>
            <a:r>
              <a:rPr lang="en-US" dirty="0"/>
              <a:t>• `reports/research/claim_evidence_matrix.csv`, claim IDs `FCIPLUS-FIG4` and `FCIPLUS-FINITE`.</a:t>
            </a:r>
          </a:p>
          <a:p>
            <a:r>
              <a:rPr lang="en-US" dirty="0"/>
              <a:t>[/Sources]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[Timing: 1:10]</a:t>
            </a:r>
          </a:p>
          <a:p>
            <a:endParaRPr lang="en-US" dirty="0"/>
          </a:p>
          <a:p>
            <a:r>
              <a:rPr lang="en-US" dirty="0"/>
              <a:t>The software comparison distinguishes executed evidence from documentation. The local package, R pcalg version two point seven dash twelve, and causal-learn version zero point one point four point seven were executed. Tetrad version seven point six point ten was reviewed through its official documentation only because this environment did not include the required Java runtime. Pcalg provides public FCI and FCI-plus entry points; causal-learn provides standard FCI but no inspected public FCI-plus entry point; and Tetrad documents multiple FCI-family methods but was not benchmarked here. The local package’s distinctive feature is not a universal accuracy ranking. It is the combination of explicit paper profiles with structured CI and orientation traces, separating-set provenance, order and bootstrap audits, edge explanations, and artifact exports. Raw endpoint matrices, default tests, and selection conventions differ across packages, so comparisons require normalization before any exact graph statement is fair.</a:t>
            </a:r>
          </a:p>
          <a:p>
            <a:endParaRPr lang="en-US" dirty="0"/>
          </a:p>
          <a:p>
            <a:r>
              <a:rPr lang="en-US" dirty="0"/>
              <a:t>[Sources]</a:t>
            </a:r>
          </a:p>
          <a:p>
            <a:r>
              <a:rPr lang="en-US" dirty="0"/>
              <a:t>• `reports/data/software_feature_matrix.csv`, rows `fci_engine`, `pcalg`, `causal-learn`, and `Tetrad`, evidence date 2026-07-26.</a:t>
            </a:r>
          </a:p>
          <a:p>
            <a:r>
              <a:rPr lang="en-US" dirty="0"/>
              <a:t>• `reports/data/software_landscape.json`, per-tool `evidence_kind`, version, execution status, and official locators.</a:t>
            </a:r>
          </a:p>
          <a:p>
            <a:r>
              <a:rPr lang="en-US" dirty="0"/>
              <a:t>• `reports/research/claim_evidence_matrix.csv`, claim IDs `SW-PCALG`, `SW-CAUSALLEARN`, and `SW-TETRAD`.</a:t>
            </a:r>
          </a:p>
          <a:p>
            <a:r>
              <a:rPr lang="en-US" dirty="0"/>
              <a:t>[/Sources]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[Timing: 1:20]</a:t>
            </a:r>
          </a:p>
          <a:p>
            <a:endParaRPr lang="en-US" dirty="0"/>
          </a:p>
          <a:p>
            <a:r>
              <a:rPr lang="en-US" dirty="0"/>
              <a:t>This matched benchmark executes five labeled configurations on five synthetic graph families, with three repeats and two thousand five hundred samples per case. All seventy-five requested runs completed. The dots show semantic edge F1 and endpoint accuracy on a common scale, while the right column reports CI calls where the API exposes them. The local paper FCI-plus profile uses about one hundred ninety-seven calls on average, compared with about four hundred fifty for historical FCI, and its recovery is close to the causal-learn and pcalg reference executions after normalization. The robust workflow reaches semantic F1 about zero point nine eight five and endpoint accuracy about zero point eight four, but it uses about four hundred two CI calls. The critical qualification is that robust uses the package’s automatic alpha, which equals zero point zero one at this sample size, whereas the paper and reference rows use zero point zero zero one. This is therefore evidence for a complete practical workflow, not an isolated claim that one algorithm definition dominates. Pcalg timing also includes R process startup, so wall-clock values are recorded for reproducibility rather than treated as a cross-language speed contest.</a:t>
            </a:r>
          </a:p>
          <a:p>
            <a:endParaRPr lang="en-US" dirty="0"/>
          </a:p>
          <a:p>
            <a:r>
              <a:rPr lang="en-US" dirty="0"/>
              <a:t>[Sources]</a:t>
            </a:r>
          </a:p>
          <a:p>
            <a:r>
              <a:rPr lang="en-US" dirty="0"/>
              <a:t>• `reports/data/software_benchmark_summary.csv`, all five algorithm rows; columns `n_requested`, `n_completed`, `mean_semantic_edge_f1`, `mean_endpoint_accuracy`, `mean_ci_test_count`, `alpha_policy`, and `effective_alpha`.</a:t>
            </a:r>
          </a:p>
          <a:p>
            <a:r>
              <a:rPr lang="en-US" dirty="0"/>
              <a:t>• `reports/data/software_benchmark_cases.csv`, 75 executed case rows.</a:t>
            </a:r>
          </a:p>
          <a:p>
            <a:r>
              <a:rPr lang="en-US" dirty="0"/>
              <a:t>• `reports/generate_software_comparison.py::build_algorithm_specs` and `::summarize_rows`.</a:t>
            </a:r>
          </a:p>
          <a:p>
            <a:r>
              <a:rPr lang="en-US" dirty="0"/>
              <a:t>[/Sources]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[Timing: 1:10]</a:t>
            </a:r>
          </a:p>
          <a:p>
            <a:endParaRPr lang="en-US" dirty="0"/>
          </a:p>
          <a:p>
            <a:r>
              <a:rPr lang="en-US" dirty="0"/>
              <a:t>The official STAR record has eleven thousand six hundred one student rows. The analysis reconstructs a kindergarten assignment cohort of six thousand three hundred twenty-five students across seventy-nine schools, then creates three distinct discovery panels. The attrition panel contains five thousand seven hundred forty-four observations and nine variables, the longitudinal complete-case panel contains two thousand seven hundred eighty-seven observations and nine variables, and the focused treatment panel contains two thousand nine hundred seventy-six observations and eight variables. These panels answer different diagnostic questions and are not pooled into one causal analysis. The identification boundary is explicit: randomized kindergarten assignment supports the primary design-based arm comparison, while later complete-case panels can reflect conditioning and attrition. Because missing outcomes, original blocks, switching, and compliance were not reconstructed, the selected observed-arm contrast is not presented as a fully identified selected-subset causal effect. No temporal constraints were supplied to discovery, so chronology is used only as an external audit. The arm-contrast intervals use one thousand school-cluster resamples; the twelve school-resample PAG bootstrap is a much coarser structural stability diagnostic and is never presented as a treatment-effect procedure.</a:t>
            </a:r>
          </a:p>
          <a:p>
            <a:endParaRPr lang="en-US" dirty="0"/>
          </a:p>
          <a:p>
            <a:r>
              <a:rPr lang="en-US" dirty="0"/>
              <a:t>[Sources]</a:t>
            </a:r>
          </a:p>
          <a:p>
            <a:r>
              <a:rPr lang="en-US" dirty="0"/>
              <a:t>• `case_studies/tennessee_star/output/star_case_study_summary.json`, keys `cohorts.raw_rows`, `cohorts.kindergarten_rows`, `cohorts.kindergarten_schools`, and `cohorts.panels`.</a:t>
            </a:r>
          </a:p>
          <a:p>
            <a:r>
              <a:rPr lang="en-US" dirty="0"/>
              <a:t>• `case_studies/tennessee_star/study.py::prepare_study` and `::save_processed_panels`.</a:t>
            </a:r>
          </a:p>
          <a:p>
            <a:r>
              <a:rPr lang="en-US" dirty="0"/>
              <a:t>• Tennessee STAR Dataverse dataset, DOI `10.7910/DVN/SIWH9F`.</a:t>
            </a:r>
          </a:p>
          <a:p>
            <a:r>
              <a:rPr lang="en-US" dirty="0"/>
              <a:t>• `case_studies/tennessee_star/study.py::_cluster_bootstrap_arm_metrics` and `::cluster_bootstrap_adjacencies`.</a:t>
            </a:r>
          </a:p>
          <a:p>
            <a:r>
              <a:rPr lang="en-US" dirty="0"/>
              <a:t>[/Sources]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[Timing: 1:30]</a:t>
            </a:r>
          </a:p>
          <a:p>
            <a:endParaRPr lang="en-US" dirty="0"/>
          </a:p>
          <a:p>
            <a:r>
              <a:rPr lang="en-US" dirty="0"/>
              <a:t>The strongest design-supported result here is the kindergarten observed-arm contrast. Small-class students with observed kindergarten outcomes score thirteen point nine points above regular-class students, with a school-cluster bootstrap interval from five point two one to twenty-two point zero seven. Random assignment makes this contrast consistent with a small-class benefit, but missing outcomes, original blocks, switching, and compliance were not reconstructed, so I do not treat it as a fully identified selected-subset causal effect. The regular-plus-aide arm differs from regular by only zero point three one points, with an interval from negative seven point four zero to seven point three eight, so there is no detectable aide advantage at this precision. Among students with observed grade-three outcomes, the small-minus-regular score contrast is eleven point six nine points with an interval from three point seven four to nineteen point three eight, but that is a descriptive follow-up in a selected observed sample. The corresponding grade-three observation-rate contrasts are plus one point five four percentage points for small versus regular, with an interval from negative one point seven three to four point five six, and negative two point zero five percentage points for aide versus regular, with an interval from negative five point three five to one point four one. Neither observation-rate interval excludes zero.</a:t>
            </a:r>
          </a:p>
          <a:p>
            <a:endParaRPr lang="en-US" dirty="0"/>
          </a:p>
          <a:p>
            <a:r>
              <a:rPr lang="en-US" dirty="0"/>
              <a:t>[Sources]</a:t>
            </a:r>
          </a:p>
          <a:p>
            <a:r>
              <a:rPr lang="en-US" dirty="0"/>
              <a:t>• `case_studies/tennessee_star/output/star_descriptive_contrasts.csv`, rows `kindergarten_score`, `grade3_score`, and `grade3_observed_rate` for both arm comparisons.</a:t>
            </a:r>
          </a:p>
          <a:p>
            <a:r>
              <a:rPr lang="en-US" dirty="0"/>
              <a:t>• `case_studies/tennessee_star/output/star_case_study_summary.json`, key `descriptives.contrasts`.</a:t>
            </a:r>
          </a:p>
          <a:p>
            <a:r>
              <a:rPr lang="en-US" dirty="0"/>
              <a:t>• `case_studies/tennessee_star/study.py::_cluster_bootstrap_arm_metrics`, 1,000 school-cluster resamples.</a:t>
            </a:r>
          </a:p>
          <a:p>
            <a:r>
              <a:rPr lang="en-US" dirty="0"/>
              <a:t>[/Sources]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[Timing: 1:25]</a:t>
            </a:r>
          </a:p>
          <a:p>
            <a:endParaRPr lang="en-US" dirty="0"/>
          </a:p>
          <a:p>
            <a:r>
              <a:rPr lang="en-US" dirty="0"/>
              <a:t>The discovery evidence is more credible at the adjacency level than at the endpoint-direction level. Under cyclic column shifts, robust FCI+ reproduces its entire baseline PAG output in all twenty-six tested refits: nine of nine for attrition, nine of nine for longitudinal data, and eight of eight for the focused panel, with zero recorded temporal flags. Those twenty-six shifts are a finite audit, not a theorem of order invariance. The paper profile and standard FCI are less stable on some panels, and in the longitudinal graph both paper FCI+ and the executed pcalg FCI+ orient later achievement toward kindergarten achievement, which conflicts with chronology. The robust profile leaves the endpoints as circles instead. That is calibrated abstention, not extra identification. Early achievement to later achievement and early achievement to later observation are present in every local bootstrap sample, so those adjacencies deserve more confidence than their directions. The focused class-to-grade-three edge remains especially fragile because it disappears at alpha zero point zero one despite high baseline bootstrap adjacency frequency.</a:t>
            </a:r>
          </a:p>
          <a:p>
            <a:endParaRPr lang="en-US" dirty="0"/>
          </a:p>
          <a:p>
            <a:r>
              <a:rPr lang="en-US" dirty="0"/>
              <a:t>[Sources]</a:t>
            </a:r>
          </a:p>
          <a:p>
            <a:r>
              <a:rPr lang="en-US" dirty="0"/>
              <a:t>• `case_studies/tennessee_star/output/star_python_order_audit.csv`, all panel/profile exact-reproduction counts and temporal-flag counts.</a:t>
            </a:r>
          </a:p>
          <a:p>
            <a:r>
              <a:rPr lang="en-US" dirty="0"/>
              <a:t>• `case_studies/tennessee_star/output/star_bootstrap_adjacencies.csv`, 100% local bootstrap adjacency rows.</a:t>
            </a:r>
          </a:p>
          <a:p>
            <a:r>
              <a:rPr lang="en-US" dirty="0"/>
              <a:t>• `case_studies/tennessee_star/output/star_sensitivity.csv`, focused class-to-grade-three adjacency at `alpha=0.01`.</a:t>
            </a:r>
          </a:p>
          <a:p>
            <a:r>
              <a:rPr lang="en-US" dirty="0"/>
              <a:t>• `case_studies/tennessee_star/output/star_pcalg_runs.csv`, longitudinal endpoint comparison for `pcalg_fci_plus`.</a:t>
            </a:r>
          </a:p>
          <a:p>
            <a:r>
              <a:rPr lang="en-US" dirty="0"/>
              <a:t>[/Sources]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[Timing: 1:05]</a:t>
            </a:r>
          </a:p>
          <a:p>
            <a:endParaRPr lang="en-US" dirty="0"/>
          </a:p>
          <a:p>
            <a:r>
              <a:rPr lang="en-US" dirty="0"/>
              <a:t>FCI+ reduces conditional-independence work on each STAR panel. In the attrition panel, paper FCI+ uses seven hundred ninety-three tests compared with one thousand seven hundred five for FCI, or forty-seven percent as many. In the longitudinal panel the comparison is three hundred thirty-five versus nine hundred sixty, or thirty-five percent. In the focused panel it is one hundred eighty-five versus two hundred ninety-one, or sixty-four percent. The runtime strip reports the same three-run medians in the order FCI, paper FCI+, robust FCI+, and R pcalg FCI+: attrition is five point four four, one point seven nine, two point eight four, and ten point three nine seconds; longitudinal is two point one five, zero point three four, zero point five six, and one point six five; focused is zero point three two, zero point one six, zero point two five, and zero point eight eight. These are implementation measurements, not a language leaderboard. Computational efficiency is useful engineering evidence; it does not increase the causal strength of an endpoint or identify a treatment effect.</a:t>
            </a:r>
          </a:p>
          <a:p>
            <a:endParaRPr lang="en-US" dirty="0"/>
          </a:p>
          <a:p>
            <a:r>
              <a:rPr lang="en-US" dirty="0"/>
              <a:t>[Sources]</a:t>
            </a:r>
          </a:p>
          <a:p>
            <a:r>
              <a:rPr lang="en-US" dirty="0"/>
              <a:t>• `case_studies/tennessee_star/output/star_benchmark.csv`, all 12 panel-by-algorithm rows; columns `ci_tests` and `median_elapsed_seconds`.</a:t>
            </a:r>
          </a:p>
          <a:p>
            <a:r>
              <a:rPr lang="en-US" dirty="0"/>
              <a:t>• `case_studies/tennessee_star/output/star_case_study_summary.json`, key `runs`.</a:t>
            </a:r>
          </a:p>
          <a:p>
            <a:r>
              <a:rPr lang="en-US" dirty="0"/>
              <a:t>• `case_studies/tennessee_star/run_case_study.py`, three-run benchmark loop and timing scope.</a:t>
            </a:r>
          </a:p>
          <a:p>
            <a:r>
              <a:rPr lang="en-US" dirty="0"/>
              <a:t>[/Sources]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[Timing: 1:00]</a:t>
            </a:r>
          </a:p>
          <a:p>
            <a:endParaRPr lang="en-US" dirty="0"/>
          </a:p>
          <a:p>
            <a:r>
              <a:rPr lang="en-US" dirty="0"/>
              <a:t>The final conclusion follows the evidence ladder. At the design-based level, the observed kindergarten arm contrast favors small over regular classes and is consistent with benefit under random assignment, while no comparable aide advantage is detected at the available precision. Because missing outcomes, blocks, switching, and compliance were not reconstructed, this is not a fully identified selected-subset causal effect. At the structural level, early achievement is stably adjacent to later achievement and later observation. At the uncertain level, later endpoint directions and the focused class-to-grade-three adjacency depend on specification. The PAG does not identify a unique DAG, a particular latent cause, an adjustment set, or a treatment-effect magnitude. The completed contribution is the bridge across these layers: source-aligned FCI and FCI-plus profiles, a concrete source-to-code-to-test map, exact and simulated validation, executed software audits, and a reproducible STAR report with data, figures, slides, and notes. The next validation priorities are broader conditional-independence regimes, larger benchmarks, a formal reconstruction of the STAR randomized analysis, and external replication.</a:t>
            </a:r>
          </a:p>
          <a:p>
            <a:endParaRPr lang="en-US" dirty="0"/>
          </a:p>
          <a:p>
            <a:r>
              <a:rPr lang="en-US" dirty="0"/>
              <a:t>[Sources]</a:t>
            </a:r>
          </a:p>
          <a:p>
            <a:r>
              <a:rPr lang="en-US" dirty="0"/>
              <a:t>• `case_studies/tennessee_star/output/star_descriptive_contrasts.csv`, kindergarten score contrasts and grade-three descriptive follow-up rows.</a:t>
            </a:r>
          </a:p>
          <a:p>
            <a:r>
              <a:rPr lang="en-US" dirty="0"/>
              <a:t>• `case_studies/tennessee_star/output/star_python_order_audit.csv`, robust 26-of-26 exact reproduction audit.</a:t>
            </a:r>
          </a:p>
          <a:p>
            <a:r>
              <a:rPr lang="en-US" dirty="0"/>
              <a:t>• `case_studies/tennessee_star/output/star_sensitivity.csv` and `star_bootstrap_adjacencies.csv`, specification-sensitive versus stable adjacencies.</a:t>
            </a:r>
          </a:p>
          <a:p>
            <a:r>
              <a:rPr lang="en-US" dirty="0"/>
              <a:t>• `reports/research/claim_evidence_matrix.csv`, claim ID `OUTPUT-SEMANTICS`.</a:t>
            </a:r>
          </a:p>
          <a:p>
            <a:r>
              <a:rPr lang="en-US" dirty="0"/>
              <a:t>[/Sources]</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fci_plus_star_advisor_deck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fci_plus_star_advisor_deck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4" name="Group 4"/>
          <p:cNvGrpSpPr/>
          <p:nvPr/>
        </p:nvGrpSpPr>
        <p:grpSpPr>
          <a:xfrm>
            <a:off x="526542" y="406718"/>
            <a:ext cx="11138916" cy="264033"/>
            <a:chOff x="526542" y="406718"/>
            <a:chExt cx="11138916" cy="264033"/>
          </a:xfrm>
        </p:grpSpPr>
        <p:sp>
          <p:nvSpPr>
            <p:cNvPr id="2" name="TextBox 2"/>
            <p:cNvSpPr txBox="1"/>
            <p:nvPr/>
          </p:nvSpPr>
          <p:spPr>
            <a:xfrm>
              <a:off x="526542" y="406718"/>
              <a:ext cx="3930206" cy="264033"/>
            </a:xfrm>
            <a:prstGeom prst="rect">
              <a:avLst/>
            </a:prstGeom>
            <a:noFill/>
            <a:ln>
              <a:noFill/>
            </a:ln>
          </p:spPr>
          <p:txBody>
            <a:bodyPr wrap="none" lIns="0" tIns="0" rIns="0" bIns="0" anchor="t" anchorCtr="0">
              <a:spAutoFit/>
            </a:bodyPr>
            <a:lstStyle/>
            <a:p>
              <a:pPr algn="l"/>
              <a:r>
                <a:rPr lang="en-US" sz="1350" b="1" spc="150" dirty="0">
                  <a:solidFill>
                    <a:srgbClr val="5F6875"/>
                  </a:solidFill>
                  <a:latin typeface="+mn-lt"/>
                  <a:ea typeface="+mn-ea"/>
                  <a:cs typeface="+mn-cs"/>
                </a:rPr>
                <a:t>RESEARCH PROJECT DEFENSE · 2026</a:t>
              </a:r>
            </a:p>
          </p:txBody>
        </p:sp>
        <p:sp>
          <p:nvSpPr>
            <p:cNvPr id="3" name="TextBox 3"/>
            <p:cNvSpPr txBox="1"/>
            <p:nvPr/>
          </p:nvSpPr>
          <p:spPr>
            <a:xfrm>
              <a:off x="10480327" y="406718"/>
              <a:ext cx="1185131" cy="264033"/>
            </a:xfrm>
            <a:prstGeom prst="rect">
              <a:avLst/>
            </a:prstGeom>
            <a:noFill/>
            <a:ln>
              <a:noFill/>
            </a:ln>
          </p:spPr>
          <p:txBody>
            <a:bodyPr wrap="none" lIns="0" tIns="0" rIns="0" bIns="0" anchor="t" anchorCtr="0">
              <a:spAutoFit/>
            </a:bodyPr>
            <a:lstStyle/>
            <a:p>
              <a:pPr algn="r"/>
              <a:r>
                <a:rPr lang="en-US" sz="1350" dirty="0">
                  <a:solidFill>
                    <a:srgbClr val="5F6875"/>
                  </a:solidFill>
                  <a:latin typeface="Consolas"/>
                  <a:ea typeface="Consolas"/>
                  <a:cs typeface="Consolas"/>
                </a:rPr>
                <a:t>FCI / FCI Plus</a:t>
              </a:r>
            </a:p>
          </p:txBody>
        </p:sp>
      </p:grpSp>
      <p:grpSp>
        <p:nvGrpSpPr>
          <p:cNvPr id="10" name="Group 10"/>
          <p:cNvGrpSpPr/>
          <p:nvPr/>
        </p:nvGrpSpPr>
        <p:grpSpPr>
          <a:xfrm>
            <a:off x="516636" y="901065"/>
            <a:ext cx="9875078" cy="1203960"/>
            <a:chOff x="516636" y="901065"/>
            <a:chExt cx="9875078" cy="1203960"/>
          </a:xfrm>
        </p:grpSpPr>
        <p:sp>
          <p:nvSpPr>
            <p:cNvPr id="5" name="TextBox 5"/>
            <p:cNvSpPr txBox="1"/>
            <p:nvPr/>
          </p:nvSpPr>
          <p:spPr>
            <a:xfrm>
              <a:off x="516636" y="901065"/>
              <a:ext cx="7109612"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j-lt"/>
                  <a:ea typeface="+mj-ea"/>
                  <a:cs typeface="+mj-cs"/>
                </a:rPr>
                <a:t>Independent FCI and FCI Plus</a:t>
              </a:r>
            </a:p>
          </p:txBody>
        </p:sp>
        <p:sp>
          <p:nvSpPr>
            <p:cNvPr id="6" name="TextBox 6"/>
            <p:cNvSpPr txBox="1"/>
            <p:nvPr/>
          </p:nvSpPr>
          <p:spPr>
            <a:xfrm>
              <a:off x="516636" y="1453515"/>
              <a:ext cx="9875078" cy="645414"/>
            </a:xfrm>
            <a:prstGeom prst="rect">
              <a:avLst/>
            </a:prstGeom>
            <a:noFill/>
            <a:ln>
              <a:noFill/>
            </a:ln>
          </p:spPr>
          <p:txBody>
            <a:bodyPr wrap="none" lIns="0" tIns="0" rIns="0" bIns="0" anchor="t" anchorCtr="0">
              <a:spAutoFit/>
            </a:bodyPr>
            <a:lstStyle/>
            <a:p>
              <a:pPr algn="l"/>
              <a:r>
                <a:rPr lang="en-US" sz="3300" b="1" dirty="0">
                  <a:solidFill>
                    <a:schemeClr val="accent1"/>
                  </a:solidFill>
                  <a:latin typeface="+mj-lt"/>
                  <a:ea typeface="+mj-ea"/>
                  <a:cs typeface="+mj-cs"/>
                </a:rPr>
                <a:t>from Source Fidelity to Tennessee STAR</a:t>
              </a:r>
            </a:p>
          </p:txBody>
        </p:sp>
        <p:sp>
          <p:nvSpPr>
            <p:cNvPr id="7" name="Rectangle 7"/>
            <p:cNvSpPr/>
            <p:nvPr/>
          </p:nvSpPr>
          <p:spPr>
            <a:xfrm>
              <a:off x="533400" y="2038350"/>
              <a:ext cx="1657350" cy="66675"/>
            </a:xfrm>
            <a:prstGeom prst="roundRect">
              <a:avLst>
                <a:gd name="adj" fmla="val 50000"/>
              </a:avLst>
            </a:prstGeom>
            <a:solidFill>
              <a:schemeClr val="accent2"/>
            </a:solidFill>
            <a:ln>
              <a:noFill/>
            </a:ln>
          </p:spPr>
        </p:sp>
        <p:sp>
          <p:nvSpPr>
            <p:cNvPr id="8" name="Rectangle 8"/>
            <p:cNvSpPr/>
            <p:nvPr/>
          </p:nvSpPr>
          <p:spPr>
            <a:xfrm>
              <a:off x="2266950" y="2038350"/>
              <a:ext cx="1657350" cy="66675"/>
            </a:xfrm>
            <a:prstGeom prst="roundRect">
              <a:avLst>
                <a:gd name="adj" fmla="val 50000"/>
              </a:avLst>
            </a:prstGeom>
            <a:solidFill>
              <a:schemeClr val="accent3"/>
            </a:solidFill>
            <a:ln>
              <a:noFill/>
            </a:ln>
          </p:spPr>
        </p:sp>
        <p:sp>
          <p:nvSpPr>
            <p:cNvPr id="9" name="Rectangle 9"/>
            <p:cNvSpPr/>
            <p:nvPr/>
          </p:nvSpPr>
          <p:spPr>
            <a:xfrm>
              <a:off x="4000500" y="2038350"/>
              <a:ext cx="1657350" cy="66675"/>
            </a:xfrm>
            <a:prstGeom prst="roundRect">
              <a:avLst>
                <a:gd name="adj" fmla="val 50000"/>
              </a:avLst>
            </a:prstGeom>
            <a:solidFill>
              <a:schemeClr val="accent6"/>
            </a:solidFill>
            <a:ln>
              <a:noFill/>
            </a:ln>
          </p:spPr>
        </p:sp>
      </p:grpSp>
      <p:grpSp>
        <p:nvGrpSpPr>
          <p:cNvPr id="14" name="Group 14"/>
          <p:cNvGrpSpPr/>
          <p:nvPr/>
        </p:nvGrpSpPr>
        <p:grpSpPr>
          <a:xfrm>
            <a:off x="521970" y="2319338"/>
            <a:ext cx="7947450" cy="970787"/>
            <a:chOff x="521970" y="2319338"/>
            <a:chExt cx="7947450" cy="970787"/>
          </a:xfrm>
        </p:grpSpPr>
        <p:sp>
          <p:nvSpPr>
            <p:cNvPr id="11" name="TextBox 11"/>
            <p:cNvSpPr txBox="1"/>
            <p:nvPr/>
          </p:nvSpPr>
          <p:spPr>
            <a:xfrm>
              <a:off x="521970" y="2319338"/>
              <a:ext cx="7947450"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Paper-aligned algorithms. Known-truth validation.</a:t>
              </a:r>
            </a:p>
          </p:txBody>
        </p:sp>
        <p:sp>
          <p:nvSpPr>
            <p:cNvPr id="12" name="TextBox 12"/>
            <p:cNvSpPr txBox="1"/>
            <p:nvPr/>
          </p:nvSpPr>
          <p:spPr>
            <a:xfrm>
              <a:off x="521970" y="2662238"/>
              <a:ext cx="5073629" cy="440055"/>
            </a:xfrm>
            <a:prstGeom prst="rect">
              <a:avLst/>
            </a:prstGeom>
            <a:noFill/>
            <a:ln>
              <a:noFill/>
            </a:ln>
          </p:spPr>
          <p:txBody>
            <a:bodyPr wrap="none" lIns="0" tIns="0" rIns="0" bIns="0" anchor="t" anchorCtr="0">
              <a:spAutoFit/>
            </a:bodyPr>
            <a:lstStyle/>
            <a:p>
              <a:pPr algn="l"/>
              <a:r>
                <a:rPr lang="en-US" sz="2250" b="1" dirty="0">
                  <a:solidFill>
                    <a:schemeClr val="dk1"/>
                  </a:solidFill>
                  <a:latin typeface="+mn-lt"/>
                  <a:ea typeface="+mn-ea"/>
                  <a:cs typeface="+mn-cs"/>
                </a:rPr>
                <a:t>A cautious empirical application.</a:t>
              </a:r>
            </a:p>
          </p:txBody>
        </p:sp>
        <p:sp>
          <p:nvSpPr>
            <p:cNvPr id="13" name="TextBox 13"/>
            <p:cNvSpPr txBox="1"/>
            <p:nvPr/>
          </p:nvSpPr>
          <p:spPr>
            <a:xfrm>
              <a:off x="526542" y="3026092"/>
              <a:ext cx="5153252" cy="264033"/>
            </a:xfrm>
            <a:prstGeom prst="rect">
              <a:avLst/>
            </a:prstGeom>
            <a:noFill/>
            <a:ln>
              <a:noFill/>
            </a:ln>
          </p:spPr>
          <p:txBody>
            <a:bodyPr wrap="none" lIns="0" tIns="0" rIns="0" bIns="0" anchor="t" anchorCtr="0">
              <a:spAutoFit/>
            </a:bodyPr>
            <a:lstStyle/>
            <a:p>
              <a:pPr algn="l"/>
              <a:r>
                <a:rPr lang="en-US" sz="1350" dirty="0">
                  <a:solidFill>
                    <a:srgbClr val="5F6875"/>
                  </a:solidFill>
                  <a:latin typeface="+mn-lt"/>
                  <a:ea typeface="+mn-ea"/>
                  <a:cs typeface="+mn-cs"/>
                </a:rPr>
                <a:t>An auditable evidence chain—not one definitive causal DAG.</a:t>
              </a:r>
            </a:p>
          </p:txBody>
        </p:sp>
      </p:grpSp>
      <p:grpSp>
        <p:nvGrpSpPr>
          <p:cNvPr id="23" name="Group 23"/>
          <p:cNvGrpSpPr/>
          <p:nvPr/>
        </p:nvGrpSpPr>
        <p:grpSpPr>
          <a:xfrm>
            <a:off x="533400" y="3333750"/>
            <a:ext cx="7839075" cy="981075"/>
            <a:chOff x="533400" y="3333750"/>
            <a:chExt cx="7839075" cy="981075"/>
          </a:xfrm>
        </p:grpSpPr>
        <p:sp>
          <p:nvSpPr>
            <p:cNvPr id="15" name="Rectangle 15"/>
            <p:cNvSpPr/>
            <p:nvPr/>
          </p:nvSpPr>
          <p:spPr>
            <a:xfrm>
              <a:off x="533400" y="3333750"/>
              <a:ext cx="7839075" cy="981075"/>
            </a:xfrm>
            <a:prstGeom prst="roundRect">
              <a:avLst>
                <a:gd name="adj" fmla="val 11650"/>
              </a:avLst>
            </a:prstGeom>
            <a:solidFill>
              <a:srgbClr val="FFFFFF"/>
            </a:solidFill>
            <a:ln w="14288">
              <a:solidFill>
                <a:srgbClr val="CBD2DC"/>
              </a:solidFill>
            </a:ln>
          </p:spPr>
        </p:sp>
        <p:sp>
          <p:nvSpPr>
            <p:cNvPr id="16" name="Rectangle 16"/>
            <p:cNvSpPr/>
            <p:nvPr/>
          </p:nvSpPr>
          <p:spPr>
            <a:xfrm>
              <a:off x="533400" y="3333750"/>
              <a:ext cx="95250" cy="981075"/>
            </a:xfrm>
            <a:prstGeom prst="roundRect">
              <a:avLst>
                <a:gd name="adj" fmla="val 50000"/>
              </a:avLst>
            </a:prstGeom>
            <a:solidFill>
              <a:schemeClr val="accent2"/>
            </a:solidFill>
            <a:ln>
              <a:noFill/>
            </a:ln>
          </p:spPr>
        </p:sp>
        <p:sp>
          <p:nvSpPr>
            <p:cNvPr id="17" name="TextBox 17"/>
            <p:cNvSpPr txBox="1"/>
            <p:nvPr/>
          </p:nvSpPr>
          <p:spPr>
            <a:xfrm>
              <a:off x="838200" y="3390900"/>
              <a:ext cx="2286000" cy="285750"/>
            </a:xfrm>
            <a:prstGeom prst="rect">
              <a:avLst/>
            </a:prstGeom>
            <a:noFill/>
            <a:ln>
              <a:noFill/>
            </a:ln>
          </p:spPr>
          <p:txBody>
            <a:bodyPr wrap="square" lIns="0" tIns="73342" rIns="0" bIns="0" anchor="t" anchorCtr="0">
              <a:noAutofit/>
            </a:bodyPr>
            <a:lstStyle/>
            <a:p>
              <a:pPr algn="l"/>
              <a:r>
                <a:rPr lang="en-US" sz="1350" b="1" dirty="0">
                  <a:solidFill>
                    <a:schemeClr val="accent2"/>
                  </a:solidFill>
                  <a:latin typeface="+mn-lt"/>
                  <a:ea typeface="+mn-ea"/>
                  <a:cs typeface="+mn-cs"/>
                </a:rPr>
                <a:t>ALGORITHM EVIDENCE</a:t>
              </a:r>
            </a:p>
          </p:txBody>
        </p:sp>
        <p:sp>
          <p:nvSpPr>
            <p:cNvPr id="18" name="TextBox 18"/>
            <p:cNvSpPr txBox="1"/>
            <p:nvPr/>
          </p:nvSpPr>
          <p:spPr>
            <a:xfrm>
              <a:off x="829056" y="3806190"/>
              <a:ext cx="2061423"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Original sources</a:t>
              </a:r>
            </a:p>
          </p:txBody>
        </p:sp>
        <p:sp>
          <p:nvSpPr>
            <p:cNvPr id="19" name="Line 19"/>
            <p:cNvSpPr/>
            <p:nvPr/>
          </p:nvSpPr>
          <p:spPr>
            <a:xfrm>
              <a:off x="2590800" y="3924300"/>
              <a:ext cx="742950" cy="1"/>
            </a:xfrm>
            <a:prstGeom prst="line">
              <a:avLst/>
            </a:prstGeom>
            <a:noFill/>
            <a:ln w="23812">
              <a:solidFill>
                <a:schemeClr val="accent1"/>
              </a:solidFill>
              <a:tailEnd type="triangle" w="lg" len="lg"/>
            </a:ln>
          </p:spPr>
        </p:sp>
        <p:sp>
          <p:nvSpPr>
            <p:cNvPr id="20" name="TextBox 20"/>
            <p:cNvSpPr txBox="1"/>
            <p:nvPr/>
          </p:nvSpPr>
          <p:spPr>
            <a:xfrm>
              <a:off x="3515106" y="3806190"/>
              <a:ext cx="2138041"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Independent code</a:t>
              </a:r>
            </a:p>
          </p:txBody>
        </p:sp>
        <p:sp>
          <p:nvSpPr>
            <p:cNvPr id="21" name="Line 21"/>
            <p:cNvSpPr/>
            <p:nvPr/>
          </p:nvSpPr>
          <p:spPr>
            <a:xfrm>
              <a:off x="5438775" y="3924300"/>
              <a:ext cx="742950" cy="1"/>
            </a:xfrm>
            <a:prstGeom prst="line">
              <a:avLst/>
            </a:prstGeom>
            <a:noFill/>
            <a:ln w="23812">
              <a:solidFill>
                <a:schemeClr val="accent1"/>
              </a:solidFill>
              <a:tailEnd type="triangle" w="lg" len="lg"/>
            </a:ln>
          </p:spPr>
        </p:sp>
        <p:sp>
          <p:nvSpPr>
            <p:cNvPr id="22" name="TextBox 22"/>
            <p:cNvSpPr txBox="1"/>
            <p:nvPr/>
          </p:nvSpPr>
          <p:spPr>
            <a:xfrm>
              <a:off x="6363081" y="3806190"/>
              <a:ext cx="1553520"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Known truth</a:t>
              </a:r>
            </a:p>
          </p:txBody>
        </p:sp>
      </p:grpSp>
      <p:grpSp>
        <p:nvGrpSpPr>
          <p:cNvPr id="32" name="Group 32"/>
          <p:cNvGrpSpPr/>
          <p:nvPr/>
        </p:nvGrpSpPr>
        <p:grpSpPr>
          <a:xfrm>
            <a:off x="533400" y="4524375"/>
            <a:ext cx="7839075" cy="981075"/>
            <a:chOff x="533400" y="4524375"/>
            <a:chExt cx="7839075" cy="981075"/>
          </a:xfrm>
        </p:grpSpPr>
        <p:sp>
          <p:nvSpPr>
            <p:cNvPr id="24" name="Rectangle 24"/>
            <p:cNvSpPr/>
            <p:nvPr/>
          </p:nvSpPr>
          <p:spPr>
            <a:xfrm>
              <a:off x="533400" y="4524375"/>
              <a:ext cx="7839075" cy="981075"/>
            </a:xfrm>
            <a:prstGeom prst="roundRect">
              <a:avLst>
                <a:gd name="adj" fmla="val 11650"/>
              </a:avLst>
            </a:prstGeom>
            <a:solidFill>
              <a:srgbClr val="FFFFFF"/>
            </a:solidFill>
            <a:ln w="14288">
              <a:solidFill>
                <a:srgbClr val="CBD2DC"/>
              </a:solidFill>
            </a:ln>
          </p:spPr>
        </p:sp>
        <p:sp>
          <p:nvSpPr>
            <p:cNvPr id="25" name="Rectangle 25"/>
            <p:cNvSpPr/>
            <p:nvPr/>
          </p:nvSpPr>
          <p:spPr>
            <a:xfrm>
              <a:off x="533400" y="4524375"/>
              <a:ext cx="95250" cy="981075"/>
            </a:xfrm>
            <a:prstGeom prst="roundRect">
              <a:avLst>
                <a:gd name="adj" fmla="val 50000"/>
              </a:avLst>
            </a:prstGeom>
            <a:solidFill>
              <a:schemeClr val="accent6"/>
            </a:solidFill>
            <a:ln>
              <a:noFill/>
            </a:ln>
          </p:spPr>
        </p:sp>
        <p:sp>
          <p:nvSpPr>
            <p:cNvPr id="26" name="TextBox 26"/>
            <p:cNvSpPr txBox="1"/>
            <p:nvPr/>
          </p:nvSpPr>
          <p:spPr>
            <a:xfrm>
              <a:off x="838200" y="4581525"/>
              <a:ext cx="2381250" cy="285750"/>
            </a:xfrm>
            <a:prstGeom prst="rect">
              <a:avLst/>
            </a:prstGeom>
            <a:noFill/>
            <a:ln>
              <a:noFill/>
            </a:ln>
          </p:spPr>
          <p:txBody>
            <a:bodyPr wrap="square" lIns="0" tIns="73342" rIns="0" bIns="0" anchor="t" anchorCtr="0">
              <a:noAutofit/>
            </a:bodyPr>
            <a:lstStyle/>
            <a:p>
              <a:pPr algn="l"/>
              <a:r>
                <a:rPr lang="en-US" sz="1350" b="1" dirty="0">
                  <a:solidFill>
                    <a:schemeClr val="accent6"/>
                  </a:solidFill>
                  <a:latin typeface="+mn-lt"/>
                  <a:ea typeface="+mn-ea"/>
                  <a:cs typeface="+mn-cs"/>
                </a:rPr>
                <a:t>APPLICATION EVIDENCE</a:t>
              </a:r>
            </a:p>
          </p:txBody>
        </p:sp>
        <p:sp>
          <p:nvSpPr>
            <p:cNvPr id="27" name="TextBox 27"/>
            <p:cNvSpPr txBox="1"/>
            <p:nvPr/>
          </p:nvSpPr>
          <p:spPr>
            <a:xfrm>
              <a:off x="829056" y="4996815"/>
              <a:ext cx="2073733"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STAR experiment</a:t>
              </a:r>
            </a:p>
          </p:txBody>
        </p:sp>
        <p:sp>
          <p:nvSpPr>
            <p:cNvPr id="28" name="Line 28"/>
            <p:cNvSpPr/>
            <p:nvPr/>
          </p:nvSpPr>
          <p:spPr>
            <a:xfrm>
              <a:off x="2590800" y="5114925"/>
              <a:ext cx="742950" cy="1"/>
            </a:xfrm>
            <a:prstGeom prst="line">
              <a:avLst/>
            </a:prstGeom>
            <a:noFill/>
            <a:ln w="23812">
              <a:solidFill>
                <a:schemeClr val="accent1"/>
              </a:solidFill>
              <a:tailEnd type="triangle" w="lg" len="lg"/>
            </a:ln>
          </p:spPr>
        </p:sp>
        <p:sp>
          <p:nvSpPr>
            <p:cNvPr id="29" name="TextBox 29"/>
            <p:cNvSpPr txBox="1"/>
            <p:nvPr/>
          </p:nvSpPr>
          <p:spPr>
            <a:xfrm>
              <a:off x="3515106" y="4996815"/>
              <a:ext cx="1833275"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Arm contrasts</a:t>
              </a:r>
            </a:p>
          </p:txBody>
        </p:sp>
        <p:sp>
          <p:nvSpPr>
            <p:cNvPr id="30" name="Line 30"/>
            <p:cNvSpPr/>
            <p:nvPr/>
          </p:nvSpPr>
          <p:spPr>
            <a:xfrm>
              <a:off x="5048250" y="5114925"/>
              <a:ext cx="742950" cy="1"/>
            </a:xfrm>
            <a:prstGeom prst="line">
              <a:avLst/>
            </a:prstGeom>
            <a:noFill/>
            <a:ln w="23812">
              <a:solidFill>
                <a:schemeClr val="accent1"/>
              </a:solidFill>
              <a:tailEnd type="triangle" w="lg" len="lg"/>
            </a:ln>
          </p:spPr>
        </p:sp>
        <p:sp>
          <p:nvSpPr>
            <p:cNvPr id="31" name="TextBox 31"/>
            <p:cNvSpPr txBox="1"/>
            <p:nvPr/>
          </p:nvSpPr>
          <p:spPr>
            <a:xfrm>
              <a:off x="5972556" y="4996815"/>
              <a:ext cx="1949672" cy="352044"/>
            </a:xfrm>
            <a:prstGeom prst="rect">
              <a:avLst/>
            </a:prstGeom>
            <a:noFill/>
            <a:ln>
              <a:noFill/>
            </a:ln>
          </p:spPr>
          <p:txBody>
            <a:bodyPr wrap="none" lIns="0" tIns="0" rIns="0" bIns="0" anchor="t" anchorCtr="0">
              <a:spAutoFit/>
            </a:bodyPr>
            <a:lstStyle/>
            <a:p>
              <a:pPr algn="l"/>
              <a:r>
                <a:rPr lang="en-US" sz="1800" b="1" dirty="0">
                  <a:solidFill>
                    <a:schemeClr val="dk1"/>
                  </a:solidFill>
                  <a:latin typeface="+mn-lt"/>
                  <a:ea typeface="+mn-ea"/>
                  <a:cs typeface="+mn-cs"/>
                </a:rPr>
                <a:t>PAG diagnostics</a:t>
              </a:r>
            </a:p>
          </p:txBody>
        </p:sp>
      </p:grpSp>
      <p:grpSp>
        <p:nvGrpSpPr>
          <p:cNvPr id="43" name="Group 43"/>
          <p:cNvGrpSpPr/>
          <p:nvPr/>
        </p:nvGrpSpPr>
        <p:grpSpPr>
          <a:xfrm>
            <a:off x="8667750" y="3333750"/>
            <a:ext cx="2990850" cy="2476500"/>
            <a:chOff x="8667750" y="3333750"/>
            <a:chExt cx="2990850" cy="2476500"/>
          </a:xfrm>
        </p:grpSpPr>
        <p:sp>
          <p:nvSpPr>
            <p:cNvPr id="33" name="Rectangle 33"/>
            <p:cNvSpPr/>
            <p:nvPr/>
          </p:nvSpPr>
          <p:spPr>
            <a:xfrm>
              <a:off x="8667750" y="3333750"/>
              <a:ext cx="2990850" cy="2476500"/>
            </a:xfrm>
            <a:prstGeom prst="roundRect">
              <a:avLst>
                <a:gd name="adj" fmla="val 5385"/>
              </a:avLst>
            </a:prstGeom>
            <a:solidFill>
              <a:schemeClr val="accent1"/>
            </a:solidFill>
            <a:ln>
              <a:noFill/>
            </a:ln>
          </p:spPr>
        </p:sp>
        <p:sp>
          <p:nvSpPr>
            <p:cNvPr id="34" name="TextBox 34"/>
            <p:cNvSpPr txBox="1"/>
            <p:nvPr/>
          </p:nvSpPr>
          <p:spPr>
            <a:xfrm>
              <a:off x="8934450" y="3438525"/>
              <a:ext cx="2343150" cy="285750"/>
            </a:xfrm>
            <a:prstGeom prst="rect">
              <a:avLst/>
            </a:prstGeom>
            <a:noFill/>
            <a:ln>
              <a:noFill/>
            </a:ln>
          </p:spPr>
          <p:txBody>
            <a:bodyPr wrap="square" lIns="0" tIns="73342" rIns="0" bIns="0" anchor="t" anchorCtr="0">
              <a:noAutofit/>
            </a:bodyPr>
            <a:lstStyle/>
            <a:p>
              <a:pPr algn="l"/>
              <a:r>
                <a:rPr lang="en-US" sz="1350" b="1" spc="90" dirty="0">
                  <a:solidFill>
                    <a:srgbClr val="E9EDF5"/>
                  </a:solidFill>
                  <a:latin typeface="+mn-lt"/>
                  <a:ea typeface="+mn-ea"/>
                  <a:cs typeface="+mn-cs"/>
                </a:rPr>
                <a:t>EVIDENCE HIERARCHY</a:t>
              </a:r>
            </a:p>
          </p:txBody>
        </p:sp>
        <p:sp>
          <p:nvSpPr>
            <p:cNvPr id="35" name="Rectangle 35"/>
            <p:cNvSpPr/>
            <p:nvPr/>
          </p:nvSpPr>
          <p:spPr>
            <a:xfrm>
              <a:off x="8934450" y="3857625"/>
              <a:ext cx="2266950" cy="342900"/>
            </a:xfrm>
            <a:prstGeom prst="roundRect">
              <a:avLst>
                <a:gd name="adj" fmla="val 50000"/>
              </a:avLst>
            </a:prstGeom>
            <a:solidFill>
              <a:srgbClr val="2E7D5B"/>
            </a:solidFill>
            <a:ln>
              <a:noFill/>
            </a:ln>
          </p:spPr>
        </p:sp>
        <p:sp>
          <p:nvSpPr>
            <p:cNvPr id="36" name="TextBox 36"/>
            <p:cNvSpPr txBox="1"/>
            <p:nvPr/>
          </p:nvSpPr>
          <p:spPr>
            <a:xfrm>
              <a:off x="9089591" y="3940492"/>
              <a:ext cx="1956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Randomized contrast</a:t>
              </a:r>
            </a:p>
          </p:txBody>
        </p:sp>
        <p:sp>
          <p:nvSpPr>
            <p:cNvPr id="37" name="Rectangle 37"/>
            <p:cNvSpPr/>
            <p:nvPr/>
          </p:nvSpPr>
          <p:spPr>
            <a:xfrm>
              <a:off x="9124950" y="4314825"/>
              <a:ext cx="1885950" cy="342900"/>
            </a:xfrm>
            <a:prstGeom prst="roundRect">
              <a:avLst>
                <a:gd name="adj" fmla="val 50000"/>
              </a:avLst>
            </a:prstGeom>
            <a:solidFill>
              <a:schemeClr val="accent2"/>
            </a:solidFill>
            <a:ln>
              <a:noFill/>
            </a:ln>
          </p:spPr>
        </p:sp>
        <p:sp>
          <p:nvSpPr>
            <p:cNvPr id="38" name="TextBox 38"/>
            <p:cNvSpPr txBox="1"/>
            <p:nvPr/>
          </p:nvSpPr>
          <p:spPr>
            <a:xfrm>
              <a:off x="9290103" y="4397692"/>
              <a:ext cx="1555645"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Stable adjacency</a:t>
              </a:r>
            </a:p>
          </p:txBody>
        </p:sp>
        <p:sp>
          <p:nvSpPr>
            <p:cNvPr id="39" name="Rectangle 39"/>
            <p:cNvSpPr/>
            <p:nvPr/>
          </p:nvSpPr>
          <p:spPr>
            <a:xfrm>
              <a:off x="9315450" y="4772025"/>
              <a:ext cx="1504950" cy="342900"/>
            </a:xfrm>
            <a:prstGeom prst="roundRect">
              <a:avLst>
                <a:gd name="adj" fmla="val 50000"/>
              </a:avLst>
            </a:prstGeom>
            <a:solidFill>
              <a:schemeClr val="accent3"/>
            </a:solidFill>
            <a:ln>
              <a:noFill/>
            </a:ln>
          </p:spPr>
        </p:sp>
        <p:sp>
          <p:nvSpPr>
            <p:cNvPr id="40" name="TextBox 40"/>
            <p:cNvSpPr txBox="1"/>
            <p:nvPr/>
          </p:nvSpPr>
          <p:spPr>
            <a:xfrm>
              <a:off x="9247005" y="4854892"/>
              <a:ext cx="164183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Unresolved marks</a:t>
              </a:r>
            </a:p>
          </p:txBody>
        </p:sp>
        <p:sp>
          <p:nvSpPr>
            <p:cNvPr id="41" name="TextBox 41"/>
            <p:cNvSpPr txBox="1"/>
            <p:nvPr/>
          </p:nvSpPr>
          <p:spPr>
            <a:xfrm>
              <a:off x="9267628" y="5175885"/>
              <a:ext cx="1600594" cy="234696"/>
            </a:xfrm>
            <a:prstGeom prst="rect">
              <a:avLst/>
            </a:prstGeom>
            <a:noFill/>
            <a:ln>
              <a:noFill/>
            </a:ln>
          </p:spPr>
          <p:txBody>
            <a:bodyPr wrap="none" lIns="0" tIns="0" rIns="0" bIns="0" anchor="t" anchorCtr="0">
              <a:spAutoFit/>
            </a:bodyPr>
            <a:lstStyle/>
            <a:p>
              <a:pPr algn="ctr"/>
              <a:r>
                <a:rPr lang="en-US" sz="1200" dirty="0">
                  <a:solidFill>
                    <a:srgbClr val="E9EDF5"/>
                  </a:solidFill>
                  <a:latin typeface="+mn-lt"/>
                  <a:ea typeface="+mn-ea"/>
                  <a:cs typeface="+mn-cs"/>
                </a:rPr>
                <a:t>Interpret downward</a:t>
              </a:r>
            </a:p>
          </p:txBody>
        </p:sp>
        <p:sp>
          <p:nvSpPr>
            <p:cNvPr id="42" name="TextBox 42"/>
            <p:cNvSpPr txBox="1"/>
            <p:nvPr/>
          </p:nvSpPr>
          <p:spPr>
            <a:xfrm>
              <a:off x="9145067" y="5347335"/>
              <a:ext cx="1845716" cy="234696"/>
            </a:xfrm>
            <a:prstGeom prst="rect">
              <a:avLst/>
            </a:prstGeom>
            <a:noFill/>
            <a:ln>
              <a:noFill/>
            </a:ln>
          </p:spPr>
          <p:txBody>
            <a:bodyPr wrap="none" lIns="0" tIns="0" rIns="0" bIns="0" anchor="t" anchorCtr="0">
              <a:spAutoFit/>
            </a:bodyPr>
            <a:lstStyle/>
            <a:p>
              <a:pPr algn="ctr"/>
              <a:r>
                <a:rPr lang="en-US" sz="1200" dirty="0">
                  <a:solidFill>
                    <a:srgbClr val="E9EDF5"/>
                  </a:solidFill>
                  <a:latin typeface="+mn-lt"/>
                  <a:ea typeface="+mn-ea"/>
                  <a:cs typeface="+mn-cs"/>
                </a:rPr>
                <a:t>with increasing caution</a:t>
              </a:r>
            </a:p>
          </p:txBody>
        </p:sp>
      </p:grpSp>
      <p:grpSp>
        <p:nvGrpSpPr>
          <p:cNvPr id="47" name="Group 47"/>
          <p:cNvGrpSpPr/>
          <p:nvPr/>
        </p:nvGrpSpPr>
        <p:grpSpPr>
          <a:xfrm>
            <a:off x="527304" y="6048375"/>
            <a:ext cx="11137392" cy="371856"/>
            <a:chOff x="527304" y="6048375"/>
            <a:chExt cx="11137392" cy="371856"/>
          </a:xfrm>
        </p:grpSpPr>
        <p:sp>
          <p:nvSpPr>
            <p:cNvPr id="44" name="Line 44"/>
            <p:cNvSpPr/>
            <p:nvPr/>
          </p:nvSpPr>
          <p:spPr>
            <a:xfrm>
              <a:off x="533400" y="6048375"/>
              <a:ext cx="11125200" cy="9525"/>
            </a:xfrm>
            <a:custGeom>
              <a:avLst/>
              <a:gdLst/>
              <a:ahLst/>
              <a:cxnLst/>
              <a:rect l="l" t="t" r="r" b="b"/>
              <a:pathLst>
                <a:path w="11125200" h="9525">
                  <a:moveTo>
                    <a:pt x="0" y="0"/>
                  </a:moveTo>
                  <a:lnTo>
                    <a:pt x="11125200" y="0"/>
                  </a:lnTo>
                </a:path>
              </a:pathLst>
            </a:custGeom>
            <a:noFill/>
            <a:ln w="14288">
              <a:solidFill>
                <a:srgbClr val="CBD2DC"/>
              </a:solidFill>
            </a:ln>
          </p:spPr>
        </p:sp>
        <p:sp>
          <p:nvSpPr>
            <p:cNvPr id="45" name="TextBox 45"/>
            <p:cNvSpPr txBox="1"/>
            <p:nvPr/>
          </p:nvSpPr>
          <p:spPr>
            <a:xfrm>
              <a:off x="527304" y="6185535"/>
              <a:ext cx="6940635"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Spirtes, Glymour &amp; Scheines (2000) · Claassen, Mooij &amp; Heskes (2013) · Tennessee STAR</a:t>
              </a:r>
            </a:p>
          </p:txBody>
        </p:sp>
        <p:sp>
          <p:nvSpPr>
            <p:cNvPr id="46" name="TextBox 46"/>
            <p:cNvSpPr txBox="1"/>
            <p:nvPr/>
          </p:nvSpPr>
          <p:spPr>
            <a:xfrm>
              <a:off x="11111332" y="6185535"/>
              <a:ext cx="553364" cy="234696"/>
            </a:xfrm>
            <a:prstGeom prst="rect">
              <a:avLst/>
            </a:prstGeom>
            <a:noFill/>
            <a:ln>
              <a:noFill/>
            </a:ln>
          </p:spPr>
          <p:txBody>
            <a:bodyPr wrap="none" lIns="0" tIns="0" rIns="0" bIns="0" anchor="t" anchorCtr="0">
              <a:spAutoFit/>
            </a:bodyPr>
            <a:lstStyle/>
            <a:p>
              <a:pPr algn="r"/>
              <a:r>
                <a:rPr lang="en-US" sz="1200" dirty="0">
                  <a:solidFill>
                    <a:srgbClr val="5F6875"/>
                  </a:solidFill>
                  <a:latin typeface="Consolas"/>
                  <a:ea typeface="Consolas"/>
                  <a:cs typeface="Consolas"/>
                </a:rPr>
                <a:t>01 / 15</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18160" y="400050"/>
            <a:ext cx="11147298" cy="752475"/>
            <a:chOff x="518160" y="400050"/>
            <a:chExt cx="11147298" cy="752475"/>
          </a:xfrm>
        </p:grpSpPr>
        <p:sp>
          <p:nvSpPr>
            <p:cNvPr id="2" name="TextBox 2"/>
            <p:cNvSpPr txBox="1"/>
            <p:nvPr/>
          </p:nvSpPr>
          <p:spPr>
            <a:xfrm>
              <a:off x="518160" y="400050"/>
              <a:ext cx="11012195"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Latent Variables and Selection Change the Target</a:t>
              </a:r>
            </a:p>
          </p:txBody>
        </p:sp>
        <p:sp>
          <p:nvSpPr>
            <p:cNvPr id="3" name="TextBox 3"/>
            <p:cNvSpPr txBox="1"/>
            <p:nvPr/>
          </p:nvSpPr>
          <p:spPr>
            <a:xfrm>
              <a:off x="10211562" y="844868"/>
              <a:ext cx="1453896" cy="264033"/>
            </a:xfrm>
            <a:prstGeom prst="rect">
              <a:avLst/>
            </a:prstGeom>
            <a:noFill/>
            <a:ln>
              <a:noFill/>
            </a:ln>
          </p:spPr>
          <p:txBody>
            <a:bodyPr wrap="none" lIns="0" tIns="0" rIns="0" bIns="0" anchor="t" anchorCtr="0">
              <a:spAutoFit/>
            </a:bodyPr>
            <a:lstStyle/>
            <a:p>
              <a:pPr algn="r"/>
              <a:r>
                <a:rPr lang="en-US" sz="1350" dirty="0">
                  <a:solidFill>
                    <a:srgbClr val="5F6875"/>
                  </a:solidFill>
                  <a:latin typeface="Consolas"/>
                  <a:ea typeface="Consolas"/>
                  <a:cs typeface="Consolas"/>
                </a:rPr>
                <a:t>PROBLEM FRAME</a:t>
              </a:r>
            </a:p>
          </p:txBody>
        </p:sp>
        <p:sp>
          <p:nvSpPr>
            <p:cNvPr id="4" name="Line 4"/>
            <p:cNvSpPr/>
            <p:nvPr/>
          </p:nvSpPr>
          <p:spPr>
            <a:xfrm>
              <a:off x="533400" y="1143000"/>
              <a:ext cx="11125200" cy="9525"/>
            </a:xfrm>
            <a:custGeom>
              <a:avLst/>
              <a:gdLst/>
              <a:ahLst/>
              <a:cxnLst/>
              <a:rect l="l" t="t" r="r" b="b"/>
              <a:pathLst>
                <a:path w="11125200" h="9525">
                  <a:moveTo>
                    <a:pt x="0" y="0"/>
                  </a:moveTo>
                  <a:lnTo>
                    <a:pt x="11125200" y="0"/>
                  </a:lnTo>
                </a:path>
              </a:pathLst>
            </a:custGeom>
            <a:noFill/>
            <a:ln w="14288">
              <a:solidFill>
                <a:srgbClr val="CBD2DC"/>
              </a:solidFill>
            </a:ln>
          </p:spPr>
        </p:sp>
      </p:grpSp>
      <p:grpSp>
        <p:nvGrpSpPr>
          <p:cNvPr id="23" name="Group 23"/>
          <p:cNvGrpSpPr/>
          <p:nvPr/>
        </p:nvGrpSpPr>
        <p:grpSpPr>
          <a:xfrm>
            <a:off x="504825" y="1416368"/>
            <a:ext cx="5623350" cy="3805047"/>
            <a:chOff x="504825" y="1416368"/>
            <a:chExt cx="5623350" cy="3805047"/>
          </a:xfrm>
        </p:grpSpPr>
        <p:sp>
          <p:nvSpPr>
            <p:cNvPr id="6" name="TextBox 6"/>
            <p:cNvSpPr txBox="1"/>
            <p:nvPr/>
          </p:nvSpPr>
          <p:spPr>
            <a:xfrm>
              <a:off x="526542" y="1416368"/>
              <a:ext cx="2564275" cy="264033"/>
            </a:xfrm>
            <a:prstGeom prst="rect">
              <a:avLst/>
            </a:prstGeom>
            <a:noFill/>
            <a:ln>
              <a:noFill/>
            </a:ln>
          </p:spPr>
          <p:txBody>
            <a:bodyPr wrap="none" lIns="0" tIns="0" rIns="0" bIns="0" anchor="t" anchorCtr="0">
              <a:spAutoFit/>
            </a:bodyPr>
            <a:lstStyle/>
            <a:p>
              <a:pPr algn="l"/>
              <a:r>
                <a:rPr lang="en-US" sz="1350" b="1" dirty="0">
                  <a:solidFill>
                    <a:srgbClr val="5F6875"/>
                  </a:solidFill>
                  <a:latin typeface="+mn-lt"/>
                  <a:ea typeface="+mn-ea"/>
                  <a:cs typeface="+mn-cs"/>
                </a:rPr>
                <a:t>UNDERLYING CAUSAL SYSTEM</a:t>
              </a:r>
            </a:p>
          </p:txBody>
        </p:sp>
        <p:sp>
          <p:nvSpPr>
            <p:cNvPr id="7" name="Ellipse 7"/>
            <p:cNvSpPr/>
            <p:nvPr/>
          </p:nvSpPr>
          <p:spPr>
            <a:xfrm>
              <a:off x="1609725" y="1971675"/>
              <a:ext cx="723900" cy="723900"/>
            </a:xfrm>
            <a:prstGeom prst="ellipse">
              <a:avLst/>
            </a:prstGeom>
            <a:solidFill>
              <a:schemeClr val="accent5"/>
            </a:solidFill>
            <a:ln w="28575">
              <a:solidFill>
                <a:srgbClr val="7562A8"/>
              </a:solidFill>
              <a:custDash>
                <a:ds d="233333" sp="200000"/>
              </a:custDash>
            </a:ln>
          </p:spPr>
        </p:sp>
        <p:sp>
          <p:nvSpPr>
            <p:cNvPr id="8" name="TextBox 8"/>
            <p:cNvSpPr txBox="1"/>
            <p:nvPr/>
          </p:nvSpPr>
          <p:spPr>
            <a:xfrm>
              <a:off x="1848031" y="2166938"/>
              <a:ext cx="247288" cy="440055"/>
            </a:xfrm>
            <a:prstGeom prst="rect">
              <a:avLst/>
            </a:prstGeom>
            <a:noFill/>
            <a:ln>
              <a:noFill/>
            </a:ln>
          </p:spPr>
          <p:txBody>
            <a:bodyPr wrap="none" lIns="0" tIns="0" rIns="0" bIns="0" anchor="t" anchorCtr="0">
              <a:spAutoFit/>
            </a:bodyPr>
            <a:lstStyle/>
            <a:p>
              <a:pPr algn="ctr"/>
              <a:r>
                <a:rPr lang="en-US" sz="2250" b="1" dirty="0">
                  <a:solidFill>
                    <a:srgbClr val="7562A8"/>
                  </a:solidFill>
                  <a:latin typeface="+mj-lt"/>
                  <a:ea typeface="+mj-ea"/>
                  <a:cs typeface="+mj-cs"/>
                </a:rPr>
                <a:t>U</a:t>
              </a:r>
            </a:p>
          </p:txBody>
        </p:sp>
        <p:sp>
          <p:nvSpPr>
            <p:cNvPr id="9" name="TextBox 9"/>
            <p:cNvSpPr txBox="1"/>
            <p:nvPr/>
          </p:nvSpPr>
          <p:spPr>
            <a:xfrm>
              <a:off x="1465040" y="2711768"/>
              <a:ext cx="1013270" cy="264033"/>
            </a:xfrm>
            <a:prstGeom prst="rect">
              <a:avLst/>
            </a:prstGeom>
            <a:noFill/>
            <a:ln>
              <a:noFill/>
            </a:ln>
          </p:spPr>
          <p:txBody>
            <a:bodyPr wrap="none" lIns="0" tIns="0" rIns="0" bIns="0" anchor="t" anchorCtr="0">
              <a:spAutoFit/>
            </a:bodyPr>
            <a:lstStyle/>
            <a:p>
              <a:pPr algn="ctr"/>
              <a:r>
                <a:rPr lang="en-US" sz="1350" dirty="0">
                  <a:solidFill>
                    <a:srgbClr val="5F6875"/>
                  </a:solidFill>
                  <a:latin typeface="+mn-lt"/>
                  <a:ea typeface="+mn-ea"/>
                  <a:cs typeface="+mn-cs"/>
                </a:rPr>
                <a:t>unobserved</a:t>
              </a:r>
            </a:p>
          </p:txBody>
        </p:sp>
        <p:sp>
          <p:nvSpPr>
            <p:cNvPr id="10" name="Ellipse 10"/>
            <p:cNvSpPr/>
            <p:nvPr/>
          </p:nvSpPr>
          <p:spPr>
            <a:xfrm>
              <a:off x="504825" y="3267075"/>
              <a:ext cx="857250" cy="857250"/>
            </a:xfrm>
            <a:prstGeom prst="ellipse">
              <a:avLst/>
            </a:prstGeom>
            <a:solidFill>
              <a:srgbClr val="FFFFFF"/>
            </a:solidFill>
            <a:ln w="28575">
              <a:solidFill>
                <a:schemeClr val="accent2"/>
              </a:solidFill>
            </a:ln>
          </p:spPr>
        </p:sp>
        <p:sp>
          <p:nvSpPr>
            <p:cNvPr id="11" name="TextBox 11"/>
            <p:cNvSpPr txBox="1"/>
            <p:nvPr/>
          </p:nvSpPr>
          <p:spPr>
            <a:xfrm>
              <a:off x="850377" y="3577590"/>
              <a:ext cx="166146"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X</a:t>
              </a:r>
            </a:p>
          </p:txBody>
        </p:sp>
        <p:sp>
          <p:nvSpPr>
            <p:cNvPr id="12" name="Ellipse 12"/>
            <p:cNvSpPr/>
            <p:nvPr/>
          </p:nvSpPr>
          <p:spPr>
            <a:xfrm>
              <a:off x="2581275" y="3267075"/>
              <a:ext cx="857250" cy="857250"/>
            </a:xfrm>
            <a:prstGeom prst="ellipse">
              <a:avLst/>
            </a:prstGeom>
            <a:solidFill>
              <a:srgbClr val="FFFFFF"/>
            </a:solidFill>
            <a:ln w="28575">
              <a:solidFill>
                <a:schemeClr val="accent2"/>
              </a:solidFill>
            </a:ln>
          </p:spPr>
        </p:sp>
        <p:sp>
          <p:nvSpPr>
            <p:cNvPr id="13" name="TextBox 13"/>
            <p:cNvSpPr txBox="1"/>
            <p:nvPr/>
          </p:nvSpPr>
          <p:spPr>
            <a:xfrm>
              <a:off x="2926827" y="3577590"/>
              <a:ext cx="166146"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Y</a:t>
              </a:r>
            </a:p>
          </p:txBody>
        </p:sp>
        <p:sp>
          <p:nvSpPr>
            <p:cNvPr id="14" name="Ellipse 14"/>
            <p:cNvSpPr/>
            <p:nvPr/>
          </p:nvSpPr>
          <p:spPr>
            <a:xfrm>
              <a:off x="4524375" y="3267075"/>
              <a:ext cx="857250" cy="857250"/>
            </a:xfrm>
            <a:prstGeom prst="ellipse">
              <a:avLst/>
            </a:prstGeom>
            <a:solidFill>
              <a:srgbClr val="FFF7ED"/>
            </a:solidFill>
            <a:ln w="28575">
              <a:solidFill>
                <a:srgbClr val="B45F4A"/>
              </a:solidFill>
            </a:ln>
          </p:spPr>
        </p:sp>
        <p:sp>
          <p:nvSpPr>
            <p:cNvPr id="15" name="TextBox 15"/>
            <p:cNvSpPr txBox="1"/>
            <p:nvPr/>
          </p:nvSpPr>
          <p:spPr>
            <a:xfrm>
              <a:off x="4869927" y="3577590"/>
              <a:ext cx="166146"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S</a:t>
              </a:r>
            </a:p>
          </p:txBody>
        </p:sp>
        <p:sp>
          <p:nvSpPr>
            <p:cNvPr id="16" name="TextBox 16"/>
            <p:cNvSpPr txBox="1"/>
            <p:nvPr/>
          </p:nvSpPr>
          <p:spPr>
            <a:xfrm>
              <a:off x="4010196" y="4188142"/>
              <a:ext cx="1885607" cy="264033"/>
            </a:xfrm>
            <a:prstGeom prst="rect">
              <a:avLst/>
            </a:prstGeom>
            <a:noFill/>
            <a:ln>
              <a:noFill/>
            </a:ln>
          </p:spPr>
          <p:txBody>
            <a:bodyPr wrap="none" lIns="0" tIns="0" rIns="0" bIns="0" anchor="t" anchorCtr="0">
              <a:spAutoFit/>
            </a:bodyPr>
            <a:lstStyle/>
            <a:p>
              <a:pPr algn="ctr"/>
              <a:r>
                <a:rPr lang="en-US" sz="1350" dirty="0">
                  <a:solidFill>
                    <a:srgbClr val="B45F4A"/>
                  </a:solidFill>
                  <a:latin typeface="+mn-lt"/>
                  <a:ea typeface="+mn-ea"/>
                  <a:cs typeface="+mn-cs"/>
                </a:rPr>
                <a:t>conditioned selection</a:t>
              </a:r>
            </a:p>
          </p:txBody>
        </p:sp>
        <p:sp>
          <p:nvSpPr>
            <p:cNvPr id="17" name="Line 17"/>
            <p:cNvSpPr/>
            <p:nvPr/>
          </p:nvSpPr>
          <p:spPr>
            <a:xfrm flipH="1">
              <a:off x="1190625" y="2619375"/>
              <a:ext cx="552450" cy="685800"/>
            </a:xfrm>
            <a:prstGeom prst="line">
              <a:avLst/>
            </a:prstGeom>
            <a:noFill/>
            <a:ln w="28575">
              <a:solidFill>
                <a:srgbClr val="7562A8"/>
              </a:solidFill>
              <a:tailEnd type="triangle" w="lg" len="lg"/>
            </a:ln>
          </p:spPr>
        </p:sp>
        <p:sp>
          <p:nvSpPr>
            <p:cNvPr id="18" name="Line 18"/>
            <p:cNvSpPr/>
            <p:nvPr/>
          </p:nvSpPr>
          <p:spPr>
            <a:xfrm>
              <a:off x="2200275" y="2619375"/>
              <a:ext cx="552450" cy="685800"/>
            </a:xfrm>
            <a:prstGeom prst="line">
              <a:avLst/>
            </a:prstGeom>
            <a:noFill/>
            <a:ln w="28575">
              <a:solidFill>
                <a:srgbClr val="7562A8"/>
              </a:solidFill>
              <a:tailEnd type="triangle" w="lg" len="lg"/>
            </a:ln>
          </p:spPr>
        </p:sp>
        <p:sp>
          <p:nvSpPr>
            <p:cNvPr id="19" name="Line 19"/>
            <p:cNvSpPr/>
            <p:nvPr/>
          </p:nvSpPr>
          <p:spPr>
            <a:xfrm>
              <a:off x="1323975" y="3695700"/>
              <a:ext cx="3143250" cy="1"/>
            </a:xfrm>
            <a:prstGeom prst="line">
              <a:avLst/>
            </a:prstGeom>
            <a:noFill/>
            <a:ln w="28575">
              <a:solidFill>
                <a:srgbClr val="B45F4A"/>
              </a:solidFill>
              <a:tailEnd type="triangle" w="lg" len="lg"/>
            </a:ln>
          </p:spPr>
        </p:sp>
        <p:sp>
          <p:nvSpPr>
            <p:cNvPr id="20" name="Line 20"/>
            <p:cNvSpPr/>
            <p:nvPr/>
          </p:nvSpPr>
          <p:spPr>
            <a:xfrm flipV="1">
              <a:off x="3438525" y="3390900"/>
              <a:ext cx="1057275" cy="171450"/>
            </a:xfrm>
            <a:prstGeom prst="line">
              <a:avLst/>
            </a:prstGeom>
            <a:noFill/>
            <a:ln w="28575">
              <a:solidFill>
                <a:srgbClr val="B45F4A"/>
              </a:solidFill>
              <a:tailEnd type="triangle" w="lg" len="lg"/>
            </a:ln>
          </p:spPr>
        </p:sp>
        <p:sp>
          <p:nvSpPr>
            <p:cNvPr id="21" name="TextBox 21"/>
            <p:cNvSpPr txBox="1"/>
            <p:nvPr/>
          </p:nvSpPr>
          <p:spPr>
            <a:xfrm>
              <a:off x="525018" y="4632008"/>
              <a:ext cx="5302363"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Marginalizing U and conditioning on S can induce a</a:t>
              </a:r>
            </a:p>
          </p:txBody>
        </p:sp>
        <p:sp>
          <p:nvSpPr>
            <p:cNvPr id="22" name="TextBox 22"/>
            <p:cNvSpPr txBox="1"/>
            <p:nvPr/>
          </p:nvSpPr>
          <p:spPr>
            <a:xfrm>
              <a:off x="525018" y="4898708"/>
              <a:ext cx="5603157" cy="322707"/>
            </a:xfrm>
            <a:prstGeom prst="rect">
              <a:avLst/>
            </a:prstGeom>
            <a:noFill/>
            <a:ln>
              <a:noFill/>
            </a:ln>
          </p:spPr>
          <p:txBody>
            <a:bodyPr wrap="none" lIns="0" tIns="0" rIns="0" bIns="0" anchor="t" anchorCtr="0">
              <a:spAutoFit/>
            </a:bodyPr>
            <a:lstStyle/>
            <a:p>
              <a:pPr algn="l"/>
              <a:r>
                <a:rPr lang="en-US" sz="1650" dirty="0">
                  <a:solidFill>
                    <a:schemeClr val="dk1"/>
                  </a:solidFill>
                  <a:latin typeface="+mn-lt"/>
                  <a:ea typeface="+mn-ea"/>
                  <a:cs typeface="+mn-cs"/>
                </a:rPr>
                <a:t>mixed ancestral relation among observed variables.</a:t>
              </a:r>
            </a:p>
          </p:txBody>
        </p:sp>
      </p:grpSp>
      <p:grpSp>
        <p:nvGrpSpPr>
          <p:cNvPr id="42" name="Group 42"/>
          <p:cNvGrpSpPr/>
          <p:nvPr/>
        </p:nvGrpSpPr>
        <p:grpSpPr>
          <a:xfrm>
            <a:off x="6819900" y="1352550"/>
            <a:ext cx="4838700" cy="3676650"/>
            <a:chOff x="6819900" y="1352550"/>
            <a:chExt cx="4838700" cy="3676650"/>
          </a:xfrm>
        </p:grpSpPr>
        <p:sp>
          <p:nvSpPr>
            <p:cNvPr id="24" name="Rectangle 24"/>
            <p:cNvSpPr/>
            <p:nvPr/>
          </p:nvSpPr>
          <p:spPr>
            <a:xfrm>
              <a:off x="6819900" y="1352550"/>
              <a:ext cx="4838700" cy="3676650"/>
            </a:xfrm>
            <a:prstGeom prst="roundRect">
              <a:avLst>
                <a:gd name="adj" fmla="val 4145"/>
              </a:avLst>
            </a:prstGeom>
            <a:solidFill>
              <a:schemeClr val="accent1"/>
            </a:solidFill>
            <a:ln>
              <a:noFill/>
            </a:ln>
          </p:spPr>
        </p:sp>
        <p:sp>
          <p:nvSpPr>
            <p:cNvPr id="25" name="TextBox 25"/>
            <p:cNvSpPr txBox="1"/>
            <p:nvPr/>
          </p:nvSpPr>
          <p:spPr>
            <a:xfrm>
              <a:off x="7098792" y="1540192"/>
              <a:ext cx="2009805" cy="264033"/>
            </a:xfrm>
            <a:prstGeom prst="rect">
              <a:avLst/>
            </a:prstGeom>
            <a:noFill/>
            <a:ln>
              <a:noFill/>
            </a:ln>
          </p:spPr>
          <p:txBody>
            <a:bodyPr wrap="none" lIns="0" tIns="0" rIns="0" bIns="0" anchor="t" anchorCtr="0">
              <a:spAutoFit/>
            </a:bodyPr>
            <a:lstStyle/>
            <a:p>
              <a:pPr algn="l"/>
              <a:r>
                <a:rPr lang="en-US" sz="1350" b="1" dirty="0">
                  <a:solidFill>
                    <a:srgbClr val="E9EDF5"/>
                  </a:solidFill>
                  <a:latin typeface="+mn-lt"/>
                  <a:ea typeface="+mn-ea"/>
                  <a:cs typeface="+mn-cs"/>
                </a:rPr>
                <a:t>RIGHT OUTPUT TARGET</a:t>
              </a:r>
            </a:p>
          </p:txBody>
        </p:sp>
        <p:sp>
          <p:nvSpPr>
            <p:cNvPr id="26" name="TextBox 26"/>
            <p:cNvSpPr txBox="1"/>
            <p:nvPr/>
          </p:nvSpPr>
          <p:spPr>
            <a:xfrm>
              <a:off x="7093458" y="1864995"/>
              <a:ext cx="4402531" cy="469392"/>
            </a:xfrm>
            <a:prstGeom prst="rect">
              <a:avLst/>
            </a:prstGeom>
            <a:noFill/>
            <a:ln>
              <a:noFill/>
            </a:ln>
          </p:spPr>
          <p:txBody>
            <a:bodyPr wrap="none" lIns="0" tIns="0" rIns="0" bIns="0" anchor="t" anchorCtr="0">
              <a:spAutoFit/>
            </a:bodyPr>
            <a:lstStyle/>
            <a:p>
              <a:pPr algn="l"/>
              <a:r>
                <a:rPr lang="en-US" sz="2400" b="1" dirty="0">
                  <a:solidFill>
                    <a:srgbClr val="FFFFFF"/>
                  </a:solidFill>
                  <a:latin typeface="+mj-lt"/>
                  <a:ea typeface="+mj-ea"/>
                  <a:cs typeface="+mj-cs"/>
                </a:rPr>
                <a:t>PAG, not one unique DAG</a:t>
              </a:r>
            </a:p>
          </p:txBody>
        </p:sp>
        <p:sp>
          <p:nvSpPr>
            <p:cNvPr id="27" name="Line 27"/>
            <p:cNvSpPr/>
            <p:nvPr/>
          </p:nvSpPr>
          <p:spPr>
            <a:xfrm>
              <a:off x="7191375" y="2724150"/>
              <a:ext cx="1381125" cy="9525"/>
            </a:xfrm>
            <a:custGeom>
              <a:avLst/>
              <a:gdLst/>
              <a:ahLst/>
              <a:cxnLst/>
              <a:rect l="l" t="t" r="r" b="b"/>
              <a:pathLst>
                <a:path w="1381125" h="9525">
                  <a:moveTo>
                    <a:pt x="0" y="0"/>
                  </a:moveTo>
                  <a:lnTo>
                    <a:pt x="1381125" y="0"/>
                  </a:lnTo>
                </a:path>
              </a:pathLst>
            </a:custGeom>
            <a:noFill/>
            <a:ln w="28575">
              <a:solidFill>
                <a:srgbClr val="FFFFFF"/>
              </a:solidFill>
            </a:ln>
          </p:spPr>
        </p:sp>
        <p:sp>
          <p:nvSpPr>
            <p:cNvPr id="28" name="Ellipse 28"/>
            <p:cNvSpPr/>
            <p:nvPr/>
          </p:nvSpPr>
          <p:spPr>
            <a:xfrm>
              <a:off x="7115175" y="2647950"/>
              <a:ext cx="152400" cy="152400"/>
            </a:xfrm>
            <a:prstGeom prst="ellipse">
              <a:avLst/>
            </a:prstGeom>
            <a:solidFill>
              <a:schemeClr val="accent1"/>
            </a:solidFill>
            <a:ln w="28575">
              <a:solidFill>
                <a:srgbClr val="FFFFFF"/>
              </a:solidFill>
            </a:ln>
          </p:spPr>
        </p:sp>
        <p:sp>
          <p:nvSpPr>
            <p:cNvPr id="29" name="Polygon 29"/>
            <p:cNvSpPr/>
            <p:nvPr/>
          </p:nvSpPr>
          <p:spPr>
            <a:xfrm>
              <a:off x="8401050" y="2628900"/>
              <a:ext cx="171450" cy="190500"/>
            </a:xfrm>
            <a:custGeom>
              <a:avLst/>
              <a:gdLst/>
              <a:ahLst/>
              <a:cxnLst/>
              <a:rect l="l" t="t" r="r" b="b"/>
              <a:pathLst>
                <a:path w="171450" h="190500">
                  <a:moveTo>
                    <a:pt x="171450" y="95250"/>
                  </a:moveTo>
                  <a:lnTo>
                    <a:pt x="0" y="0"/>
                  </a:lnTo>
                  <a:lnTo>
                    <a:pt x="0" y="190500"/>
                  </a:lnTo>
                  <a:close/>
                </a:path>
              </a:pathLst>
            </a:custGeom>
            <a:solidFill>
              <a:srgbClr val="FFFFFF"/>
            </a:solidFill>
            <a:ln>
              <a:noFill/>
            </a:ln>
          </p:spPr>
        </p:sp>
        <p:sp>
          <p:nvSpPr>
            <p:cNvPr id="30" name="TextBox 30"/>
            <p:cNvSpPr txBox="1"/>
            <p:nvPr/>
          </p:nvSpPr>
          <p:spPr>
            <a:xfrm>
              <a:off x="8839581" y="260604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circle → arrow</a:t>
              </a:r>
            </a:p>
          </p:txBody>
        </p:sp>
        <p:sp>
          <p:nvSpPr>
            <p:cNvPr id="31" name="Line 31"/>
            <p:cNvSpPr/>
            <p:nvPr/>
          </p:nvSpPr>
          <p:spPr>
            <a:xfrm>
              <a:off x="7191375" y="3276600"/>
              <a:ext cx="1381125" cy="9525"/>
            </a:xfrm>
            <a:custGeom>
              <a:avLst/>
              <a:gdLst/>
              <a:ahLst/>
              <a:cxnLst/>
              <a:rect l="l" t="t" r="r" b="b"/>
              <a:pathLst>
                <a:path w="1381125" h="9525">
                  <a:moveTo>
                    <a:pt x="0" y="0"/>
                  </a:moveTo>
                  <a:lnTo>
                    <a:pt x="1381125" y="0"/>
                  </a:lnTo>
                </a:path>
              </a:pathLst>
            </a:custGeom>
            <a:noFill/>
            <a:ln w="28575">
              <a:solidFill>
                <a:srgbClr val="FFFFFF"/>
              </a:solidFill>
            </a:ln>
          </p:spPr>
        </p:sp>
        <p:sp>
          <p:nvSpPr>
            <p:cNvPr id="32" name="Line 32"/>
            <p:cNvSpPr/>
            <p:nvPr/>
          </p:nvSpPr>
          <p:spPr>
            <a:xfrm>
              <a:off x="7191375" y="3143250"/>
              <a:ext cx="9525" cy="266700"/>
            </a:xfrm>
            <a:custGeom>
              <a:avLst/>
              <a:gdLst/>
              <a:ahLst/>
              <a:cxnLst/>
              <a:rect l="l" t="t" r="r" b="b"/>
              <a:pathLst>
                <a:path w="9525" h="266700">
                  <a:moveTo>
                    <a:pt x="0" y="0"/>
                  </a:moveTo>
                  <a:lnTo>
                    <a:pt x="0" y="266700"/>
                  </a:lnTo>
                </a:path>
              </a:pathLst>
            </a:custGeom>
            <a:noFill/>
            <a:ln w="28575">
              <a:solidFill>
                <a:srgbClr val="FFFFFF"/>
              </a:solidFill>
            </a:ln>
          </p:spPr>
        </p:sp>
        <p:sp>
          <p:nvSpPr>
            <p:cNvPr id="33" name="Polygon 33"/>
            <p:cNvSpPr/>
            <p:nvPr/>
          </p:nvSpPr>
          <p:spPr>
            <a:xfrm>
              <a:off x="8401050" y="3181350"/>
              <a:ext cx="171450" cy="190500"/>
            </a:xfrm>
            <a:custGeom>
              <a:avLst/>
              <a:gdLst/>
              <a:ahLst/>
              <a:cxnLst/>
              <a:rect l="l" t="t" r="r" b="b"/>
              <a:pathLst>
                <a:path w="171450" h="190500">
                  <a:moveTo>
                    <a:pt x="171450" y="95250"/>
                  </a:moveTo>
                  <a:lnTo>
                    <a:pt x="0" y="0"/>
                  </a:lnTo>
                  <a:lnTo>
                    <a:pt x="0" y="190500"/>
                  </a:lnTo>
                  <a:close/>
                </a:path>
              </a:pathLst>
            </a:custGeom>
            <a:solidFill>
              <a:srgbClr val="FFFFFF"/>
            </a:solidFill>
            <a:ln>
              <a:noFill/>
            </a:ln>
          </p:spPr>
        </p:sp>
        <p:sp>
          <p:nvSpPr>
            <p:cNvPr id="34" name="TextBox 34"/>
            <p:cNvSpPr txBox="1"/>
            <p:nvPr/>
          </p:nvSpPr>
          <p:spPr>
            <a:xfrm>
              <a:off x="8839581" y="3158490"/>
              <a:ext cx="1423721"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tail → arrow</a:t>
              </a:r>
            </a:p>
          </p:txBody>
        </p:sp>
        <p:sp>
          <p:nvSpPr>
            <p:cNvPr id="35" name="Line 35"/>
            <p:cNvSpPr/>
            <p:nvPr/>
          </p:nvSpPr>
          <p:spPr>
            <a:xfrm>
              <a:off x="7191375" y="3829050"/>
              <a:ext cx="1381125" cy="9525"/>
            </a:xfrm>
            <a:custGeom>
              <a:avLst/>
              <a:gdLst/>
              <a:ahLst/>
              <a:cxnLst/>
              <a:rect l="l" t="t" r="r" b="b"/>
              <a:pathLst>
                <a:path w="1381125" h="9525">
                  <a:moveTo>
                    <a:pt x="0" y="0"/>
                  </a:moveTo>
                  <a:lnTo>
                    <a:pt x="1381125" y="0"/>
                  </a:lnTo>
                </a:path>
              </a:pathLst>
            </a:custGeom>
            <a:noFill/>
            <a:ln w="28575">
              <a:solidFill>
                <a:srgbClr val="FFFFFF"/>
              </a:solidFill>
            </a:ln>
          </p:spPr>
        </p:sp>
        <p:sp>
          <p:nvSpPr>
            <p:cNvPr id="36" name="Polygon 36"/>
            <p:cNvSpPr/>
            <p:nvPr/>
          </p:nvSpPr>
          <p:spPr>
            <a:xfrm>
              <a:off x="7191375" y="3733800"/>
              <a:ext cx="171450" cy="190500"/>
            </a:xfrm>
            <a:custGeom>
              <a:avLst/>
              <a:gdLst/>
              <a:ahLst/>
              <a:cxnLst/>
              <a:rect l="l" t="t" r="r" b="b"/>
              <a:pathLst>
                <a:path w="171450" h="190500">
                  <a:moveTo>
                    <a:pt x="0" y="95250"/>
                  </a:moveTo>
                  <a:lnTo>
                    <a:pt x="171450" y="0"/>
                  </a:lnTo>
                  <a:lnTo>
                    <a:pt x="171450" y="190500"/>
                  </a:lnTo>
                  <a:close/>
                </a:path>
              </a:pathLst>
            </a:custGeom>
            <a:solidFill>
              <a:srgbClr val="FFFFFF"/>
            </a:solidFill>
            <a:ln>
              <a:noFill/>
            </a:ln>
          </p:spPr>
        </p:sp>
        <p:sp>
          <p:nvSpPr>
            <p:cNvPr id="37" name="Polygon 37"/>
            <p:cNvSpPr/>
            <p:nvPr/>
          </p:nvSpPr>
          <p:spPr>
            <a:xfrm>
              <a:off x="8401050" y="3733800"/>
              <a:ext cx="171450" cy="190500"/>
            </a:xfrm>
            <a:custGeom>
              <a:avLst/>
              <a:gdLst/>
              <a:ahLst/>
              <a:cxnLst/>
              <a:rect l="l" t="t" r="r" b="b"/>
              <a:pathLst>
                <a:path w="171450" h="190500">
                  <a:moveTo>
                    <a:pt x="171450" y="95250"/>
                  </a:moveTo>
                  <a:lnTo>
                    <a:pt x="0" y="0"/>
                  </a:lnTo>
                  <a:lnTo>
                    <a:pt x="0" y="190500"/>
                  </a:lnTo>
                  <a:close/>
                </a:path>
              </a:pathLst>
            </a:custGeom>
            <a:solidFill>
              <a:srgbClr val="FFFFFF"/>
            </a:solidFill>
            <a:ln>
              <a:noFill/>
            </a:ln>
          </p:spPr>
        </p:sp>
        <p:sp>
          <p:nvSpPr>
            <p:cNvPr id="38" name="TextBox 38"/>
            <p:cNvSpPr txBox="1"/>
            <p:nvPr/>
          </p:nvSpPr>
          <p:spPr>
            <a:xfrm>
              <a:off x="8839581" y="3710940"/>
              <a:ext cx="12298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bidirected</a:t>
              </a:r>
            </a:p>
          </p:txBody>
        </p:sp>
        <p:sp>
          <p:nvSpPr>
            <p:cNvPr id="39" name="TextBox 39"/>
            <p:cNvSpPr txBox="1"/>
            <p:nvPr/>
          </p:nvSpPr>
          <p:spPr>
            <a:xfrm>
              <a:off x="7098792" y="4264342"/>
              <a:ext cx="2291552" cy="264033"/>
            </a:xfrm>
            <a:prstGeom prst="rect">
              <a:avLst/>
            </a:prstGeom>
            <a:noFill/>
            <a:ln>
              <a:noFill/>
            </a:ln>
          </p:spPr>
          <p:txBody>
            <a:bodyPr wrap="none" lIns="0" tIns="0" rIns="0" bIns="0" anchor="t" anchorCtr="0">
              <a:spAutoFit/>
            </a:bodyPr>
            <a:lstStyle/>
            <a:p>
              <a:pPr algn="l"/>
              <a:r>
                <a:rPr lang="en-US" sz="1350" dirty="0">
                  <a:solidFill>
                    <a:srgbClr val="E9EDF5"/>
                  </a:solidFill>
                  <a:latin typeface="+mn-lt"/>
                  <a:ea typeface="+mn-ea"/>
                  <a:cs typeface="+mn-cs"/>
                </a:rPr>
                <a:t>Adjacency ≠ direct effect</a:t>
              </a:r>
            </a:p>
          </p:txBody>
        </p:sp>
        <p:sp>
          <p:nvSpPr>
            <p:cNvPr id="40" name="TextBox 40"/>
            <p:cNvSpPr txBox="1"/>
            <p:nvPr/>
          </p:nvSpPr>
          <p:spPr>
            <a:xfrm>
              <a:off x="7098792" y="4511992"/>
              <a:ext cx="2500277" cy="264033"/>
            </a:xfrm>
            <a:prstGeom prst="rect">
              <a:avLst/>
            </a:prstGeom>
            <a:noFill/>
            <a:ln>
              <a:noFill/>
            </a:ln>
          </p:spPr>
          <p:txBody>
            <a:bodyPr wrap="none" lIns="0" tIns="0" rIns="0" bIns="0" anchor="t" anchorCtr="0">
              <a:spAutoFit/>
            </a:bodyPr>
            <a:lstStyle/>
            <a:p>
              <a:pPr algn="l"/>
              <a:r>
                <a:rPr lang="en-US" sz="1350" dirty="0">
                  <a:solidFill>
                    <a:srgbClr val="E9EDF5"/>
                  </a:solidFill>
                  <a:latin typeface="+mn-lt"/>
                  <a:ea typeface="+mn-ea"/>
                  <a:cs typeface="+mn-cs"/>
                </a:rPr>
                <a:t>Circle = unresolved endpoint</a:t>
              </a:r>
            </a:p>
          </p:txBody>
        </p:sp>
        <p:sp>
          <p:nvSpPr>
            <p:cNvPr id="41" name="TextBox 41"/>
            <p:cNvSpPr txBox="1"/>
            <p:nvPr/>
          </p:nvSpPr>
          <p:spPr>
            <a:xfrm>
              <a:off x="7098792" y="4759642"/>
              <a:ext cx="2604281" cy="264033"/>
            </a:xfrm>
            <a:prstGeom prst="rect">
              <a:avLst/>
            </a:prstGeom>
            <a:noFill/>
            <a:ln>
              <a:noFill/>
            </a:ln>
          </p:spPr>
          <p:txBody>
            <a:bodyPr wrap="none" lIns="0" tIns="0" rIns="0" bIns="0" anchor="t" anchorCtr="0">
              <a:spAutoFit/>
            </a:bodyPr>
            <a:lstStyle/>
            <a:p>
              <a:pPr algn="l"/>
              <a:r>
                <a:rPr lang="en-US" sz="1350" dirty="0">
                  <a:solidFill>
                    <a:srgbClr val="E9EDF5"/>
                  </a:solidFill>
                  <a:latin typeface="+mn-lt"/>
                  <a:ea typeface="+mn-ea"/>
                  <a:cs typeface="+mn-cs"/>
                </a:rPr>
                <a:t>Sample CI test ≠ exact oracle</a:t>
              </a:r>
            </a:p>
          </p:txBody>
        </p:sp>
      </p:grpSp>
      <p:grpSp>
        <p:nvGrpSpPr>
          <p:cNvPr id="46" name="Group 46"/>
          <p:cNvGrpSpPr/>
          <p:nvPr/>
        </p:nvGrpSpPr>
        <p:grpSpPr>
          <a:xfrm>
            <a:off x="533400" y="5314950"/>
            <a:ext cx="11125200" cy="736473"/>
            <a:chOff x="533400" y="5314950"/>
            <a:chExt cx="11125200" cy="736473"/>
          </a:xfrm>
        </p:grpSpPr>
        <p:sp>
          <p:nvSpPr>
            <p:cNvPr id="43" name="Rectangle 43"/>
            <p:cNvSpPr/>
            <p:nvPr/>
          </p:nvSpPr>
          <p:spPr>
            <a:xfrm>
              <a:off x="533400" y="5314950"/>
              <a:ext cx="11125200" cy="723900"/>
            </a:xfrm>
            <a:prstGeom prst="roundRect">
              <a:avLst>
                <a:gd name="adj" fmla="val 15789"/>
              </a:avLst>
            </a:prstGeom>
            <a:solidFill>
              <a:schemeClr val="accent5"/>
            </a:solidFill>
            <a:ln>
              <a:noFill/>
            </a:ln>
          </p:spPr>
        </p:sp>
        <p:sp>
          <p:nvSpPr>
            <p:cNvPr id="44" name="TextBox 44"/>
            <p:cNvSpPr txBox="1"/>
            <p:nvPr/>
          </p:nvSpPr>
          <p:spPr>
            <a:xfrm>
              <a:off x="751332" y="5345430"/>
              <a:ext cx="7526115"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The graph records invariant ancestral constraints—</a:t>
              </a:r>
            </a:p>
          </p:txBody>
        </p:sp>
        <p:sp>
          <p:nvSpPr>
            <p:cNvPr id="45" name="TextBox 45"/>
            <p:cNvSpPr txBox="1"/>
            <p:nvPr/>
          </p:nvSpPr>
          <p:spPr>
            <a:xfrm>
              <a:off x="751332" y="5640705"/>
              <a:ext cx="8392142" cy="410718"/>
            </a:xfrm>
            <a:prstGeom prst="rect">
              <a:avLst/>
            </a:prstGeom>
            <a:noFill/>
            <a:ln>
              <a:noFill/>
            </a:ln>
          </p:spPr>
          <p:txBody>
            <a:bodyPr wrap="none" lIns="0" tIns="0" rIns="0" bIns="0" anchor="t" anchorCtr="0">
              <a:spAutoFit/>
            </a:bodyPr>
            <a:lstStyle/>
            <a:p>
              <a:pPr algn="l"/>
              <a:r>
                <a:rPr lang="en-US" sz="2100" b="1" dirty="0">
                  <a:solidFill>
                    <a:schemeClr val="accent1"/>
                  </a:solidFill>
                  <a:latin typeface="+mn-lt"/>
                  <a:ea typeface="+mn-ea"/>
                  <a:cs typeface="+mn-cs"/>
                </a:rPr>
                <a:t>and preserves uncertainty where the data cannot decide.</a:t>
              </a:r>
            </a:p>
          </p:txBody>
        </p:sp>
      </p:grpSp>
      <p:grpSp>
        <p:nvGrpSpPr>
          <p:cNvPr id="49" name="Group 49"/>
          <p:cNvGrpSpPr/>
          <p:nvPr/>
        </p:nvGrpSpPr>
        <p:grpSpPr>
          <a:xfrm>
            <a:off x="527304" y="6290310"/>
            <a:ext cx="11137392" cy="234696"/>
            <a:chOff x="527304" y="6290310"/>
            <a:chExt cx="11137392" cy="234696"/>
          </a:xfrm>
        </p:grpSpPr>
        <p:sp>
          <p:nvSpPr>
            <p:cNvPr id="47" name="TextBox 47"/>
            <p:cNvSpPr txBox="1"/>
            <p:nvPr/>
          </p:nvSpPr>
          <p:spPr>
            <a:xfrm>
              <a:off x="527304" y="6290310"/>
              <a:ext cx="5858517"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Spirtes et al. (2000), Ch. 6 · Richardson &amp; Spirtes (2002) · Zhang (2008)</a:t>
              </a:r>
            </a:p>
          </p:txBody>
        </p:sp>
        <p:sp>
          <p:nvSpPr>
            <p:cNvPr id="48" name="TextBox 48"/>
            <p:cNvSpPr txBox="1"/>
            <p:nvPr/>
          </p:nvSpPr>
          <p:spPr>
            <a:xfrm>
              <a:off x="11111332" y="6290310"/>
              <a:ext cx="553364" cy="234696"/>
            </a:xfrm>
            <a:prstGeom prst="rect">
              <a:avLst/>
            </a:prstGeom>
            <a:noFill/>
            <a:ln>
              <a:noFill/>
            </a:ln>
          </p:spPr>
          <p:txBody>
            <a:bodyPr wrap="none" lIns="0" tIns="0" rIns="0" bIns="0" anchor="t" anchorCtr="0">
              <a:spAutoFit/>
            </a:bodyPr>
            <a:lstStyle/>
            <a:p>
              <a:pPr algn="r"/>
              <a:r>
                <a:rPr lang="en-US" sz="1200" dirty="0">
                  <a:solidFill>
                    <a:srgbClr val="5F6875"/>
                  </a:solidFill>
                  <a:latin typeface="Consolas"/>
                  <a:ea typeface="Consolas"/>
                  <a:cs typeface="Consolas"/>
                </a:rPr>
                <a:t>02 / 15</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17398" y="383858"/>
            <a:ext cx="11148060" cy="635317"/>
            <a:chOff x="517398" y="383858"/>
            <a:chExt cx="11148060" cy="635317"/>
          </a:xfrm>
        </p:grpSpPr>
        <p:sp>
          <p:nvSpPr>
            <p:cNvPr id="2" name="TextBox 2"/>
            <p:cNvSpPr txBox="1"/>
            <p:nvPr/>
          </p:nvSpPr>
          <p:spPr>
            <a:xfrm>
              <a:off x="517398" y="383858"/>
              <a:ext cx="9899037"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The Project Asks Five Auditable Questions</a:t>
              </a:r>
            </a:p>
          </p:txBody>
        </p:sp>
        <p:sp>
          <p:nvSpPr>
            <p:cNvPr id="3" name="TextBox 3"/>
            <p:cNvSpPr txBox="1"/>
            <p:nvPr/>
          </p:nvSpPr>
          <p:spPr>
            <a:xfrm>
              <a:off x="10029139" y="406718"/>
              <a:ext cx="1636319" cy="264033"/>
            </a:xfrm>
            <a:prstGeom prst="rect">
              <a:avLst/>
            </a:prstGeom>
            <a:noFill/>
            <a:ln>
              <a:noFill/>
            </a:ln>
          </p:spPr>
          <p:txBody>
            <a:bodyPr wrap="none" lIns="0" tIns="0" rIns="0" bIns="0" anchor="t" anchorCtr="0">
              <a:spAutoFit/>
            </a:bodyPr>
            <a:lstStyle/>
            <a:p>
              <a:pPr algn="r"/>
              <a:r>
                <a:rPr lang="en-US" sz="1350" dirty="0">
                  <a:solidFill>
                    <a:srgbClr val="5F6875"/>
                  </a:solidFill>
                  <a:latin typeface="Consolas"/>
                  <a:ea typeface="Consolas"/>
                  <a:cs typeface="Consolas"/>
                </a:rPr>
                <a:t>EVALUATION LOGIC</a:t>
              </a:r>
            </a:p>
          </p:txBody>
        </p:sp>
        <p:sp>
          <p:nvSpPr>
            <p:cNvPr id="4" name="Line 4"/>
            <p:cNvSpPr/>
            <p:nvPr/>
          </p:nvSpPr>
          <p:spPr>
            <a:xfrm>
              <a:off x="533400" y="1009650"/>
              <a:ext cx="11125200" cy="9525"/>
            </a:xfrm>
            <a:custGeom>
              <a:avLst/>
              <a:gdLst/>
              <a:ahLst/>
              <a:cxnLst/>
              <a:rect l="l" t="t" r="r" b="b"/>
              <a:pathLst>
                <a:path w="11125200" h="9525">
                  <a:moveTo>
                    <a:pt x="0" y="0"/>
                  </a:moveTo>
                  <a:lnTo>
                    <a:pt x="11125200" y="0"/>
                  </a:lnTo>
                </a:path>
              </a:pathLst>
            </a:custGeom>
            <a:noFill/>
            <a:ln w="14288">
              <a:solidFill>
                <a:srgbClr val="CBD2DC"/>
              </a:solidFill>
            </a:ln>
          </p:spPr>
        </p:sp>
      </p:grpSp>
      <p:grpSp>
        <p:nvGrpSpPr>
          <p:cNvPr id="27" name="Group 27"/>
          <p:cNvGrpSpPr/>
          <p:nvPr/>
        </p:nvGrpSpPr>
        <p:grpSpPr>
          <a:xfrm>
            <a:off x="1143000" y="1419225"/>
            <a:ext cx="9953625" cy="4162425"/>
            <a:chOff x="1143000" y="1419225"/>
            <a:chExt cx="9953625" cy="4162425"/>
          </a:xfrm>
        </p:grpSpPr>
        <p:sp>
          <p:nvSpPr>
            <p:cNvPr id="6" name="Line 6"/>
            <p:cNvSpPr/>
            <p:nvPr/>
          </p:nvSpPr>
          <p:spPr>
            <a:xfrm>
              <a:off x="1428750" y="1666875"/>
              <a:ext cx="9525" cy="3581400"/>
            </a:xfrm>
            <a:custGeom>
              <a:avLst/>
              <a:gdLst/>
              <a:ahLst/>
              <a:cxnLst/>
              <a:rect l="l" t="t" r="r" b="b"/>
              <a:pathLst>
                <a:path w="9525" h="3581400">
                  <a:moveTo>
                    <a:pt x="0" y="0"/>
                  </a:moveTo>
                  <a:lnTo>
                    <a:pt x="0" y="3581400"/>
                  </a:lnTo>
                </a:path>
              </a:pathLst>
            </a:custGeom>
            <a:noFill/>
            <a:ln w="57150">
              <a:solidFill>
                <a:srgbClr val="CBD2DC"/>
              </a:solidFill>
            </a:ln>
          </p:spPr>
        </p:sp>
        <p:sp>
          <p:nvSpPr>
            <p:cNvPr id="7" name="Ellipse 7"/>
            <p:cNvSpPr/>
            <p:nvPr/>
          </p:nvSpPr>
          <p:spPr>
            <a:xfrm>
              <a:off x="1143000" y="1428750"/>
              <a:ext cx="571500" cy="571500"/>
            </a:xfrm>
            <a:prstGeom prst="ellipse">
              <a:avLst/>
            </a:prstGeom>
            <a:solidFill>
              <a:schemeClr val="accent2"/>
            </a:solidFill>
            <a:ln>
              <a:noFill/>
            </a:ln>
          </p:spPr>
        </p:sp>
        <p:sp>
          <p:nvSpPr>
            <p:cNvPr id="8" name="TextBox 8"/>
            <p:cNvSpPr txBox="1"/>
            <p:nvPr/>
          </p:nvSpPr>
          <p:spPr>
            <a:xfrm>
              <a:off x="1349637" y="1615440"/>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Consolas"/>
                  <a:ea typeface="Consolas"/>
                  <a:cs typeface="Consolas"/>
                </a:rPr>
                <a:t>1</a:t>
              </a:r>
            </a:p>
          </p:txBody>
        </p:sp>
        <p:sp>
          <p:nvSpPr>
            <p:cNvPr id="9" name="TextBox 9"/>
            <p:cNvSpPr txBox="1"/>
            <p:nvPr/>
          </p:nvSpPr>
          <p:spPr>
            <a:xfrm>
              <a:off x="1952625" y="1419225"/>
              <a:ext cx="1809750" cy="266700"/>
            </a:xfrm>
            <a:prstGeom prst="rect">
              <a:avLst/>
            </a:prstGeom>
            <a:noFill/>
            <a:ln>
              <a:noFill/>
            </a:ln>
          </p:spPr>
          <p:txBody>
            <a:bodyPr wrap="square" lIns="0" tIns="73342" rIns="0" bIns="0" anchor="t" anchorCtr="0">
              <a:noAutofit/>
            </a:bodyPr>
            <a:lstStyle/>
            <a:p>
              <a:pPr algn="l"/>
              <a:r>
                <a:rPr lang="en-US" sz="1350" b="1" dirty="0">
                  <a:solidFill>
                    <a:schemeClr val="accent2"/>
                  </a:solidFill>
                  <a:latin typeface="+mn-lt"/>
                  <a:ea typeface="+mn-ea"/>
                  <a:cs typeface="+mn-cs"/>
                </a:rPr>
                <a:t>THEORY</a:t>
              </a:r>
            </a:p>
          </p:txBody>
        </p:sp>
        <p:sp>
          <p:nvSpPr>
            <p:cNvPr id="10" name="TextBox 10"/>
            <p:cNvSpPr txBox="1"/>
            <p:nvPr/>
          </p:nvSpPr>
          <p:spPr>
            <a:xfrm>
              <a:off x="1952625" y="1695450"/>
              <a:ext cx="9144000" cy="381000"/>
            </a:xfrm>
            <a:prstGeom prst="rect">
              <a:avLst/>
            </a:prstGeom>
            <a:noFill/>
            <a:ln>
              <a:noFill/>
            </a:ln>
          </p:spPr>
          <p:txBody>
            <a:bodyPr wrap="square" lIns="0" tIns="14288" rIns="0" bIns="0" anchor="t" anchorCtr="0">
              <a:noAutofit/>
            </a:bodyPr>
            <a:lstStyle/>
            <a:p>
              <a:pPr algn="l"/>
              <a:r>
                <a:rPr lang="en-US" sz="2250" b="1" dirty="0">
                  <a:solidFill>
                    <a:schemeClr val="dk1"/>
                  </a:solidFill>
                  <a:latin typeface="+mn-lt"/>
                  <a:ea typeface="+mn-ea"/>
                  <a:cs typeface="+mn-cs"/>
                </a:rPr>
                <a:t>What do the two original sources actually assume and prove?</a:t>
              </a:r>
            </a:p>
          </p:txBody>
        </p:sp>
        <p:sp>
          <p:nvSpPr>
            <p:cNvPr id="11" name="Ellipse 11"/>
            <p:cNvSpPr/>
            <p:nvPr/>
          </p:nvSpPr>
          <p:spPr>
            <a:xfrm>
              <a:off x="1143000" y="2305050"/>
              <a:ext cx="571500" cy="571500"/>
            </a:xfrm>
            <a:prstGeom prst="ellipse">
              <a:avLst/>
            </a:prstGeom>
            <a:solidFill>
              <a:schemeClr val="accent2"/>
            </a:solidFill>
            <a:ln>
              <a:noFill/>
            </a:ln>
          </p:spPr>
        </p:sp>
        <p:sp>
          <p:nvSpPr>
            <p:cNvPr id="12" name="TextBox 12"/>
            <p:cNvSpPr txBox="1"/>
            <p:nvPr/>
          </p:nvSpPr>
          <p:spPr>
            <a:xfrm>
              <a:off x="1349637" y="2491740"/>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Consolas"/>
                  <a:ea typeface="Consolas"/>
                  <a:cs typeface="Consolas"/>
                </a:rPr>
                <a:t>2</a:t>
              </a:r>
            </a:p>
          </p:txBody>
        </p:sp>
        <p:sp>
          <p:nvSpPr>
            <p:cNvPr id="13" name="TextBox 13"/>
            <p:cNvSpPr txBox="1"/>
            <p:nvPr/>
          </p:nvSpPr>
          <p:spPr>
            <a:xfrm>
              <a:off x="1952625" y="2295525"/>
              <a:ext cx="1809750" cy="266700"/>
            </a:xfrm>
            <a:prstGeom prst="rect">
              <a:avLst/>
            </a:prstGeom>
            <a:noFill/>
            <a:ln>
              <a:noFill/>
            </a:ln>
          </p:spPr>
          <p:txBody>
            <a:bodyPr wrap="square" lIns="0" tIns="73342" rIns="0" bIns="0" anchor="t" anchorCtr="0">
              <a:noAutofit/>
            </a:bodyPr>
            <a:lstStyle/>
            <a:p>
              <a:pPr algn="l"/>
              <a:r>
                <a:rPr lang="en-US" sz="1350" b="1" dirty="0">
                  <a:solidFill>
                    <a:schemeClr val="accent2"/>
                  </a:solidFill>
                  <a:latin typeface="+mn-lt"/>
                  <a:ea typeface="+mn-ea"/>
                  <a:cs typeface="+mn-cs"/>
                </a:rPr>
                <a:t>TRACEABILITY</a:t>
              </a:r>
            </a:p>
          </p:txBody>
        </p:sp>
        <p:sp>
          <p:nvSpPr>
            <p:cNvPr id="14" name="TextBox 14"/>
            <p:cNvSpPr txBox="1"/>
            <p:nvPr/>
          </p:nvSpPr>
          <p:spPr>
            <a:xfrm>
              <a:off x="1952625" y="2571750"/>
              <a:ext cx="9144000" cy="381000"/>
            </a:xfrm>
            <a:prstGeom prst="rect">
              <a:avLst/>
            </a:prstGeom>
            <a:noFill/>
            <a:ln>
              <a:noFill/>
            </a:ln>
          </p:spPr>
          <p:txBody>
            <a:bodyPr wrap="square" lIns="0" tIns="14288" rIns="0" bIns="0" anchor="t" anchorCtr="0">
              <a:noAutofit/>
            </a:bodyPr>
            <a:lstStyle/>
            <a:p>
              <a:pPr algn="l"/>
              <a:r>
                <a:rPr lang="en-US" sz="2250" b="1" dirty="0">
                  <a:solidFill>
                    <a:schemeClr val="dk1"/>
                  </a:solidFill>
                  <a:latin typeface="+mn-lt"/>
                  <a:ea typeface="+mn-ea"/>
                  <a:cs typeface="+mn-cs"/>
                </a:rPr>
                <a:t>Where is each paper stage implemented and tested?</a:t>
              </a:r>
            </a:p>
          </p:txBody>
        </p:sp>
        <p:sp>
          <p:nvSpPr>
            <p:cNvPr id="15" name="Ellipse 15"/>
            <p:cNvSpPr/>
            <p:nvPr/>
          </p:nvSpPr>
          <p:spPr>
            <a:xfrm>
              <a:off x="1143000" y="3181350"/>
              <a:ext cx="571500" cy="571500"/>
            </a:xfrm>
            <a:prstGeom prst="ellipse">
              <a:avLst/>
            </a:prstGeom>
            <a:solidFill>
              <a:schemeClr val="accent3"/>
            </a:solidFill>
            <a:ln>
              <a:noFill/>
            </a:ln>
          </p:spPr>
        </p:sp>
        <p:sp>
          <p:nvSpPr>
            <p:cNvPr id="16" name="TextBox 16"/>
            <p:cNvSpPr txBox="1"/>
            <p:nvPr/>
          </p:nvSpPr>
          <p:spPr>
            <a:xfrm>
              <a:off x="1349637" y="3368040"/>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Consolas"/>
                  <a:ea typeface="Consolas"/>
                  <a:cs typeface="Consolas"/>
                </a:rPr>
                <a:t>3</a:t>
              </a:r>
            </a:p>
          </p:txBody>
        </p:sp>
        <p:sp>
          <p:nvSpPr>
            <p:cNvPr id="17" name="TextBox 17"/>
            <p:cNvSpPr txBox="1"/>
            <p:nvPr/>
          </p:nvSpPr>
          <p:spPr>
            <a:xfrm>
              <a:off x="1952625" y="3171825"/>
              <a:ext cx="1809750" cy="266700"/>
            </a:xfrm>
            <a:prstGeom prst="rect">
              <a:avLst/>
            </a:prstGeom>
            <a:noFill/>
            <a:ln>
              <a:noFill/>
            </a:ln>
          </p:spPr>
          <p:txBody>
            <a:bodyPr wrap="square" lIns="0" tIns="73342" rIns="0" bIns="0" anchor="t" anchorCtr="0">
              <a:noAutofit/>
            </a:bodyPr>
            <a:lstStyle/>
            <a:p>
              <a:pPr algn="l"/>
              <a:r>
                <a:rPr lang="en-US" sz="1350" b="1" dirty="0">
                  <a:solidFill>
                    <a:schemeClr val="accent3"/>
                  </a:solidFill>
                  <a:latin typeface="+mn-lt"/>
                  <a:ea typeface="+mn-ea"/>
                  <a:cs typeface="+mn-cs"/>
                </a:rPr>
                <a:t>KNOWN TRUTH</a:t>
              </a:r>
            </a:p>
          </p:txBody>
        </p:sp>
        <p:sp>
          <p:nvSpPr>
            <p:cNvPr id="18" name="TextBox 18"/>
            <p:cNvSpPr txBox="1"/>
            <p:nvPr/>
          </p:nvSpPr>
          <p:spPr>
            <a:xfrm>
              <a:off x="1952625" y="3448050"/>
              <a:ext cx="9144000" cy="381000"/>
            </a:xfrm>
            <a:prstGeom prst="rect">
              <a:avLst/>
            </a:prstGeom>
            <a:noFill/>
            <a:ln>
              <a:noFill/>
            </a:ln>
          </p:spPr>
          <p:txBody>
            <a:bodyPr wrap="square" lIns="0" tIns="14288" rIns="0" bIns="0" anchor="t" anchorCtr="0">
              <a:noAutofit/>
            </a:bodyPr>
            <a:lstStyle/>
            <a:p>
              <a:pPr algn="l"/>
              <a:r>
                <a:rPr lang="en-US" sz="2250" b="1" dirty="0">
                  <a:solidFill>
                    <a:schemeClr val="dk1"/>
                  </a:solidFill>
                  <a:latin typeface="+mn-lt"/>
                  <a:ea typeface="+mn-ea"/>
                  <a:cs typeface="+mn-cs"/>
                </a:rPr>
                <a:t>What happens when the correct graph is known?</a:t>
              </a:r>
            </a:p>
          </p:txBody>
        </p:sp>
        <p:sp>
          <p:nvSpPr>
            <p:cNvPr id="19" name="Ellipse 19"/>
            <p:cNvSpPr/>
            <p:nvPr/>
          </p:nvSpPr>
          <p:spPr>
            <a:xfrm>
              <a:off x="1143000" y="4057650"/>
              <a:ext cx="571500" cy="571500"/>
            </a:xfrm>
            <a:prstGeom prst="ellipse">
              <a:avLst/>
            </a:prstGeom>
            <a:solidFill>
              <a:srgbClr val="7562A8"/>
            </a:solidFill>
            <a:ln>
              <a:noFill/>
            </a:ln>
          </p:spPr>
        </p:sp>
        <p:sp>
          <p:nvSpPr>
            <p:cNvPr id="20" name="TextBox 20"/>
            <p:cNvSpPr txBox="1"/>
            <p:nvPr/>
          </p:nvSpPr>
          <p:spPr>
            <a:xfrm>
              <a:off x="1349637" y="4244340"/>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Consolas"/>
                  <a:ea typeface="Consolas"/>
                  <a:cs typeface="Consolas"/>
                </a:rPr>
                <a:t>4</a:t>
              </a:r>
            </a:p>
          </p:txBody>
        </p:sp>
        <p:sp>
          <p:nvSpPr>
            <p:cNvPr id="21" name="TextBox 21"/>
            <p:cNvSpPr txBox="1"/>
            <p:nvPr/>
          </p:nvSpPr>
          <p:spPr>
            <a:xfrm>
              <a:off x="1952625" y="4048125"/>
              <a:ext cx="1809750" cy="266700"/>
            </a:xfrm>
            <a:prstGeom prst="rect">
              <a:avLst/>
            </a:prstGeom>
            <a:noFill/>
            <a:ln>
              <a:noFill/>
            </a:ln>
          </p:spPr>
          <p:txBody>
            <a:bodyPr wrap="square" lIns="0" tIns="73342" rIns="0" bIns="0" anchor="t" anchorCtr="0">
              <a:noAutofit/>
            </a:bodyPr>
            <a:lstStyle/>
            <a:p>
              <a:pPr algn="l"/>
              <a:r>
                <a:rPr lang="en-US" sz="1350" b="1" dirty="0">
                  <a:solidFill>
                    <a:srgbClr val="7562A8"/>
                  </a:solidFill>
                  <a:latin typeface="+mn-lt"/>
                  <a:ea typeface="+mn-ea"/>
                  <a:cs typeface="+mn-cs"/>
                </a:rPr>
                <a:t>SOFTWARE</a:t>
              </a:r>
            </a:p>
          </p:txBody>
        </p:sp>
        <p:sp>
          <p:nvSpPr>
            <p:cNvPr id="22" name="TextBox 22"/>
            <p:cNvSpPr txBox="1"/>
            <p:nvPr/>
          </p:nvSpPr>
          <p:spPr>
            <a:xfrm>
              <a:off x="1952625" y="4324350"/>
              <a:ext cx="9144000" cy="381000"/>
            </a:xfrm>
            <a:prstGeom prst="rect">
              <a:avLst/>
            </a:prstGeom>
            <a:noFill/>
            <a:ln>
              <a:noFill/>
            </a:ln>
          </p:spPr>
          <p:txBody>
            <a:bodyPr wrap="square" lIns="0" tIns="14288" rIns="0" bIns="0" anchor="t" anchorCtr="0">
              <a:noAutofit/>
            </a:bodyPr>
            <a:lstStyle/>
            <a:p>
              <a:pPr algn="l"/>
              <a:r>
                <a:rPr lang="en-US" sz="2250" b="1" dirty="0">
                  <a:solidFill>
                    <a:schemeClr val="dk1"/>
                  </a:solidFill>
                  <a:latin typeface="+mn-lt"/>
                  <a:ea typeface="+mn-ea"/>
                  <a:cs typeface="+mn-cs"/>
                </a:rPr>
                <a:t>Which comparisons across implementations are fair?</a:t>
              </a:r>
            </a:p>
          </p:txBody>
        </p:sp>
        <p:sp>
          <p:nvSpPr>
            <p:cNvPr id="23" name="Ellipse 23"/>
            <p:cNvSpPr/>
            <p:nvPr/>
          </p:nvSpPr>
          <p:spPr>
            <a:xfrm>
              <a:off x="1143000" y="4933950"/>
              <a:ext cx="571500" cy="571500"/>
            </a:xfrm>
            <a:prstGeom prst="ellipse">
              <a:avLst/>
            </a:prstGeom>
            <a:solidFill>
              <a:schemeClr val="accent6"/>
            </a:solidFill>
            <a:ln>
              <a:noFill/>
            </a:ln>
          </p:spPr>
        </p:sp>
        <p:sp>
          <p:nvSpPr>
            <p:cNvPr id="24" name="TextBox 24"/>
            <p:cNvSpPr txBox="1"/>
            <p:nvPr/>
          </p:nvSpPr>
          <p:spPr>
            <a:xfrm>
              <a:off x="1349637" y="5120640"/>
              <a:ext cx="158225" cy="352044"/>
            </a:xfrm>
            <a:prstGeom prst="rect">
              <a:avLst/>
            </a:prstGeom>
            <a:noFill/>
            <a:ln>
              <a:noFill/>
            </a:ln>
          </p:spPr>
          <p:txBody>
            <a:bodyPr wrap="none" lIns="0" tIns="0" rIns="0" bIns="0" anchor="t" anchorCtr="0">
              <a:spAutoFit/>
            </a:bodyPr>
            <a:lstStyle/>
            <a:p>
              <a:pPr algn="ctr"/>
              <a:r>
                <a:rPr lang="en-US" sz="1800" b="1" dirty="0">
                  <a:solidFill>
                    <a:srgbClr val="FFFFFF"/>
                  </a:solidFill>
                  <a:latin typeface="Consolas"/>
                  <a:ea typeface="Consolas"/>
                  <a:cs typeface="Consolas"/>
                </a:rPr>
                <a:t>5</a:t>
              </a:r>
            </a:p>
          </p:txBody>
        </p:sp>
        <p:sp>
          <p:nvSpPr>
            <p:cNvPr id="25" name="TextBox 25"/>
            <p:cNvSpPr txBox="1"/>
            <p:nvPr/>
          </p:nvSpPr>
          <p:spPr>
            <a:xfrm>
              <a:off x="1952625" y="4924425"/>
              <a:ext cx="1809750" cy="266700"/>
            </a:xfrm>
            <a:prstGeom prst="rect">
              <a:avLst/>
            </a:prstGeom>
            <a:noFill/>
            <a:ln>
              <a:noFill/>
            </a:ln>
          </p:spPr>
          <p:txBody>
            <a:bodyPr wrap="square" lIns="0" tIns="73343" rIns="0" bIns="0" anchor="t" anchorCtr="0">
              <a:noAutofit/>
            </a:bodyPr>
            <a:lstStyle/>
            <a:p>
              <a:pPr algn="l"/>
              <a:r>
                <a:rPr lang="en-US" sz="1350" b="1" dirty="0">
                  <a:solidFill>
                    <a:schemeClr val="accent6"/>
                  </a:solidFill>
                  <a:latin typeface="+mn-lt"/>
                  <a:ea typeface="+mn-ea"/>
                  <a:cs typeface="+mn-cs"/>
                </a:rPr>
                <a:t>APPLICATION</a:t>
              </a:r>
            </a:p>
          </p:txBody>
        </p:sp>
        <p:sp>
          <p:nvSpPr>
            <p:cNvPr id="26" name="TextBox 26"/>
            <p:cNvSpPr txBox="1"/>
            <p:nvPr/>
          </p:nvSpPr>
          <p:spPr>
            <a:xfrm>
              <a:off x="1952625" y="5200650"/>
              <a:ext cx="9144000" cy="381000"/>
            </a:xfrm>
            <a:prstGeom prst="rect">
              <a:avLst/>
            </a:prstGeom>
            <a:noFill/>
            <a:ln>
              <a:noFill/>
            </a:ln>
          </p:spPr>
          <p:txBody>
            <a:bodyPr wrap="square" lIns="0" tIns="14288" rIns="0" bIns="0" anchor="t" anchorCtr="0">
              <a:noAutofit/>
            </a:bodyPr>
            <a:lstStyle/>
            <a:p>
              <a:pPr algn="l"/>
              <a:r>
                <a:rPr lang="en-US" sz="2250" b="1" dirty="0">
                  <a:solidFill>
                    <a:schemeClr val="dk1"/>
                  </a:solidFill>
                  <a:latin typeface="+mn-lt"/>
                  <a:ea typeface="+mn-ea"/>
                  <a:cs typeface="+mn-cs"/>
                </a:rPr>
                <a:t>Which STAR findings are randomized, stable, or exploratory?</a:t>
              </a:r>
            </a:p>
          </p:txBody>
        </p:sp>
      </p:grpSp>
      <p:grpSp>
        <p:nvGrpSpPr>
          <p:cNvPr id="30" name="Group 30"/>
          <p:cNvGrpSpPr/>
          <p:nvPr/>
        </p:nvGrpSpPr>
        <p:grpSpPr>
          <a:xfrm>
            <a:off x="525018" y="5755958"/>
            <a:ext cx="6625098" cy="579881"/>
            <a:chOff x="525018" y="5755958"/>
            <a:chExt cx="6625098" cy="579881"/>
          </a:xfrm>
        </p:grpSpPr>
        <p:sp>
          <p:nvSpPr>
            <p:cNvPr id="28" name="TextBox 28"/>
            <p:cNvSpPr txBox="1"/>
            <p:nvPr/>
          </p:nvSpPr>
          <p:spPr>
            <a:xfrm>
              <a:off x="525018" y="5755958"/>
              <a:ext cx="6473000"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Source fidelity → validation → application interpretation.</a:t>
              </a:r>
            </a:p>
          </p:txBody>
        </p:sp>
        <p:sp>
          <p:nvSpPr>
            <p:cNvPr id="29" name="TextBox 29"/>
            <p:cNvSpPr txBox="1"/>
            <p:nvPr/>
          </p:nvSpPr>
          <p:spPr>
            <a:xfrm>
              <a:off x="525018" y="6013132"/>
              <a:ext cx="6625098"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An attractive real-data graph cannot reverse this order.</a:t>
              </a:r>
            </a:p>
          </p:txBody>
        </p:sp>
      </p:grpSp>
      <p:grpSp>
        <p:nvGrpSpPr>
          <p:cNvPr id="33" name="Group 33"/>
          <p:cNvGrpSpPr/>
          <p:nvPr/>
        </p:nvGrpSpPr>
        <p:grpSpPr>
          <a:xfrm>
            <a:off x="527304" y="6337935"/>
            <a:ext cx="11137392" cy="234696"/>
            <a:chOff x="527304" y="6337935"/>
            <a:chExt cx="11137392" cy="234696"/>
          </a:xfrm>
        </p:grpSpPr>
        <p:sp>
          <p:nvSpPr>
            <p:cNvPr id="31" name="TextBox 31"/>
            <p:cNvSpPr txBox="1"/>
            <p:nvPr/>
          </p:nvSpPr>
          <p:spPr>
            <a:xfrm>
              <a:off x="527304" y="6337935"/>
              <a:ext cx="6317576"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Evaluation framework used throughout the report and reproducibility artifacts</a:t>
              </a:r>
            </a:p>
          </p:txBody>
        </p:sp>
        <p:sp>
          <p:nvSpPr>
            <p:cNvPr id="32" name="TextBox 32"/>
            <p:cNvSpPr txBox="1"/>
            <p:nvPr/>
          </p:nvSpPr>
          <p:spPr>
            <a:xfrm>
              <a:off x="11111332" y="6337935"/>
              <a:ext cx="553364" cy="234696"/>
            </a:xfrm>
            <a:prstGeom prst="rect">
              <a:avLst/>
            </a:prstGeom>
            <a:noFill/>
            <a:ln>
              <a:noFill/>
            </a:ln>
          </p:spPr>
          <p:txBody>
            <a:bodyPr wrap="none" lIns="0" tIns="0" rIns="0" bIns="0" anchor="t" anchorCtr="0">
              <a:spAutoFit/>
            </a:bodyPr>
            <a:lstStyle/>
            <a:p>
              <a:pPr algn="r"/>
              <a:r>
                <a:rPr lang="en-US" sz="1200" dirty="0">
                  <a:solidFill>
                    <a:srgbClr val="5F6875"/>
                  </a:solidFill>
                  <a:latin typeface="Consolas"/>
                  <a:ea typeface="Consolas"/>
                  <a:cs typeface="Consolas"/>
                </a:rPr>
                <a:t>03 / 15</a:t>
              </a:r>
            </a:p>
          </p:txBody>
        </p:sp>
      </p:gr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17398" y="364808"/>
            <a:ext cx="11148060" cy="654367"/>
            <a:chOff x="517398" y="364808"/>
            <a:chExt cx="11148060" cy="654367"/>
          </a:xfrm>
        </p:grpSpPr>
        <p:sp>
          <p:nvSpPr>
            <p:cNvPr id="2" name="TextBox 2"/>
            <p:cNvSpPr txBox="1"/>
            <p:nvPr/>
          </p:nvSpPr>
          <p:spPr>
            <a:xfrm>
              <a:off x="517398" y="364808"/>
              <a:ext cx="9889236"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Original FCI Closes Non-Local Separations</a:t>
              </a:r>
            </a:p>
          </p:txBody>
        </p:sp>
        <p:sp>
          <p:nvSpPr>
            <p:cNvPr id="3" name="TextBox 3"/>
            <p:cNvSpPr txBox="1"/>
            <p:nvPr/>
          </p:nvSpPr>
          <p:spPr>
            <a:xfrm>
              <a:off x="9837115" y="397192"/>
              <a:ext cx="1828343" cy="264033"/>
            </a:xfrm>
            <a:prstGeom prst="rect">
              <a:avLst/>
            </a:prstGeom>
            <a:noFill/>
            <a:ln>
              <a:noFill/>
            </a:ln>
          </p:spPr>
          <p:txBody>
            <a:bodyPr wrap="none" lIns="0" tIns="0" rIns="0" bIns="0" anchor="t" anchorCtr="0">
              <a:spAutoFit/>
            </a:bodyPr>
            <a:lstStyle/>
            <a:p>
              <a:pPr algn="r"/>
              <a:r>
                <a:rPr lang="en-US" sz="1350" dirty="0">
                  <a:solidFill>
                    <a:schemeClr val="accent2"/>
                  </a:solidFill>
                  <a:latin typeface="Consolas"/>
                  <a:ea typeface="Consolas"/>
                  <a:cs typeface="Consolas"/>
                </a:rPr>
                <a:t>SPIRTES ET AL. 2000</a:t>
              </a:r>
            </a:p>
          </p:txBody>
        </p:sp>
        <p:sp>
          <p:nvSpPr>
            <p:cNvPr id="4" name="Line 4"/>
            <p:cNvSpPr/>
            <p:nvPr/>
          </p:nvSpPr>
          <p:spPr>
            <a:xfrm>
              <a:off x="533400" y="1009650"/>
              <a:ext cx="11125200" cy="9525"/>
            </a:xfrm>
            <a:custGeom>
              <a:avLst/>
              <a:gdLst/>
              <a:ahLst/>
              <a:cxnLst/>
              <a:rect l="l" t="t" r="r" b="b"/>
              <a:pathLst>
                <a:path w="11125200" h="9525">
                  <a:moveTo>
                    <a:pt x="0" y="0"/>
                  </a:moveTo>
                  <a:lnTo>
                    <a:pt x="11125200" y="0"/>
                  </a:lnTo>
                </a:path>
              </a:pathLst>
            </a:custGeom>
            <a:noFill/>
            <a:ln w="14288">
              <a:solidFill>
                <a:srgbClr val="CBD2DC"/>
              </a:solidFill>
            </a:ln>
          </p:spPr>
        </p:sp>
      </p:grpSp>
      <p:grpSp>
        <p:nvGrpSpPr>
          <p:cNvPr id="38" name="Group 38"/>
          <p:cNvGrpSpPr/>
          <p:nvPr/>
        </p:nvGrpSpPr>
        <p:grpSpPr>
          <a:xfrm>
            <a:off x="525018" y="1406842"/>
            <a:ext cx="11133582" cy="2271523"/>
            <a:chOff x="525018" y="1406842"/>
            <a:chExt cx="11133582" cy="2271523"/>
          </a:xfrm>
        </p:grpSpPr>
        <p:sp>
          <p:nvSpPr>
            <p:cNvPr id="6" name="TextBox 6"/>
            <p:cNvSpPr txBox="1"/>
            <p:nvPr/>
          </p:nvSpPr>
          <p:spPr>
            <a:xfrm>
              <a:off x="526542" y="1406842"/>
              <a:ext cx="3017931"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HISTORICAL SIX-STAGE SCHEDULE</a:t>
              </a:r>
            </a:p>
          </p:txBody>
        </p:sp>
        <p:sp>
          <p:nvSpPr>
            <p:cNvPr id="7" name="Rectangle 7"/>
            <p:cNvSpPr/>
            <p:nvPr/>
          </p:nvSpPr>
          <p:spPr>
            <a:xfrm>
              <a:off x="533400" y="1790700"/>
              <a:ext cx="1504950" cy="1066800"/>
            </a:xfrm>
            <a:prstGeom prst="roundRect">
              <a:avLst>
                <a:gd name="adj" fmla="val 10714"/>
              </a:avLst>
            </a:prstGeom>
            <a:solidFill>
              <a:srgbClr val="FFFFFF"/>
            </a:solidFill>
            <a:ln w="19050">
              <a:solidFill>
                <a:schemeClr val="accent2"/>
              </a:solidFill>
            </a:ln>
          </p:spPr>
        </p:sp>
        <p:sp>
          <p:nvSpPr>
            <p:cNvPr id="8" name="TextBox 8"/>
            <p:cNvSpPr txBox="1"/>
            <p:nvPr/>
          </p:nvSpPr>
          <p:spPr>
            <a:xfrm>
              <a:off x="1161640" y="1952625"/>
              <a:ext cx="248469"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Consolas"/>
                  <a:ea typeface="Consolas"/>
                  <a:cs typeface="Consolas"/>
                </a:rPr>
                <a:t>01</a:t>
              </a:r>
            </a:p>
          </p:txBody>
        </p:sp>
        <p:sp>
          <p:nvSpPr>
            <p:cNvPr id="9" name="TextBox 9"/>
            <p:cNvSpPr txBox="1"/>
            <p:nvPr/>
          </p:nvSpPr>
          <p:spPr>
            <a:xfrm>
              <a:off x="766630" y="2231708"/>
              <a:ext cx="1038489" cy="322707"/>
            </a:xfrm>
            <a:prstGeom prst="rect">
              <a:avLst/>
            </a:prstGeom>
            <a:noFill/>
            <a:ln>
              <a:noFill/>
            </a:ln>
          </p:spPr>
          <p:txBody>
            <a:bodyPr wrap="none" lIns="0" tIns="0" rIns="0" bIns="0" anchor="t" anchorCtr="0">
              <a:spAutoFit/>
            </a:bodyPr>
            <a:lstStyle/>
            <a:p>
              <a:pPr algn="ctr"/>
              <a:r>
                <a:rPr lang="en-US" sz="1650" b="1" dirty="0">
                  <a:solidFill>
                    <a:schemeClr val="dk1"/>
                  </a:solidFill>
                  <a:latin typeface="+mn-lt"/>
                  <a:ea typeface="+mn-ea"/>
                  <a:cs typeface="+mn-cs"/>
                </a:rPr>
                <a:t>Complete</a:t>
              </a:r>
            </a:p>
          </p:txBody>
        </p:sp>
        <p:sp>
          <p:nvSpPr>
            <p:cNvPr id="10" name="TextBox 10"/>
            <p:cNvSpPr txBox="1"/>
            <p:nvPr/>
          </p:nvSpPr>
          <p:spPr>
            <a:xfrm>
              <a:off x="956803" y="2488882"/>
              <a:ext cx="658144" cy="322707"/>
            </a:xfrm>
            <a:prstGeom prst="rect">
              <a:avLst/>
            </a:prstGeom>
            <a:noFill/>
            <a:ln>
              <a:noFill/>
            </a:ln>
          </p:spPr>
          <p:txBody>
            <a:bodyPr wrap="none" lIns="0" tIns="0" rIns="0" bIns="0" anchor="t" anchorCtr="0">
              <a:spAutoFit/>
            </a:bodyPr>
            <a:lstStyle/>
            <a:p>
              <a:pPr algn="ctr"/>
              <a:r>
                <a:rPr lang="en-US" sz="1650" b="1" dirty="0">
                  <a:solidFill>
                    <a:schemeClr val="dk1"/>
                  </a:solidFill>
                  <a:latin typeface="+mn-lt"/>
                  <a:ea typeface="+mn-ea"/>
                  <a:cs typeface="+mn-cs"/>
                </a:rPr>
                <a:t>graph</a:t>
              </a:r>
            </a:p>
          </p:txBody>
        </p:sp>
        <p:sp>
          <p:nvSpPr>
            <p:cNvPr id="11" name="Line 11"/>
            <p:cNvSpPr/>
            <p:nvPr/>
          </p:nvSpPr>
          <p:spPr>
            <a:xfrm>
              <a:off x="2038350" y="2324100"/>
              <a:ext cx="285750" cy="1"/>
            </a:xfrm>
            <a:prstGeom prst="line">
              <a:avLst/>
            </a:prstGeom>
            <a:noFill/>
            <a:ln w="23812">
              <a:solidFill>
                <a:schemeClr val="accent1"/>
              </a:solidFill>
              <a:tailEnd type="triangle" w="lg" len="lg"/>
            </a:ln>
          </p:spPr>
        </p:sp>
        <p:sp>
          <p:nvSpPr>
            <p:cNvPr id="12" name="Rectangle 12"/>
            <p:cNvSpPr/>
            <p:nvPr/>
          </p:nvSpPr>
          <p:spPr>
            <a:xfrm>
              <a:off x="2419350" y="1790700"/>
              <a:ext cx="1504950" cy="1066800"/>
            </a:xfrm>
            <a:prstGeom prst="roundRect">
              <a:avLst>
                <a:gd name="adj" fmla="val 10714"/>
              </a:avLst>
            </a:prstGeom>
            <a:solidFill>
              <a:srgbClr val="FFFFFF"/>
            </a:solidFill>
            <a:ln w="19050">
              <a:solidFill>
                <a:schemeClr val="accent2"/>
              </a:solidFill>
            </a:ln>
          </p:spPr>
        </p:sp>
        <p:sp>
          <p:nvSpPr>
            <p:cNvPr id="13" name="TextBox 13"/>
            <p:cNvSpPr txBox="1"/>
            <p:nvPr/>
          </p:nvSpPr>
          <p:spPr>
            <a:xfrm>
              <a:off x="3047590" y="1952625"/>
              <a:ext cx="248469"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Consolas"/>
                  <a:ea typeface="Consolas"/>
                  <a:cs typeface="Consolas"/>
                </a:rPr>
                <a:t>02</a:t>
              </a:r>
            </a:p>
          </p:txBody>
        </p:sp>
        <p:sp>
          <p:nvSpPr>
            <p:cNvPr id="14" name="TextBox 14"/>
            <p:cNvSpPr txBox="1"/>
            <p:nvPr/>
          </p:nvSpPr>
          <p:spPr>
            <a:xfrm>
              <a:off x="2611907" y="2231708"/>
              <a:ext cx="1119835" cy="322707"/>
            </a:xfrm>
            <a:prstGeom prst="rect">
              <a:avLst/>
            </a:prstGeom>
            <a:noFill/>
            <a:ln>
              <a:noFill/>
            </a:ln>
          </p:spPr>
          <p:txBody>
            <a:bodyPr wrap="none" lIns="0" tIns="0" rIns="0" bIns="0" anchor="t" anchorCtr="0">
              <a:spAutoFit/>
            </a:bodyPr>
            <a:lstStyle/>
            <a:p>
              <a:pPr algn="ctr"/>
              <a:r>
                <a:rPr lang="en-US" sz="1650" b="1" dirty="0">
                  <a:solidFill>
                    <a:schemeClr val="dk1"/>
                  </a:solidFill>
                  <a:latin typeface="+mn-lt"/>
                  <a:ea typeface="+mn-ea"/>
                  <a:cs typeface="+mn-cs"/>
                </a:rPr>
                <a:t>Adjacency</a:t>
              </a:r>
            </a:p>
          </p:txBody>
        </p:sp>
        <p:sp>
          <p:nvSpPr>
            <p:cNvPr id="15" name="TextBox 15"/>
            <p:cNvSpPr txBox="1"/>
            <p:nvPr/>
          </p:nvSpPr>
          <p:spPr>
            <a:xfrm>
              <a:off x="2615354" y="2488882"/>
              <a:ext cx="1112941" cy="322707"/>
            </a:xfrm>
            <a:prstGeom prst="rect">
              <a:avLst/>
            </a:prstGeom>
            <a:noFill/>
            <a:ln>
              <a:noFill/>
            </a:ln>
          </p:spPr>
          <p:txBody>
            <a:bodyPr wrap="none" lIns="0" tIns="0" rIns="0" bIns="0" anchor="t" anchorCtr="0">
              <a:spAutoFit/>
            </a:bodyPr>
            <a:lstStyle/>
            <a:p>
              <a:pPr algn="ctr"/>
              <a:r>
                <a:rPr lang="en-US" sz="1650" b="1" dirty="0">
                  <a:solidFill>
                    <a:schemeClr val="dk1"/>
                  </a:solidFill>
                  <a:latin typeface="+mn-lt"/>
                  <a:ea typeface="+mn-ea"/>
                  <a:cs typeface="+mn-cs"/>
                </a:rPr>
                <a:t>+ sepsets</a:t>
              </a:r>
            </a:p>
          </p:txBody>
        </p:sp>
        <p:sp>
          <p:nvSpPr>
            <p:cNvPr id="16" name="Line 16"/>
            <p:cNvSpPr/>
            <p:nvPr/>
          </p:nvSpPr>
          <p:spPr>
            <a:xfrm>
              <a:off x="3924300" y="2324100"/>
              <a:ext cx="285750" cy="1"/>
            </a:xfrm>
            <a:prstGeom prst="line">
              <a:avLst/>
            </a:prstGeom>
            <a:noFill/>
            <a:ln w="23812">
              <a:solidFill>
                <a:schemeClr val="accent1"/>
              </a:solidFill>
              <a:tailEnd type="triangle" w="lg" len="lg"/>
            </a:ln>
          </p:spPr>
        </p:sp>
        <p:sp>
          <p:nvSpPr>
            <p:cNvPr id="17" name="Rectangle 17"/>
            <p:cNvSpPr/>
            <p:nvPr/>
          </p:nvSpPr>
          <p:spPr>
            <a:xfrm>
              <a:off x="4305300" y="1790700"/>
              <a:ext cx="1504950" cy="1066800"/>
            </a:xfrm>
            <a:prstGeom prst="roundRect">
              <a:avLst>
                <a:gd name="adj" fmla="val 10714"/>
              </a:avLst>
            </a:prstGeom>
            <a:solidFill>
              <a:srgbClr val="FFFFFF"/>
            </a:solidFill>
            <a:ln w="19050">
              <a:solidFill>
                <a:schemeClr val="accent2"/>
              </a:solidFill>
            </a:ln>
          </p:spPr>
        </p:sp>
        <p:sp>
          <p:nvSpPr>
            <p:cNvPr id="18" name="TextBox 18"/>
            <p:cNvSpPr txBox="1"/>
            <p:nvPr/>
          </p:nvSpPr>
          <p:spPr>
            <a:xfrm>
              <a:off x="4933540" y="1952625"/>
              <a:ext cx="248469"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Consolas"/>
                  <a:ea typeface="Consolas"/>
                  <a:cs typeface="Consolas"/>
                </a:rPr>
                <a:t>03</a:t>
              </a:r>
            </a:p>
          </p:txBody>
        </p:sp>
        <p:sp>
          <p:nvSpPr>
            <p:cNvPr id="19" name="TextBox 19"/>
            <p:cNvSpPr txBox="1"/>
            <p:nvPr/>
          </p:nvSpPr>
          <p:spPr>
            <a:xfrm>
              <a:off x="4517088" y="2247900"/>
              <a:ext cx="1081373" cy="293370"/>
            </a:xfrm>
            <a:prstGeom prst="rect">
              <a:avLst/>
            </a:prstGeom>
            <a:noFill/>
            <a:ln>
              <a:noFill/>
            </a:ln>
          </p:spPr>
          <p:txBody>
            <a:bodyPr wrap="none" lIns="0" tIns="0" rIns="0" bIns="0" anchor="t" anchorCtr="0">
              <a:spAutoFit/>
            </a:bodyPr>
            <a:lstStyle/>
            <a:p>
              <a:pPr algn="ctr"/>
              <a:r>
                <a:rPr lang="en-US" sz="1500" b="1" dirty="0">
                  <a:solidFill>
                    <a:schemeClr val="dk1"/>
                  </a:solidFill>
                  <a:latin typeface="+mn-lt"/>
                  <a:ea typeface="+mn-ea"/>
                  <a:cs typeface="+mn-cs"/>
                </a:rPr>
                <a:t>Unshielded</a:t>
              </a:r>
            </a:p>
          </p:txBody>
        </p:sp>
        <p:sp>
          <p:nvSpPr>
            <p:cNvPr id="20" name="TextBox 20"/>
            <p:cNvSpPr txBox="1"/>
            <p:nvPr/>
          </p:nvSpPr>
          <p:spPr>
            <a:xfrm>
              <a:off x="4604899" y="2505075"/>
              <a:ext cx="905751" cy="293370"/>
            </a:xfrm>
            <a:prstGeom prst="rect">
              <a:avLst/>
            </a:prstGeom>
            <a:noFill/>
            <a:ln>
              <a:noFill/>
            </a:ln>
          </p:spPr>
          <p:txBody>
            <a:bodyPr wrap="none" lIns="0" tIns="0" rIns="0" bIns="0" anchor="t" anchorCtr="0">
              <a:spAutoFit/>
            </a:bodyPr>
            <a:lstStyle/>
            <a:p>
              <a:pPr algn="ctr"/>
              <a:r>
                <a:rPr lang="en-US" sz="1500" b="1" dirty="0">
                  <a:solidFill>
                    <a:schemeClr val="dk1"/>
                  </a:solidFill>
                  <a:latin typeface="+mn-lt"/>
                  <a:ea typeface="+mn-ea"/>
                  <a:cs typeface="+mn-cs"/>
                </a:rPr>
                <a:t>colliders</a:t>
              </a:r>
            </a:p>
          </p:txBody>
        </p:sp>
        <p:sp>
          <p:nvSpPr>
            <p:cNvPr id="21" name="Line 21"/>
            <p:cNvSpPr/>
            <p:nvPr/>
          </p:nvSpPr>
          <p:spPr>
            <a:xfrm>
              <a:off x="5810250" y="2324100"/>
              <a:ext cx="285750" cy="1"/>
            </a:xfrm>
            <a:prstGeom prst="line">
              <a:avLst/>
            </a:prstGeom>
            <a:noFill/>
            <a:ln w="23812">
              <a:solidFill>
                <a:schemeClr val="accent1"/>
              </a:solidFill>
              <a:tailEnd type="triangle" w="lg" len="lg"/>
            </a:ln>
          </p:spPr>
        </p:sp>
        <p:sp>
          <p:nvSpPr>
            <p:cNvPr id="22" name="Rectangle 22"/>
            <p:cNvSpPr/>
            <p:nvPr/>
          </p:nvSpPr>
          <p:spPr>
            <a:xfrm>
              <a:off x="6191250" y="1676400"/>
              <a:ext cx="1695450" cy="1295400"/>
            </a:xfrm>
            <a:prstGeom prst="roundRect">
              <a:avLst>
                <a:gd name="adj" fmla="val 8824"/>
              </a:avLst>
            </a:prstGeom>
            <a:solidFill>
              <a:srgbClr val="E8F0FF"/>
            </a:solidFill>
            <a:ln w="28575">
              <a:solidFill>
                <a:schemeClr val="accent2"/>
              </a:solidFill>
            </a:ln>
          </p:spPr>
        </p:sp>
        <p:sp>
          <p:nvSpPr>
            <p:cNvPr id="23" name="TextBox 23"/>
            <p:cNvSpPr txBox="1"/>
            <p:nvPr/>
          </p:nvSpPr>
          <p:spPr>
            <a:xfrm>
              <a:off x="6914740" y="1876425"/>
              <a:ext cx="248469"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Consolas"/>
                  <a:ea typeface="Consolas"/>
                  <a:cs typeface="Consolas"/>
                </a:rPr>
                <a:t>04</a:t>
              </a:r>
            </a:p>
          </p:txBody>
        </p:sp>
        <p:sp>
          <p:nvSpPr>
            <p:cNvPr id="24" name="TextBox 24"/>
            <p:cNvSpPr txBox="1"/>
            <p:nvPr/>
          </p:nvSpPr>
          <p:spPr>
            <a:xfrm>
              <a:off x="6257925" y="2143125"/>
              <a:ext cx="1562100" cy="266700"/>
            </a:xfrm>
            <a:prstGeom prst="rect">
              <a:avLst/>
            </a:prstGeom>
            <a:noFill/>
            <a:ln>
              <a:noFill/>
            </a:ln>
          </p:spPr>
          <p:txBody>
            <a:bodyPr wrap="square" lIns="0" tIns="73342" rIns="0" bIns="0" anchor="t" anchorCtr="0">
              <a:noAutofit/>
            </a:bodyPr>
            <a:lstStyle/>
            <a:p>
              <a:pPr algn="ctr"/>
              <a:r>
                <a:rPr lang="en-US" sz="1350" b="1" dirty="0">
                  <a:solidFill>
                    <a:schemeClr val="accent1"/>
                  </a:solidFill>
                  <a:latin typeface="+mn-lt"/>
                  <a:ea typeface="+mn-ea"/>
                  <a:cs typeface="+mn-cs"/>
                </a:rPr>
                <a:t>Possible-D-SEP</a:t>
              </a:r>
            </a:p>
          </p:txBody>
        </p:sp>
        <p:sp>
          <p:nvSpPr>
            <p:cNvPr id="25" name="TextBox 25"/>
            <p:cNvSpPr txBox="1"/>
            <p:nvPr/>
          </p:nvSpPr>
          <p:spPr>
            <a:xfrm>
              <a:off x="6257925" y="2438400"/>
              <a:ext cx="1562100" cy="266700"/>
            </a:xfrm>
            <a:prstGeom prst="rect">
              <a:avLst/>
            </a:prstGeom>
            <a:noFill/>
            <a:ln>
              <a:noFill/>
            </a:ln>
          </p:spPr>
          <p:txBody>
            <a:bodyPr wrap="square" lIns="0" tIns="65246" rIns="0" bIns="0" anchor="t" anchorCtr="0">
              <a:noAutofit/>
            </a:bodyPr>
            <a:lstStyle/>
            <a:p>
              <a:pPr algn="ctr"/>
              <a:r>
                <a:rPr lang="en-US" sz="1420" b="1" dirty="0">
                  <a:solidFill>
                    <a:schemeClr val="accent1"/>
                  </a:solidFill>
                  <a:latin typeface="+mn-lt"/>
                  <a:ea typeface="+mn-ea"/>
                  <a:cs typeface="+mn-cs"/>
                </a:rPr>
                <a:t>both orders</a:t>
              </a:r>
            </a:p>
          </p:txBody>
        </p:sp>
        <p:sp>
          <p:nvSpPr>
            <p:cNvPr id="26" name="Line 26"/>
            <p:cNvSpPr/>
            <p:nvPr/>
          </p:nvSpPr>
          <p:spPr>
            <a:xfrm>
              <a:off x="7886700" y="2324100"/>
              <a:ext cx="285750" cy="1"/>
            </a:xfrm>
            <a:prstGeom prst="line">
              <a:avLst/>
            </a:prstGeom>
            <a:noFill/>
            <a:ln w="23812">
              <a:solidFill>
                <a:schemeClr val="accent1"/>
              </a:solidFill>
              <a:tailEnd type="triangle" w="lg" len="lg"/>
            </a:ln>
          </p:spPr>
        </p:sp>
        <p:sp>
          <p:nvSpPr>
            <p:cNvPr id="27" name="Rectangle 27"/>
            <p:cNvSpPr/>
            <p:nvPr/>
          </p:nvSpPr>
          <p:spPr>
            <a:xfrm>
              <a:off x="8267700" y="1790700"/>
              <a:ext cx="1504950" cy="1066800"/>
            </a:xfrm>
            <a:prstGeom prst="roundRect">
              <a:avLst>
                <a:gd name="adj" fmla="val 10714"/>
              </a:avLst>
            </a:prstGeom>
            <a:solidFill>
              <a:srgbClr val="FFFFFF"/>
            </a:solidFill>
            <a:ln w="19050">
              <a:solidFill>
                <a:schemeClr val="accent2"/>
              </a:solidFill>
            </a:ln>
          </p:spPr>
        </p:sp>
        <p:sp>
          <p:nvSpPr>
            <p:cNvPr id="28" name="TextBox 28"/>
            <p:cNvSpPr txBox="1"/>
            <p:nvPr/>
          </p:nvSpPr>
          <p:spPr>
            <a:xfrm>
              <a:off x="8895940" y="1952625"/>
              <a:ext cx="248469"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Consolas"/>
                  <a:ea typeface="Consolas"/>
                  <a:cs typeface="Consolas"/>
                </a:rPr>
                <a:t>05</a:t>
              </a:r>
            </a:p>
          </p:txBody>
        </p:sp>
        <p:sp>
          <p:nvSpPr>
            <p:cNvPr id="29" name="TextBox 29"/>
            <p:cNvSpPr txBox="1"/>
            <p:nvPr/>
          </p:nvSpPr>
          <p:spPr>
            <a:xfrm>
              <a:off x="8499734" y="2231708"/>
              <a:ext cx="1040882" cy="322707"/>
            </a:xfrm>
            <a:prstGeom prst="rect">
              <a:avLst/>
            </a:prstGeom>
            <a:noFill/>
            <a:ln>
              <a:noFill/>
            </a:ln>
          </p:spPr>
          <p:txBody>
            <a:bodyPr wrap="none" lIns="0" tIns="0" rIns="0" bIns="0" anchor="t" anchorCtr="0">
              <a:spAutoFit/>
            </a:bodyPr>
            <a:lstStyle/>
            <a:p>
              <a:pPr algn="ctr"/>
              <a:r>
                <a:rPr lang="en-US" sz="1650" b="1" dirty="0">
                  <a:solidFill>
                    <a:schemeClr val="dk1"/>
                  </a:solidFill>
                  <a:latin typeface="+mn-lt"/>
                  <a:ea typeface="+mn-ea"/>
                  <a:cs typeface="+mn-cs"/>
                </a:rPr>
                <a:t>Remove +</a:t>
              </a:r>
            </a:p>
          </p:txBody>
        </p:sp>
        <p:sp>
          <p:nvSpPr>
            <p:cNvPr id="30" name="TextBox 30"/>
            <p:cNvSpPr txBox="1"/>
            <p:nvPr/>
          </p:nvSpPr>
          <p:spPr>
            <a:xfrm>
              <a:off x="8312106" y="2488882"/>
              <a:ext cx="1416139" cy="322707"/>
            </a:xfrm>
            <a:prstGeom prst="rect">
              <a:avLst/>
            </a:prstGeom>
            <a:noFill/>
            <a:ln>
              <a:noFill/>
            </a:ln>
          </p:spPr>
          <p:txBody>
            <a:bodyPr wrap="none" lIns="0" tIns="0" rIns="0" bIns="0" anchor="t" anchorCtr="0">
              <a:spAutoFit/>
            </a:bodyPr>
            <a:lstStyle/>
            <a:p>
              <a:pPr algn="ctr"/>
              <a:r>
                <a:rPr lang="en-US" sz="1650" b="1" dirty="0">
                  <a:solidFill>
                    <a:schemeClr val="dk1"/>
                  </a:solidFill>
                  <a:latin typeface="+mn-lt"/>
                  <a:ea typeface="+mn-ea"/>
                  <a:cs typeface="+mn-cs"/>
                </a:rPr>
                <a:t>reset marks</a:t>
              </a:r>
            </a:p>
          </p:txBody>
        </p:sp>
        <p:sp>
          <p:nvSpPr>
            <p:cNvPr id="31" name="Line 31"/>
            <p:cNvSpPr/>
            <p:nvPr/>
          </p:nvSpPr>
          <p:spPr>
            <a:xfrm>
              <a:off x="9772650" y="2324100"/>
              <a:ext cx="285750" cy="1"/>
            </a:xfrm>
            <a:prstGeom prst="line">
              <a:avLst/>
            </a:prstGeom>
            <a:noFill/>
            <a:ln w="23812">
              <a:solidFill>
                <a:schemeClr val="accent1"/>
              </a:solidFill>
              <a:tailEnd type="triangle" w="lg" len="lg"/>
            </a:ln>
          </p:spPr>
        </p:sp>
        <p:sp>
          <p:nvSpPr>
            <p:cNvPr id="32" name="Rectangle 32"/>
            <p:cNvSpPr/>
            <p:nvPr/>
          </p:nvSpPr>
          <p:spPr>
            <a:xfrm>
              <a:off x="10153650" y="1790700"/>
              <a:ext cx="1504950" cy="1066800"/>
            </a:xfrm>
            <a:prstGeom prst="roundRect">
              <a:avLst>
                <a:gd name="adj" fmla="val 10714"/>
              </a:avLst>
            </a:prstGeom>
            <a:solidFill>
              <a:srgbClr val="FFFFFF"/>
            </a:solidFill>
            <a:ln w="19050">
              <a:solidFill>
                <a:schemeClr val="accent2"/>
              </a:solidFill>
            </a:ln>
          </p:spPr>
        </p:sp>
        <p:sp>
          <p:nvSpPr>
            <p:cNvPr id="33" name="TextBox 33"/>
            <p:cNvSpPr txBox="1"/>
            <p:nvPr/>
          </p:nvSpPr>
          <p:spPr>
            <a:xfrm>
              <a:off x="10781890" y="1952625"/>
              <a:ext cx="248469"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Consolas"/>
                  <a:ea typeface="Consolas"/>
                  <a:cs typeface="Consolas"/>
                </a:rPr>
                <a:t>06</a:t>
              </a:r>
            </a:p>
          </p:txBody>
        </p:sp>
        <p:sp>
          <p:nvSpPr>
            <p:cNvPr id="34" name="TextBox 34"/>
            <p:cNvSpPr txBox="1"/>
            <p:nvPr/>
          </p:nvSpPr>
          <p:spPr>
            <a:xfrm>
              <a:off x="10223759" y="2231708"/>
              <a:ext cx="1364732" cy="322707"/>
            </a:xfrm>
            <a:prstGeom prst="rect">
              <a:avLst/>
            </a:prstGeom>
            <a:noFill/>
            <a:ln>
              <a:noFill/>
            </a:ln>
          </p:spPr>
          <p:txBody>
            <a:bodyPr wrap="none" lIns="0" tIns="0" rIns="0" bIns="0" anchor="t" anchorCtr="0">
              <a:spAutoFit/>
            </a:bodyPr>
            <a:lstStyle/>
            <a:p>
              <a:pPr algn="ctr"/>
              <a:r>
                <a:rPr lang="en-US" sz="1650" b="1" dirty="0">
                  <a:solidFill>
                    <a:schemeClr val="dk1"/>
                  </a:solidFill>
                  <a:latin typeface="+mn-lt"/>
                  <a:ea typeface="+mn-ea"/>
                  <a:cs typeface="+mn-cs"/>
                </a:rPr>
                <a:t>Orientation</a:t>
              </a:r>
            </a:p>
          </p:txBody>
        </p:sp>
        <p:sp>
          <p:nvSpPr>
            <p:cNvPr id="35" name="TextBox 35"/>
            <p:cNvSpPr txBox="1"/>
            <p:nvPr/>
          </p:nvSpPr>
          <p:spPr>
            <a:xfrm>
              <a:off x="10477931" y="2488882"/>
              <a:ext cx="856389" cy="322707"/>
            </a:xfrm>
            <a:prstGeom prst="rect">
              <a:avLst/>
            </a:prstGeom>
            <a:noFill/>
            <a:ln>
              <a:noFill/>
            </a:ln>
          </p:spPr>
          <p:txBody>
            <a:bodyPr wrap="none" lIns="0" tIns="0" rIns="0" bIns="0" anchor="t" anchorCtr="0">
              <a:spAutoFit/>
            </a:bodyPr>
            <a:lstStyle/>
            <a:p>
              <a:pPr algn="ctr"/>
              <a:r>
                <a:rPr lang="en-US" sz="1650" b="1" dirty="0">
                  <a:solidFill>
                    <a:schemeClr val="dk1"/>
                  </a:solidFill>
                  <a:latin typeface="+mn-lt"/>
                  <a:ea typeface="+mn-ea"/>
                  <a:cs typeface="+mn-cs"/>
                </a:rPr>
                <a:t>closure</a:t>
              </a:r>
            </a:p>
          </p:txBody>
        </p:sp>
        <p:sp>
          <p:nvSpPr>
            <p:cNvPr id="36" name="TextBox 36"/>
            <p:cNvSpPr txBox="1"/>
            <p:nvPr/>
          </p:nvSpPr>
          <p:spPr>
            <a:xfrm>
              <a:off x="525018" y="3098482"/>
              <a:ext cx="5586959"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Local adjacency search can miss a separating set</a:t>
              </a:r>
            </a:p>
          </p:txBody>
        </p:sp>
        <p:sp>
          <p:nvSpPr>
            <p:cNvPr id="37" name="TextBox 37"/>
            <p:cNvSpPr txBox="1"/>
            <p:nvPr/>
          </p:nvSpPr>
          <p:spPr>
            <a:xfrm>
              <a:off x="525018" y="3355658"/>
              <a:ext cx="4681347"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that lies outside current neighborhoods.</a:t>
              </a:r>
            </a:p>
          </p:txBody>
        </p:sp>
      </p:grpSp>
      <p:grpSp>
        <p:nvGrpSpPr>
          <p:cNvPr id="44" name="Group 44"/>
          <p:cNvGrpSpPr/>
          <p:nvPr/>
        </p:nvGrpSpPr>
        <p:grpSpPr>
          <a:xfrm>
            <a:off x="533400" y="3962400"/>
            <a:ext cx="6591300" cy="1581150"/>
            <a:chOff x="533400" y="3962400"/>
            <a:chExt cx="6591300" cy="1581150"/>
          </a:xfrm>
        </p:grpSpPr>
        <p:sp>
          <p:nvSpPr>
            <p:cNvPr id="39" name="Rectangle 39"/>
            <p:cNvSpPr/>
            <p:nvPr/>
          </p:nvSpPr>
          <p:spPr>
            <a:xfrm>
              <a:off x="533400" y="3962400"/>
              <a:ext cx="6591300" cy="1581150"/>
            </a:xfrm>
            <a:prstGeom prst="roundRect">
              <a:avLst>
                <a:gd name="adj" fmla="val 8434"/>
              </a:avLst>
            </a:prstGeom>
            <a:solidFill>
              <a:schemeClr val="accent1"/>
            </a:solidFill>
            <a:ln>
              <a:noFill/>
            </a:ln>
          </p:spPr>
        </p:sp>
        <p:sp>
          <p:nvSpPr>
            <p:cNvPr id="40" name="TextBox 40"/>
            <p:cNvSpPr txBox="1"/>
            <p:nvPr/>
          </p:nvSpPr>
          <p:spPr>
            <a:xfrm>
              <a:off x="793242" y="4150042"/>
              <a:ext cx="3098582" cy="264033"/>
            </a:xfrm>
            <a:prstGeom prst="rect">
              <a:avLst/>
            </a:prstGeom>
            <a:noFill/>
            <a:ln>
              <a:noFill/>
            </a:ln>
          </p:spPr>
          <p:txBody>
            <a:bodyPr wrap="none" lIns="0" tIns="0" rIns="0" bIns="0" anchor="t" anchorCtr="0">
              <a:spAutoFit/>
            </a:bodyPr>
            <a:lstStyle/>
            <a:p>
              <a:pPr algn="l"/>
              <a:r>
                <a:rPr lang="en-US" sz="1350" b="1" dirty="0">
                  <a:solidFill>
                    <a:srgbClr val="AFC7FF"/>
                  </a:solidFill>
                  <a:latin typeface="+mn-lt"/>
                  <a:ea typeface="+mn-ea"/>
                  <a:cs typeface="+mn-cs"/>
                </a:rPr>
                <a:t>POSSIBLE-D-SEP PATH CONDITION</a:t>
              </a:r>
            </a:p>
          </p:txBody>
        </p:sp>
        <p:sp>
          <p:nvSpPr>
            <p:cNvPr id="41" name="TextBox 41"/>
            <p:cNvSpPr txBox="1"/>
            <p:nvPr/>
          </p:nvSpPr>
          <p:spPr>
            <a:xfrm>
              <a:off x="788670" y="4452938"/>
              <a:ext cx="5758145"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j-lt"/>
                  <a:ea typeface="+mj-ea"/>
                  <a:cs typeface="+mj-cs"/>
                </a:rPr>
                <a:t>Every intermediate triple is either</a:t>
              </a:r>
            </a:p>
          </p:txBody>
        </p:sp>
        <p:sp>
          <p:nvSpPr>
            <p:cNvPr id="42" name="TextBox 42"/>
            <p:cNvSpPr txBox="1"/>
            <p:nvPr/>
          </p:nvSpPr>
          <p:spPr>
            <a:xfrm>
              <a:off x="790956" y="4911090"/>
              <a:ext cx="630638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a collider on the current path, or part of a triangle.</a:t>
              </a:r>
            </a:p>
          </p:txBody>
        </p:sp>
        <p:sp>
          <p:nvSpPr>
            <p:cNvPr id="43" name="TextBox 43"/>
            <p:cNvSpPr txBox="1"/>
            <p:nvPr/>
          </p:nvSpPr>
          <p:spPr>
            <a:xfrm>
              <a:off x="793242" y="5245418"/>
              <a:ext cx="6198804" cy="264033"/>
            </a:xfrm>
            <a:prstGeom prst="rect">
              <a:avLst/>
            </a:prstGeom>
            <a:noFill/>
            <a:ln>
              <a:noFill/>
            </a:ln>
          </p:spPr>
          <p:txBody>
            <a:bodyPr wrap="none" lIns="0" tIns="0" rIns="0" bIns="0" anchor="t" anchorCtr="0">
              <a:spAutoFit/>
            </a:bodyPr>
            <a:lstStyle/>
            <a:p>
              <a:pPr algn="l"/>
              <a:r>
                <a:rPr lang="en-US" sz="1350" dirty="0">
                  <a:solidFill>
                    <a:srgbClr val="E9EDF5"/>
                  </a:solidFill>
                  <a:latin typeface="+mn-lt"/>
                  <a:ea typeface="+mn-ea"/>
                  <a:cs typeface="+mn-cs"/>
                </a:rPr>
                <a:t>This computable superset makes non-local separator search possible.</a:t>
              </a:r>
            </a:p>
          </p:txBody>
        </p:sp>
      </p:grpSp>
      <p:grpSp>
        <p:nvGrpSpPr>
          <p:cNvPr id="51" name="Group 51"/>
          <p:cNvGrpSpPr/>
          <p:nvPr/>
        </p:nvGrpSpPr>
        <p:grpSpPr>
          <a:xfrm>
            <a:off x="7391400" y="3962400"/>
            <a:ext cx="4267200" cy="1623251"/>
            <a:chOff x="7391400" y="3962400"/>
            <a:chExt cx="4267200" cy="1623251"/>
          </a:xfrm>
        </p:grpSpPr>
        <p:sp>
          <p:nvSpPr>
            <p:cNvPr id="45" name="Rectangle 45"/>
            <p:cNvSpPr/>
            <p:nvPr/>
          </p:nvSpPr>
          <p:spPr>
            <a:xfrm>
              <a:off x="7391400" y="3962400"/>
              <a:ext cx="4267200" cy="1581150"/>
            </a:xfrm>
            <a:prstGeom prst="roundRect">
              <a:avLst>
                <a:gd name="adj" fmla="val 8434"/>
              </a:avLst>
            </a:prstGeom>
            <a:solidFill>
              <a:srgbClr val="FFFFFF"/>
            </a:solidFill>
            <a:ln w="14288">
              <a:solidFill>
                <a:srgbClr val="CBD2DC"/>
              </a:solidFill>
            </a:ln>
          </p:spPr>
        </p:sp>
        <p:sp>
          <p:nvSpPr>
            <p:cNvPr id="46" name="TextBox 46"/>
            <p:cNvSpPr txBox="1"/>
            <p:nvPr/>
          </p:nvSpPr>
          <p:spPr>
            <a:xfrm>
              <a:off x="7651242" y="4150042"/>
              <a:ext cx="2856631" cy="264033"/>
            </a:xfrm>
            <a:prstGeom prst="rect">
              <a:avLst/>
            </a:prstGeom>
            <a:noFill/>
            <a:ln>
              <a:noFill/>
            </a:ln>
          </p:spPr>
          <p:txBody>
            <a:bodyPr wrap="none" lIns="0" tIns="0" rIns="0" bIns="0" anchor="t" anchorCtr="0">
              <a:spAutoFit/>
            </a:bodyPr>
            <a:lstStyle/>
            <a:p>
              <a:pPr algn="l"/>
              <a:r>
                <a:rPr lang="en-US" sz="1350" b="1" dirty="0">
                  <a:solidFill>
                    <a:srgbClr val="B45F4A"/>
                  </a:solidFill>
                  <a:latin typeface="+mn-lt"/>
                  <a:ea typeface="+mn-ea"/>
                  <a:cs typeface="+mn-cs"/>
                </a:rPr>
                <a:t>THEOREM 6.4 — ORACLE SCOPE</a:t>
              </a:r>
            </a:p>
          </p:txBody>
        </p:sp>
        <p:sp>
          <p:nvSpPr>
            <p:cNvPr id="47" name="TextBox 47"/>
            <p:cNvSpPr txBox="1"/>
            <p:nvPr/>
          </p:nvSpPr>
          <p:spPr>
            <a:xfrm>
              <a:off x="7649718" y="4470082"/>
              <a:ext cx="3911848"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Faithfulness + correct CI answers</a:t>
              </a:r>
            </a:p>
          </p:txBody>
        </p:sp>
        <p:sp>
          <p:nvSpPr>
            <p:cNvPr id="48" name="TextBox 48"/>
            <p:cNvSpPr txBox="1"/>
            <p:nvPr/>
          </p:nvSpPr>
          <p:spPr>
            <a:xfrm>
              <a:off x="7651242" y="4845368"/>
              <a:ext cx="2145510" cy="264033"/>
            </a:xfrm>
            <a:prstGeom prst="rect">
              <a:avLst/>
            </a:prstGeom>
            <a:noFill/>
            <a:ln>
              <a:noFill/>
            </a:ln>
          </p:spPr>
          <p:txBody>
            <a:bodyPr wrap="none" lIns="0" tIns="0" rIns="0" bIns="0" anchor="t" anchorCtr="0">
              <a:spAutoFit/>
            </a:bodyPr>
            <a:lstStyle/>
            <a:p>
              <a:pPr algn="l"/>
              <a:r>
                <a:rPr lang="en-US" sz="1350" dirty="0">
                  <a:solidFill>
                    <a:srgbClr val="5F6875"/>
                  </a:solidFill>
                  <a:latin typeface="+mn-lt"/>
                  <a:ea typeface="+mn-ea"/>
                  <a:cs typeface="+mn-cs"/>
                </a:rPr>
                <a:t>Sound partially oriented</a:t>
              </a:r>
            </a:p>
          </p:txBody>
        </p:sp>
        <p:sp>
          <p:nvSpPr>
            <p:cNvPr id="49" name="TextBox 49"/>
            <p:cNvSpPr txBox="1"/>
            <p:nvPr/>
          </p:nvSpPr>
          <p:spPr>
            <a:xfrm>
              <a:off x="7651242" y="5064442"/>
              <a:ext cx="1876520" cy="264033"/>
            </a:xfrm>
            <a:prstGeom prst="rect">
              <a:avLst/>
            </a:prstGeom>
            <a:noFill/>
            <a:ln>
              <a:noFill/>
            </a:ln>
          </p:spPr>
          <p:txBody>
            <a:bodyPr wrap="none" lIns="0" tIns="0" rIns="0" bIns="0" anchor="t" anchorCtr="0">
              <a:spAutoFit/>
            </a:bodyPr>
            <a:lstStyle/>
            <a:p>
              <a:pPr algn="l"/>
              <a:r>
                <a:rPr lang="en-US" sz="1350" dirty="0">
                  <a:solidFill>
                    <a:srgbClr val="5F6875"/>
                  </a:solidFill>
                  <a:latin typeface="+mn-lt"/>
                  <a:ea typeface="+mn-ea"/>
                  <a:cs typeface="+mn-cs"/>
                </a:rPr>
                <a:t>inducing-path graph.</a:t>
              </a:r>
            </a:p>
          </p:txBody>
        </p:sp>
        <p:sp>
          <p:nvSpPr>
            <p:cNvPr id="50" name="TextBox 50"/>
            <p:cNvSpPr txBox="1"/>
            <p:nvPr/>
          </p:nvSpPr>
          <p:spPr>
            <a:xfrm>
              <a:off x="7651242" y="5321618"/>
              <a:ext cx="3863497" cy="264033"/>
            </a:xfrm>
            <a:prstGeom prst="rect">
              <a:avLst/>
            </a:prstGeom>
            <a:noFill/>
            <a:ln>
              <a:noFill/>
            </a:ln>
          </p:spPr>
          <p:txBody>
            <a:bodyPr wrap="none" lIns="0" tIns="0" rIns="0" bIns="0" anchor="t" anchorCtr="0">
              <a:spAutoFit/>
            </a:bodyPr>
            <a:lstStyle/>
            <a:p>
              <a:pPr algn="l"/>
              <a:r>
                <a:rPr lang="en-US" sz="1350" dirty="0">
                  <a:solidFill>
                    <a:srgbClr val="B45F4A"/>
                  </a:solidFill>
                  <a:latin typeface="+mn-lt"/>
                  <a:ea typeface="+mn-ea"/>
                  <a:cs typeface="+mn-cs"/>
                </a:rPr>
                <a:t>Maximal informativeness not proved there.</a:t>
              </a:r>
            </a:p>
          </p:txBody>
        </p:sp>
      </p:grpSp>
      <p:grpSp>
        <p:nvGrpSpPr>
          <p:cNvPr id="55" name="Group 55"/>
          <p:cNvGrpSpPr/>
          <p:nvPr/>
        </p:nvGrpSpPr>
        <p:grpSpPr>
          <a:xfrm>
            <a:off x="527304" y="6033135"/>
            <a:ext cx="11137392" cy="491871"/>
            <a:chOff x="527304" y="6033135"/>
            <a:chExt cx="11137392" cy="491871"/>
          </a:xfrm>
        </p:grpSpPr>
        <p:sp>
          <p:nvSpPr>
            <p:cNvPr id="52" name="TextBox 52"/>
            <p:cNvSpPr txBox="1"/>
            <p:nvPr/>
          </p:nvSpPr>
          <p:spPr>
            <a:xfrm>
              <a:off x="527304" y="6033135"/>
              <a:ext cx="8649746"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Spirtes, Glymour &amp; Scheines (2000), §6.7, printed pp. 144–145 · Possible-D-SEP p. 144 · Theorem 6.4 p. 145</a:t>
              </a:r>
            </a:p>
          </p:txBody>
        </p:sp>
        <p:sp>
          <p:nvSpPr>
            <p:cNvPr id="53" name="TextBox 53"/>
            <p:cNvSpPr txBox="1"/>
            <p:nvPr/>
          </p:nvSpPr>
          <p:spPr>
            <a:xfrm>
              <a:off x="527304" y="6290310"/>
              <a:ext cx="4159323"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Modern PAG orientation uses Zhang’s later rule set.</a:t>
              </a:r>
            </a:p>
          </p:txBody>
        </p:sp>
        <p:sp>
          <p:nvSpPr>
            <p:cNvPr id="54" name="TextBox 54"/>
            <p:cNvSpPr txBox="1"/>
            <p:nvPr/>
          </p:nvSpPr>
          <p:spPr>
            <a:xfrm>
              <a:off x="11111332" y="6290310"/>
              <a:ext cx="553364" cy="234696"/>
            </a:xfrm>
            <a:prstGeom prst="rect">
              <a:avLst/>
            </a:prstGeom>
            <a:noFill/>
            <a:ln>
              <a:noFill/>
            </a:ln>
          </p:spPr>
          <p:txBody>
            <a:bodyPr wrap="none" lIns="0" tIns="0" rIns="0" bIns="0" anchor="t" anchorCtr="0">
              <a:spAutoFit/>
            </a:bodyPr>
            <a:lstStyle/>
            <a:p>
              <a:pPr algn="r"/>
              <a:r>
                <a:rPr lang="en-US" sz="1200" dirty="0">
                  <a:solidFill>
                    <a:srgbClr val="5F6875"/>
                  </a:solidFill>
                  <a:latin typeface="Consolas"/>
                  <a:ea typeface="Consolas"/>
                  <a:cs typeface="Consolas"/>
                </a:rPr>
                <a:t>04 / 15</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18160" y="381000"/>
            <a:ext cx="11147298" cy="638175"/>
            <a:chOff x="518160" y="381000"/>
            <a:chExt cx="11147298" cy="638175"/>
          </a:xfrm>
        </p:grpSpPr>
        <p:sp>
          <p:nvSpPr>
            <p:cNvPr id="2" name="TextBox 2"/>
            <p:cNvSpPr txBox="1"/>
            <p:nvPr/>
          </p:nvSpPr>
          <p:spPr>
            <a:xfrm>
              <a:off x="518160" y="381000"/>
              <a:ext cx="10696633"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FCI Plus Uses a Sparse Logical Characterization</a:t>
              </a:r>
            </a:p>
          </p:txBody>
        </p:sp>
        <p:sp>
          <p:nvSpPr>
            <p:cNvPr id="3" name="TextBox 3"/>
            <p:cNvSpPr txBox="1"/>
            <p:nvPr/>
          </p:nvSpPr>
          <p:spPr>
            <a:xfrm>
              <a:off x="9683496" y="397192"/>
              <a:ext cx="1981962"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onsolas"/>
                  <a:ea typeface="Consolas"/>
                  <a:cs typeface="Consolas"/>
                </a:rPr>
                <a:t>CLAASSEN ET AL. 2013</a:t>
              </a:r>
            </a:p>
          </p:txBody>
        </p:sp>
        <p:sp>
          <p:nvSpPr>
            <p:cNvPr id="4" name="Line 4"/>
            <p:cNvSpPr/>
            <p:nvPr/>
          </p:nvSpPr>
          <p:spPr>
            <a:xfrm>
              <a:off x="533400" y="1009650"/>
              <a:ext cx="11125200" cy="9525"/>
            </a:xfrm>
            <a:custGeom>
              <a:avLst/>
              <a:gdLst/>
              <a:ahLst/>
              <a:cxnLst/>
              <a:rect l="l" t="t" r="r" b="b"/>
              <a:pathLst>
                <a:path w="11125200" h="9525">
                  <a:moveTo>
                    <a:pt x="0" y="0"/>
                  </a:moveTo>
                  <a:lnTo>
                    <a:pt x="11125200" y="0"/>
                  </a:lnTo>
                </a:path>
              </a:pathLst>
            </a:custGeom>
            <a:noFill/>
            <a:ln w="14288">
              <a:solidFill>
                <a:srgbClr val="CBD2DC"/>
              </a:solidFill>
            </a:ln>
          </p:spPr>
        </p:sp>
      </p:grpSp>
      <p:grpSp>
        <p:nvGrpSpPr>
          <p:cNvPr id="31" name="Group 31"/>
          <p:cNvGrpSpPr/>
          <p:nvPr/>
        </p:nvGrpSpPr>
        <p:grpSpPr>
          <a:xfrm>
            <a:off x="526542" y="1416368"/>
            <a:ext cx="7564469" cy="3517582"/>
            <a:chOff x="526542" y="1416368"/>
            <a:chExt cx="7564469" cy="3517582"/>
          </a:xfrm>
        </p:grpSpPr>
        <p:sp>
          <p:nvSpPr>
            <p:cNvPr id="6" name="TextBox 6"/>
            <p:cNvSpPr txBox="1"/>
            <p:nvPr/>
          </p:nvSpPr>
          <p:spPr>
            <a:xfrm>
              <a:off x="526542" y="1416368"/>
              <a:ext cx="5860847"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ALGORITHM 2: FROM LOCAL SKELETON TO D-SEP LINK REMOVAL</a:t>
              </a:r>
            </a:p>
          </p:txBody>
        </p:sp>
        <p:sp>
          <p:nvSpPr>
            <p:cNvPr id="7" name="Rectangle 7"/>
            <p:cNvSpPr/>
            <p:nvPr/>
          </p:nvSpPr>
          <p:spPr>
            <a:xfrm>
              <a:off x="533400" y="1743075"/>
              <a:ext cx="3105150" cy="1362075"/>
            </a:xfrm>
            <a:prstGeom prst="roundRect">
              <a:avLst>
                <a:gd name="adj" fmla="val 9790"/>
              </a:avLst>
            </a:prstGeom>
            <a:solidFill>
              <a:srgbClr val="FFFFFF"/>
            </a:solidFill>
            <a:ln w="19050">
              <a:solidFill>
                <a:schemeClr val="accent3"/>
              </a:solidFill>
            </a:ln>
          </p:spPr>
        </p:sp>
        <p:sp>
          <p:nvSpPr>
            <p:cNvPr id="8" name="TextBox 8"/>
            <p:cNvSpPr txBox="1"/>
            <p:nvPr/>
          </p:nvSpPr>
          <p:spPr>
            <a:xfrm>
              <a:off x="773430" y="1905000"/>
              <a:ext cx="1505506" cy="293370"/>
            </a:xfrm>
            <a:prstGeom prst="rect">
              <a:avLst/>
            </a:prstGeom>
            <a:noFill/>
            <a:ln>
              <a:noFill/>
            </a:ln>
          </p:spPr>
          <p:txBody>
            <a:bodyPr wrap="none" lIns="0" tIns="0" rIns="0" bIns="0" anchor="t" anchorCtr="0">
              <a:spAutoFit/>
            </a:bodyPr>
            <a:lstStyle/>
            <a:p>
              <a:pPr algn="l"/>
              <a:r>
                <a:rPr lang="en-US" sz="1500" b="1" dirty="0">
                  <a:solidFill>
                    <a:schemeClr val="accent3"/>
                  </a:solidFill>
                  <a:latin typeface="Consolas"/>
                  <a:ea typeface="Consolas"/>
                  <a:cs typeface="Consolas"/>
                </a:rPr>
                <a:t>01 PC skeleton</a:t>
              </a:r>
            </a:p>
          </p:txBody>
        </p:sp>
        <p:sp>
          <p:nvSpPr>
            <p:cNvPr id="9" name="TextBox 9"/>
            <p:cNvSpPr txBox="1"/>
            <p:nvPr/>
          </p:nvSpPr>
          <p:spPr>
            <a:xfrm>
              <a:off x="772668" y="2250758"/>
              <a:ext cx="2908680"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Bound local CI search by k</a:t>
              </a:r>
            </a:p>
          </p:txBody>
        </p:sp>
        <p:sp>
          <p:nvSpPr>
            <p:cNvPr id="10" name="TextBox 10"/>
            <p:cNvSpPr txBox="1"/>
            <p:nvPr/>
          </p:nvSpPr>
          <p:spPr>
            <a:xfrm>
              <a:off x="774192" y="2654618"/>
              <a:ext cx="3391298" cy="264033"/>
            </a:xfrm>
            <a:prstGeom prst="rect">
              <a:avLst/>
            </a:prstGeom>
            <a:noFill/>
            <a:ln>
              <a:noFill/>
            </a:ln>
          </p:spPr>
          <p:txBody>
            <a:bodyPr wrap="none" lIns="0" tIns="0" rIns="0" bIns="0" anchor="t" anchorCtr="0">
              <a:spAutoFit/>
            </a:bodyPr>
            <a:lstStyle/>
            <a:p>
              <a:pPr algn="l"/>
              <a:r>
                <a:rPr lang="en-US" sz="1350" dirty="0">
                  <a:solidFill>
                    <a:srgbClr val="5F6875"/>
                  </a:solidFill>
                  <a:latin typeface="+mn-lt"/>
                  <a:ea typeface="+mn-ea"/>
                  <a:cs typeface="+mn-cs"/>
                </a:rPr>
                <a:t>Start sparse; store separating sets.</a:t>
              </a:r>
            </a:p>
          </p:txBody>
        </p:sp>
        <p:sp>
          <p:nvSpPr>
            <p:cNvPr id="11" name="Line 11"/>
            <p:cNvSpPr/>
            <p:nvPr/>
          </p:nvSpPr>
          <p:spPr>
            <a:xfrm>
              <a:off x="3638550" y="2371725"/>
              <a:ext cx="457200" cy="1"/>
            </a:xfrm>
            <a:prstGeom prst="line">
              <a:avLst/>
            </a:prstGeom>
            <a:noFill/>
            <a:ln w="23812">
              <a:solidFill>
                <a:schemeClr val="accent1"/>
              </a:solidFill>
              <a:tailEnd type="triangle" w="lg" len="lg"/>
            </a:ln>
          </p:spPr>
        </p:sp>
        <p:sp>
          <p:nvSpPr>
            <p:cNvPr id="12" name="Rectangle 12"/>
            <p:cNvSpPr/>
            <p:nvPr/>
          </p:nvSpPr>
          <p:spPr>
            <a:xfrm>
              <a:off x="4191000" y="1743075"/>
              <a:ext cx="3676650" cy="1362075"/>
            </a:xfrm>
            <a:prstGeom prst="roundRect">
              <a:avLst>
                <a:gd name="adj" fmla="val 9790"/>
              </a:avLst>
            </a:prstGeom>
            <a:solidFill>
              <a:srgbClr val="FFF3E3"/>
            </a:solidFill>
            <a:ln w="28575">
              <a:solidFill>
                <a:schemeClr val="accent3"/>
              </a:solidFill>
            </a:ln>
          </p:spPr>
        </p:sp>
        <p:sp>
          <p:nvSpPr>
            <p:cNvPr id="13" name="TextBox 13"/>
            <p:cNvSpPr txBox="1"/>
            <p:nvPr/>
          </p:nvSpPr>
          <p:spPr>
            <a:xfrm>
              <a:off x="4431030" y="1905000"/>
              <a:ext cx="2355297" cy="293370"/>
            </a:xfrm>
            <a:prstGeom prst="rect">
              <a:avLst/>
            </a:prstGeom>
            <a:noFill/>
            <a:ln>
              <a:noFill/>
            </a:ln>
          </p:spPr>
          <p:txBody>
            <a:bodyPr wrap="none" lIns="0" tIns="0" rIns="0" bIns="0" anchor="t" anchorCtr="0">
              <a:spAutoFit/>
            </a:bodyPr>
            <a:lstStyle/>
            <a:p>
              <a:pPr algn="l"/>
              <a:r>
                <a:rPr lang="en-US" sz="1500" b="1" dirty="0">
                  <a:solidFill>
                    <a:schemeClr val="accent3"/>
                  </a:solidFill>
                  <a:latin typeface="Consolas"/>
                  <a:ea typeface="Consolas"/>
                  <a:cs typeface="Consolas"/>
                </a:rPr>
                <a:t>02 Augmented skeleton</a:t>
              </a:r>
            </a:p>
          </p:txBody>
        </p:sp>
        <p:sp>
          <p:nvSpPr>
            <p:cNvPr id="14" name="TextBox 14"/>
            <p:cNvSpPr txBox="1"/>
            <p:nvPr/>
          </p:nvSpPr>
          <p:spPr>
            <a:xfrm>
              <a:off x="4430268" y="2203132"/>
              <a:ext cx="2625016"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Temporary arrowheads</a:t>
              </a:r>
            </a:p>
          </p:txBody>
        </p:sp>
        <p:sp>
          <p:nvSpPr>
            <p:cNvPr id="15" name="TextBox 15"/>
            <p:cNvSpPr txBox="1"/>
            <p:nvPr/>
          </p:nvSpPr>
          <p:spPr>
            <a:xfrm>
              <a:off x="4430268" y="2460308"/>
              <a:ext cx="2139149"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encode dependence</a:t>
              </a:r>
            </a:p>
          </p:txBody>
        </p:sp>
        <p:sp>
          <p:nvSpPr>
            <p:cNvPr id="16" name="TextBox 16"/>
            <p:cNvSpPr txBox="1"/>
            <p:nvPr/>
          </p:nvSpPr>
          <p:spPr>
            <a:xfrm>
              <a:off x="4432554" y="2823210"/>
              <a:ext cx="3391335"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Recognize candidate D-SEP-link witnesses.</a:t>
              </a:r>
            </a:p>
          </p:txBody>
        </p:sp>
        <p:sp>
          <p:nvSpPr>
            <p:cNvPr id="17" name="Line 17"/>
            <p:cNvSpPr/>
            <p:nvPr/>
          </p:nvSpPr>
          <p:spPr>
            <a:xfrm>
              <a:off x="6029325" y="3105150"/>
              <a:ext cx="1" cy="152400"/>
            </a:xfrm>
            <a:prstGeom prst="line">
              <a:avLst/>
            </a:prstGeom>
            <a:noFill/>
            <a:ln w="23812">
              <a:solidFill>
                <a:schemeClr val="accent1"/>
              </a:solidFill>
              <a:tailEnd type="triangle" w="lg" len="lg"/>
            </a:ln>
          </p:spPr>
        </p:sp>
        <p:sp>
          <p:nvSpPr>
            <p:cNvPr id="18" name="Rectangle 18"/>
            <p:cNvSpPr/>
            <p:nvPr/>
          </p:nvSpPr>
          <p:spPr>
            <a:xfrm>
              <a:off x="4191000" y="3257550"/>
              <a:ext cx="3676650" cy="1676400"/>
            </a:xfrm>
            <a:prstGeom prst="roundRect">
              <a:avLst>
                <a:gd name="adj" fmla="val 7955"/>
              </a:avLst>
            </a:prstGeom>
            <a:solidFill>
              <a:srgbClr val="FFFFFF"/>
            </a:solidFill>
            <a:ln w="19050">
              <a:solidFill>
                <a:schemeClr val="accent3"/>
              </a:solidFill>
            </a:ln>
          </p:spPr>
        </p:sp>
        <p:sp>
          <p:nvSpPr>
            <p:cNvPr id="19" name="TextBox 19"/>
            <p:cNvSpPr txBox="1"/>
            <p:nvPr/>
          </p:nvSpPr>
          <p:spPr>
            <a:xfrm>
              <a:off x="4431030" y="3419475"/>
              <a:ext cx="2376135" cy="293370"/>
            </a:xfrm>
            <a:prstGeom prst="rect">
              <a:avLst/>
            </a:prstGeom>
            <a:noFill/>
            <a:ln>
              <a:noFill/>
            </a:ln>
          </p:spPr>
          <p:txBody>
            <a:bodyPr wrap="none" lIns="0" tIns="0" rIns="0" bIns="0" anchor="t" anchorCtr="0">
              <a:spAutoFit/>
            </a:bodyPr>
            <a:lstStyle/>
            <a:p>
              <a:pPr algn="l"/>
              <a:r>
                <a:rPr lang="en-US" sz="1500" b="1" dirty="0">
                  <a:solidFill>
                    <a:schemeClr val="accent3"/>
                  </a:solidFill>
                  <a:latin typeface="Consolas"/>
                  <a:ea typeface="Consolas"/>
                  <a:cs typeface="Consolas"/>
                </a:rPr>
                <a:t>03 Recursive hierarchy</a:t>
              </a:r>
            </a:p>
          </p:txBody>
        </p:sp>
        <p:sp>
          <p:nvSpPr>
            <p:cNvPr id="20" name="TextBox 20"/>
            <p:cNvSpPr txBox="1"/>
            <p:nvPr/>
          </p:nvSpPr>
          <p:spPr>
            <a:xfrm>
              <a:off x="4430268" y="3736658"/>
              <a:ext cx="2473371"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Construct a targeted</a:t>
              </a:r>
            </a:p>
          </p:txBody>
        </p:sp>
        <p:sp>
          <p:nvSpPr>
            <p:cNvPr id="21" name="TextBox 21"/>
            <p:cNvSpPr txBox="1"/>
            <p:nvPr/>
          </p:nvSpPr>
          <p:spPr>
            <a:xfrm>
              <a:off x="4430268" y="3993832"/>
              <a:ext cx="1824290"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separator basis</a:t>
              </a:r>
            </a:p>
          </p:txBody>
        </p:sp>
        <p:sp>
          <p:nvSpPr>
            <p:cNvPr id="22" name="TextBox 22"/>
            <p:cNvSpPr txBox="1"/>
            <p:nvPr/>
          </p:nvSpPr>
          <p:spPr>
            <a:xfrm>
              <a:off x="4432554" y="4385310"/>
              <a:ext cx="3280658"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Use known sepsets and collider structure</a:t>
              </a:r>
            </a:p>
          </p:txBody>
        </p:sp>
        <p:sp>
          <p:nvSpPr>
            <p:cNvPr id="23" name="TextBox 23"/>
            <p:cNvSpPr txBox="1"/>
            <p:nvPr/>
          </p:nvSpPr>
          <p:spPr>
            <a:xfrm>
              <a:off x="4432554" y="4594860"/>
              <a:ext cx="3658457"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instead of broad Possible-D-SEP enumeration.</a:t>
              </a:r>
            </a:p>
          </p:txBody>
        </p:sp>
        <p:sp>
          <p:nvSpPr>
            <p:cNvPr id="24" name="Line 24"/>
            <p:cNvSpPr/>
            <p:nvPr/>
          </p:nvSpPr>
          <p:spPr>
            <a:xfrm flipH="1">
              <a:off x="3733800" y="4095750"/>
              <a:ext cx="457200" cy="1"/>
            </a:xfrm>
            <a:prstGeom prst="line">
              <a:avLst/>
            </a:prstGeom>
            <a:noFill/>
            <a:ln w="23812">
              <a:solidFill>
                <a:schemeClr val="accent1"/>
              </a:solidFill>
              <a:tailEnd type="triangle" w="lg" len="lg"/>
            </a:ln>
          </p:spPr>
        </p:sp>
        <p:sp>
          <p:nvSpPr>
            <p:cNvPr id="25" name="Rectangle 25"/>
            <p:cNvSpPr/>
            <p:nvPr/>
          </p:nvSpPr>
          <p:spPr>
            <a:xfrm>
              <a:off x="533400" y="3257550"/>
              <a:ext cx="3105150" cy="1676400"/>
            </a:xfrm>
            <a:prstGeom prst="roundRect">
              <a:avLst>
                <a:gd name="adj" fmla="val 7955"/>
              </a:avLst>
            </a:prstGeom>
            <a:solidFill>
              <a:schemeClr val="accent1"/>
            </a:solidFill>
            <a:ln>
              <a:noFill/>
            </a:ln>
          </p:spPr>
        </p:sp>
        <p:sp>
          <p:nvSpPr>
            <p:cNvPr id="26" name="TextBox 26"/>
            <p:cNvSpPr txBox="1"/>
            <p:nvPr/>
          </p:nvSpPr>
          <p:spPr>
            <a:xfrm>
              <a:off x="773430" y="3419475"/>
              <a:ext cx="2843594" cy="293370"/>
            </a:xfrm>
            <a:prstGeom prst="rect">
              <a:avLst/>
            </a:prstGeom>
            <a:noFill/>
            <a:ln>
              <a:noFill/>
            </a:ln>
          </p:spPr>
          <p:txBody>
            <a:bodyPr wrap="none" lIns="0" tIns="0" rIns="0" bIns="0" anchor="t" anchorCtr="0">
              <a:spAutoFit/>
            </a:bodyPr>
            <a:lstStyle/>
            <a:p>
              <a:pPr algn="l"/>
              <a:r>
                <a:rPr lang="en-US" sz="1500" b="1" dirty="0">
                  <a:solidFill>
                    <a:srgbClr val="FFC77E"/>
                  </a:solidFill>
                  <a:latin typeface="Consolas"/>
                  <a:ea typeface="Consolas"/>
                  <a:cs typeface="Consolas"/>
                </a:rPr>
                <a:t>04 Test → minimize → revisit</a:t>
              </a:r>
            </a:p>
          </p:txBody>
        </p:sp>
        <p:sp>
          <p:nvSpPr>
            <p:cNvPr id="27" name="TextBox 27"/>
            <p:cNvSpPr txBox="1"/>
            <p:nvPr/>
          </p:nvSpPr>
          <p:spPr>
            <a:xfrm>
              <a:off x="772668" y="3755708"/>
              <a:ext cx="2018398"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Remove a verified</a:t>
              </a:r>
            </a:p>
          </p:txBody>
        </p:sp>
        <p:sp>
          <p:nvSpPr>
            <p:cNvPr id="28" name="TextBox 28"/>
            <p:cNvSpPr txBox="1"/>
            <p:nvPr/>
          </p:nvSpPr>
          <p:spPr>
            <a:xfrm>
              <a:off x="772668" y="4012882"/>
              <a:ext cx="1155956" cy="322707"/>
            </a:xfrm>
            <a:prstGeom prst="rect">
              <a:avLst/>
            </a:prstGeom>
            <a:noFill/>
            <a:ln>
              <a:noFill/>
            </a:ln>
          </p:spPr>
          <p:txBody>
            <a:bodyPr wrap="none" lIns="0" tIns="0" rIns="0" bIns="0" anchor="t" anchorCtr="0">
              <a:spAutoFit/>
            </a:bodyPr>
            <a:lstStyle/>
            <a:p>
              <a:pPr algn="l"/>
              <a:r>
                <a:rPr lang="en-US" sz="1650" b="1" dirty="0">
                  <a:solidFill>
                    <a:srgbClr val="FFFFFF"/>
                  </a:solidFill>
                  <a:latin typeface="+mn-lt"/>
                  <a:ea typeface="+mn-ea"/>
                  <a:cs typeface="+mn-cs"/>
                </a:rPr>
                <a:t>D-SEP link</a:t>
              </a:r>
            </a:p>
          </p:txBody>
        </p:sp>
        <p:sp>
          <p:nvSpPr>
            <p:cNvPr id="29" name="TextBox 29"/>
            <p:cNvSpPr txBox="1"/>
            <p:nvPr/>
          </p:nvSpPr>
          <p:spPr>
            <a:xfrm>
              <a:off x="774954" y="4404360"/>
              <a:ext cx="2481101" cy="234696"/>
            </a:xfrm>
            <a:prstGeom prst="rect">
              <a:avLst/>
            </a:prstGeom>
            <a:noFill/>
            <a:ln>
              <a:noFill/>
            </a:ln>
          </p:spPr>
          <p:txBody>
            <a:bodyPr wrap="none" lIns="0" tIns="0" rIns="0" bIns="0" anchor="t" anchorCtr="0">
              <a:spAutoFit/>
            </a:bodyPr>
            <a:lstStyle/>
            <a:p>
              <a:pPr algn="l"/>
              <a:r>
                <a:rPr lang="en-US" sz="1200" dirty="0">
                  <a:solidFill>
                    <a:srgbClr val="E9EDF5"/>
                  </a:solidFill>
                  <a:latin typeface="+mn-lt"/>
                  <a:ea typeface="+mn-ea"/>
                  <a:cs typeface="+mn-cs"/>
                </a:rPr>
                <a:t>Update candidates; then orient</a:t>
              </a:r>
            </a:p>
          </p:txBody>
        </p:sp>
        <p:sp>
          <p:nvSpPr>
            <p:cNvPr id="30" name="TextBox 30"/>
            <p:cNvSpPr txBox="1"/>
            <p:nvPr/>
          </p:nvSpPr>
          <p:spPr>
            <a:xfrm>
              <a:off x="774954" y="4613910"/>
              <a:ext cx="2176882" cy="234696"/>
            </a:xfrm>
            <a:prstGeom prst="rect">
              <a:avLst/>
            </a:prstGeom>
            <a:noFill/>
            <a:ln>
              <a:noFill/>
            </a:ln>
          </p:spPr>
          <p:txBody>
            <a:bodyPr wrap="none" lIns="0" tIns="0" rIns="0" bIns="0" anchor="t" anchorCtr="0">
              <a:spAutoFit/>
            </a:bodyPr>
            <a:lstStyle/>
            <a:p>
              <a:pPr algn="l"/>
              <a:r>
                <a:rPr lang="en-US" sz="1200" dirty="0">
                  <a:solidFill>
                    <a:srgbClr val="E9EDF5"/>
                  </a:solidFill>
                  <a:latin typeface="+mn-lt"/>
                  <a:ea typeface="+mn-ea"/>
                  <a:cs typeface="+mn-cs"/>
                </a:rPr>
                <a:t>the verified final skeleton.</a:t>
              </a:r>
            </a:p>
          </p:txBody>
        </p:sp>
      </p:grpSp>
      <p:grpSp>
        <p:nvGrpSpPr>
          <p:cNvPr id="35" name="Group 35"/>
          <p:cNvGrpSpPr/>
          <p:nvPr/>
        </p:nvGrpSpPr>
        <p:grpSpPr>
          <a:xfrm>
            <a:off x="526542" y="5353050"/>
            <a:ext cx="8239887" cy="398145"/>
            <a:chOff x="526542" y="5353050"/>
            <a:chExt cx="8239887" cy="398145"/>
          </a:xfrm>
        </p:grpSpPr>
        <p:sp>
          <p:nvSpPr>
            <p:cNvPr id="32" name="TextBox 32"/>
            <p:cNvSpPr txBox="1"/>
            <p:nvPr/>
          </p:nvSpPr>
          <p:spPr>
            <a:xfrm>
              <a:off x="526542" y="5416868"/>
              <a:ext cx="1394849" cy="264033"/>
            </a:xfrm>
            <a:prstGeom prst="rect">
              <a:avLst/>
            </a:prstGeom>
            <a:noFill/>
            <a:ln>
              <a:noFill/>
            </a:ln>
          </p:spPr>
          <p:txBody>
            <a:bodyPr wrap="none" lIns="0" tIns="0" rIns="0" bIns="0" anchor="t" anchorCtr="0">
              <a:spAutoFit/>
            </a:bodyPr>
            <a:lstStyle/>
            <a:p>
              <a:pPr algn="l"/>
              <a:r>
                <a:rPr lang="en-US" sz="1350" b="1" dirty="0">
                  <a:solidFill>
                    <a:srgbClr val="5F6875"/>
                  </a:solidFill>
                  <a:latin typeface="+mn-lt"/>
                  <a:ea typeface="+mn-ea"/>
                  <a:cs typeface="+mn-cs"/>
                </a:rPr>
                <a:t>D-SEP WITNESS</a:t>
              </a:r>
            </a:p>
          </p:txBody>
        </p:sp>
        <p:sp>
          <p:nvSpPr>
            <p:cNvPr id="33" name="TextBox 33"/>
            <p:cNvSpPr txBox="1"/>
            <p:nvPr/>
          </p:nvSpPr>
          <p:spPr>
            <a:xfrm>
              <a:off x="2266950" y="5353050"/>
              <a:ext cx="2000250" cy="342900"/>
            </a:xfrm>
            <a:prstGeom prst="rect">
              <a:avLst/>
            </a:prstGeom>
            <a:noFill/>
            <a:ln>
              <a:noFill/>
            </a:ln>
          </p:spPr>
          <p:txBody>
            <a:bodyPr wrap="square" lIns="0" tIns="88582" rIns="0" bIns="0" anchor="t" anchorCtr="0">
              <a:noAutofit/>
            </a:bodyPr>
            <a:lstStyle/>
            <a:p>
              <a:pPr algn="l"/>
              <a:r>
                <a:rPr lang="en-US" sz="1650" b="1" dirty="0">
                  <a:solidFill>
                    <a:schemeClr val="accent3"/>
                  </a:solidFill>
                  <a:latin typeface="Consolas"/>
                  <a:ea typeface="Consolas"/>
                  <a:cs typeface="Consolas"/>
                </a:rPr>
                <a:t>U ↔ X ↔ Y ↔ V</a:t>
              </a:r>
            </a:p>
          </p:txBody>
        </p:sp>
        <p:sp>
          <p:nvSpPr>
            <p:cNvPr id="34" name="TextBox 34"/>
            <p:cNvSpPr txBox="1"/>
            <p:nvPr/>
          </p:nvSpPr>
          <p:spPr>
            <a:xfrm>
              <a:off x="4450080" y="5457825"/>
              <a:ext cx="431634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 hierarchy-derived separating information</a:t>
              </a:r>
            </a:p>
          </p:txBody>
        </p:sp>
      </p:grpSp>
      <p:grpSp>
        <p:nvGrpSpPr>
          <p:cNvPr id="47" name="Group 47"/>
          <p:cNvGrpSpPr/>
          <p:nvPr/>
        </p:nvGrpSpPr>
        <p:grpSpPr>
          <a:xfrm>
            <a:off x="8477250" y="1333500"/>
            <a:ext cx="3426965" cy="3867150"/>
            <a:chOff x="8477250" y="1333500"/>
            <a:chExt cx="3426965" cy="3867150"/>
          </a:xfrm>
        </p:grpSpPr>
        <p:sp>
          <p:nvSpPr>
            <p:cNvPr id="36" name="Rectangle 36"/>
            <p:cNvSpPr/>
            <p:nvPr/>
          </p:nvSpPr>
          <p:spPr>
            <a:xfrm>
              <a:off x="8477250" y="1333500"/>
              <a:ext cx="3181350" cy="3867150"/>
            </a:xfrm>
            <a:prstGeom prst="roundRect">
              <a:avLst>
                <a:gd name="adj" fmla="val 4790"/>
              </a:avLst>
            </a:prstGeom>
            <a:solidFill>
              <a:schemeClr val="accent1"/>
            </a:solidFill>
            <a:ln>
              <a:noFill/>
            </a:ln>
          </p:spPr>
        </p:sp>
        <p:sp>
          <p:nvSpPr>
            <p:cNvPr id="37" name="TextBox 37"/>
            <p:cNvSpPr txBox="1"/>
            <p:nvPr/>
          </p:nvSpPr>
          <p:spPr>
            <a:xfrm>
              <a:off x="8756142" y="1540192"/>
              <a:ext cx="2523950" cy="264033"/>
            </a:xfrm>
            <a:prstGeom prst="rect">
              <a:avLst/>
            </a:prstGeom>
            <a:noFill/>
            <a:ln>
              <a:noFill/>
            </a:ln>
          </p:spPr>
          <p:txBody>
            <a:bodyPr wrap="none" lIns="0" tIns="0" rIns="0" bIns="0" anchor="t" anchorCtr="0">
              <a:spAutoFit/>
            </a:bodyPr>
            <a:lstStyle/>
            <a:p>
              <a:pPr algn="l"/>
              <a:r>
                <a:rPr lang="en-US" sz="1350" b="1" dirty="0">
                  <a:solidFill>
                    <a:srgbClr val="FFC77E"/>
                  </a:solidFill>
                  <a:latin typeface="+mn-lt"/>
                  <a:ea typeface="+mn-ea"/>
                  <a:cs typeface="+mn-cs"/>
                </a:rPr>
                <a:t>CONDITIONAL QUERY BOUND</a:t>
              </a:r>
            </a:p>
          </p:txBody>
        </p:sp>
        <p:sp>
          <p:nvSpPr>
            <p:cNvPr id="38" name="TextBox 38"/>
            <p:cNvSpPr txBox="1"/>
            <p:nvPr/>
          </p:nvSpPr>
          <p:spPr>
            <a:xfrm>
              <a:off x="8763000" y="2095500"/>
              <a:ext cx="2609850" cy="552450"/>
            </a:xfrm>
            <a:prstGeom prst="rect">
              <a:avLst/>
            </a:prstGeom>
            <a:noFill/>
            <a:ln>
              <a:noFill/>
            </a:ln>
          </p:spPr>
          <p:txBody>
            <a:bodyPr wrap="square" lIns="0" tIns="119062" rIns="0" bIns="0" anchor="t" anchorCtr="0">
              <a:noAutofit/>
            </a:bodyPr>
            <a:lstStyle/>
            <a:p>
              <a:pPr algn="ctr"/>
              <a:r>
                <a:rPr lang="en-US" sz="2250" b="1" dirty="0">
                  <a:solidFill>
                    <a:srgbClr val="FFFFFF"/>
                  </a:solidFill>
                  <a:latin typeface="+mn-lt"/>
                  <a:ea typeface="+mn-ea"/>
                  <a:cs typeface="+mn-cs"/>
                </a:rPr>
                <a:t>O(N²ᵏ⁺⁴)</a:t>
              </a:r>
            </a:p>
          </p:txBody>
        </p:sp>
        <p:sp>
          <p:nvSpPr>
            <p:cNvPr id="39" name="Line 39"/>
            <p:cNvSpPr/>
            <p:nvPr/>
          </p:nvSpPr>
          <p:spPr>
            <a:xfrm>
              <a:off x="8763000" y="2800350"/>
              <a:ext cx="2609850" cy="9525"/>
            </a:xfrm>
            <a:custGeom>
              <a:avLst/>
              <a:gdLst/>
              <a:ahLst/>
              <a:cxnLst/>
              <a:rect l="l" t="t" r="r" b="b"/>
              <a:pathLst>
                <a:path w="2609850" h="9525">
                  <a:moveTo>
                    <a:pt x="0" y="0"/>
                  </a:moveTo>
                  <a:lnTo>
                    <a:pt x="2609850" y="0"/>
                  </a:lnTo>
                </a:path>
              </a:pathLst>
            </a:custGeom>
            <a:noFill/>
            <a:ln w="14288">
              <a:solidFill>
                <a:srgbClr val="5C7190"/>
              </a:solidFill>
            </a:ln>
          </p:spPr>
        </p:sp>
        <p:sp>
          <p:nvSpPr>
            <p:cNvPr id="40" name="TextBox 40"/>
            <p:cNvSpPr txBox="1"/>
            <p:nvPr/>
          </p:nvSpPr>
          <p:spPr>
            <a:xfrm>
              <a:off x="8753856" y="2967990"/>
              <a:ext cx="1490472"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Only under:</a:t>
              </a:r>
            </a:p>
          </p:txBody>
        </p:sp>
        <p:sp>
          <p:nvSpPr>
            <p:cNvPr id="41" name="TextBox 41"/>
            <p:cNvSpPr txBox="1"/>
            <p:nvPr/>
          </p:nvSpPr>
          <p:spPr>
            <a:xfrm>
              <a:off x="8755380" y="3371850"/>
              <a:ext cx="3035228" cy="293370"/>
            </a:xfrm>
            <a:prstGeom prst="rect">
              <a:avLst/>
            </a:prstGeom>
            <a:noFill/>
            <a:ln>
              <a:noFill/>
            </a:ln>
          </p:spPr>
          <p:txBody>
            <a:bodyPr wrap="none" lIns="0" tIns="0" rIns="0" bIns="0" anchor="t" anchorCtr="0">
              <a:spAutoFit/>
            </a:bodyPr>
            <a:lstStyle/>
            <a:p>
              <a:pPr algn="l" marL="161925" indent="-161925">
                <a:buClr>
                  <a:srgbClr val="E9EDF5"/>
                </a:buClr>
                <a:buSzTx/>
                <a:buFontTx/>
                <a:buChar char="•"/>
              </a:pPr>
              <a:r>
                <a:rPr lang="en-US" sz="1500" dirty="0">
                  <a:solidFill>
                    <a:srgbClr val="E9EDF5"/>
                  </a:solidFill>
                  <a:latin typeface="+mn-lt"/>
                  <a:ea typeface="+mn-ea"/>
                  <a:cs typeface="+mn-cs"/>
                </a:rPr>
                <a:t>fixed observed-MAG degree k</a:t>
              </a:r>
            </a:p>
          </p:txBody>
        </p:sp>
        <p:sp>
          <p:nvSpPr>
            <p:cNvPr id="42" name="TextBox 42"/>
            <p:cNvSpPr txBox="1"/>
            <p:nvPr/>
          </p:nvSpPr>
          <p:spPr>
            <a:xfrm>
              <a:off x="8755380" y="3676650"/>
              <a:ext cx="1414748" cy="293370"/>
            </a:xfrm>
            <a:prstGeom prst="rect">
              <a:avLst/>
            </a:prstGeom>
            <a:noFill/>
            <a:ln>
              <a:noFill/>
            </a:ln>
          </p:spPr>
          <p:txBody>
            <a:bodyPr wrap="none" lIns="0" tIns="0" rIns="0" bIns="0" anchor="t" anchorCtr="0">
              <a:spAutoFit/>
            </a:bodyPr>
            <a:lstStyle/>
            <a:p>
              <a:pPr algn="l" marL="161925" indent="-161925">
                <a:buClr>
                  <a:srgbClr val="E9EDF5"/>
                </a:buClr>
                <a:buSzTx/>
                <a:buFontTx/>
                <a:buChar char="•"/>
              </a:pPr>
              <a:r>
                <a:rPr lang="en-US" sz="1500" dirty="0">
                  <a:solidFill>
                    <a:srgbClr val="E9EDF5"/>
                  </a:solidFill>
                  <a:latin typeface="+mn-lt"/>
                  <a:ea typeface="+mn-ea"/>
                  <a:cs typeface="+mn-cs"/>
                </a:rPr>
                <a:t>Faithfulness</a:t>
              </a:r>
            </a:p>
          </p:txBody>
        </p:sp>
        <p:sp>
          <p:nvSpPr>
            <p:cNvPr id="43" name="TextBox 43"/>
            <p:cNvSpPr txBox="1"/>
            <p:nvPr/>
          </p:nvSpPr>
          <p:spPr>
            <a:xfrm>
              <a:off x="8755380" y="3981450"/>
              <a:ext cx="3148835" cy="293370"/>
            </a:xfrm>
            <a:prstGeom prst="rect">
              <a:avLst/>
            </a:prstGeom>
            <a:noFill/>
            <a:ln>
              <a:noFill/>
            </a:ln>
          </p:spPr>
          <p:txBody>
            <a:bodyPr wrap="none" lIns="0" tIns="0" rIns="0" bIns="0" anchor="t" anchorCtr="0">
              <a:spAutoFit/>
            </a:bodyPr>
            <a:lstStyle/>
            <a:p>
              <a:pPr algn="l" marL="161925" indent="-161925">
                <a:buClr>
                  <a:srgbClr val="E9EDF5"/>
                </a:buClr>
                <a:buSzTx/>
                <a:buFontTx/>
                <a:buChar char="•"/>
              </a:pPr>
              <a:r>
                <a:rPr lang="en-US" sz="1500" dirty="0">
                  <a:solidFill>
                    <a:srgbClr val="E9EDF5"/>
                  </a:solidFill>
                  <a:latin typeface="+mn-lt"/>
                  <a:ea typeface="+mn-ea"/>
                  <a:cs typeface="+mn-cs"/>
                </a:rPr>
                <a:t>constant-time exact CI oracle</a:t>
              </a:r>
            </a:p>
          </p:txBody>
        </p:sp>
        <p:sp>
          <p:nvSpPr>
            <p:cNvPr id="44" name="Rectangle 44"/>
            <p:cNvSpPr/>
            <p:nvPr/>
          </p:nvSpPr>
          <p:spPr>
            <a:xfrm>
              <a:off x="8763000" y="4391025"/>
              <a:ext cx="2609850" cy="514350"/>
            </a:xfrm>
            <a:prstGeom prst="roundRect">
              <a:avLst>
                <a:gd name="adj" fmla="val 18519"/>
              </a:avLst>
            </a:prstGeom>
            <a:solidFill>
              <a:srgbClr val="B45F4A"/>
            </a:solidFill>
            <a:ln>
              <a:noFill/>
            </a:ln>
          </p:spPr>
        </p:sp>
        <p:sp>
          <p:nvSpPr>
            <p:cNvPr id="45" name="TextBox 45"/>
            <p:cNvSpPr txBox="1"/>
            <p:nvPr/>
          </p:nvSpPr>
          <p:spPr>
            <a:xfrm>
              <a:off x="8481670" y="4454842"/>
              <a:ext cx="3172511"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NOT a sample-accuracy guarantee</a:t>
              </a:r>
            </a:p>
          </p:txBody>
        </p:sp>
        <p:sp>
          <p:nvSpPr>
            <p:cNvPr id="46" name="TextBox 46"/>
            <p:cNvSpPr txBox="1"/>
            <p:nvPr/>
          </p:nvSpPr>
          <p:spPr>
            <a:xfrm>
              <a:off x="8791908" y="4664392"/>
              <a:ext cx="2552033"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NOT a wall-clock guarantee</a:t>
              </a:r>
            </a:p>
          </p:txBody>
        </p:sp>
      </p:grpSp>
      <p:grpSp>
        <p:nvGrpSpPr>
          <p:cNvPr id="50" name="Group 50"/>
          <p:cNvGrpSpPr/>
          <p:nvPr/>
        </p:nvGrpSpPr>
        <p:grpSpPr>
          <a:xfrm>
            <a:off x="527304" y="6204585"/>
            <a:ext cx="11137392" cy="234696"/>
            <a:chOff x="527304" y="6204585"/>
            <a:chExt cx="11137392" cy="234696"/>
          </a:xfrm>
        </p:grpSpPr>
        <p:sp>
          <p:nvSpPr>
            <p:cNvPr id="48" name="TextBox 48"/>
            <p:cNvSpPr txBox="1"/>
            <p:nvPr/>
          </p:nvSpPr>
          <p:spPr>
            <a:xfrm>
              <a:off x="527304" y="6204585"/>
              <a:ext cx="9540832"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Claassen, Mooij &amp; Heskes (2013), Def. 3, Lemmas 4–7, Algorithm 2 p. 178, complexity p. 179 · supplement theorem/body</a:t>
              </a:r>
            </a:p>
          </p:txBody>
        </p:sp>
        <p:sp>
          <p:nvSpPr>
            <p:cNvPr id="49" name="TextBox 49"/>
            <p:cNvSpPr txBox="1"/>
            <p:nvPr/>
          </p:nvSpPr>
          <p:spPr>
            <a:xfrm>
              <a:off x="11111332" y="6204585"/>
              <a:ext cx="553364" cy="234696"/>
            </a:xfrm>
            <a:prstGeom prst="rect">
              <a:avLst/>
            </a:prstGeom>
            <a:noFill/>
            <a:ln>
              <a:noFill/>
            </a:ln>
          </p:spPr>
          <p:txBody>
            <a:bodyPr wrap="none" lIns="0" tIns="0" rIns="0" bIns="0" anchor="t" anchorCtr="0">
              <a:spAutoFit/>
            </a:bodyPr>
            <a:lstStyle/>
            <a:p>
              <a:pPr algn="r"/>
              <a:r>
                <a:rPr lang="en-US" sz="1200" dirty="0">
                  <a:solidFill>
                    <a:srgbClr val="5F6875"/>
                  </a:solidFill>
                  <a:latin typeface="Consolas"/>
                  <a:ea typeface="Consolas"/>
                  <a:cs typeface="Consolas"/>
                </a:rPr>
                <a:t>05 / 15</a:t>
              </a:r>
            </a:p>
          </p:txBody>
        </p:sp>
      </p:gr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17398" y="345758"/>
            <a:ext cx="11148060" cy="806767"/>
            <a:chOff x="517398" y="345758"/>
            <a:chExt cx="11148060" cy="806767"/>
          </a:xfrm>
        </p:grpSpPr>
        <p:sp>
          <p:nvSpPr>
            <p:cNvPr id="2" name="TextBox 2"/>
            <p:cNvSpPr txBox="1"/>
            <p:nvPr/>
          </p:nvSpPr>
          <p:spPr>
            <a:xfrm>
              <a:off x="517398" y="345758"/>
              <a:ext cx="10844802"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Every Paper Stage Is Inspectable and Testable</a:t>
              </a:r>
            </a:p>
          </p:txBody>
        </p:sp>
        <p:sp>
          <p:nvSpPr>
            <p:cNvPr id="3" name="TextBox 3"/>
            <p:cNvSpPr txBox="1"/>
            <p:nvPr/>
          </p:nvSpPr>
          <p:spPr>
            <a:xfrm>
              <a:off x="10480396" y="844868"/>
              <a:ext cx="1185062" cy="264033"/>
            </a:xfrm>
            <a:prstGeom prst="rect">
              <a:avLst/>
            </a:prstGeom>
            <a:noFill/>
            <a:ln>
              <a:noFill/>
            </a:ln>
          </p:spPr>
          <p:txBody>
            <a:bodyPr wrap="none" lIns="0" tIns="0" rIns="0" bIns="0" anchor="t" anchorCtr="0">
              <a:spAutoFit/>
            </a:bodyPr>
            <a:lstStyle/>
            <a:p>
              <a:pPr algn="r"/>
              <a:r>
                <a:rPr lang="en-US" sz="1350" dirty="0">
                  <a:solidFill>
                    <a:srgbClr val="5F6875"/>
                  </a:solidFill>
                  <a:latin typeface="Consolas"/>
                  <a:ea typeface="Consolas"/>
                  <a:cs typeface="Consolas"/>
                </a:rPr>
                <a:t>TRACEABILITY</a:t>
              </a:r>
            </a:p>
          </p:txBody>
        </p:sp>
        <p:sp>
          <p:nvSpPr>
            <p:cNvPr id="4" name="Line 4"/>
            <p:cNvSpPr/>
            <p:nvPr/>
          </p:nvSpPr>
          <p:spPr>
            <a:xfrm>
              <a:off x="533400" y="1143000"/>
              <a:ext cx="11125200" cy="9525"/>
            </a:xfrm>
            <a:custGeom>
              <a:avLst/>
              <a:gdLst/>
              <a:ahLst/>
              <a:cxnLst/>
              <a:rect l="l" t="t" r="r" b="b"/>
              <a:pathLst>
                <a:path w="11125200" h="9525">
                  <a:moveTo>
                    <a:pt x="0" y="0"/>
                  </a:moveTo>
                  <a:lnTo>
                    <a:pt x="11125200" y="0"/>
                  </a:lnTo>
                </a:path>
              </a:pathLst>
            </a:custGeom>
            <a:noFill/>
            <a:ln w="14288">
              <a:solidFill>
                <a:srgbClr val="CBD2DC"/>
              </a:solidFill>
            </a:ln>
          </p:spPr>
        </p:sp>
      </p:grpSp>
      <p:grpSp>
        <p:nvGrpSpPr>
          <p:cNvPr id="49" name="Group 49"/>
          <p:cNvGrpSpPr/>
          <p:nvPr/>
        </p:nvGrpSpPr>
        <p:grpSpPr>
          <a:xfrm>
            <a:off x="533400" y="1304925"/>
            <a:ext cx="11125200" cy="4191000"/>
            <a:chOff x="533400" y="1304925"/>
            <a:chExt cx="11125200" cy="4191000"/>
          </a:xfrm>
        </p:grpSpPr>
        <p:sp>
          <p:nvSpPr>
            <p:cNvPr id="6" name="Rectangle 6"/>
            <p:cNvSpPr/>
            <p:nvPr/>
          </p:nvSpPr>
          <p:spPr>
            <a:xfrm>
              <a:off x="533400" y="1304925"/>
              <a:ext cx="11125200" cy="4191000"/>
            </a:xfrm>
            <a:prstGeom prst="roundRect">
              <a:avLst>
                <a:gd name="adj" fmla="val 3182"/>
              </a:avLst>
            </a:prstGeom>
            <a:solidFill>
              <a:srgbClr val="FFFFFF"/>
            </a:solidFill>
            <a:ln w="14288">
              <a:solidFill>
                <a:srgbClr val="CBD2DC"/>
              </a:solidFill>
            </a:ln>
          </p:spPr>
        </p:sp>
        <p:sp>
          <p:nvSpPr>
            <p:cNvPr id="7" name="Rectangle 7"/>
            <p:cNvSpPr/>
            <p:nvPr/>
          </p:nvSpPr>
          <p:spPr>
            <a:xfrm>
              <a:off x="533400" y="1304925"/>
              <a:ext cx="11125200" cy="495300"/>
            </a:xfrm>
            <a:prstGeom prst="roundRect">
              <a:avLst>
                <a:gd name="adj" fmla="val 26923"/>
              </a:avLst>
            </a:prstGeom>
            <a:solidFill>
              <a:schemeClr val="accent1"/>
            </a:solidFill>
            <a:ln>
              <a:noFill/>
            </a:ln>
          </p:spPr>
        </p:sp>
        <p:sp>
          <p:nvSpPr>
            <p:cNvPr id="8" name="TextBox 8"/>
            <p:cNvSpPr txBox="1"/>
            <p:nvPr/>
          </p:nvSpPr>
          <p:spPr>
            <a:xfrm>
              <a:off x="819150" y="1409700"/>
              <a:ext cx="2190750" cy="266700"/>
            </a:xfrm>
            <a:prstGeom prst="rect">
              <a:avLst/>
            </a:prstGeom>
            <a:noFill/>
            <a:ln>
              <a:noFill/>
            </a:ln>
          </p:spPr>
          <p:txBody>
            <a:bodyPr wrap="square" lIns="0" tIns="73342" rIns="0" bIns="0" anchor="t" anchorCtr="0">
              <a:noAutofit/>
            </a:bodyPr>
            <a:lstStyle/>
            <a:p>
              <a:pPr algn="l"/>
              <a:r>
                <a:rPr lang="en-US" sz="1350" b="1" dirty="0">
                  <a:solidFill>
                    <a:srgbClr val="FFFFFF"/>
                  </a:solidFill>
                  <a:latin typeface="+mn-lt"/>
                  <a:ea typeface="+mn-ea"/>
                  <a:cs typeface="+mn-cs"/>
                </a:rPr>
                <a:t>SOURCE</a:t>
              </a:r>
            </a:p>
          </p:txBody>
        </p:sp>
        <p:sp>
          <p:nvSpPr>
            <p:cNvPr id="9" name="TextBox 9"/>
            <p:cNvSpPr txBox="1"/>
            <p:nvPr/>
          </p:nvSpPr>
          <p:spPr>
            <a:xfrm>
              <a:off x="3581400" y="1409700"/>
              <a:ext cx="4000500" cy="266700"/>
            </a:xfrm>
            <a:prstGeom prst="rect">
              <a:avLst/>
            </a:prstGeom>
            <a:noFill/>
            <a:ln>
              <a:noFill/>
            </a:ln>
          </p:spPr>
          <p:txBody>
            <a:bodyPr wrap="square" lIns="0" tIns="73342" rIns="0" bIns="0" anchor="t" anchorCtr="0">
              <a:noAutofit/>
            </a:bodyPr>
            <a:lstStyle/>
            <a:p>
              <a:pPr algn="l"/>
              <a:r>
                <a:rPr lang="en-US" sz="1350" b="1" dirty="0">
                  <a:solidFill>
                    <a:srgbClr val="FFFFFF"/>
                  </a:solidFill>
                  <a:latin typeface="+mn-lt"/>
                  <a:ea typeface="+mn-ea"/>
                  <a:cs typeface="+mn-cs"/>
                </a:rPr>
                <a:t>IMPLEMENTATION BOUNDARY</a:t>
              </a:r>
            </a:p>
          </p:txBody>
        </p:sp>
        <p:sp>
          <p:nvSpPr>
            <p:cNvPr id="10" name="TextBox 10"/>
            <p:cNvSpPr txBox="1"/>
            <p:nvPr/>
          </p:nvSpPr>
          <p:spPr>
            <a:xfrm>
              <a:off x="8382000" y="1409700"/>
              <a:ext cx="2952750" cy="266700"/>
            </a:xfrm>
            <a:prstGeom prst="rect">
              <a:avLst/>
            </a:prstGeom>
            <a:noFill/>
            <a:ln>
              <a:noFill/>
            </a:ln>
          </p:spPr>
          <p:txBody>
            <a:bodyPr wrap="square" lIns="0" tIns="73342" rIns="0" bIns="0" anchor="t" anchorCtr="0">
              <a:noAutofit/>
            </a:bodyPr>
            <a:lstStyle/>
            <a:p>
              <a:pPr algn="l"/>
              <a:r>
                <a:rPr lang="en-US" sz="1350" b="1" dirty="0">
                  <a:solidFill>
                    <a:srgbClr val="FFFFFF"/>
                  </a:solidFill>
                  <a:latin typeface="+mn-lt"/>
                  <a:ea typeface="+mn-ea"/>
                  <a:cs typeface="+mn-cs"/>
                </a:rPr>
                <a:t>TEST / AUDIT EVIDENCE</a:t>
              </a:r>
            </a:p>
          </p:txBody>
        </p:sp>
        <p:sp>
          <p:nvSpPr>
            <p:cNvPr id="11" name="Line 11"/>
            <p:cNvSpPr/>
            <p:nvPr/>
          </p:nvSpPr>
          <p:spPr>
            <a:xfrm>
              <a:off x="3257550" y="1800225"/>
              <a:ext cx="9525" cy="3695700"/>
            </a:xfrm>
            <a:custGeom>
              <a:avLst/>
              <a:gdLst/>
              <a:ahLst/>
              <a:cxnLst/>
              <a:rect l="l" t="t" r="r" b="b"/>
              <a:pathLst>
                <a:path w="9525" h="3695700">
                  <a:moveTo>
                    <a:pt x="0" y="0"/>
                  </a:moveTo>
                  <a:lnTo>
                    <a:pt x="0" y="3695700"/>
                  </a:lnTo>
                </a:path>
              </a:pathLst>
            </a:custGeom>
            <a:noFill/>
            <a:ln w="14288">
              <a:solidFill>
                <a:srgbClr val="CBD2DC"/>
              </a:solidFill>
            </a:ln>
          </p:spPr>
        </p:sp>
        <p:sp>
          <p:nvSpPr>
            <p:cNvPr id="12" name="Line 12"/>
            <p:cNvSpPr/>
            <p:nvPr/>
          </p:nvSpPr>
          <p:spPr>
            <a:xfrm>
              <a:off x="8058150" y="1800225"/>
              <a:ext cx="9525" cy="3695700"/>
            </a:xfrm>
            <a:custGeom>
              <a:avLst/>
              <a:gdLst/>
              <a:ahLst/>
              <a:cxnLst/>
              <a:rect l="l" t="t" r="r" b="b"/>
              <a:pathLst>
                <a:path w="9525" h="3695700">
                  <a:moveTo>
                    <a:pt x="0" y="0"/>
                  </a:moveTo>
                  <a:lnTo>
                    <a:pt x="0" y="3695700"/>
                  </a:lnTo>
                </a:path>
              </a:pathLst>
            </a:custGeom>
            <a:noFill/>
            <a:ln w="14288">
              <a:solidFill>
                <a:srgbClr val="CBD2DC"/>
              </a:solidFill>
            </a:ln>
          </p:spPr>
        </p:sp>
        <p:sp>
          <p:nvSpPr>
            <p:cNvPr id="13" name="Rectangle 13"/>
            <p:cNvSpPr/>
            <p:nvPr/>
          </p:nvSpPr>
          <p:spPr>
            <a:xfrm>
              <a:off x="533400" y="1800225"/>
              <a:ext cx="95250" cy="1162050"/>
            </a:xfrm>
            <a:prstGeom prst="rect">
              <a:avLst/>
            </a:prstGeom>
            <a:solidFill>
              <a:schemeClr val="accent2"/>
            </a:solidFill>
            <a:ln>
              <a:noFill/>
            </a:ln>
          </p:spPr>
        </p:sp>
        <p:sp>
          <p:nvSpPr>
            <p:cNvPr id="14" name="TextBox 14"/>
            <p:cNvSpPr txBox="1"/>
            <p:nvPr/>
          </p:nvSpPr>
          <p:spPr>
            <a:xfrm>
              <a:off x="810006" y="1910715"/>
              <a:ext cx="1397308"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Spirtes FCI</a:t>
              </a:r>
            </a:p>
          </p:txBody>
        </p:sp>
        <p:sp>
          <p:nvSpPr>
            <p:cNvPr id="15" name="TextBox 15"/>
            <p:cNvSpPr txBox="1"/>
            <p:nvPr/>
          </p:nvSpPr>
          <p:spPr>
            <a:xfrm>
              <a:off x="812292" y="2235518"/>
              <a:ext cx="178280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Adjacency + sepsets</a:t>
              </a:r>
            </a:p>
          </p:txBody>
        </p:sp>
        <p:sp>
          <p:nvSpPr>
            <p:cNvPr id="16" name="TextBox 16"/>
            <p:cNvSpPr txBox="1"/>
            <p:nvPr/>
          </p:nvSpPr>
          <p:spPr>
            <a:xfrm>
              <a:off x="812292" y="2464118"/>
              <a:ext cx="135308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Possible-D-SEP</a:t>
              </a:r>
            </a:p>
          </p:txBody>
        </p:sp>
        <p:sp>
          <p:nvSpPr>
            <p:cNvPr id="17" name="TextBox 17"/>
            <p:cNvSpPr txBox="1"/>
            <p:nvPr/>
          </p:nvSpPr>
          <p:spPr>
            <a:xfrm>
              <a:off x="812292" y="2692718"/>
              <a:ext cx="173113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orientation closure</a:t>
              </a:r>
            </a:p>
          </p:txBody>
        </p:sp>
        <p:sp>
          <p:nvSpPr>
            <p:cNvPr id="18" name="TextBox 18"/>
            <p:cNvSpPr txBox="1"/>
            <p:nvPr/>
          </p:nvSpPr>
          <p:spPr>
            <a:xfrm>
              <a:off x="3573780" y="1943100"/>
              <a:ext cx="2421741"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Consolas"/>
                  <a:ea typeface="Consolas"/>
                  <a:cs typeface="Consolas"/>
                </a:rPr>
                <a:t>skeleton.py · pdsep.py</a:t>
              </a:r>
            </a:p>
          </p:txBody>
        </p:sp>
        <p:sp>
          <p:nvSpPr>
            <p:cNvPr id="19" name="TextBox 19"/>
            <p:cNvSpPr txBox="1"/>
            <p:nvPr/>
          </p:nvSpPr>
          <p:spPr>
            <a:xfrm>
              <a:off x="3573780" y="2219325"/>
              <a:ext cx="2665571"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Consolas"/>
                  <a:ea typeface="Consolas"/>
                  <a:cs typeface="Consolas"/>
                </a:rPr>
                <a:t>orientation.py · rules.py</a:t>
              </a:r>
            </a:p>
          </p:txBody>
        </p:sp>
        <p:sp>
          <p:nvSpPr>
            <p:cNvPr id="20" name="TextBox 20"/>
            <p:cNvSpPr txBox="1"/>
            <p:nvPr/>
          </p:nvSpPr>
          <p:spPr>
            <a:xfrm>
              <a:off x="3575304" y="2518410"/>
              <a:ext cx="1830400"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FCI.fit · possible_dsep</a:t>
              </a:r>
            </a:p>
          </p:txBody>
        </p:sp>
        <p:sp>
          <p:nvSpPr>
            <p:cNvPr id="21" name="TextBox 21"/>
            <p:cNvSpPr txBox="1"/>
            <p:nvPr/>
          </p:nvSpPr>
          <p:spPr>
            <a:xfrm>
              <a:off x="3575304" y="2727960"/>
              <a:ext cx="2233422"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refine_skeleton_with_pdsep</a:t>
              </a:r>
            </a:p>
          </p:txBody>
        </p:sp>
        <p:sp>
          <p:nvSpPr>
            <p:cNvPr id="22" name="TextBox 22"/>
            <p:cNvSpPr txBox="1"/>
            <p:nvPr/>
          </p:nvSpPr>
          <p:spPr>
            <a:xfrm>
              <a:off x="8374380" y="1943100"/>
              <a:ext cx="279995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Exact-oracle PAG recovery</a:t>
              </a:r>
            </a:p>
          </p:txBody>
        </p:sp>
        <p:sp>
          <p:nvSpPr>
            <p:cNvPr id="23" name="TextBox 23"/>
            <p:cNvSpPr txBox="1"/>
            <p:nvPr/>
          </p:nvSpPr>
          <p:spPr>
            <a:xfrm>
              <a:off x="8375142" y="2283142"/>
              <a:ext cx="2316045" cy="264033"/>
            </a:xfrm>
            <a:prstGeom prst="rect">
              <a:avLst/>
            </a:prstGeom>
            <a:noFill/>
            <a:ln>
              <a:noFill/>
            </a:ln>
          </p:spPr>
          <p:txBody>
            <a:bodyPr wrap="none" lIns="0" tIns="0" rIns="0" bIns="0" anchor="t" anchorCtr="0">
              <a:spAutoFit/>
            </a:bodyPr>
            <a:lstStyle/>
            <a:p>
              <a:pPr algn="l"/>
              <a:r>
                <a:rPr lang="en-US" sz="1350" dirty="0">
                  <a:solidFill>
                    <a:srgbClr val="5F6875"/>
                  </a:solidFill>
                  <a:latin typeface="+mn-lt"/>
                  <a:ea typeface="+mn-ea"/>
                  <a:cs typeface="+mn-cs"/>
                </a:rPr>
                <a:t>Possible-D-SEP unit paths</a:t>
              </a:r>
            </a:p>
          </p:txBody>
        </p:sp>
        <p:sp>
          <p:nvSpPr>
            <p:cNvPr id="24" name="TextBox 24"/>
            <p:cNvSpPr txBox="1"/>
            <p:nvPr/>
          </p:nvSpPr>
          <p:spPr>
            <a:xfrm>
              <a:off x="8375142" y="2511742"/>
              <a:ext cx="2694337" cy="264033"/>
            </a:xfrm>
            <a:prstGeom prst="rect">
              <a:avLst/>
            </a:prstGeom>
            <a:noFill/>
            <a:ln>
              <a:noFill/>
            </a:ln>
          </p:spPr>
          <p:txBody>
            <a:bodyPr wrap="none" lIns="0" tIns="0" rIns="0" bIns="0" anchor="t" anchorCtr="0">
              <a:spAutoFit/>
            </a:bodyPr>
            <a:lstStyle/>
            <a:p>
              <a:pPr algn="l"/>
              <a:r>
                <a:rPr lang="en-US" sz="1350" dirty="0">
                  <a:solidFill>
                    <a:srgbClr val="5F6875"/>
                  </a:solidFill>
                  <a:latin typeface="+mn-lt"/>
                  <a:ea typeface="+mn-ea"/>
                  <a:cs typeface="+mn-cs"/>
                </a:rPr>
                <a:t>historical schedule regression</a:t>
              </a:r>
            </a:p>
          </p:txBody>
        </p:sp>
        <p:sp>
          <p:nvSpPr>
            <p:cNvPr id="25" name="Line 25"/>
            <p:cNvSpPr/>
            <p:nvPr/>
          </p:nvSpPr>
          <p:spPr>
            <a:xfrm>
              <a:off x="533400" y="2962275"/>
              <a:ext cx="11125200" cy="9525"/>
            </a:xfrm>
            <a:custGeom>
              <a:avLst/>
              <a:gdLst/>
              <a:ahLst/>
              <a:cxnLst/>
              <a:rect l="l" t="t" r="r" b="b"/>
              <a:pathLst>
                <a:path w="11125200" h="9525">
                  <a:moveTo>
                    <a:pt x="0" y="0"/>
                  </a:moveTo>
                  <a:lnTo>
                    <a:pt x="11125200" y="0"/>
                  </a:lnTo>
                </a:path>
              </a:pathLst>
            </a:custGeom>
            <a:noFill/>
            <a:ln w="14288">
              <a:solidFill>
                <a:srgbClr val="CBD2DC"/>
              </a:solidFill>
            </a:ln>
          </p:spPr>
        </p:sp>
        <p:sp>
          <p:nvSpPr>
            <p:cNvPr id="26" name="Rectangle 26"/>
            <p:cNvSpPr/>
            <p:nvPr/>
          </p:nvSpPr>
          <p:spPr>
            <a:xfrm>
              <a:off x="533400" y="2962275"/>
              <a:ext cx="95250" cy="1333500"/>
            </a:xfrm>
            <a:prstGeom prst="rect">
              <a:avLst/>
            </a:prstGeom>
            <a:solidFill>
              <a:schemeClr val="accent3"/>
            </a:solidFill>
            <a:ln>
              <a:noFill/>
            </a:ln>
          </p:spPr>
        </p:sp>
        <p:sp>
          <p:nvSpPr>
            <p:cNvPr id="27" name="TextBox 27"/>
            <p:cNvSpPr txBox="1"/>
            <p:nvPr/>
          </p:nvSpPr>
          <p:spPr>
            <a:xfrm>
              <a:off x="810006" y="3091815"/>
              <a:ext cx="2118070" cy="352044"/>
            </a:xfrm>
            <a:prstGeom prst="rect">
              <a:avLst/>
            </a:prstGeom>
            <a:noFill/>
            <a:ln>
              <a:noFill/>
            </a:ln>
          </p:spPr>
          <p:txBody>
            <a:bodyPr wrap="none" lIns="0" tIns="0" rIns="0" bIns="0" anchor="t" anchorCtr="0">
              <a:spAutoFit/>
            </a:bodyPr>
            <a:lstStyle/>
            <a:p>
              <a:pPr algn="l"/>
              <a:r>
                <a:rPr lang="en-US" sz="1800" b="1" dirty="0">
                  <a:solidFill>
                    <a:schemeClr val="accent3"/>
                  </a:solidFill>
                  <a:latin typeface="+mn-lt"/>
                  <a:ea typeface="+mn-ea"/>
                  <a:cs typeface="+mn-cs"/>
                </a:rPr>
                <a:t>Claassen FCI Plus</a:t>
              </a:r>
            </a:p>
          </p:txBody>
        </p:sp>
        <p:sp>
          <p:nvSpPr>
            <p:cNvPr id="28" name="TextBox 28"/>
            <p:cNvSpPr txBox="1"/>
            <p:nvPr/>
          </p:nvSpPr>
          <p:spPr>
            <a:xfrm>
              <a:off x="812292" y="3416618"/>
              <a:ext cx="176420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Augmented skeleton</a:t>
              </a:r>
            </a:p>
          </p:txBody>
        </p:sp>
        <p:sp>
          <p:nvSpPr>
            <p:cNvPr id="29" name="TextBox 29"/>
            <p:cNvSpPr txBox="1"/>
            <p:nvPr/>
          </p:nvSpPr>
          <p:spPr>
            <a:xfrm>
              <a:off x="812292" y="3654742"/>
              <a:ext cx="206557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D-SEP links + hierarchy</a:t>
              </a:r>
            </a:p>
          </p:txBody>
        </p:sp>
        <p:sp>
          <p:nvSpPr>
            <p:cNvPr id="30" name="TextBox 30"/>
            <p:cNvSpPr txBox="1"/>
            <p:nvPr/>
          </p:nvSpPr>
          <p:spPr>
            <a:xfrm>
              <a:off x="812292" y="3892868"/>
              <a:ext cx="207643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bounded endpoint bases</a:t>
              </a:r>
            </a:p>
          </p:txBody>
        </p:sp>
        <p:sp>
          <p:nvSpPr>
            <p:cNvPr id="31" name="TextBox 31"/>
            <p:cNvSpPr txBox="1"/>
            <p:nvPr/>
          </p:nvSpPr>
          <p:spPr>
            <a:xfrm>
              <a:off x="3573780" y="3124200"/>
              <a:ext cx="2252120"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Consolas"/>
                  <a:ea typeface="Consolas"/>
                  <a:cs typeface="Consolas"/>
                </a:rPr>
                <a:t>dsep.py · fci_plus.py</a:t>
              </a:r>
            </a:p>
          </p:txBody>
        </p:sp>
        <p:sp>
          <p:nvSpPr>
            <p:cNvPr id="32" name="TextBox 32"/>
            <p:cNvSpPr txBox="1"/>
            <p:nvPr/>
          </p:nvSpPr>
          <p:spPr>
            <a:xfrm>
              <a:off x="3575304" y="3432810"/>
              <a:ext cx="2055724"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build_augmented_skeleton</a:t>
              </a:r>
            </a:p>
          </p:txBody>
        </p:sp>
        <p:sp>
          <p:nvSpPr>
            <p:cNvPr id="33" name="TextBox 33"/>
            <p:cNvSpPr txBox="1"/>
            <p:nvPr/>
          </p:nvSpPr>
          <p:spPr>
            <a:xfrm>
              <a:off x="3575304" y="3651885"/>
              <a:ext cx="2483815"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possible_dsep_links · hierarchy</a:t>
              </a:r>
            </a:p>
          </p:txBody>
        </p:sp>
        <p:sp>
          <p:nvSpPr>
            <p:cNvPr id="34" name="TextBox 34"/>
            <p:cNvSpPr txBox="1"/>
            <p:nvPr/>
          </p:nvSpPr>
          <p:spPr>
            <a:xfrm>
              <a:off x="3575304" y="3870960"/>
              <a:ext cx="2863444"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refine_skeleton_with_fci_plus_dsep</a:t>
              </a:r>
            </a:p>
          </p:txBody>
        </p:sp>
        <p:sp>
          <p:nvSpPr>
            <p:cNvPr id="35" name="TextBox 35"/>
            <p:cNvSpPr txBox="1"/>
            <p:nvPr/>
          </p:nvSpPr>
          <p:spPr>
            <a:xfrm>
              <a:off x="8374380" y="3124200"/>
              <a:ext cx="313970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Figure 4(b) separator fixture</a:t>
              </a:r>
            </a:p>
          </p:txBody>
        </p:sp>
        <p:sp>
          <p:nvSpPr>
            <p:cNvPr id="36" name="TextBox 36"/>
            <p:cNvSpPr txBox="1"/>
            <p:nvPr/>
          </p:nvSpPr>
          <p:spPr>
            <a:xfrm>
              <a:off x="8375142" y="3464242"/>
              <a:ext cx="2576208" cy="264033"/>
            </a:xfrm>
            <a:prstGeom prst="rect">
              <a:avLst/>
            </a:prstGeom>
            <a:noFill/>
            <a:ln>
              <a:noFill/>
            </a:ln>
          </p:spPr>
          <p:txBody>
            <a:bodyPr wrap="none" lIns="0" tIns="0" rIns="0" bIns="0" anchor="t" anchorCtr="0">
              <a:spAutoFit/>
            </a:bodyPr>
            <a:lstStyle/>
            <a:p>
              <a:pPr algn="l"/>
              <a:r>
                <a:rPr lang="en-US" sz="1350" dirty="0">
                  <a:solidFill>
                    <a:srgbClr val="5F6875"/>
                  </a:solidFill>
                  <a:latin typeface="+mn-lt"/>
                  <a:ea typeface="+mn-ea"/>
                  <a:cs typeface="+mn-cs"/>
                </a:rPr>
                <a:t>candidate-link witness tests</a:t>
              </a:r>
            </a:p>
          </p:txBody>
        </p:sp>
        <p:sp>
          <p:nvSpPr>
            <p:cNvPr id="37" name="TextBox 37"/>
            <p:cNvSpPr txBox="1"/>
            <p:nvPr/>
          </p:nvSpPr>
          <p:spPr>
            <a:xfrm>
              <a:off x="8375142" y="3692842"/>
              <a:ext cx="3030550" cy="264033"/>
            </a:xfrm>
            <a:prstGeom prst="rect">
              <a:avLst/>
            </a:prstGeom>
            <a:noFill/>
            <a:ln>
              <a:noFill/>
            </a:ln>
          </p:spPr>
          <p:txBody>
            <a:bodyPr wrap="none" lIns="0" tIns="0" rIns="0" bIns="0" anchor="t" anchorCtr="0">
              <a:spAutoFit/>
            </a:bodyPr>
            <a:lstStyle/>
            <a:p>
              <a:pPr algn="l"/>
              <a:r>
                <a:rPr lang="en-US" sz="1350" dirty="0">
                  <a:solidFill>
                    <a:srgbClr val="5F6875"/>
                  </a:solidFill>
                  <a:latin typeface="+mn-lt"/>
                  <a:ea typeface="+mn-ea"/>
                  <a:cs typeface="+mn-cs"/>
                </a:rPr>
                <a:t>hierarchy and query-bound checks</a:t>
              </a:r>
            </a:p>
          </p:txBody>
        </p:sp>
        <p:sp>
          <p:nvSpPr>
            <p:cNvPr id="38" name="Line 38"/>
            <p:cNvSpPr/>
            <p:nvPr/>
          </p:nvSpPr>
          <p:spPr>
            <a:xfrm>
              <a:off x="533400" y="4295775"/>
              <a:ext cx="11125200" cy="9525"/>
            </a:xfrm>
            <a:custGeom>
              <a:avLst/>
              <a:gdLst/>
              <a:ahLst/>
              <a:cxnLst/>
              <a:rect l="l" t="t" r="r" b="b"/>
              <a:pathLst>
                <a:path w="11125200" h="9525">
                  <a:moveTo>
                    <a:pt x="0" y="0"/>
                  </a:moveTo>
                  <a:lnTo>
                    <a:pt x="11125200" y="0"/>
                  </a:lnTo>
                </a:path>
              </a:pathLst>
            </a:custGeom>
            <a:noFill/>
            <a:ln w="14288">
              <a:solidFill>
                <a:srgbClr val="CBD2DC"/>
              </a:solidFill>
            </a:ln>
          </p:spPr>
        </p:sp>
        <p:sp>
          <p:nvSpPr>
            <p:cNvPr id="39" name="Rectangle 39"/>
            <p:cNvSpPr/>
            <p:nvPr/>
          </p:nvSpPr>
          <p:spPr>
            <a:xfrm>
              <a:off x="533400" y="4295775"/>
              <a:ext cx="95250" cy="1200150"/>
            </a:xfrm>
            <a:prstGeom prst="rect">
              <a:avLst/>
            </a:prstGeom>
            <a:solidFill>
              <a:schemeClr val="accent6"/>
            </a:solidFill>
            <a:ln>
              <a:noFill/>
            </a:ln>
          </p:spPr>
        </p:sp>
        <p:sp>
          <p:nvSpPr>
            <p:cNvPr id="40" name="TextBox 40"/>
            <p:cNvSpPr txBox="1"/>
            <p:nvPr/>
          </p:nvSpPr>
          <p:spPr>
            <a:xfrm>
              <a:off x="810006" y="4425315"/>
              <a:ext cx="1374409" cy="352044"/>
            </a:xfrm>
            <a:prstGeom prst="rect">
              <a:avLst/>
            </a:prstGeom>
            <a:noFill/>
            <a:ln>
              <a:noFill/>
            </a:ln>
          </p:spPr>
          <p:txBody>
            <a:bodyPr wrap="none" lIns="0" tIns="0" rIns="0" bIns="0" anchor="t" anchorCtr="0">
              <a:spAutoFit/>
            </a:bodyPr>
            <a:lstStyle/>
            <a:p>
              <a:pPr algn="l"/>
              <a:r>
                <a:rPr lang="en-US" sz="1800" b="1" dirty="0">
                  <a:solidFill>
                    <a:schemeClr val="accent6"/>
                  </a:solidFill>
                  <a:latin typeface="+mn-lt"/>
                  <a:ea typeface="+mn-ea"/>
                  <a:cs typeface="+mn-cs"/>
                </a:rPr>
                <a:t>Audit layer</a:t>
              </a:r>
            </a:p>
          </p:txBody>
        </p:sp>
        <p:sp>
          <p:nvSpPr>
            <p:cNvPr id="41" name="TextBox 41"/>
            <p:cNvSpPr txBox="1"/>
            <p:nvPr/>
          </p:nvSpPr>
          <p:spPr>
            <a:xfrm>
              <a:off x="812292" y="4769168"/>
              <a:ext cx="193646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Engineering extension</a:t>
              </a:r>
            </a:p>
          </p:txBody>
        </p:sp>
        <p:sp>
          <p:nvSpPr>
            <p:cNvPr id="42" name="TextBox 42"/>
            <p:cNvSpPr txBox="1"/>
            <p:nvPr/>
          </p:nvSpPr>
          <p:spPr>
            <a:xfrm>
              <a:off x="812292" y="5007292"/>
              <a:ext cx="191286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not a source theorem</a:t>
              </a:r>
            </a:p>
          </p:txBody>
        </p:sp>
        <p:sp>
          <p:nvSpPr>
            <p:cNvPr id="43" name="TextBox 43"/>
            <p:cNvSpPr txBox="1"/>
            <p:nvPr/>
          </p:nvSpPr>
          <p:spPr>
            <a:xfrm>
              <a:off x="3573780" y="4457700"/>
              <a:ext cx="2666729"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Consolas"/>
                  <a:ea typeface="Consolas"/>
                  <a:cs typeface="Consolas"/>
                </a:rPr>
                <a:t>PAG · FCIResult · exports</a:t>
              </a:r>
            </a:p>
          </p:txBody>
        </p:sp>
        <p:sp>
          <p:nvSpPr>
            <p:cNvPr id="44" name="TextBox 44"/>
            <p:cNvSpPr txBox="1"/>
            <p:nvPr/>
          </p:nvSpPr>
          <p:spPr>
            <a:xfrm>
              <a:off x="3575304" y="4785360"/>
              <a:ext cx="2939064"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CI/orientation trace · sepset source</a:t>
              </a:r>
            </a:p>
          </p:txBody>
        </p:sp>
        <p:sp>
          <p:nvSpPr>
            <p:cNvPr id="45" name="TextBox 45"/>
            <p:cNvSpPr txBox="1"/>
            <p:nvPr/>
          </p:nvSpPr>
          <p:spPr>
            <a:xfrm>
              <a:off x="3575304" y="5004435"/>
              <a:ext cx="3372307"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edge explanations · order/bootstrap audit</a:t>
              </a:r>
            </a:p>
          </p:txBody>
        </p:sp>
        <p:sp>
          <p:nvSpPr>
            <p:cNvPr id="46" name="TextBox 46"/>
            <p:cNvSpPr txBox="1"/>
            <p:nvPr/>
          </p:nvSpPr>
          <p:spPr>
            <a:xfrm>
              <a:off x="8374380" y="4457700"/>
              <a:ext cx="2920090"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PAG invariants + provenance</a:t>
              </a:r>
            </a:p>
          </p:txBody>
        </p:sp>
        <p:sp>
          <p:nvSpPr>
            <p:cNvPr id="47" name="TextBox 47"/>
            <p:cNvSpPr txBox="1"/>
            <p:nvPr/>
          </p:nvSpPr>
          <p:spPr>
            <a:xfrm>
              <a:off x="8375904" y="4785360"/>
              <a:ext cx="1991106"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serialization regressions</a:t>
              </a:r>
            </a:p>
          </p:txBody>
        </p:sp>
        <p:sp>
          <p:nvSpPr>
            <p:cNvPr id="48" name="TextBox 48"/>
            <p:cNvSpPr txBox="1"/>
            <p:nvPr/>
          </p:nvSpPr>
          <p:spPr>
            <a:xfrm>
              <a:off x="8375904" y="5004435"/>
              <a:ext cx="2847289"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cyclic-order and stability artifacts</a:t>
              </a:r>
            </a:p>
          </p:txBody>
        </p:sp>
      </p:grpSp>
      <p:grpSp>
        <p:nvGrpSpPr>
          <p:cNvPr id="51" name="Group 51"/>
          <p:cNvGrpSpPr/>
          <p:nvPr/>
        </p:nvGrpSpPr>
        <p:grpSpPr>
          <a:xfrm>
            <a:off x="525780" y="5800725"/>
            <a:ext cx="8340674" cy="293370"/>
            <a:chOff x="525780" y="5800725"/>
            <a:chExt cx="8340674" cy="293370"/>
          </a:xfrm>
        </p:grpSpPr>
        <p:sp>
          <p:nvSpPr>
            <p:cNvPr id="50" name="TextBox 50"/>
            <p:cNvSpPr txBox="1"/>
            <p:nvPr/>
          </p:nvSpPr>
          <p:spPr>
            <a:xfrm>
              <a:off x="525780" y="5800725"/>
              <a:ext cx="8340674"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mn-lt"/>
                  <a:ea typeface="+mn-ea"/>
                  <a:cs typeface="+mn-cs"/>
                </a:rPr>
                <a:t>Reusable API</a:t>
              </a:r>
              <a:r>
                <a:rPr lang="en-US" sz="1500" dirty="0">
                  <a:solidFill>
                    <a:schemeClr val="accent2"/>
                  </a:solidFill>
                  <a:latin typeface="Consolas"/>
                  <a:ea typeface="Consolas"/>
                  <a:cs typeface="Consolas"/>
                </a:rPr>
                <a:t xml:space="preserve"> fci(data, ...)</a:t>
              </a:r>
              <a:r>
                <a:rPr lang="en-US" sz="1500" dirty="0">
                  <a:solidFill>
                    <a:srgbClr val="5F6875"/>
                  </a:solidFill>
                  <a:latin typeface="+mn-lt"/>
                  <a:ea typeface="+mn-ea"/>
                  <a:cs typeface="+mn-cs"/>
                </a:rPr>
                <a:t xml:space="preserve"> · </a:t>
              </a:r>
              <a:r>
                <a:rPr lang="en-US" sz="1500" dirty="0">
                  <a:solidFill>
                    <a:schemeClr val="accent3"/>
                  </a:solidFill>
                  <a:latin typeface="Consolas"/>
                  <a:ea typeface="Consolas"/>
                  <a:cs typeface="Consolas"/>
                </a:rPr>
                <a:t>fci_plus(data, ...)</a:t>
              </a:r>
              <a:r>
                <a:rPr lang="en-US" sz="1500" dirty="0">
                  <a:solidFill>
                    <a:srgbClr val="5F6875"/>
                  </a:solidFill>
                  <a:latin typeface="+mn-lt"/>
                  <a:ea typeface="+mn-ea"/>
                  <a:cs typeface="+mn-cs"/>
                </a:rPr>
                <a:t xml:space="preserve"> · </a:t>
              </a:r>
              <a:r>
                <a:rPr lang="en-US" sz="1500" dirty="0">
                  <a:solidFill>
                    <a:schemeClr val="accent6"/>
                  </a:solidFill>
                  <a:latin typeface="Consolas"/>
                  <a:ea typeface="Consolas"/>
                  <a:cs typeface="Consolas"/>
                </a:rPr>
                <a:t>FCIPlusConfig.paper / practical</a:t>
              </a:r>
            </a:p>
          </p:txBody>
        </p:sp>
      </p:grpSp>
      <p:grpSp>
        <p:nvGrpSpPr>
          <p:cNvPr id="54" name="Group 54"/>
          <p:cNvGrpSpPr/>
          <p:nvPr/>
        </p:nvGrpSpPr>
        <p:grpSpPr>
          <a:xfrm>
            <a:off x="527304" y="6328410"/>
            <a:ext cx="11137392" cy="234696"/>
            <a:chOff x="527304" y="6328410"/>
            <a:chExt cx="11137392" cy="234696"/>
          </a:xfrm>
        </p:grpSpPr>
        <p:sp>
          <p:nvSpPr>
            <p:cNvPr id="52" name="TextBox 52"/>
            <p:cNvSpPr txBox="1"/>
            <p:nvPr/>
          </p:nvSpPr>
          <p:spPr>
            <a:xfrm>
              <a:off x="527304" y="6328410"/>
              <a:ext cx="7723899"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Full 20-row source-to-code-to-test dossier: reports/research/fci_fci_plus_source_dossier.md</a:t>
              </a:r>
            </a:p>
          </p:txBody>
        </p:sp>
        <p:sp>
          <p:nvSpPr>
            <p:cNvPr id="53" name="TextBox 53"/>
            <p:cNvSpPr txBox="1"/>
            <p:nvPr/>
          </p:nvSpPr>
          <p:spPr>
            <a:xfrm>
              <a:off x="11111332" y="6328410"/>
              <a:ext cx="553364" cy="234696"/>
            </a:xfrm>
            <a:prstGeom prst="rect">
              <a:avLst/>
            </a:prstGeom>
            <a:noFill/>
            <a:ln>
              <a:noFill/>
            </a:ln>
          </p:spPr>
          <p:txBody>
            <a:bodyPr wrap="none" lIns="0" tIns="0" rIns="0" bIns="0" anchor="t" anchorCtr="0">
              <a:spAutoFit/>
            </a:bodyPr>
            <a:lstStyle/>
            <a:p>
              <a:pPr algn="r"/>
              <a:r>
                <a:rPr lang="en-US" sz="1200" dirty="0">
                  <a:solidFill>
                    <a:srgbClr val="5F6875"/>
                  </a:solidFill>
                  <a:latin typeface="Consolas"/>
                  <a:ea typeface="Consolas"/>
                  <a:cs typeface="Consolas"/>
                </a:rPr>
                <a:t>06 / 15</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18160" y="400050"/>
            <a:ext cx="11147298" cy="619125"/>
            <a:chOff x="518160" y="400050"/>
            <a:chExt cx="11147298" cy="619125"/>
          </a:xfrm>
        </p:grpSpPr>
        <p:sp>
          <p:nvSpPr>
            <p:cNvPr id="2" name="TextBox 2"/>
            <p:cNvSpPr txBox="1"/>
            <p:nvPr/>
          </p:nvSpPr>
          <p:spPr>
            <a:xfrm>
              <a:off x="518160" y="400050"/>
              <a:ext cx="9135336"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Paper and Robust Profiles Stay Separate</a:t>
              </a:r>
            </a:p>
          </p:txBody>
        </p:sp>
        <p:sp>
          <p:nvSpPr>
            <p:cNvPr id="3" name="TextBox 3"/>
            <p:cNvSpPr txBox="1"/>
            <p:nvPr/>
          </p:nvSpPr>
          <p:spPr>
            <a:xfrm>
              <a:off x="10240366" y="406718"/>
              <a:ext cx="1425092" cy="264033"/>
            </a:xfrm>
            <a:prstGeom prst="rect">
              <a:avLst/>
            </a:prstGeom>
            <a:noFill/>
            <a:ln>
              <a:noFill/>
            </a:ln>
          </p:spPr>
          <p:txBody>
            <a:bodyPr wrap="none" lIns="0" tIns="0" rIns="0" bIns="0" anchor="t" anchorCtr="0">
              <a:spAutoFit/>
            </a:bodyPr>
            <a:lstStyle/>
            <a:p>
              <a:pPr algn="r"/>
              <a:r>
                <a:rPr lang="en-US" sz="1350" dirty="0">
                  <a:solidFill>
                    <a:srgbClr val="5F6875"/>
                  </a:solidFill>
                  <a:latin typeface="Consolas"/>
                  <a:ea typeface="Consolas"/>
                  <a:cs typeface="Consolas"/>
                </a:rPr>
                <a:t>PROFILE POLICY</a:t>
              </a:r>
            </a:p>
          </p:txBody>
        </p:sp>
        <p:sp>
          <p:nvSpPr>
            <p:cNvPr id="4" name="Line 4"/>
            <p:cNvSpPr/>
            <p:nvPr/>
          </p:nvSpPr>
          <p:spPr>
            <a:xfrm>
              <a:off x="533400" y="1009650"/>
              <a:ext cx="11125200" cy="9525"/>
            </a:xfrm>
            <a:custGeom>
              <a:avLst/>
              <a:gdLst/>
              <a:ahLst/>
              <a:cxnLst/>
              <a:rect l="l" t="t" r="r" b="b"/>
              <a:pathLst>
                <a:path w="11125200" h="9525">
                  <a:moveTo>
                    <a:pt x="0" y="0"/>
                  </a:moveTo>
                  <a:lnTo>
                    <a:pt x="11125200" y="0"/>
                  </a:lnTo>
                </a:path>
              </a:pathLst>
            </a:custGeom>
            <a:noFill/>
            <a:ln w="14288">
              <a:solidFill>
                <a:srgbClr val="CBD2DC"/>
              </a:solidFill>
            </a:ln>
          </p:spPr>
        </p:sp>
      </p:grpSp>
      <p:grpSp>
        <p:nvGrpSpPr>
          <p:cNvPr id="14" name="Group 14"/>
          <p:cNvGrpSpPr/>
          <p:nvPr/>
        </p:nvGrpSpPr>
        <p:grpSpPr>
          <a:xfrm>
            <a:off x="521208" y="1549718"/>
            <a:ext cx="4488942" cy="3140583"/>
            <a:chOff x="521208" y="1549718"/>
            <a:chExt cx="4488942" cy="3140583"/>
          </a:xfrm>
        </p:grpSpPr>
        <p:sp>
          <p:nvSpPr>
            <p:cNvPr id="6" name="TextBox 6"/>
            <p:cNvSpPr txBox="1"/>
            <p:nvPr/>
          </p:nvSpPr>
          <p:spPr>
            <a:xfrm>
              <a:off x="526542" y="1549718"/>
              <a:ext cx="2241674"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PAPER FCI PLUS PROFILE</a:t>
              </a:r>
            </a:p>
          </p:txBody>
        </p:sp>
        <p:sp>
          <p:nvSpPr>
            <p:cNvPr id="7" name="TextBox 7"/>
            <p:cNvSpPr txBox="1"/>
            <p:nvPr/>
          </p:nvSpPr>
          <p:spPr>
            <a:xfrm>
              <a:off x="521208" y="1931670"/>
              <a:ext cx="2844851"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j-lt"/>
                  <a:ea typeface="+mj-ea"/>
                  <a:cs typeface="+mj-cs"/>
                </a:rPr>
                <a:t>Source schedule</a:t>
              </a:r>
            </a:p>
          </p:txBody>
        </p:sp>
        <p:sp>
          <p:nvSpPr>
            <p:cNvPr id="8" name="Line 8"/>
            <p:cNvSpPr/>
            <p:nvPr/>
          </p:nvSpPr>
          <p:spPr>
            <a:xfrm>
              <a:off x="533400" y="2571750"/>
              <a:ext cx="4476750" cy="9525"/>
            </a:xfrm>
            <a:custGeom>
              <a:avLst/>
              <a:gdLst/>
              <a:ahLst/>
              <a:cxnLst/>
              <a:rect l="l" t="t" r="r" b="b"/>
              <a:pathLst>
                <a:path w="4476750" h="9525">
                  <a:moveTo>
                    <a:pt x="0" y="0"/>
                  </a:moveTo>
                  <a:lnTo>
                    <a:pt x="4476750" y="0"/>
                  </a:lnTo>
                </a:path>
              </a:pathLst>
            </a:custGeom>
            <a:noFill/>
            <a:ln w="38100">
              <a:solidFill>
                <a:schemeClr val="accent3"/>
              </a:solidFill>
            </a:ln>
          </p:spPr>
        </p:sp>
        <p:sp>
          <p:nvSpPr>
            <p:cNvPr id="9" name="TextBox 9"/>
            <p:cNvSpPr txBox="1"/>
            <p:nvPr/>
          </p:nvSpPr>
          <p:spPr>
            <a:xfrm>
              <a:off x="525780" y="2790825"/>
              <a:ext cx="2435057"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Explicit degree bound k</a:t>
              </a:r>
            </a:p>
          </p:txBody>
        </p:sp>
        <p:sp>
          <p:nvSpPr>
            <p:cNvPr id="10" name="TextBox 10"/>
            <p:cNvSpPr txBox="1"/>
            <p:nvPr/>
          </p:nvSpPr>
          <p:spPr>
            <a:xfrm>
              <a:off x="525780" y="3171825"/>
              <a:ext cx="2202815"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First separating set</a:t>
              </a:r>
            </a:p>
          </p:txBody>
        </p:sp>
        <p:sp>
          <p:nvSpPr>
            <p:cNvPr id="11" name="TextBox 11"/>
            <p:cNvSpPr txBox="1"/>
            <p:nvPr/>
          </p:nvSpPr>
          <p:spPr>
            <a:xfrm>
              <a:off x="525780" y="3552825"/>
              <a:ext cx="3040944"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Non-stable skeleton schedule</a:t>
              </a:r>
            </a:p>
          </p:txBody>
        </p:sp>
        <p:sp>
          <p:nvSpPr>
            <p:cNvPr id="12" name="TextBox 12"/>
            <p:cNvSpPr txBox="1"/>
            <p:nvPr/>
          </p:nvSpPr>
          <p:spPr>
            <a:xfrm>
              <a:off x="525780" y="3933825"/>
              <a:ext cx="3323524"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Zhang-rule orientation schedule</a:t>
              </a:r>
            </a:p>
          </p:txBody>
        </p:sp>
        <p:sp>
          <p:nvSpPr>
            <p:cNvPr id="13" name="TextBox 13"/>
            <p:cNvSpPr txBox="1"/>
            <p:nvPr/>
          </p:nvSpPr>
          <p:spPr>
            <a:xfrm>
              <a:off x="526542" y="4426268"/>
              <a:ext cx="2512934"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FCIPlusConfig.paper(k=...)</a:t>
              </a:r>
            </a:p>
          </p:txBody>
        </p:sp>
      </p:grpSp>
      <p:grpSp>
        <p:nvGrpSpPr>
          <p:cNvPr id="18" name="Group 18"/>
          <p:cNvGrpSpPr/>
          <p:nvPr/>
        </p:nvGrpSpPr>
        <p:grpSpPr>
          <a:xfrm>
            <a:off x="5867400" y="1438275"/>
            <a:ext cx="457200" cy="3390900"/>
            <a:chOff x="5867400" y="1438275"/>
            <a:chExt cx="457200" cy="3390900"/>
          </a:xfrm>
        </p:grpSpPr>
        <p:sp>
          <p:nvSpPr>
            <p:cNvPr id="15" name="Line 15"/>
            <p:cNvSpPr/>
            <p:nvPr/>
          </p:nvSpPr>
          <p:spPr>
            <a:xfrm>
              <a:off x="6096000" y="1438275"/>
              <a:ext cx="9525" cy="3390900"/>
            </a:xfrm>
            <a:custGeom>
              <a:avLst/>
              <a:gdLst/>
              <a:ahLst/>
              <a:cxnLst/>
              <a:rect l="l" t="t" r="r" b="b"/>
              <a:pathLst>
                <a:path w="9525" h="3390900">
                  <a:moveTo>
                    <a:pt x="0" y="0"/>
                  </a:moveTo>
                  <a:lnTo>
                    <a:pt x="0" y="3390900"/>
                  </a:lnTo>
                </a:path>
              </a:pathLst>
            </a:custGeom>
            <a:noFill/>
            <a:ln w="19050">
              <a:solidFill>
                <a:srgbClr val="CBD2DC"/>
              </a:solidFill>
            </a:ln>
          </p:spPr>
        </p:sp>
        <p:sp>
          <p:nvSpPr>
            <p:cNvPr id="16" name="Ellipse 16"/>
            <p:cNvSpPr/>
            <p:nvPr/>
          </p:nvSpPr>
          <p:spPr>
            <a:xfrm>
              <a:off x="5867400" y="2905125"/>
              <a:ext cx="457200" cy="457200"/>
            </a:xfrm>
            <a:prstGeom prst="ellipse">
              <a:avLst/>
            </a:prstGeom>
            <a:solidFill>
              <a:schemeClr val="lt1"/>
            </a:solidFill>
            <a:ln w="19050">
              <a:solidFill>
                <a:srgbClr val="CBD2DC"/>
              </a:solidFill>
            </a:ln>
          </p:spPr>
        </p:sp>
        <p:sp>
          <p:nvSpPr>
            <p:cNvPr id="17" name="TextBox 17"/>
            <p:cNvSpPr txBox="1"/>
            <p:nvPr/>
          </p:nvSpPr>
          <p:spPr>
            <a:xfrm>
              <a:off x="5978248" y="3054668"/>
              <a:ext cx="235504" cy="264033"/>
            </a:xfrm>
            <a:prstGeom prst="rect">
              <a:avLst/>
            </a:prstGeom>
            <a:noFill/>
            <a:ln>
              <a:noFill/>
            </a:ln>
          </p:spPr>
          <p:txBody>
            <a:bodyPr wrap="none" lIns="0" tIns="0" rIns="0" bIns="0" anchor="t" anchorCtr="0">
              <a:spAutoFit/>
            </a:bodyPr>
            <a:lstStyle/>
            <a:p>
              <a:pPr algn="ctr"/>
              <a:r>
                <a:rPr lang="en-US" sz="1350" b="1" dirty="0">
                  <a:solidFill>
                    <a:srgbClr val="5F6875"/>
                  </a:solidFill>
                  <a:latin typeface="+mn-lt"/>
                  <a:ea typeface="+mn-ea"/>
                  <a:cs typeface="+mn-cs"/>
                </a:rPr>
                <a:t>VS</a:t>
              </a:r>
            </a:p>
          </p:txBody>
        </p:sp>
      </p:grpSp>
      <p:grpSp>
        <p:nvGrpSpPr>
          <p:cNvPr id="27" name="Group 27"/>
          <p:cNvGrpSpPr/>
          <p:nvPr/>
        </p:nvGrpSpPr>
        <p:grpSpPr>
          <a:xfrm>
            <a:off x="6826758" y="1549718"/>
            <a:ext cx="4488942" cy="3140583"/>
            <a:chOff x="6826758" y="1549718"/>
            <a:chExt cx="4488942" cy="3140583"/>
          </a:xfrm>
        </p:grpSpPr>
        <p:sp>
          <p:nvSpPr>
            <p:cNvPr id="19" name="TextBox 19"/>
            <p:cNvSpPr txBox="1"/>
            <p:nvPr/>
          </p:nvSpPr>
          <p:spPr>
            <a:xfrm>
              <a:off x="6832092" y="1549718"/>
              <a:ext cx="2765900"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ROBUST APPLICATION PROFILE</a:t>
              </a:r>
            </a:p>
          </p:txBody>
        </p:sp>
        <p:sp>
          <p:nvSpPr>
            <p:cNvPr id="20" name="TextBox 20"/>
            <p:cNvSpPr txBox="1"/>
            <p:nvPr/>
          </p:nvSpPr>
          <p:spPr>
            <a:xfrm>
              <a:off x="6826758" y="1874520"/>
              <a:ext cx="3542690" cy="469392"/>
            </a:xfrm>
            <a:prstGeom prst="rect">
              <a:avLst/>
            </a:prstGeom>
            <a:noFill/>
            <a:ln>
              <a:noFill/>
            </a:ln>
          </p:spPr>
          <p:txBody>
            <a:bodyPr wrap="none" lIns="0" tIns="0" rIns="0" bIns="0" anchor="t" anchorCtr="0">
              <a:spAutoFit/>
            </a:bodyPr>
            <a:lstStyle/>
            <a:p>
              <a:pPr algn="l"/>
              <a:r>
                <a:rPr lang="en-US" sz="2400" b="1" dirty="0">
                  <a:solidFill>
                    <a:schemeClr val="accent1"/>
                  </a:solidFill>
                  <a:latin typeface="+mj-lt"/>
                  <a:ea typeface="+mj-ea"/>
                  <a:cs typeface="+mj-cs"/>
                </a:rPr>
                <a:t>Finite-sample policy</a:t>
              </a:r>
            </a:p>
          </p:txBody>
        </p:sp>
        <p:sp>
          <p:nvSpPr>
            <p:cNvPr id="21" name="Line 21"/>
            <p:cNvSpPr/>
            <p:nvPr/>
          </p:nvSpPr>
          <p:spPr>
            <a:xfrm>
              <a:off x="6838950" y="2571750"/>
              <a:ext cx="4476750" cy="9525"/>
            </a:xfrm>
            <a:custGeom>
              <a:avLst/>
              <a:gdLst/>
              <a:ahLst/>
              <a:cxnLst/>
              <a:rect l="l" t="t" r="r" b="b"/>
              <a:pathLst>
                <a:path w="4476750" h="9525">
                  <a:moveTo>
                    <a:pt x="0" y="0"/>
                  </a:moveTo>
                  <a:lnTo>
                    <a:pt x="4476750" y="0"/>
                  </a:lnTo>
                </a:path>
              </a:pathLst>
            </a:custGeom>
            <a:noFill/>
            <a:ln w="38100">
              <a:solidFill>
                <a:schemeClr val="accent6"/>
              </a:solidFill>
            </a:ln>
          </p:spPr>
        </p:sp>
        <p:sp>
          <p:nvSpPr>
            <p:cNvPr id="22" name="TextBox 22"/>
            <p:cNvSpPr txBox="1"/>
            <p:nvPr/>
          </p:nvSpPr>
          <p:spPr>
            <a:xfrm>
              <a:off x="6831330" y="2790825"/>
              <a:ext cx="3364763"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Stable skeleton + max-p sepsets</a:t>
              </a:r>
            </a:p>
          </p:txBody>
        </p:sp>
        <p:sp>
          <p:nvSpPr>
            <p:cNvPr id="23" name="TextBox 23"/>
            <p:cNvSpPr txBox="1"/>
            <p:nvPr/>
          </p:nvSpPr>
          <p:spPr>
            <a:xfrm>
              <a:off x="6831330" y="3171825"/>
              <a:ext cx="3222143"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Conservative collider decisions</a:t>
              </a:r>
            </a:p>
          </p:txBody>
        </p:sp>
        <p:sp>
          <p:nvSpPr>
            <p:cNvPr id="24" name="TextBox 24"/>
            <p:cNvSpPr txBox="1"/>
            <p:nvPr/>
          </p:nvSpPr>
          <p:spPr>
            <a:xfrm>
              <a:off x="6831330" y="3552825"/>
              <a:ext cx="2828437"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Restricted tail orientation</a:t>
              </a:r>
            </a:p>
          </p:txBody>
        </p:sp>
        <p:sp>
          <p:nvSpPr>
            <p:cNvPr id="25" name="TextBox 25"/>
            <p:cNvSpPr txBox="1"/>
            <p:nvPr/>
          </p:nvSpPr>
          <p:spPr>
            <a:xfrm>
              <a:off x="6831330" y="3933825"/>
              <a:ext cx="3414576" cy="293370"/>
            </a:xfrm>
            <a:prstGeom prst="rect">
              <a:avLst/>
            </a:prstGeom>
            <a:noFill/>
            <a:ln>
              <a:noFill/>
            </a:ln>
          </p:spPr>
          <p:txBody>
            <a:bodyPr wrap="none" lIns="0" tIns="0" rIns="0" bIns="0" anchor="t" anchorCtr="0">
              <a:spAutoFit/>
            </a:bodyPr>
            <a:lstStyle/>
            <a:p>
              <a:pPr algn="l" marL="161925" indent="-161925">
                <a:buClr>
                  <a:schemeClr val="dk1"/>
                </a:buClr>
                <a:buSzTx/>
                <a:buFontTx/>
                <a:buChar char="•"/>
              </a:pPr>
              <a:r>
                <a:rPr lang="en-US" sz="1500" dirty="0">
                  <a:solidFill>
                    <a:schemeClr val="dk1"/>
                  </a:solidFill>
                  <a:latin typeface="+mn-lt"/>
                  <a:ea typeface="+mn-ea"/>
                  <a:cs typeface="+mn-cs"/>
                </a:rPr>
                <a:t>Order and bootstrap diagnostics</a:t>
              </a:r>
            </a:p>
          </p:txBody>
        </p:sp>
        <p:sp>
          <p:nvSpPr>
            <p:cNvPr id="26" name="TextBox 26"/>
            <p:cNvSpPr txBox="1"/>
            <p:nvPr/>
          </p:nvSpPr>
          <p:spPr>
            <a:xfrm>
              <a:off x="6832092" y="4426268"/>
              <a:ext cx="2618377" cy="264033"/>
            </a:xfrm>
            <a:prstGeom prst="rect">
              <a:avLst/>
            </a:prstGeom>
            <a:noFill/>
            <a:ln>
              <a:noFill/>
            </a:ln>
          </p:spPr>
          <p:txBody>
            <a:bodyPr wrap="none" lIns="0" tIns="0" rIns="0" bIns="0" anchor="t" anchorCtr="0">
              <a:spAutoFit/>
            </a:bodyPr>
            <a:lstStyle/>
            <a:p>
              <a:pPr algn="l"/>
              <a:r>
                <a:rPr lang="en-US" sz="1350" dirty="0">
                  <a:solidFill>
                    <a:schemeClr val="accent6"/>
                  </a:solidFill>
                  <a:latin typeface="Consolas"/>
                  <a:ea typeface="Consolas"/>
                  <a:cs typeface="Consolas"/>
                </a:rPr>
                <a:t>FCIPlusConfig.practical(...)</a:t>
              </a:r>
            </a:p>
          </p:txBody>
        </p:sp>
      </p:grpSp>
      <p:grpSp>
        <p:nvGrpSpPr>
          <p:cNvPr id="33" name="Group 33"/>
          <p:cNvGrpSpPr/>
          <p:nvPr/>
        </p:nvGrpSpPr>
        <p:grpSpPr>
          <a:xfrm>
            <a:off x="533400" y="5191125"/>
            <a:ext cx="11125200" cy="847725"/>
            <a:chOff x="533400" y="5191125"/>
            <a:chExt cx="11125200" cy="847725"/>
          </a:xfrm>
        </p:grpSpPr>
        <p:sp>
          <p:nvSpPr>
            <p:cNvPr id="28" name="Rectangle 28"/>
            <p:cNvSpPr/>
            <p:nvPr/>
          </p:nvSpPr>
          <p:spPr>
            <a:xfrm>
              <a:off x="533400" y="5191125"/>
              <a:ext cx="11125200" cy="847725"/>
            </a:xfrm>
            <a:prstGeom prst="roundRect">
              <a:avLst>
                <a:gd name="adj" fmla="val 13483"/>
              </a:avLst>
            </a:prstGeom>
            <a:solidFill>
              <a:schemeClr val="accent1"/>
            </a:solidFill>
            <a:ln>
              <a:noFill/>
            </a:ln>
          </p:spPr>
        </p:sp>
        <p:sp>
          <p:nvSpPr>
            <p:cNvPr id="29" name="TextBox 29"/>
            <p:cNvSpPr txBox="1"/>
            <p:nvPr/>
          </p:nvSpPr>
          <p:spPr>
            <a:xfrm>
              <a:off x="774192" y="5359718"/>
              <a:ext cx="2332406" cy="264033"/>
            </a:xfrm>
            <a:prstGeom prst="rect">
              <a:avLst/>
            </a:prstGeom>
            <a:noFill/>
            <a:ln>
              <a:noFill/>
            </a:ln>
          </p:spPr>
          <p:txBody>
            <a:bodyPr wrap="none" lIns="0" tIns="0" rIns="0" bIns="0" anchor="t" anchorCtr="0">
              <a:spAutoFit/>
            </a:bodyPr>
            <a:lstStyle/>
            <a:p>
              <a:pPr algn="l"/>
              <a:r>
                <a:rPr lang="en-US" sz="1350" b="1" dirty="0">
                  <a:solidFill>
                    <a:srgbClr val="A7E8DF"/>
                  </a:solidFill>
                  <a:latin typeface="+mn-lt"/>
                  <a:ea typeface="+mn-ea"/>
                  <a:cs typeface="+mn-cs"/>
                </a:rPr>
                <a:t>PREDECLARED TRADE-OFF</a:t>
              </a:r>
            </a:p>
          </p:txBody>
        </p:sp>
        <p:sp>
          <p:nvSpPr>
            <p:cNvPr id="30" name="TextBox 30"/>
            <p:cNvSpPr txBox="1"/>
            <p:nvPr/>
          </p:nvSpPr>
          <p:spPr>
            <a:xfrm>
              <a:off x="771906" y="5634990"/>
              <a:ext cx="4599285"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n-lt"/>
                  <a:ea typeface="+mn-ea"/>
                  <a:cs typeface="+mn-cs"/>
                </a:rPr>
                <a:t>More CI work + more circle endpoints</a:t>
              </a:r>
            </a:p>
          </p:txBody>
        </p:sp>
        <p:sp>
          <p:nvSpPr>
            <p:cNvPr id="31" name="TextBox 31"/>
            <p:cNvSpPr txBox="1"/>
            <p:nvPr/>
          </p:nvSpPr>
          <p:spPr>
            <a:xfrm>
              <a:off x="5420106" y="5634990"/>
              <a:ext cx="1835658" cy="352044"/>
            </a:xfrm>
            <a:prstGeom prst="rect">
              <a:avLst/>
            </a:prstGeom>
            <a:noFill/>
            <a:ln>
              <a:noFill/>
            </a:ln>
          </p:spPr>
          <p:txBody>
            <a:bodyPr wrap="none" lIns="0" tIns="0" rIns="0" bIns="0" anchor="t" anchorCtr="0">
              <a:spAutoFit/>
            </a:bodyPr>
            <a:lstStyle/>
            <a:p>
              <a:pPr algn="l"/>
              <a:r>
                <a:rPr lang="en-US" sz="1800" dirty="0">
                  <a:solidFill>
                    <a:srgbClr val="E9EDF5"/>
                  </a:solidFill>
                  <a:latin typeface="+mn-lt"/>
                  <a:ea typeface="+mn-ea"/>
                  <a:cs typeface="+mn-cs"/>
                </a:rPr>
                <a:t>in exchange for</a:t>
              </a:r>
            </a:p>
          </p:txBody>
        </p:sp>
        <p:sp>
          <p:nvSpPr>
            <p:cNvPr id="32" name="TextBox 32"/>
            <p:cNvSpPr txBox="1"/>
            <p:nvPr/>
          </p:nvSpPr>
          <p:spPr>
            <a:xfrm>
              <a:off x="7021068" y="5651182"/>
              <a:ext cx="4401472" cy="322707"/>
            </a:xfrm>
            <a:prstGeom prst="rect">
              <a:avLst/>
            </a:prstGeom>
            <a:noFill/>
            <a:ln>
              <a:noFill/>
            </a:ln>
          </p:spPr>
          <p:txBody>
            <a:bodyPr wrap="none" lIns="0" tIns="0" rIns="0" bIns="0" anchor="t" anchorCtr="0">
              <a:spAutoFit/>
            </a:bodyPr>
            <a:lstStyle/>
            <a:p>
              <a:pPr algn="l"/>
              <a:r>
                <a:rPr lang="en-US" sz="1650" b="1" dirty="0">
                  <a:solidFill>
                    <a:srgbClr val="A7E8DF"/>
                  </a:solidFill>
                  <a:latin typeface="+mn-lt"/>
                  <a:ea typeface="+mn-ea"/>
                  <a:cs typeface="+mn-cs"/>
                </a:rPr>
                <a:t>stable skeletons + conservative marks</a:t>
              </a:r>
            </a:p>
          </p:txBody>
        </p:sp>
      </p:grpSp>
      <p:grpSp>
        <p:nvGrpSpPr>
          <p:cNvPr id="36" name="Group 36"/>
          <p:cNvGrpSpPr/>
          <p:nvPr/>
        </p:nvGrpSpPr>
        <p:grpSpPr>
          <a:xfrm>
            <a:off x="527304" y="6318885"/>
            <a:ext cx="11137392" cy="234696"/>
            <a:chOff x="527304" y="6318885"/>
            <a:chExt cx="11137392" cy="234696"/>
          </a:xfrm>
        </p:grpSpPr>
        <p:sp>
          <p:nvSpPr>
            <p:cNvPr id="34" name="TextBox 34"/>
            <p:cNvSpPr txBox="1"/>
            <p:nvPr/>
          </p:nvSpPr>
          <p:spPr>
            <a:xfrm>
              <a:off x="527304" y="6318885"/>
              <a:ext cx="7456834" cy="234696"/>
            </a:xfrm>
            <a:prstGeom prst="rect">
              <a:avLst/>
            </a:prstGeom>
            <a:noFill/>
            <a:ln>
              <a:noFill/>
            </a:ln>
          </p:spPr>
          <p:txBody>
            <a:bodyPr wrap="none" lIns="0" tIns="0" rIns="0" bIns="0" anchor="t" anchorCtr="0">
              <a:spAutoFit/>
            </a:bodyPr>
            <a:lstStyle/>
            <a:p>
              <a:pPr algn="l"/>
              <a:r>
                <a:rPr lang="en-US" sz="1200" dirty="0">
                  <a:solidFill>
                    <a:srgbClr val="B45F4A"/>
                  </a:solidFill>
                  <a:latin typeface="+mn-lt"/>
                  <a:ea typeface="+mn-ea"/>
                  <a:cs typeface="+mn-cs"/>
                </a:rPr>
                <a:t>Engineering extension—not a new correctness, completeness, or universal-accuracy theorem.</a:t>
              </a:r>
            </a:p>
          </p:txBody>
        </p:sp>
        <p:sp>
          <p:nvSpPr>
            <p:cNvPr id="35" name="TextBox 35"/>
            <p:cNvSpPr txBox="1"/>
            <p:nvPr/>
          </p:nvSpPr>
          <p:spPr>
            <a:xfrm>
              <a:off x="11111332" y="6318885"/>
              <a:ext cx="553364" cy="234696"/>
            </a:xfrm>
            <a:prstGeom prst="rect">
              <a:avLst/>
            </a:prstGeom>
            <a:noFill/>
            <a:ln>
              <a:noFill/>
            </a:ln>
          </p:spPr>
          <p:txBody>
            <a:bodyPr wrap="none" lIns="0" tIns="0" rIns="0" bIns="0" anchor="t" anchorCtr="0">
              <a:spAutoFit/>
            </a:bodyPr>
            <a:lstStyle/>
            <a:p>
              <a:pPr algn="r"/>
              <a:r>
                <a:rPr lang="en-US" sz="1200" dirty="0">
                  <a:solidFill>
                    <a:srgbClr val="5F6875"/>
                  </a:solidFill>
                  <a:latin typeface="Consolas"/>
                  <a:ea typeface="Consolas"/>
                  <a:cs typeface="Consolas"/>
                </a:rPr>
                <a:t>07 / 15</a:t>
              </a:r>
            </a:p>
          </p:txBody>
        </p:sp>
      </p:gr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18160" y="361950"/>
            <a:ext cx="11147298" cy="657225"/>
            <a:chOff x="518160" y="361950"/>
            <a:chExt cx="11147298" cy="657225"/>
          </a:xfrm>
        </p:grpSpPr>
        <p:sp>
          <p:nvSpPr>
            <p:cNvPr id="2" name="TextBox 2"/>
            <p:cNvSpPr txBox="1"/>
            <p:nvPr/>
          </p:nvSpPr>
          <p:spPr>
            <a:xfrm>
              <a:off x="518160" y="361950"/>
              <a:ext cx="10837492"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Known Truth Separates Logic from Sample Error</a:t>
              </a:r>
            </a:p>
          </p:txBody>
        </p:sp>
        <p:sp>
          <p:nvSpPr>
            <p:cNvPr id="3" name="TextBox 3"/>
            <p:cNvSpPr txBox="1"/>
            <p:nvPr/>
          </p:nvSpPr>
          <p:spPr>
            <a:xfrm>
              <a:off x="10653217" y="387668"/>
              <a:ext cx="1012241" cy="264033"/>
            </a:xfrm>
            <a:prstGeom prst="rect">
              <a:avLst/>
            </a:prstGeom>
            <a:noFill/>
            <a:ln>
              <a:noFill/>
            </a:ln>
          </p:spPr>
          <p:txBody>
            <a:bodyPr wrap="none" lIns="0" tIns="0" rIns="0" bIns="0" anchor="t" anchorCtr="0">
              <a:spAutoFit/>
            </a:bodyPr>
            <a:lstStyle/>
            <a:p>
              <a:pPr algn="r"/>
              <a:r>
                <a:rPr lang="en-US" sz="1350" dirty="0">
                  <a:solidFill>
                    <a:srgbClr val="5F6875"/>
                  </a:solidFill>
                  <a:latin typeface="Consolas"/>
                  <a:ea typeface="Consolas"/>
                  <a:cs typeface="Consolas"/>
                </a:rPr>
                <a:t>VALIDATION</a:t>
              </a:r>
            </a:p>
          </p:txBody>
        </p:sp>
        <p:sp>
          <p:nvSpPr>
            <p:cNvPr id="4" name="Line 4"/>
            <p:cNvSpPr/>
            <p:nvPr/>
          </p:nvSpPr>
          <p:spPr>
            <a:xfrm>
              <a:off x="533400" y="1009650"/>
              <a:ext cx="11125200" cy="9525"/>
            </a:xfrm>
            <a:custGeom>
              <a:avLst/>
              <a:gdLst/>
              <a:ahLst/>
              <a:cxnLst/>
              <a:rect l="l" t="t" r="r" b="b"/>
              <a:pathLst>
                <a:path w="11125200" h="9525">
                  <a:moveTo>
                    <a:pt x="0" y="0"/>
                  </a:moveTo>
                  <a:lnTo>
                    <a:pt x="11125200" y="0"/>
                  </a:lnTo>
                </a:path>
              </a:pathLst>
            </a:custGeom>
            <a:noFill/>
            <a:ln w="14288">
              <a:solidFill>
                <a:srgbClr val="CBD2DC"/>
              </a:solidFill>
            </a:ln>
          </p:spPr>
        </p:sp>
      </p:grpSp>
      <p:grpSp>
        <p:nvGrpSpPr>
          <p:cNvPr id="28" name="Group 28"/>
          <p:cNvGrpSpPr/>
          <p:nvPr/>
        </p:nvGrpSpPr>
        <p:grpSpPr>
          <a:xfrm>
            <a:off x="533400" y="1333500"/>
            <a:ext cx="4514850" cy="4019550"/>
            <a:chOff x="533400" y="1333500"/>
            <a:chExt cx="4514850" cy="4019550"/>
          </a:xfrm>
        </p:grpSpPr>
        <p:sp>
          <p:nvSpPr>
            <p:cNvPr id="6" name="Rectangle 6"/>
            <p:cNvSpPr/>
            <p:nvPr/>
          </p:nvSpPr>
          <p:spPr>
            <a:xfrm>
              <a:off x="533400" y="1333500"/>
              <a:ext cx="4514850" cy="4019550"/>
            </a:xfrm>
            <a:prstGeom prst="roundRect">
              <a:avLst>
                <a:gd name="adj" fmla="val 3318"/>
              </a:avLst>
            </a:prstGeom>
            <a:solidFill>
              <a:srgbClr val="FFFFFF"/>
            </a:solidFill>
            <a:ln w="14288">
              <a:solidFill>
                <a:srgbClr val="CBD2DC"/>
              </a:solidFill>
            </a:ln>
          </p:spPr>
        </p:sp>
        <p:sp>
          <p:nvSpPr>
            <p:cNvPr id="7" name="TextBox 7"/>
            <p:cNvSpPr txBox="1"/>
            <p:nvPr/>
          </p:nvSpPr>
          <p:spPr>
            <a:xfrm>
              <a:off x="774192" y="1511618"/>
              <a:ext cx="285976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CLAASSEN FIGURE 4(b) FIXTURE</a:t>
              </a:r>
            </a:p>
          </p:txBody>
        </p:sp>
        <p:sp>
          <p:nvSpPr>
            <p:cNvPr id="8" name="TextBox 8"/>
            <p:cNvSpPr txBox="1"/>
            <p:nvPr/>
          </p:nvSpPr>
          <p:spPr>
            <a:xfrm>
              <a:off x="772668" y="1803082"/>
              <a:ext cx="3971392" cy="322707"/>
            </a:xfrm>
            <a:prstGeom prst="rect">
              <a:avLst/>
            </a:prstGeom>
            <a:noFill/>
            <a:ln>
              <a:noFill/>
            </a:ln>
          </p:spPr>
          <p:txBody>
            <a:bodyPr wrap="none" lIns="0" tIns="0" rIns="0" bIns="0" anchor="t" anchorCtr="0">
              <a:spAutoFit/>
            </a:bodyPr>
            <a:lstStyle/>
            <a:p>
              <a:pPr algn="l"/>
              <a:r>
                <a:rPr lang="en-US" sz="1650" b="1" dirty="0">
                  <a:solidFill>
                    <a:schemeClr val="accent1"/>
                  </a:solidFill>
                  <a:latin typeface="+mn-lt"/>
                  <a:ea typeface="+mn-ea"/>
                  <a:cs typeface="+mn-cs"/>
                </a:rPr>
                <a:t>A non-local separator removes X—Y</a:t>
              </a:r>
            </a:p>
          </p:txBody>
        </p:sp>
        <p:sp>
          <p:nvSpPr>
            <p:cNvPr id="9" name="Ellipse 9"/>
            <p:cNvSpPr/>
            <p:nvPr/>
          </p:nvSpPr>
          <p:spPr>
            <a:xfrm>
              <a:off x="1133475" y="2790825"/>
              <a:ext cx="590550" cy="590550"/>
            </a:xfrm>
            <a:prstGeom prst="ellipse">
              <a:avLst/>
            </a:prstGeom>
            <a:solidFill>
              <a:srgbClr val="FFF3E3"/>
            </a:solidFill>
            <a:ln w="28575">
              <a:solidFill>
                <a:schemeClr val="accent3"/>
              </a:solidFill>
            </a:ln>
          </p:spPr>
        </p:sp>
        <p:sp>
          <p:nvSpPr>
            <p:cNvPr id="10" name="TextBox 10"/>
            <p:cNvSpPr txBox="1"/>
            <p:nvPr/>
          </p:nvSpPr>
          <p:spPr>
            <a:xfrm>
              <a:off x="1345677" y="2967990"/>
              <a:ext cx="166146"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U</a:t>
              </a:r>
            </a:p>
          </p:txBody>
        </p:sp>
        <p:sp>
          <p:nvSpPr>
            <p:cNvPr id="11" name="Ellipse 11"/>
            <p:cNvSpPr/>
            <p:nvPr/>
          </p:nvSpPr>
          <p:spPr>
            <a:xfrm>
              <a:off x="2371725" y="2209800"/>
              <a:ext cx="590550" cy="590550"/>
            </a:xfrm>
            <a:prstGeom prst="ellipse">
              <a:avLst/>
            </a:prstGeom>
            <a:solidFill>
              <a:srgbClr val="FFFFFF"/>
            </a:solidFill>
            <a:ln w="28575">
              <a:solidFill>
                <a:schemeClr val="accent1"/>
              </a:solidFill>
            </a:ln>
          </p:spPr>
        </p:sp>
        <p:sp>
          <p:nvSpPr>
            <p:cNvPr id="12" name="TextBox 12"/>
            <p:cNvSpPr txBox="1"/>
            <p:nvPr/>
          </p:nvSpPr>
          <p:spPr>
            <a:xfrm>
              <a:off x="2583927" y="2386965"/>
              <a:ext cx="166146"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X</a:t>
              </a:r>
            </a:p>
          </p:txBody>
        </p:sp>
        <p:sp>
          <p:nvSpPr>
            <p:cNvPr id="13" name="Ellipse 13"/>
            <p:cNvSpPr/>
            <p:nvPr/>
          </p:nvSpPr>
          <p:spPr>
            <a:xfrm>
              <a:off x="3609975" y="2790825"/>
              <a:ext cx="590550" cy="590550"/>
            </a:xfrm>
            <a:prstGeom prst="ellipse">
              <a:avLst/>
            </a:prstGeom>
            <a:solidFill>
              <a:srgbClr val="FFFFFF"/>
            </a:solidFill>
            <a:ln w="28575">
              <a:solidFill>
                <a:schemeClr val="accent1"/>
              </a:solidFill>
            </a:ln>
          </p:spPr>
        </p:sp>
        <p:sp>
          <p:nvSpPr>
            <p:cNvPr id="14" name="TextBox 14"/>
            <p:cNvSpPr txBox="1"/>
            <p:nvPr/>
          </p:nvSpPr>
          <p:spPr>
            <a:xfrm>
              <a:off x="3822177" y="2967990"/>
              <a:ext cx="166146"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Y</a:t>
              </a:r>
            </a:p>
          </p:txBody>
        </p:sp>
        <p:sp>
          <p:nvSpPr>
            <p:cNvPr id="15" name="Ellipse 15"/>
            <p:cNvSpPr/>
            <p:nvPr/>
          </p:nvSpPr>
          <p:spPr>
            <a:xfrm>
              <a:off x="2371725" y="3409950"/>
              <a:ext cx="590550" cy="590550"/>
            </a:xfrm>
            <a:prstGeom prst="ellipse">
              <a:avLst/>
            </a:prstGeom>
            <a:solidFill>
              <a:srgbClr val="FFF3E3"/>
            </a:solidFill>
            <a:ln w="28575">
              <a:solidFill>
                <a:schemeClr val="accent3"/>
              </a:solidFill>
            </a:ln>
          </p:spPr>
        </p:sp>
        <p:sp>
          <p:nvSpPr>
            <p:cNvPr id="16" name="TextBox 16"/>
            <p:cNvSpPr txBox="1"/>
            <p:nvPr/>
          </p:nvSpPr>
          <p:spPr>
            <a:xfrm>
              <a:off x="2583927" y="3587115"/>
              <a:ext cx="166146"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V</a:t>
              </a:r>
            </a:p>
          </p:txBody>
        </p:sp>
        <p:sp>
          <p:nvSpPr>
            <p:cNvPr id="17" name="Ellipse 17"/>
            <p:cNvSpPr/>
            <p:nvPr/>
          </p:nvSpPr>
          <p:spPr>
            <a:xfrm>
              <a:off x="3609975" y="3990975"/>
              <a:ext cx="590550" cy="590550"/>
            </a:xfrm>
            <a:prstGeom prst="ellipse">
              <a:avLst/>
            </a:prstGeom>
            <a:solidFill>
              <a:srgbClr val="FFF3E3"/>
            </a:solidFill>
            <a:ln w="28575">
              <a:solidFill>
                <a:schemeClr val="accent3"/>
              </a:solidFill>
            </a:ln>
          </p:spPr>
        </p:sp>
        <p:sp>
          <p:nvSpPr>
            <p:cNvPr id="18" name="TextBox 18"/>
            <p:cNvSpPr txBox="1"/>
            <p:nvPr/>
          </p:nvSpPr>
          <p:spPr>
            <a:xfrm>
              <a:off x="3822177" y="4168140"/>
              <a:ext cx="166146"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Z</a:t>
              </a:r>
            </a:p>
          </p:txBody>
        </p:sp>
        <p:sp>
          <p:nvSpPr>
            <p:cNvPr id="19" name="Line 19"/>
            <p:cNvSpPr/>
            <p:nvPr/>
          </p:nvSpPr>
          <p:spPr>
            <a:xfrm>
              <a:off x="1685925" y="2647950"/>
              <a:ext cx="714375" cy="304800"/>
            </a:xfrm>
            <a:custGeom>
              <a:avLst/>
              <a:gdLst/>
              <a:ahLst/>
              <a:cxnLst/>
              <a:rect l="l" t="t" r="r" b="b"/>
              <a:pathLst>
                <a:path w="714375" h="304800">
                  <a:moveTo>
                    <a:pt x="0" y="304800"/>
                  </a:moveTo>
                  <a:lnTo>
                    <a:pt x="714375" y="0"/>
                  </a:lnTo>
                </a:path>
              </a:pathLst>
            </a:custGeom>
            <a:noFill/>
            <a:ln w="28575">
              <a:solidFill>
                <a:schemeClr val="accent1"/>
              </a:solidFill>
            </a:ln>
          </p:spPr>
        </p:sp>
        <p:sp>
          <p:nvSpPr>
            <p:cNvPr id="20" name="Line 20"/>
            <p:cNvSpPr/>
            <p:nvPr/>
          </p:nvSpPr>
          <p:spPr>
            <a:xfrm>
              <a:off x="2933700" y="2647950"/>
              <a:ext cx="704850" cy="295275"/>
            </a:xfrm>
            <a:custGeom>
              <a:avLst/>
              <a:gdLst/>
              <a:ahLst/>
              <a:cxnLst/>
              <a:rect l="l" t="t" r="r" b="b"/>
              <a:pathLst>
                <a:path w="704850" h="295275">
                  <a:moveTo>
                    <a:pt x="0" y="0"/>
                  </a:moveTo>
                  <a:lnTo>
                    <a:pt x="704850" y="295275"/>
                  </a:lnTo>
                </a:path>
              </a:pathLst>
            </a:custGeom>
            <a:noFill/>
            <a:ln w="28575">
              <a:solidFill>
                <a:schemeClr val="accent1"/>
              </a:solidFill>
            </a:ln>
          </p:spPr>
        </p:sp>
        <p:sp>
          <p:nvSpPr>
            <p:cNvPr id="21" name="Line 21"/>
            <p:cNvSpPr/>
            <p:nvPr/>
          </p:nvSpPr>
          <p:spPr>
            <a:xfrm>
              <a:off x="2933700" y="3219450"/>
              <a:ext cx="704850" cy="333375"/>
            </a:xfrm>
            <a:custGeom>
              <a:avLst/>
              <a:gdLst/>
              <a:ahLst/>
              <a:cxnLst/>
              <a:rect l="l" t="t" r="r" b="b"/>
              <a:pathLst>
                <a:path w="704850" h="333375">
                  <a:moveTo>
                    <a:pt x="0" y="333375"/>
                  </a:moveTo>
                  <a:lnTo>
                    <a:pt x="704850" y="0"/>
                  </a:lnTo>
                </a:path>
              </a:pathLst>
            </a:custGeom>
            <a:noFill/>
            <a:ln w="28575">
              <a:solidFill>
                <a:schemeClr val="accent1"/>
              </a:solidFill>
            </a:ln>
          </p:spPr>
        </p:sp>
        <p:sp>
          <p:nvSpPr>
            <p:cNvPr id="22" name="Line 22"/>
            <p:cNvSpPr/>
            <p:nvPr/>
          </p:nvSpPr>
          <p:spPr>
            <a:xfrm>
              <a:off x="2924175" y="3848100"/>
              <a:ext cx="723900" cy="323850"/>
            </a:xfrm>
            <a:custGeom>
              <a:avLst/>
              <a:gdLst/>
              <a:ahLst/>
              <a:cxnLst/>
              <a:rect l="l" t="t" r="r" b="b"/>
              <a:pathLst>
                <a:path w="723900" h="323850">
                  <a:moveTo>
                    <a:pt x="0" y="0"/>
                  </a:moveTo>
                  <a:lnTo>
                    <a:pt x="723900" y="323850"/>
                  </a:lnTo>
                </a:path>
              </a:pathLst>
            </a:custGeom>
            <a:noFill/>
            <a:ln w="28575">
              <a:solidFill>
                <a:schemeClr val="accent1"/>
              </a:solidFill>
            </a:ln>
          </p:spPr>
        </p:sp>
        <p:sp>
          <p:nvSpPr>
            <p:cNvPr id="23" name="Line 23"/>
            <p:cNvSpPr/>
            <p:nvPr/>
          </p:nvSpPr>
          <p:spPr>
            <a:xfrm>
              <a:off x="2962275" y="2571750"/>
              <a:ext cx="647700" cy="371475"/>
            </a:xfrm>
            <a:custGeom>
              <a:avLst/>
              <a:gdLst/>
              <a:ahLst/>
              <a:cxnLst/>
              <a:rect l="l" t="t" r="r" b="b"/>
              <a:pathLst>
                <a:path w="647700" h="371475">
                  <a:moveTo>
                    <a:pt x="0" y="0"/>
                  </a:moveTo>
                  <a:lnTo>
                    <a:pt x="647700" y="371475"/>
                  </a:lnTo>
                </a:path>
              </a:pathLst>
            </a:custGeom>
            <a:noFill/>
            <a:ln w="38100">
              <a:solidFill>
                <a:srgbClr val="B45F4A"/>
              </a:solidFill>
              <a:custDash>
                <a:ds d="200000" sp="175000"/>
              </a:custDash>
            </a:ln>
          </p:spPr>
        </p:sp>
        <p:sp>
          <p:nvSpPr>
            <p:cNvPr id="24" name="Line 24"/>
            <p:cNvSpPr/>
            <p:nvPr/>
          </p:nvSpPr>
          <p:spPr>
            <a:xfrm>
              <a:off x="3124200" y="2495550"/>
              <a:ext cx="352425" cy="695325"/>
            </a:xfrm>
            <a:custGeom>
              <a:avLst/>
              <a:gdLst/>
              <a:ahLst/>
              <a:cxnLst/>
              <a:rect l="l" t="t" r="r" b="b"/>
              <a:pathLst>
                <a:path w="352425" h="695325">
                  <a:moveTo>
                    <a:pt x="0" y="0"/>
                  </a:moveTo>
                  <a:lnTo>
                    <a:pt x="352425" y="695325"/>
                  </a:lnTo>
                </a:path>
              </a:pathLst>
            </a:custGeom>
            <a:noFill/>
            <a:ln w="38100">
              <a:solidFill>
                <a:srgbClr val="B45F4A"/>
              </a:solidFill>
            </a:ln>
          </p:spPr>
        </p:sp>
        <p:sp>
          <p:nvSpPr>
            <p:cNvPr id="25" name="Line 25"/>
            <p:cNvSpPr/>
            <p:nvPr/>
          </p:nvSpPr>
          <p:spPr>
            <a:xfrm>
              <a:off x="3124200" y="2495550"/>
              <a:ext cx="352425" cy="695325"/>
            </a:xfrm>
            <a:custGeom>
              <a:avLst/>
              <a:gdLst/>
              <a:ahLst/>
              <a:cxnLst/>
              <a:rect l="l" t="t" r="r" b="b"/>
              <a:pathLst>
                <a:path w="352425" h="695325">
                  <a:moveTo>
                    <a:pt x="352425" y="0"/>
                  </a:moveTo>
                  <a:lnTo>
                    <a:pt x="0" y="695325"/>
                  </a:lnTo>
                </a:path>
              </a:pathLst>
            </a:custGeom>
            <a:noFill/>
            <a:ln w="38100">
              <a:solidFill>
                <a:srgbClr val="B45F4A"/>
              </a:solidFill>
            </a:ln>
          </p:spPr>
        </p:sp>
        <p:sp>
          <p:nvSpPr>
            <p:cNvPr id="26" name="Rectangle 26"/>
            <p:cNvSpPr/>
            <p:nvPr/>
          </p:nvSpPr>
          <p:spPr>
            <a:xfrm>
              <a:off x="781050" y="4714875"/>
              <a:ext cx="4019550" cy="400050"/>
            </a:xfrm>
            <a:prstGeom prst="roundRect">
              <a:avLst>
                <a:gd name="adj" fmla="val 19048"/>
              </a:avLst>
            </a:prstGeom>
            <a:solidFill>
              <a:srgbClr val="FFF3E3"/>
            </a:solidFill>
            <a:ln>
              <a:noFill/>
            </a:ln>
          </p:spPr>
        </p:sp>
        <p:sp>
          <p:nvSpPr>
            <p:cNvPr id="27" name="TextBox 27"/>
            <p:cNvSpPr txBox="1"/>
            <p:nvPr/>
          </p:nvSpPr>
          <p:spPr>
            <a:xfrm>
              <a:off x="1175861" y="4810125"/>
              <a:ext cx="3229928" cy="293370"/>
            </a:xfrm>
            <a:prstGeom prst="rect">
              <a:avLst/>
            </a:prstGeom>
            <a:noFill/>
            <a:ln>
              <a:noFill/>
            </a:ln>
          </p:spPr>
          <p:txBody>
            <a:bodyPr wrap="none" lIns="0" tIns="0" rIns="0" bIns="0" anchor="t" anchorCtr="0">
              <a:spAutoFit/>
            </a:bodyPr>
            <a:lstStyle/>
            <a:p>
              <a:pPr algn="ctr"/>
              <a:r>
                <a:rPr lang="en-US" sz="1500" b="1" dirty="0">
                  <a:solidFill>
                    <a:schemeClr val="accent3"/>
                  </a:solidFill>
                  <a:latin typeface="Consolas"/>
                  <a:ea typeface="Consolas"/>
                  <a:cs typeface="Consolas"/>
                </a:rPr>
                <a:t>Exhibited separator: {U, V, Z}</a:t>
              </a:r>
            </a:p>
          </p:txBody>
        </p:sp>
      </p:grpSp>
      <p:grpSp>
        <p:nvGrpSpPr>
          <p:cNvPr id="47" name="Group 47"/>
          <p:cNvGrpSpPr/>
          <p:nvPr/>
        </p:nvGrpSpPr>
        <p:grpSpPr>
          <a:xfrm>
            <a:off x="5314950" y="1333500"/>
            <a:ext cx="6343650" cy="4019550"/>
            <a:chOff x="5314950" y="1333500"/>
            <a:chExt cx="6343650" cy="4019550"/>
          </a:xfrm>
        </p:grpSpPr>
        <p:sp>
          <p:nvSpPr>
            <p:cNvPr id="29" name="Rectangle 29"/>
            <p:cNvSpPr/>
            <p:nvPr/>
          </p:nvSpPr>
          <p:spPr>
            <a:xfrm>
              <a:off x="5314950" y="1333500"/>
              <a:ext cx="6343650" cy="4019550"/>
            </a:xfrm>
            <a:prstGeom prst="roundRect">
              <a:avLst>
                <a:gd name="adj" fmla="val 3318"/>
              </a:avLst>
            </a:prstGeom>
            <a:solidFill>
              <a:schemeClr val="accent1"/>
            </a:solidFill>
            <a:ln>
              <a:noFill/>
            </a:ln>
          </p:spPr>
        </p:sp>
        <p:sp>
          <p:nvSpPr>
            <p:cNvPr id="30" name="TextBox 30"/>
            <p:cNvSpPr txBox="1"/>
            <p:nvPr/>
          </p:nvSpPr>
          <p:spPr>
            <a:xfrm>
              <a:off x="5574792" y="1511618"/>
              <a:ext cx="3733701" cy="264033"/>
            </a:xfrm>
            <a:prstGeom prst="rect">
              <a:avLst/>
            </a:prstGeom>
            <a:noFill/>
            <a:ln>
              <a:noFill/>
            </a:ln>
          </p:spPr>
          <p:txBody>
            <a:bodyPr wrap="none" lIns="0" tIns="0" rIns="0" bIns="0" anchor="t" anchorCtr="0">
              <a:spAutoFit/>
            </a:bodyPr>
            <a:lstStyle/>
            <a:p>
              <a:pPr algn="l"/>
              <a:r>
                <a:rPr lang="en-US" sz="1350" b="1" dirty="0">
                  <a:solidFill>
                    <a:srgbClr val="E9EDF5"/>
                  </a:solidFill>
                  <a:latin typeface="+mn-lt"/>
                  <a:ea typeface="+mn-ea"/>
                  <a:cs typeface="+mn-cs"/>
                </a:rPr>
                <a:t>TWO LEVELS OF KNOWN-TRUTH EVIDENCE</a:t>
              </a:r>
            </a:p>
          </p:txBody>
        </p:sp>
        <p:grpSp>
          <p:nvGrpSpPr>
            <p:cNvPr id="37" name="Group 37"/>
            <p:cNvGrpSpPr/>
            <p:nvPr/>
          </p:nvGrpSpPr>
          <p:grpSpPr>
            <a:xfrm>
              <a:off x="5810250" y="2095500"/>
              <a:ext cx="5353050" cy="2543175"/>
              <a:chOff x="5810250" y="2095500"/>
              <a:chExt cx="5353050" cy="2543175"/>
            </a:xfrm>
          </p:grpSpPr>
          <p:sp>
            <p:nvSpPr>
              <p:cNvPr id="31" name="Line 31"/>
              <p:cNvSpPr/>
              <p:nvPr/>
            </p:nvSpPr>
            <p:spPr>
              <a:xfrm>
                <a:off x="5810250" y="2800350"/>
                <a:ext cx="5353050" cy="9525"/>
              </a:xfrm>
              <a:custGeom>
                <a:avLst/>
                <a:gdLst/>
                <a:ahLst/>
                <a:cxnLst/>
                <a:rect l="l" t="t" r="r" b="b"/>
                <a:pathLst>
                  <a:path w="5353050" h="9525">
                    <a:moveTo>
                      <a:pt x="0" y="0"/>
                    </a:moveTo>
                    <a:lnTo>
                      <a:pt x="5353050" y="0"/>
                    </a:lnTo>
                  </a:path>
                </a:pathLst>
              </a:custGeom>
              <a:noFill/>
              <a:ln w="14288">
                <a:solidFill>
                  <a:srgbClr val="5C7190"/>
                </a:solidFill>
              </a:ln>
            </p:spPr>
          </p:sp>
          <p:sp>
            <p:nvSpPr>
              <p:cNvPr id="32" name="Line 32"/>
              <p:cNvSpPr/>
              <p:nvPr/>
            </p:nvSpPr>
            <p:spPr>
              <a:xfrm>
                <a:off x="5810250" y="4629150"/>
                <a:ext cx="5353050" cy="9525"/>
              </a:xfrm>
              <a:custGeom>
                <a:avLst/>
                <a:gdLst/>
                <a:ahLst/>
                <a:cxnLst/>
                <a:rect l="l" t="t" r="r" b="b"/>
                <a:pathLst>
                  <a:path w="5353050" h="9525">
                    <a:moveTo>
                      <a:pt x="0" y="0"/>
                    </a:moveTo>
                    <a:lnTo>
                      <a:pt x="5353050" y="0"/>
                    </a:lnTo>
                  </a:path>
                </a:pathLst>
              </a:custGeom>
              <a:noFill/>
              <a:ln w="14288">
                <a:solidFill>
                  <a:srgbClr val="5C7190"/>
                </a:solidFill>
              </a:ln>
            </p:spPr>
          </p:sp>
          <p:sp>
            <p:nvSpPr>
              <p:cNvPr id="33" name="Rectangle 33"/>
              <p:cNvSpPr/>
              <p:nvPr/>
            </p:nvSpPr>
            <p:spPr>
              <a:xfrm>
                <a:off x="5810250" y="2095500"/>
                <a:ext cx="4210050" cy="323850"/>
              </a:xfrm>
              <a:prstGeom prst="roundRect">
                <a:avLst>
                  <a:gd name="adj" fmla="val 17647"/>
                </a:avLst>
              </a:prstGeom>
              <a:solidFill>
                <a:schemeClr val="accent2"/>
              </a:solidFill>
              <a:ln>
                <a:noFill/>
              </a:ln>
            </p:spPr>
          </p:sp>
          <p:sp>
            <p:nvSpPr>
              <p:cNvPr id="34" name="Rectangle 34"/>
              <p:cNvSpPr/>
              <p:nvPr/>
            </p:nvSpPr>
            <p:spPr>
              <a:xfrm>
                <a:off x="5810250" y="2476500"/>
                <a:ext cx="2600325" cy="323850"/>
              </a:xfrm>
              <a:prstGeom prst="roundRect">
                <a:avLst>
                  <a:gd name="adj" fmla="val 17647"/>
                </a:avLst>
              </a:prstGeom>
              <a:solidFill>
                <a:schemeClr val="accent3"/>
              </a:solidFill>
              <a:ln>
                <a:noFill/>
              </a:ln>
            </p:spPr>
          </p:sp>
          <p:sp>
            <p:nvSpPr>
              <p:cNvPr id="35" name="Rectangle 35"/>
              <p:cNvSpPr/>
              <p:nvPr/>
            </p:nvSpPr>
            <p:spPr>
              <a:xfrm>
                <a:off x="5810250" y="3714750"/>
                <a:ext cx="2857500" cy="209550"/>
              </a:xfrm>
              <a:prstGeom prst="roundRect">
                <a:avLst>
                  <a:gd name="adj" fmla="val 22727"/>
                </a:avLst>
              </a:prstGeom>
              <a:solidFill>
                <a:schemeClr val="accent3"/>
              </a:solidFill>
              <a:ln>
                <a:noFill/>
              </a:ln>
            </p:spPr>
          </p:sp>
          <p:sp>
            <p:nvSpPr>
              <p:cNvPr id="36" name="Rectangle 36"/>
              <p:cNvSpPr/>
              <p:nvPr/>
            </p:nvSpPr>
            <p:spPr>
              <a:xfrm>
                <a:off x="5810250" y="4057650"/>
                <a:ext cx="3752850" cy="209550"/>
              </a:xfrm>
              <a:prstGeom prst="roundRect">
                <a:avLst>
                  <a:gd name="adj" fmla="val 22727"/>
                </a:avLst>
              </a:prstGeom>
              <a:solidFill>
                <a:schemeClr val="accent6"/>
              </a:solidFill>
              <a:ln>
                <a:noFill/>
              </a:ln>
            </p:spPr>
          </p:sp>
        </p:grpSp>
        <p:sp>
          <p:nvSpPr>
            <p:cNvPr id="38" name="TextBox 38"/>
            <p:cNvSpPr txBox="1"/>
            <p:nvPr/>
          </p:nvSpPr>
          <p:spPr>
            <a:xfrm>
              <a:off x="5574030" y="1838325"/>
              <a:ext cx="4550807"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Exact oracle · Figure 4(b) logical CI queries</a:t>
              </a:r>
            </a:p>
          </p:txBody>
        </p:sp>
        <p:sp>
          <p:nvSpPr>
            <p:cNvPr id="39" name="TextBox 39"/>
            <p:cNvSpPr txBox="1"/>
            <p:nvPr/>
          </p:nvSpPr>
          <p:spPr>
            <a:xfrm>
              <a:off x="10184130" y="2171700"/>
              <a:ext cx="765734"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Consolas"/>
                  <a:ea typeface="Consolas"/>
                  <a:cs typeface="Consolas"/>
                </a:rPr>
                <a:t>FCI 102</a:t>
              </a:r>
            </a:p>
          </p:txBody>
        </p:sp>
        <p:sp>
          <p:nvSpPr>
            <p:cNvPr id="40" name="TextBox 40"/>
            <p:cNvSpPr txBox="1"/>
            <p:nvPr/>
          </p:nvSpPr>
          <p:spPr>
            <a:xfrm>
              <a:off x="8574405" y="2552700"/>
              <a:ext cx="1120607"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Consolas"/>
                  <a:ea typeface="Consolas"/>
                  <a:cs typeface="Consolas"/>
                </a:rPr>
                <a:t>FCI Plus 63</a:t>
              </a:r>
            </a:p>
          </p:txBody>
        </p:sp>
        <p:sp>
          <p:nvSpPr>
            <p:cNvPr id="41" name="TextBox 41"/>
            <p:cNvSpPr txBox="1"/>
            <p:nvPr/>
          </p:nvSpPr>
          <p:spPr>
            <a:xfrm>
              <a:off x="5574792" y="3140392"/>
              <a:ext cx="5603853"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Fixed-α regression · α = .001 for both · 5 families × 3 seeds</a:t>
              </a:r>
            </a:p>
          </p:txBody>
        </p:sp>
        <p:sp>
          <p:nvSpPr>
            <p:cNvPr id="42" name="TextBox 42"/>
            <p:cNvSpPr txBox="1"/>
            <p:nvPr/>
          </p:nvSpPr>
          <p:spPr>
            <a:xfrm>
              <a:off x="5574792" y="3445192"/>
              <a:ext cx="2997575" cy="264033"/>
            </a:xfrm>
            <a:prstGeom prst="rect">
              <a:avLst/>
            </a:prstGeom>
            <a:noFill/>
            <a:ln>
              <a:noFill/>
            </a:ln>
          </p:spPr>
          <p:txBody>
            <a:bodyPr wrap="none" lIns="0" tIns="0" rIns="0" bIns="0" anchor="t" anchorCtr="0">
              <a:spAutoFit/>
            </a:bodyPr>
            <a:lstStyle/>
            <a:p>
              <a:pPr algn="l"/>
              <a:r>
                <a:rPr lang="en-US" sz="1350" dirty="0">
                  <a:solidFill>
                    <a:srgbClr val="E9EDF5"/>
                  </a:solidFill>
                  <a:latin typeface="+mn-lt"/>
                  <a:ea typeface="+mn-ea"/>
                  <a:cs typeface="+mn-cs"/>
                </a:rPr>
                <a:t>Endpoint-sensitive exact-edge F1</a:t>
              </a:r>
            </a:p>
          </p:txBody>
        </p:sp>
        <p:sp>
          <p:nvSpPr>
            <p:cNvPr id="43" name="TextBox 43"/>
            <p:cNvSpPr txBox="1"/>
            <p:nvPr/>
          </p:nvSpPr>
          <p:spPr>
            <a:xfrm>
              <a:off x="8812530" y="3714750"/>
              <a:ext cx="1128379" cy="293370"/>
            </a:xfrm>
            <a:prstGeom prst="rect">
              <a:avLst/>
            </a:prstGeom>
            <a:noFill/>
            <a:ln>
              <a:noFill/>
            </a:ln>
          </p:spPr>
          <p:txBody>
            <a:bodyPr wrap="none" lIns="0" tIns="0" rIns="0" bIns="0" anchor="t" anchorCtr="0">
              <a:spAutoFit/>
            </a:bodyPr>
            <a:lstStyle/>
            <a:p>
              <a:pPr algn="l"/>
              <a:r>
                <a:rPr lang="en-US" sz="1500" b="1" dirty="0">
                  <a:solidFill>
                    <a:srgbClr val="FFC77E"/>
                  </a:solidFill>
                  <a:latin typeface="Consolas"/>
                  <a:ea typeface="Consolas"/>
                  <a:cs typeface="Consolas"/>
                </a:rPr>
                <a:t>paper .536</a:t>
              </a:r>
            </a:p>
          </p:txBody>
        </p:sp>
        <p:sp>
          <p:nvSpPr>
            <p:cNvPr id="44" name="TextBox 44"/>
            <p:cNvSpPr txBox="1"/>
            <p:nvPr/>
          </p:nvSpPr>
          <p:spPr>
            <a:xfrm>
              <a:off x="9707880" y="4057650"/>
              <a:ext cx="1244994" cy="293370"/>
            </a:xfrm>
            <a:prstGeom prst="rect">
              <a:avLst/>
            </a:prstGeom>
            <a:noFill/>
            <a:ln>
              <a:noFill/>
            </a:ln>
          </p:spPr>
          <p:txBody>
            <a:bodyPr wrap="none" lIns="0" tIns="0" rIns="0" bIns="0" anchor="t" anchorCtr="0">
              <a:spAutoFit/>
            </a:bodyPr>
            <a:lstStyle/>
            <a:p>
              <a:pPr algn="l"/>
              <a:r>
                <a:rPr lang="en-US" sz="1500" b="1" dirty="0">
                  <a:solidFill>
                    <a:srgbClr val="A7E8DF"/>
                  </a:solidFill>
                  <a:latin typeface="Consolas"/>
                  <a:ea typeface="Consolas"/>
                  <a:cs typeface="Consolas"/>
                </a:rPr>
                <a:t>robust .703</a:t>
              </a:r>
            </a:p>
          </p:txBody>
        </p:sp>
        <p:sp>
          <p:nvSpPr>
            <p:cNvPr id="45" name="TextBox 45"/>
            <p:cNvSpPr txBox="1"/>
            <p:nvPr/>
          </p:nvSpPr>
          <p:spPr>
            <a:xfrm>
              <a:off x="5574792" y="4721542"/>
              <a:ext cx="3163467" cy="264033"/>
            </a:xfrm>
            <a:prstGeom prst="rect">
              <a:avLst/>
            </a:prstGeom>
            <a:noFill/>
            <a:ln>
              <a:noFill/>
            </a:ln>
          </p:spPr>
          <p:txBody>
            <a:bodyPr wrap="none" lIns="0" tIns="0" rIns="0" bIns="0" anchor="t" anchorCtr="0">
              <a:spAutoFit/>
            </a:bodyPr>
            <a:lstStyle/>
            <a:p>
              <a:pPr algn="l"/>
              <a:r>
                <a:rPr lang="en-US" sz="1350" dirty="0">
                  <a:solidFill>
                    <a:srgbClr val="E9EDF5"/>
                  </a:solidFill>
                  <a:latin typeface="+mn-lt"/>
                  <a:ea typeface="+mn-ea"/>
                  <a:cs typeface="+mn-cs"/>
                </a:rPr>
                <a:t>Skeleton F1: .979 for both profiles</a:t>
              </a:r>
            </a:p>
          </p:txBody>
        </p:sp>
        <p:sp>
          <p:nvSpPr>
            <p:cNvPr id="46" name="TextBox 46"/>
            <p:cNvSpPr txBox="1"/>
            <p:nvPr/>
          </p:nvSpPr>
          <p:spPr>
            <a:xfrm>
              <a:off x="5574792" y="4988242"/>
              <a:ext cx="3568903" cy="264033"/>
            </a:xfrm>
            <a:prstGeom prst="rect">
              <a:avLst/>
            </a:prstGeom>
            <a:noFill/>
            <a:ln>
              <a:noFill/>
            </a:ln>
          </p:spPr>
          <p:txBody>
            <a:bodyPr wrap="none" lIns="0" tIns="0" rIns="0" bIns="0" anchor="t" anchorCtr="0">
              <a:spAutoFit/>
            </a:bodyPr>
            <a:lstStyle/>
            <a:p>
              <a:pPr algn="l"/>
              <a:r>
                <a:rPr lang="en-US" sz="1350" dirty="0">
                  <a:solidFill>
                    <a:srgbClr val="E9EDF5"/>
                  </a:solidFill>
                  <a:latin typeface="+mn-lt"/>
                  <a:ea typeface="+mn-ea"/>
                  <a:cs typeface="+mn-cs"/>
                </a:rPr>
                <a:t>Mean CI calls: 197.1 → 380.7 · N = 2,500</a:t>
              </a:r>
            </a:p>
          </p:txBody>
        </p:sp>
      </p:grpSp>
      <p:grpSp>
        <p:nvGrpSpPr>
          <p:cNvPr id="51" name="Group 51"/>
          <p:cNvGrpSpPr/>
          <p:nvPr/>
        </p:nvGrpSpPr>
        <p:grpSpPr>
          <a:xfrm>
            <a:off x="525018" y="5490210"/>
            <a:ext cx="10047412" cy="474155"/>
            <a:chOff x="525018" y="5490210"/>
            <a:chExt cx="10047412" cy="474155"/>
          </a:xfrm>
        </p:grpSpPr>
        <p:sp>
          <p:nvSpPr>
            <p:cNvPr id="48" name="TextBox 48"/>
            <p:cNvSpPr txBox="1"/>
            <p:nvPr/>
          </p:nvSpPr>
          <p:spPr>
            <a:xfrm>
              <a:off x="525018" y="5641658"/>
              <a:ext cx="5703734" cy="322707"/>
            </a:xfrm>
            <a:prstGeom prst="rect">
              <a:avLst/>
            </a:prstGeom>
            <a:noFill/>
            <a:ln>
              <a:noFill/>
            </a:ln>
          </p:spPr>
          <p:txBody>
            <a:bodyPr wrap="none" lIns="0" tIns="0" rIns="0" bIns="0" anchor="t" anchorCtr="0">
              <a:spAutoFit/>
            </a:bodyPr>
            <a:lstStyle/>
            <a:p>
              <a:pPr algn="l"/>
              <a:r>
                <a:rPr lang="en-US" sz="1650" b="1" dirty="0">
                  <a:solidFill>
                    <a:srgbClr val="B45F4A"/>
                  </a:solidFill>
                  <a:latin typeface="+mn-lt"/>
                  <a:ea typeface="+mn-ea"/>
                  <a:cs typeface="+mn-cs"/>
                </a:rPr>
                <a:t>Fewer oracle queries ≠ finite-sample superiority.</a:t>
              </a:r>
            </a:p>
          </p:txBody>
        </p:sp>
        <p:sp>
          <p:nvSpPr>
            <p:cNvPr id="49" name="TextBox 49"/>
            <p:cNvSpPr txBox="1"/>
            <p:nvPr/>
          </p:nvSpPr>
          <p:spPr>
            <a:xfrm>
              <a:off x="6328029" y="5490210"/>
              <a:ext cx="1998341"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The source prints a MAG;</a:t>
              </a:r>
            </a:p>
          </p:txBody>
        </p:sp>
        <p:sp>
          <p:nvSpPr>
            <p:cNvPr id="50" name="TextBox 50"/>
            <p:cNvSpPr txBox="1"/>
            <p:nvPr/>
          </p:nvSpPr>
          <p:spPr>
            <a:xfrm>
              <a:off x="6328029" y="5699760"/>
              <a:ext cx="4244401"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the repository derives the PAG target independently.</a:t>
              </a:r>
            </a:p>
          </p:txBody>
        </p:sp>
      </p:grpSp>
      <p:grpSp>
        <p:nvGrpSpPr>
          <p:cNvPr id="54" name="Group 54"/>
          <p:cNvGrpSpPr/>
          <p:nvPr/>
        </p:nvGrpSpPr>
        <p:grpSpPr>
          <a:xfrm>
            <a:off x="527304" y="6309360"/>
            <a:ext cx="11137392" cy="234696"/>
            <a:chOff x="527304" y="6309360"/>
            <a:chExt cx="11137392" cy="234696"/>
          </a:xfrm>
        </p:grpSpPr>
        <p:sp>
          <p:nvSpPr>
            <p:cNvPr id="52" name="TextBox 52"/>
            <p:cNvSpPr txBox="1"/>
            <p:nvPr/>
          </p:nvSpPr>
          <p:spPr>
            <a:xfrm>
              <a:off x="527304" y="6309360"/>
              <a:ext cx="7688222"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Exact-oracle fixtures · committed finite-sample validation · Claassen et al. (2013), Figure 4(b)</a:t>
              </a:r>
            </a:p>
          </p:txBody>
        </p:sp>
        <p:sp>
          <p:nvSpPr>
            <p:cNvPr id="53" name="TextBox 53"/>
            <p:cNvSpPr txBox="1"/>
            <p:nvPr/>
          </p:nvSpPr>
          <p:spPr>
            <a:xfrm>
              <a:off x="11111332" y="6309360"/>
              <a:ext cx="553364" cy="234696"/>
            </a:xfrm>
            <a:prstGeom prst="rect">
              <a:avLst/>
            </a:prstGeom>
            <a:noFill/>
            <a:ln>
              <a:noFill/>
            </a:ln>
          </p:spPr>
          <p:txBody>
            <a:bodyPr wrap="none" lIns="0" tIns="0" rIns="0" bIns="0" anchor="t" anchorCtr="0">
              <a:spAutoFit/>
            </a:bodyPr>
            <a:lstStyle/>
            <a:p>
              <a:pPr algn="r"/>
              <a:r>
                <a:rPr lang="en-US" sz="1200" dirty="0">
                  <a:solidFill>
                    <a:srgbClr val="5F6875"/>
                  </a:solidFill>
                  <a:latin typeface="Consolas"/>
                  <a:ea typeface="Consolas"/>
                  <a:cs typeface="Consolas"/>
                </a:rPr>
                <a:t>08 / 15</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17398" y="345758"/>
            <a:ext cx="11148060" cy="806767"/>
            <a:chOff x="517398" y="345758"/>
            <a:chExt cx="11148060" cy="806767"/>
          </a:xfrm>
        </p:grpSpPr>
        <p:sp>
          <p:nvSpPr>
            <p:cNvPr id="2" name="TextBox 2"/>
            <p:cNvSpPr txBox="1"/>
            <p:nvPr/>
          </p:nvSpPr>
          <p:spPr>
            <a:xfrm>
              <a:off x="517398" y="345758"/>
              <a:ext cx="10883963" cy="616077"/>
            </a:xfrm>
            <a:prstGeom prst="rect">
              <a:avLst/>
            </a:prstGeom>
            <a:noFill/>
            <a:ln>
              <a:noFill/>
            </a:ln>
          </p:spPr>
          <p:txBody>
            <a:bodyPr wrap="none" lIns="0" tIns="0" rIns="0" bIns="0" anchor="t" anchorCtr="0">
              <a:spAutoFit/>
            </a:bodyPr>
            <a:lstStyle/>
            <a:p>
              <a:pPr algn="l"/>
              <a:r>
                <a:rPr lang="en-US" sz="3150" b="1" dirty="0">
                  <a:solidFill>
                    <a:schemeClr val="accent1"/>
                  </a:solidFill>
                  <a:latin typeface="+mj-lt"/>
                  <a:ea typeface="+mj-ea"/>
                  <a:cs typeface="+mj-cs"/>
                </a:rPr>
                <a:t>An Auditability Comparison, Not a Leaderboard</a:t>
              </a:r>
            </a:p>
          </p:txBody>
        </p:sp>
        <p:sp>
          <p:nvSpPr>
            <p:cNvPr id="3" name="TextBox 3"/>
            <p:cNvSpPr txBox="1"/>
            <p:nvPr/>
          </p:nvSpPr>
          <p:spPr>
            <a:xfrm>
              <a:off x="9721901" y="844868"/>
              <a:ext cx="1943557" cy="264033"/>
            </a:xfrm>
            <a:prstGeom prst="rect">
              <a:avLst/>
            </a:prstGeom>
            <a:noFill/>
            <a:ln>
              <a:noFill/>
            </a:ln>
          </p:spPr>
          <p:txBody>
            <a:bodyPr wrap="none" lIns="0" tIns="0" rIns="0" bIns="0" anchor="t" anchorCtr="0">
              <a:spAutoFit/>
            </a:bodyPr>
            <a:lstStyle/>
            <a:p>
              <a:pPr algn="r"/>
              <a:r>
                <a:rPr lang="en-US" sz="1350" dirty="0">
                  <a:solidFill>
                    <a:srgbClr val="7562A8"/>
                  </a:solidFill>
                  <a:latin typeface="Consolas"/>
                  <a:ea typeface="Consolas"/>
                  <a:cs typeface="Consolas"/>
                </a:rPr>
                <a:t>SOFTWARE LANDSCAPE</a:t>
              </a:r>
            </a:p>
          </p:txBody>
        </p:sp>
        <p:sp>
          <p:nvSpPr>
            <p:cNvPr id="4" name="Line 4"/>
            <p:cNvSpPr/>
            <p:nvPr/>
          </p:nvSpPr>
          <p:spPr>
            <a:xfrm>
              <a:off x="533400" y="1143000"/>
              <a:ext cx="11125200" cy="9525"/>
            </a:xfrm>
            <a:custGeom>
              <a:avLst/>
              <a:gdLst/>
              <a:ahLst/>
              <a:cxnLst/>
              <a:rect l="l" t="t" r="r" b="b"/>
              <a:pathLst>
                <a:path w="11125200" h="9525">
                  <a:moveTo>
                    <a:pt x="0" y="0"/>
                  </a:moveTo>
                  <a:lnTo>
                    <a:pt x="11125200" y="0"/>
                  </a:lnTo>
                </a:path>
              </a:pathLst>
            </a:custGeom>
            <a:noFill/>
            <a:ln w="14288">
              <a:solidFill>
                <a:srgbClr val="CBD2DC"/>
              </a:solidFill>
            </a:ln>
          </p:spPr>
        </p:sp>
      </p:grpSp>
      <p:grpSp>
        <p:nvGrpSpPr>
          <p:cNvPr id="65" name="Group 65"/>
          <p:cNvGrpSpPr/>
          <p:nvPr/>
        </p:nvGrpSpPr>
        <p:grpSpPr>
          <a:xfrm>
            <a:off x="533400" y="1333500"/>
            <a:ext cx="11125200" cy="3724275"/>
            <a:chOff x="533400" y="1333500"/>
            <a:chExt cx="11125200" cy="3724275"/>
          </a:xfrm>
        </p:grpSpPr>
        <p:sp>
          <p:nvSpPr>
            <p:cNvPr id="6" name="Rectangle 6"/>
            <p:cNvSpPr/>
            <p:nvPr/>
          </p:nvSpPr>
          <p:spPr>
            <a:xfrm>
              <a:off x="533400" y="1333500"/>
              <a:ext cx="11125200" cy="3714750"/>
            </a:xfrm>
            <a:prstGeom prst="roundRect">
              <a:avLst>
                <a:gd name="adj" fmla="val 3590"/>
              </a:avLst>
            </a:prstGeom>
            <a:solidFill>
              <a:srgbClr val="FFFFFF"/>
            </a:solidFill>
            <a:ln w="14288">
              <a:solidFill>
                <a:srgbClr val="CBD2DC"/>
              </a:solidFill>
            </a:ln>
          </p:spPr>
        </p:sp>
        <p:sp>
          <p:nvSpPr>
            <p:cNvPr id="7" name="Rectangle 7"/>
            <p:cNvSpPr/>
            <p:nvPr/>
          </p:nvSpPr>
          <p:spPr>
            <a:xfrm>
              <a:off x="533400" y="1333500"/>
              <a:ext cx="11125200" cy="571500"/>
            </a:xfrm>
            <a:prstGeom prst="roundRect">
              <a:avLst>
                <a:gd name="adj" fmla="val 23333"/>
              </a:avLst>
            </a:prstGeom>
            <a:solidFill>
              <a:schemeClr val="accent1"/>
            </a:solidFill>
            <a:ln>
              <a:noFill/>
            </a:ln>
          </p:spPr>
        </p:sp>
        <p:sp>
          <p:nvSpPr>
            <p:cNvPr id="8" name="Line 8"/>
            <p:cNvSpPr/>
            <p:nvPr/>
          </p:nvSpPr>
          <p:spPr>
            <a:xfrm>
              <a:off x="2857500" y="1905000"/>
              <a:ext cx="9525" cy="3143250"/>
            </a:xfrm>
            <a:custGeom>
              <a:avLst/>
              <a:gdLst/>
              <a:ahLst/>
              <a:cxnLst/>
              <a:rect l="l" t="t" r="r" b="b"/>
              <a:pathLst>
                <a:path w="9525" h="3143250">
                  <a:moveTo>
                    <a:pt x="0" y="0"/>
                  </a:moveTo>
                  <a:lnTo>
                    <a:pt x="0" y="3143250"/>
                  </a:lnTo>
                </a:path>
              </a:pathLst>
            </a:custGeom>
            <a:noFill/>
            <a:ln w="14288">
              <a:solidFill>
                <a:srgbClr val="CBD2DC"/>
              </a:solidFill>
            </a:ln>
          </p:spPr>
        </p:sp>
        <p:sp>
          <p:nvSpPr>
            <p:cNvPr id="9" name="Line 9"/>
            <p:cNvSpPr/>
            <p:nvPr/>
          </p:nvSpPr>
          <p:spPr>
            <a:xfrm>
              <a:off x="3905250" y="1905000"/>
              <a:ext cx="9525" cy="3143250"/>
            </a:xfrm>
            <a:custGeom>
              <a:avLst/>
              <a:gdLst/>
              <a:ahLst/>
              <a:cxnLst/>
              <a:rect l="l" t="t" r="r" b="b"/>
              <a:pathLst>
                <a:path w="9525" h="3143250">
                  <a:moveTo>
                    <a:pt x="0" y="0"/>
                  </a:moveTo>
                  <a:lnTo>
                    <a:pt x="0" y="3143250"/>
                  </a:lnTo>
                </a:path>
              </a:pathLst>
            </a:custGeom>
            <a:noFill/>
            <a:ln w="14288">
              <a:solidFill>
                <a:srgbClr val="CBD2DC"/>
              </a:solidFill>
            </a:ln>
          </p:spPr>
        </p:sp>
        <p:sp>
          <p:nvSpPr>
            <p:cNvPr id="10" name="Line 10"/>
            <p:cNvSpPr/>
            <p:nvPr/>
          </p:nvSpPr>
          <p:spPr>
            <a:xfrm>
              <a:off x="4953000" y="1905000"/>
              <a:ext cx="9525" cy="3143250"/>
            </a:xfrm>
            <a:custGeom>
              <a:avLst/>
              <a:gdLst/>
              <a:ahLst/>
              <a:cxnLst/>
              <a:rect l="l" t="t" r="r" b="b"/>
              <a:pathLst>
                <a:path w="9525" h="3143250">
                  <a:moveTo>
                    <a:pt x="0" y="0"/>
                  </a:moveTo>
                  <a:lnTo>
                    <a:pt x="0" y="3143250"/>
                  </a:lnTo>
                </a:path>
              </a:pathLst>
            </a:custGeom>
            <a:noFill/>
            <a:ln w="14288">
              <a:solidFill>
                <a:srgbClr val="CBD2DC"/>
              </a:solidFill>
            </a:ln>
          </p:spPr>
        </p:sp>
        <p:sp>
          <p:nvSpPr>
            <p:cNvPr id="11" name="Line 11"/>
            <p:cNvSpPr/>
            <p:nvPr/>
          </p:nvSpPr>
          <p:spPr>
            <a:xfrm>
              <a:off x="6191250" y="1905000"/>
              <a:ext cx="9525" cy="3143250"/>
            </a:xfrm>
            <a:custGeom>
              <a:avLst/>
              <a:gdLst/>
              <a:ahLst/>
              <a:cxnLst/>
              <a:rect l="l" t="t" r="r" b="b"/>
              <a:pathLst>
                <a:path w="9525" h="3143250">
                  <a:moveTo>
                    <a:pt x="0" y="0"/>
                  </a:moveTo>
                  <a:lnTo>
                    <a:pt x="0" y="3143250"/>
                  </a:lnTo>
                </a:path>
              </a:pathLst>
            </a:custGeom>
            <a:noFill/>
            <a:ln w="14288">
              <a:solidFill>
                <a:srgbClr val="CBD2DC"/>
              </a:solidFill>
            </a:ln>
          </p:spPr>
        </p:sp>
        <p:sp>
          <p:nvSpPr>
            <p:cNvPr id="12" name="Line 12"/>
            <p:cNvSpPr/>
            <p:nvPr/>
          </p:nvSpPr>
          <p:spPr>
            <a:xfrm>
              <a:off x="7524750" y="1905000"/>
              <a:ext cx="9525" cy="3143250"/>
            </a:xfrm>
            <a:custGeom>
              <a:avLst/>
              <a:gdLst/>
              <a:ahLst/>
              <a:cxnLst/>
              <a:rect l="l" t="t" r="r" b="b"/>
              <a:pathLst>
                <a:path w="9525" h="3143250">
                  <a:moveTo>
                    <a:pt x="0" y="0"/>
                  </a:moveTo>
                  <a:lnTo>
                    <a:pt x="0" y="3143250"/>
                  </a:lnTo>
                </a:path>
              </a:pathLst>
            </a:custGeom>
            <a:noFill/>
            <a:ln w="14288">
              <a:solidFill>
                <a:srgbClr val="CBD2DC"/>
              </a:solidFill>
            </a:ln>
          </p:spPr>
        </p:sp>
        <p:sp>
          <p:nvSpPr>
            <p:cNvPr id="13" name="Line 13"/>
            <p:cNvSpPr/>
            <p:nvPr/>
          </p:nvSpPr>
          <p:spPr>
            <a:xfrm>
              <a:off x="8858250" y="1905000"/>
              <a:ext cx="9525" cy="3143250"/>
            </a:xfrm>
            <a:custGeom>
              <a:avLst/>
              <a:gdLst/>
              <a:ahLst/>
              <a:cxnLst/>
              <a:rect l="l" t="t" r="r" b="b"/>
              <a:pathLst>
                <a:path w="9525" h="3143250">
                  <a:moveTo>
                    <a:pt x="0" y="0"/>
                  </a:moveTo>
                  <a:lnTo>
                    <a:pt x="0" y="3143250"/>
                  </a:lnTo>
                </a:path>
              </a:pathLst>
            </a:custGeom>
            <a:noFill/>
            <a:ln w="14288">
              <a:solidFill>
                <a:srgbClr val="CBD2DC"/>
              </a:solidFill>
            </a:ln>
          </p:spPr>
        </p:sp>
        <p:sp>
          <p:nvSpPr>
            <p:cNvPr id="14" name="Line 14"/>
            <p:cNvSpPr/>
            <p:nvPr/>
          </p:nvSpPr>
          <p:spPr>
            <a:xfrm>
              <a:off x="10096500" y="1905000"/>
              <a:ext cx="9525" cy="3143250"/>
            </a:xfrm>
            <a:custGeom>
              <a:avLst/>
              <a:gdLst/>
              <a:ahLst/>
              <a:cxnLst/>
              <a:rect l="l" t="t" r="r" b="b"/>
              <a:pathLst>
                <a:path w="9525" h="3143250">
                  <a:moveTo>
                    <a:pt x="0" y="0"/>
                  </a:moveTo>
                  <a:lnTo>
                    <a:pt x="0" y="3143250"/>
                  </a:lnTo>
                </a:path>
              </a:pathLst>
            </a:custGeom>
            <a:noFill/>
            <a:ln w="14288">
              <a:solidFill>
                <a:srgbClr val="CBD2DC"/>
              </a:solidFill>
            </a:ln>
          </p:spPr>
        </p:sp>
        <p:sp>
          <p:nvSpPr>
            <p:cNvPr id="15" name="Line 15"/>
            <p:cNvSpPr/>
            <p:nvPr/>
          </p:nvSpPr>
          <p:spPr>
            <a:xfrm>
              <a:off x="533400" y="2686050"/>
              <a:ext cx="11125200" cy="9525"/>
            </a:xfrm>
            <a:custGeom>
              <a:avLst/>
              <a:gdLst/>
              <a:ahLst/>
              <a:cxnLst/>
              <a:rect l="l" t="t" r="r" b="b"/>
              <a:pathLst>
                <a:path w="11125200" h="9525">
                  <a:moveTo>
                    <a:pt x="0" y="0"/>
                  </a:moveTo>
                  <a:lnTo>
                    <a:pt x="11125200" y="0"/>
                  </a:lnTo>
                </a:path>
              </a:pathLst>
            </a:custGeom>
            <a:noFill/>
            <a:ln w="14288">
              <a:solidFill>
                <a:srgbClr val="CBD2DC"/>
              </a:solidFill>
            </a:ln>
          </p:spPr>
        </p:sp>
        <p:sp>
          <p:nvSpPr>
            <p:cNvPr id="16" name="Line 16"/>
            <p:cNvSpPr/>
            <p:nvPr/>
          </p:nvSpPr>
          <p:spPr>
            <a:xfrm>
              <a:off x="533400" y="3467100"/>
              <a:ext cx="11125200" cy="9525"/>
            </a:xfrm>
            <a:custGeom>
              <a:avLst/>
              <a:gdLst/>
              <a:ahLst/>
              <a:cxnLst/>
              <a:rect l="l" t="t" r="r" b="b"/>
              <a:pathLst>
                <a:path w="11125200" h="9525">
                  <a:moveTo>
                    <a:pt x="0" y="0"/>
                  </a:moveTo>
                  <a:lnTo>
                    <a:pt x="11125200" y="0"/>
                  </a:lnTo>
                </a:path>
              </a:pathLst>
            </a:custGeom>
            <a:noFill/>
            <a:ln w="14288">
              <a:solidFill>
                <a:srgbClr val="CBD2DC"/>
              </a:solidFill>
            </a:ln>
          </p:spPr>
        </p:sp>
        <p:sp>
          <p:nvSpPr>
            <p:cNvPr id="17" name="Line 17"/>
            <p:cNvSpPr/>
            <p:nvPr/>
          </p:nvSpPr>
          <p:spPr>
            <a:xfrm>
              <a:off x="533400" y="4248150"/>
              <a:ext cx="11125200" cy="9525"/>
            </a:xfrm>
            <a:custGeom>
              <a:avLst/>
              <a:gdLst/>
              <a:ahLst/>
              <a:cxnLst/>
              <a:rect l="l" t="t" r="r" b="b"/>
              <a:pathLst>
                <a:path w="11125200" h="9525">
                  <a:moveTo>
                    <a:pt x="0" y="0"/>
                  </a:moveTo>
                  <a:lnTo>
                    <a:pt x="11125200" y="0"/>
                  </a:lnTo>
                </a:path>
              </a:pathLst>
            </a:custGeom>
            <a:noFill/>
            <a:ln w="14288">
              <a:solidFill>
                <a:srgbClr val="CBD2DC"/>
              </a:solidFill>
            </a:ln>
          </p:spPr>
        </p:sp>
        <p:grpSp>
          <p:nvGrpSpPr>
            <p:cNvPr id="23" name="Group 23"/>
            <p:cNvGrpSpPr/>
            <p:nvPr/>
          </p:nvGrpSpPr>
          <p:grpSpPr>
            <a:xfrm>
              <a:off x="533400" y="2066925"/>
              <a:ext cx="11125200" cy="2990850"/>
              <a:chOff x="533400" y="2066925"/>
              <a:chExt cx="11125200" cy="2990850"/>
            </a:xfrm>
          </p:grpSpPr>
          <p:sp>
            <p:nvSpPr>
              <p:cNvPr id="18" name="Line 18"/>
              <p:cNvSpPr/>
              <p:nvPr/>
            </p:nvSpPr>
            <p:spPr>
              <a:xfrm>
                <a:off x="533400" y="5048250"/>
                <a:ext cx="11125200" cy="9525"/>
              </a:xfrm>
              <a:custGeom>
                <a:avLst/>
                <a:gdLst/>
                <a:ahLst/>
                <a:cxnLst/>
                <a:rect l="l" t="t" r="r" b="b"/>
                <a:pathLst>
                  <a:path w="11125200" h="9525">
                    <a:moveTo>
                      <a:pt x="0" y="0"/>
                    </a:moveTo>
                    <a:lnTo>
                      <a:pt x="11125200" y="0"/>
                    </a:lnTo>
                  </a:path>
                </a:pathLst>
              </a:custGeom>
              <a:noFill/>
              <a:ln w="14288">
                <a:solidFill>
                  <a:srgbClr val="CBD2DC"/>
                </a:solidFill>
              </a:ln>
            </p:spPr>
          </p:sp>
          <p:sp>
            <p:nvSpPr>
              <p:cNvPr id="19" name="Rectangle 19"/>
              <p:cNvSpPr/>
              <p:nvPr/>
            </p:nvSpPr>
            <p:spPr>
              <a:xfrm>
                <a:off x="704850" y="2066925"/>
                <a:ext cx="1981200" cy="457200"/>
              </a:xfrm>
              <a:prstGeom prst="roundRect">
                <a:avLst>
                  <a:gd name="adj" fmla="val 16667"/>
                </a:avLst>
              </a:prstGeom>
              <a:solidFill>
                <a:srgbClr val="E8F0FF"/>
              </a:solidFill>
              <a:ln>
                <a:noFill/>
              </a:ln>
            </p:spPr>
          </p:sp>
          <p:sp>
            <p:nvSpPr>
              <p:cNvPr id="20" name="Rectangle 20"/>
              <p:cNvSpPr/>
              <p:nvPr/>
            </p:nvSpPr>
            <p:spPr>
              <a:xfrm>
                <a:off x="704850" y="2847975"/>
                <a:ext cx="1981200" cy="457200"/>
              </a:xfrm>
              <a:prstGeom prst="roundRect">
                <a:avLst>
                  <a:gd name="adj" fmla="val 16667"/>
                </a:avLst>
              </a:prstGeom>
              <a:solidFill>
                <a:srgbClr val="F1ECFA"/>
              </a:solidFill>
              <a:ln>
                <a:noFill/>
              </a:ln>
            </p:spPr>
          </p:sp>
          <p:sp>
            <p:nvSpPr>
              <p:cNvPr id="21" name="Rectangle 21"/>
              <p:cNvSpPr/>
              <p:nvPr/>
            </p:nvSpPr>
            <p:spPr>
              <a:xfrm>
                <a:off x="704850" y="3629025"/>
                <a:ext cx="1981200" cy="457200"/>
              </a:xfrm>
              <a:prstGeom prst="roundRect">
                <a:avLst>
                  <a:gd name="adj" fmla="val 16667"/>
                </a:avLst>
              </a:prstGeom>
              <a:solidFill>
                <a:srgbClr val="F1ECFA"/>
              </a:solidFill>
              <a:ln>
                <a:noFill/>
              </a:ln>
            </p:spPr>
          </p:sp>
          <p:sp>
            <p:nvSpPr>
              <p:cNvPr id="22" name="Rectangle 22"/>
              <p:cNvSpPr/>
              <p:nvPr/>
            </p:nvSpPr>
            <p:spPr>
              <a:xfrm>
                <a:off x="704850" y="4410075"/>
                <a:ext cx="1981200" cy="457200"/>
              </a:xfrm>
              <a:prstGeom prst="roundRect">
                <a:avLst>
                  <a:gd name="adj" fmla="val 16667"/>
                </a:avLst>
              </a:prstGeom>
              <a:solidFill>
                <a:schemeClr val="accent5"/>
              </a:solidFill>
              <a:ln>
                <a:noFill/>
              </a:ln>
            </p:spPr>
          </p:sp>
        </p:grpSp>
        <p:sp>
          <p:nvSpPr>
            <p:cNvPr id="24" name="TextBox 24"/>
            <p:cNvSpPr txBox="1"/>
            <p:nvPr/>
          </p:nvSpPr>
          <p:spPr>
            <a:xfrm>
              <a:off x="736092" y="1540192"/>
              <a:ext cx="1606555" cy="264033"/>
            </a:xfrm>
            <a:prstGeom prst="rect">
              <a:avLst/>
            </a:prstGeom>
            <a:noFill/>
            <a:ln>
              <a:noFill/>
            </a:ln>
          </p:spPr>
          <p:txBody>
            <a:bodyPr wrap="none" lIns="0" tIns="0" rIns="0" bIns="0" anchor="t" anchorCtr="0">
              <a:spAutoFit/>
            </a:bodyPr>
            <a:lstStyle/>
            <a:p>
              <a:pPr algn="l"/>
              <a:r>
                <a:rPr lang="en-US" sz="1350" b="1" dirty="0">
                  <a:solidFill>
                    <a:srgbClr val="FFFFFF"/>
                  </a:solidFill>
                  <a:latin typeface="+mn-lt"/>
                  <a:ea typeface="+mn-ea"/>
                  <a:cs typeface="+mn-cs"/>
                </a:rPr>
                <a:t>TOOL / EVIDENCE</a:t>
              </a:r>
            </a:p>
          </p:txBody>
        </p:sp>
        <p:sp>
          <p:nvSpPr>
            <p:cNvPr id="25" name="TextBox 25"/>
            <p:cNvSpPr txBox="1"/>
            <p:nvPr/>
          </p:nvSpPr>
          <p:spPr>
            <a:xfrm>
              <a:off x="3233379" y="1540192"/>
              <a:ext cx="295991"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FCI</a:t>
              </a:r>
            </a:p>
          </p:txBody>
        </p:sp>
        <p:sp>
          <p:nvSpPr>
            <p:cNvPr id="26" name="TextBox 26"/>
            <p:cNvSpPr txBox="1"/>
            <p:nvPr/>
          </p:nvSpPr>
          <p:spPr>
            <a:xfrm>
              <a:off x="3981450" y="1457325"/>
              <a:ext cx="895350" cy="285750"/>
            </a:xfrm>
            <a:prstGeom prst="rect">
              <a:avLst/>
            </a:prstGeom>
            <a:noFill/>
            <a:ln>
              <a:noFill/>
            </a:ln>
          </p:spPr>
          <p:txBody>
            <a:bodyPr wrap="square" lIns="0" tIns="99060" rIns="0" bIns="0" anchor="t" anchorCtr="0">
              <a:noAutofit/>
            </a:bodyPr>
            <a:lstStyle/>
            <a:p>
              <a:pPr algn="ctr"/>
              <a:r>
                <a:rPr lang="en-US" sz="1200" b="1" dirty="0">
                  <a:solidFill>
                    <a:srgbClr val="FFFFFF"/>
                  </a:solidFill>
                  <a:latin typeface="+mn-lt"/>
                  <a:ea typeface="+mn-ea"/>
                  <a:cs typeface="+mn-cs"/>
                </a:rPr>
                <a:t>FCI Plus</a:t>
              </a:r>
            </a:p>
          </p:txBody>
        </p:sp>
        <p:sp>
          <p:nvSpPr>
            <p:cNvPr id="27" name="TextBox 27"/>
            <p:cNvSpPr txBox="1"/>
            <p:nvPr/>
          </p:nvSpPr>
          <p:spPr>
            <a:xfrm>
              <a:off x="5029200" y="1457325"/>
              <a:ext cx="1085850" cy="285750"/>
            </a:xfrm>
            <a:prstGeom prst="rect">
              <a:avLst/>
            </a:prstGeom>
            <a:noFill/>
            <a:ln>
              <a:noFill/>
            </a:ln>
          </p:spPr>
          <p:txBody>
            <a:bodyPr wrap="square" lIns="0" tIns="90964" rIns="0" bIns="0" anchor="t" anchorCtr="0">
              <a:noAutofit/>
            </a:bodyPr>
            <a:lstStyle/>
            <a:p>
              <a:pPr algn="ctr"/>
              <a:r>
                <a:rPr lang="en-US" sz="1280" b="1" dirty="0">
                  <a:solidFill>
                    <a:srgbClr val="FFFFFF"/>
                  </a:solidFill>
                  <a:latin typeface="+mn-lt"/>
                  <a:ea typeface="+mn-ea"/>
                  <a:cs typeface="+mn-cs"/>
                </a:rPr>
                <a:t>CI TRACE</a:t>
              </a:r>
            </a:p>
          </p:txBody>
        </p:sp>
        <p:sp>
          <p:nvSpPr>
            <p:cNvPr id="28" name="TextBox 28"/>
            <p:cNvSpPr txBox="1"/>
            <p:nvPr/>
          </p:nvSpPr>
          <p:spPr>
            <a:xfrm>
              <a:off x="6267450" y="1457325"/>
              <a:ext cx="1181100" cy="285750"/>
            </a:xfrm>
            <a:prstGeom prst="rect">
              <a:avLst/>
            </a:prstGeom>
            <a:noFill/>
            <a:ln>
              <a:noFill/>
            </a:ln>
          </p:spPr>
          <p:txBody>
            <a:bodyPr wrap="square" lIns="0" tIns="90964" rIns="0" bIns="0" anchor="t" anchorCtr="0">
              <a:noAutofit/>
            </a:bodyPr>
            <a:lstStyle/>
            <a:p>
              <a:pPr algn="ctr"/>
              <a:r>
                <a:rPr lang="en-US" sz="1280" b="1" dirty="0">
                  <a:solidFill>
                    <a:srgbClr val="FFFFFF"/>
                  </a:solidFill>
                  <a:latin typeface="+mn-lt"/>
                  <a:ea typeface="+mn-ea"/>
                  <a:cs typeface="+mn-cs"/>
                </a:rPr>
                <a:t>ORDER AUDIT</a:t>
              </a:r>
            </a:p>
          </p:txBody>
        </p:sp>
        <p:sp>
          <p:nvSpPr>
            <p:cNvPr id="29" name="TextBox 29"/>
            <p:cNvSpPr txBox="1"/>
            <p:nvPr/>
          </p:nvSpPr>
          <p:spPr>
            <a:xfrm>
              <a:off x="7645295" y="1540192"/>
              <a:ext cx="1092411"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BOOTSTRAP</a:t>
              </a:r>
            </a:p>
          </p:txBody>
        </p:sp>
        <p:sp>
          <p:nvSpPr>
            <p:cNvPr id="30" name="TextBox 30"/>
            <p:cNvSpPr txBox="1"/>
            <p:nvPr/>
          </p:nvSpPr>
          <p:spPr>
            <a:xfrm>
              <a:off x="9117673" y="1540192"/>
              <a:ext cx="7194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EXPORT</a:t>
              </a:r>
            </a:p>
          </p:txBody>
        </p:sp>
        <p:sp>
          <p:nvSpPr>
            <p:cNvPr id="31" name="TextBox 31"/>
            <p:cNvSpPr txBox="1"/>
            <p:nvPr/>
          </p:nvSpPr>
          <p:spPr>
            <a:xfrm>
              <a:off x="10538010" y="1540192"/>
              <a:ext cx="67907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STATUS</a:t>
              </a:r>
            </a:p>
          </p:txBody>
        </p:sp>
        <p:sp>
          <p:nvSpPr>
            <p:cNvPr id="32" name="TextBox 32"/>
            <p:cNvSpPr txBox="1"/>
            <p:nvPr/>
          </p:nvSpPr>
          <p:spPr>
            <a:xfrm>
              <a:off x="867156" y="2158365"/>
              <a:ext cx="2066464" cy="352044"/>
            </a:xfrm>
            <a:prstGeom prst="rect">
              <a:avLst/>
            </a:prstGeom>
            <a:noFill/>
            <a:ln>
              <a:noFill/>
            </a:ln>
          </p:spPr>
          <p:txBody>
            <a:bodyPr wrap="none" lIns="0" tIns="0" rIns="0" bIns="0" anchor="t" anchorCtr="0">
              <a:spAutoFit/>
            </a:bodyPr>
            <a:lstStyle/>
            <a:p>
              <a:pPr algn="l"/>
              <a:r>
                <a:rPr lang="en-US" sz="1800" b="1" dirty="0">
                  <a:solidFill>
                    <a:schemeClr val="accent2"/>
                  </a:solidFill>
                  <a:latin typeface="+mn-lt"/>
                  <a:ea typeface="+mn-ea"/>
                  <a:cs typeface="+mn-cs"/>
                </a:rPr>
                <a:t>fci_engine 0.1.0</a:t>
              </a:r>
            </a:p>
          </p:txBody>
        </p:sp>
        <p:sp>
          <p:nvSpPr>
            <p:cNvPr id="33" name="TextBox 33"/>
            <p:cNvSpPr txBox="1"/>
            <p:nvPr/>
          </p:nvSpPr>
          <p:spPr>
            <a:xfrm>
              <a:off x="867156" y="2939415"/>
              <a:ext cx="1570322" cy="352044"/>
            </a:xfrm>
            <a:prstGeom prst="rect">
              <a:avLst/>
            </a:prstGeom>
            <a:noFill/>
            <a:ln>
              <a:noFill/>
            </a:ln>
          </p:spPr>
          <p:txBody>
            <a:bodyPr wrap="none" lIns="0" tIns="0" rIns="0" bIns="0" anchor="t" anchorCtr="0">
              <a:spAutoFit/>
            </a:bodyPr>
            <a:lstStyle/>
            <a:p>
              <a:pPr algn="l"/>
              <a:r>
                <a:rPr lang="en-US" sz="1800" b="1" dirty="0">
                  <a:solidFill>
                    <a:srgbClr val="7562A8"/>
                  </a:solidFill>
                  <a:latin typeface="+mn-lt"/>
                  <a:ea typeface="+mn-ea"/>
                  <a:cs typeface="+mn-cs"/>
                </a:rPr>
                <a:t>pcalg 2.7-12</a:t>
              </a:r>
            </a:p>
          </p:txBody>
        </p:sp>
        <p:sp>
          <p:nvSpPr>
            <p:cNvPr id="34" name="TextBox 34"/>
            <p:cNvSpPr txBox="1"/>
            <p:nvPr/>
          </p:nvSpPr>
          <p:spPr>
            <a:xfrm>
              <a:off x="869442" y="3673792"/>
              <a:ext cx="1177741" cy="264033"/>
            </a:xfrm>
            <a:prstGeom prst="rect">
              <a:avLst/>
            </a:prstGeom>
            <a:noFill/>
            <a:ln>
              <a:noFill/>
            </a:ln>
          </p:spPr>
          <p:txBody>
            <a:bodyPr wrap="none" lIns="0" tIns="0" rIns="0" bIns="0" anchor="t" anchorCtr="0">
              <a:spAutoFit/>
            </a:bodyPr>
            <a:lstStyle/>
            <a:p>
              <a:pPr algn="l"/>
              <a:r>
                <a:rPr lang="en-US" sz="1350" b="1" dirty="0">
                  <a:solidFill>
                    <a:srgbClr val="7562A8"/>
                  </a:solidFill>
                  <a:latin typeface="+mn-lt"/>
                  <a:ea typeface="+mn-ea"/>
                  <a:cs typeface="+mn-cs"/>
                </a:rPr>
                <a:t>causal-learn</a:t>
              </a:r>
            </a:p>
          </p:txBody>
        </p:sp>
        <p:sp>
          <p:nvSpPr>
            <p:cNvPr id="35" name="TextBox 35"/>
            <p:cNvSpPr txBox="1"/>
            <p:nvPr/>
          </p:nvSpPr>
          <p:spPr>
            <a:xfrm>
              <a:off x="869442" y="3873818"/>
              <a:ext cx="748388" cy="264033"/>
            </a:xfrm>
            <a:prstGeom prst="rect">
              <a:avLst/>
            </a:prstGeom>
            <a:noFill/>
            <a:ln>
              <a:noFill/>
            </a:ln>
          </p:spPr>
          <p:txBody>
            <a:bodyPr wrap="none" lIns="0" tIns="0" rIns="0" bIns="0" anchor="t" anchorCtr="0">
              <a:spAutoFit/>
            </a:bodyPr>
            <a:lstStyle/>
            <a:p>
              <a:pPr algn="l"/>
              <a:r>
                <a:rPr lang="en-US" sz="1350" b="1" dirty="0">
                  <a:solidFill>
                    <a:srgbClr val="7562A8"/>
                  </a:solidFill>
                  <a:latin typeface="+mn-lt"/>
                  <a:ea typeface="+mn-ea"/>
                  <a:cs typeface="+mn-cs"/>
                </a:rPr>
                <a:t>0.1.4.7</a:t>
              </a:r>
            </a:p>
          </p:txBody>
        </p:sp>
        <p:sp>
          <p:nvSpPr>
            <p:cNvPr id="36" name="TextBox 36"/>
            <p:cNvSpPr txBox="1"/>
            <p:nvPr/>
          </p:nvSpPr>
          <p:spPr>
            <a:xfrm>
              <a:off x="867156" y="4501515"/>
              <a:ext cx="1790429" cy="352044"/>
            </a:xfrm>
            <a:prstGeom prst="rect">
              <a:avLst/>
            </a:prstGeom>
            <a:noFill/>
            <a:ln>
              <a:noFill/>
            </a:ln>
          </p:spPr>
          <p:txBody>
            <a:bodyPr wrap="none" lIns="0" tIns="0" rIns="0" bIns="0" anchor="t" anchorCtr="0">
              <a:spAutoFit/>
            </a:bodyPr>
            <a:lstStyle/>
            <a:p>
              <a:pPr algn="l"/>
              <a:r>
                <a:rPr lang="en-US" sz="1800" b="1" dirty="0">
                  <a:solidFill>
                    <a:srgbClr val="5F6875"/>
                  </a:solidFill>
                  <a:latin typeface="+mn-lt"/>
                  <a:ea typeface="+mn-ea"/>
                  <a:cs typeface="+mn-cs"/>
                </a:rPr>
                <a:t>Tetrad 7.6.10</a:t>
              </a:r>
            </a:p>
          </p:txBody>
        </p:sp>
        <p:sp>
          <p:nvSpPr>
            <p:cNvPr id="37" name="TextBox 37"/>
            <p:cNvSpPr txBox="1"/>
            <p:nvPr/>
          </p:nvSpPr>
          <p:spPr>
            <a:xfrm>
              <a:off x="3150443" y="2186940"/>
              <a:ext cx="461863" cy="352044"/>
            </a:xfrm>
            <a:prstGeom prst="rect">
              <a:avLst/>
            </a:prstGeom>
            <a:noFill/>
            <a:ln>
              <a:noFill/>
            </a:ln>
          </p:spPr>
          <p:txBody>
            <a:bodyPr wrap="none" lIns="0" tIns="0" rIns="0" bIns="0" anchor="t" anchorCtr="0">
              <a:spAutoFit/>
            </a:bodyPr>
            <a:lstStyle/>
            <a:p>
              <a:pPr algn="ctr"/>
              <a:r>
                <a:rPr lang="en-US" sz="1800" b="1" dirty="0">
                  <a:solidFill>
                    <a:srgbClr val="2E7D5B"/>
                  </a:solidFill>
                  <a:latin typeface="+mn-lt"/>
                  <a:ea typeface="+mn-ea"/>
                  <a:cs typeface="+mn-cs"/>
                </a:rPr>
                <a:t>YES</a:t>
              </a:r>
            </a:p>
          </p:txBody>
        </p:sp>
        <p:sp>
          <p:nvSpPr>
            <p:cNvPr id="38" name="TextBox 38"/>
            <p:cNvSpPr txBox="1"/>
            <p:nvPr/>
          </p:nvSpPr>
          <p:spPr>
            <a:xfrm>
              <a:off x="4198193" y="2186940"/>
              <a:ext cx="461863" cy="352044"/>
            </a:xfrm>
            <a:prstGeom prst="rect">
              <a:avLst/>
            </a:prstGeom>
            <a:noFill/>
            <a:ln>
              <a:noFill/>
            </a:ln>
          </p:spPr>
          <p:txBody>
            <a:bodyPr wrap="none" lIns="0" tIns="0" rIns="0" bIns="0" anchor="t" anchorCtr="0">
              <a:spAutoFit/>
            </a:bodyPr>
            <a:lstStyle/>
            <a:p>
              <a:pPr algn="ctr"/>
              <a:r>
                <a:rPr lang="en-US" sz="1800" b="1" dirty="0">
                  <a:solidFill>
                    <a:srgbClr val="2E7D5B"/>
                  </a:solidFill>
                  <a:latin typeface="+mn-lt"/>
                  <a:ea typeface="+mn-ea"/>
                  <a:cs typeface="+mn-cs"/>
                </a:rPr>
                <a:t>YES</a:t>
              </a:r>
            </a:p>
          </p:txBody>
        </p:sp>
        <p:sp>
          <p:nvSpPr>
            <p:cNvPr id="39" name="TextBox 39"/>
            <p:cNvSpPr txBox="1"/>
            <p:nvPr/>
          </p:nvSpPr>
          <p:spPr>
            <a:xfrm>
              <a:off x="4981432" y="2219325"/>
              <a:ext cx="1181386" cy="293370"/>
            </a:xfrm>
            <a:prstGeom prst="rect">
              <a:avLst/>
            </a:prstGeom>
            <a:noFill/>
            <a:ln>
              <a:noFill/>
            </a:ln>
          </p:spPr>
          <p:txBody>
            <a:bodyPr wrap="none" lIns="0" tIns="0" rIns="0" bIns="0" anchor="t" anchorCtr="0">
              <a:spAutoFit/>
            </a:bodyPr>
            <a:lstStyle/>
            <a:p>
              <a:pPr algn="ctr"/>
              <a:r>
                <a:rPr lang="en-US" sz="1500" b="1" dirty="0">
                  <a:solidFill>
                    <a:srgbClr val="2E7D5B"/>
                  </a:solidFill>
                  <a:latin typeface="+mn-lt"/>
                  <a:ea typeface="+mn-ea"/>
                  <a:cs typeface="+mn-cs"/>
                </a:rPr>
                <a:t>structured</a:t>
              </a:r>
            </a:p>
          </p:txBody>
        </p:sp>
        <p:sp>
          <p:nvSpPr>
            <p:cNvPr id="40" name="TextBox 40"/>
            <p:cNvSpPr txBox="1"/>
            <p:nvPr/>
          </p:nvSpPr>
          <p:spPr>
            <a:xfrm>
              <a:off x="6489935" y="2219325"/>
              <a:ext cx="736130" cy="293370"/>
            </a:xfrm>
            <a:prstGeom prst="rect">
              <a:avLst/>
            </a:prstGeom>
            <a:noFill/>
            <a:ln>
              <a:noFill/>
            </a:ln>
          </p:spPr>
          <p:txBody>
            <a:bodyPr wrap="none" lIns="0" tIns="0" rIns="0" bIns="0" anchor="t" anchorCtr="0">
              <a:spAutoFit/>
            </a:bodyPr>
            <a:lstStyle/>
            <a:p>
              <a:pPr algn="ctr"/>
              <a:r>
                <a:rPr lang="en-US" sz="1500" b="1" dirty="0">
                  <a:solidFill>
                    <a:srgbClr val="2E7D5B"/>
                  </a:solidFill>
                  <a:latin typeface="+mn-lt"/>
                  <a:ea typeface="+mn-ea"/>
                  <a:cs typeface="+mn-cs"/>
                </a:rPr>
                <a:t>built in</a:t>
              </a:r>
            </a:p>
          </p:txBody>
        </p:sp>
        <p:sp>
          <p:nvSpPr>
            <p:cNvPr id="41" name="TextBox 41"/>
            <p:cNvSpPr txBox="1"/>
            <p:nvPr/>
          </p:nvSpPr>
          <p:spPr>
            <a:xfrm>
              <a:off x="7823435" y="2219325"/>
              <a:ext cx="736130" cy="293370"/>
            </a:xfrm>
            <a:prstGeom prst="rect">
              <a:avLst/>
            </a:prstGeom>
            <a:noFill/>
            <a:ln>
              <a:noFill/>
            </a:ln>
          </p:spPr>
          <p:txBody>
            <a:bodyPr wrap="none" lIns="0" tIns="0" rIns="0" bIns="0" anchor="t" anchorCtr="0">
              <a:spAutoFit/>
            </a:bodyPr>
            <a:lstStyle/>
            <a:p>
              <a:pPr algn="ctr"/>
              <a:r>
                <a:rPr lang="en-US" sz="1500" b="1" dirty="0">
                  <a:solidFill>
                    <a:srgbClr val="2E7D5B"/>
                  </a:solidFill>
                  <a:latin typeface="+mn-lt"/>
                  <a:ea typeface="+mn-ea"/>
                  <a:cs typeface="+mn-cs"/>
                </a:rPr>
                <a:t>built in</a:t>
              </a:r>
            </a:p>
          </p:txBody>
        </p:sp>
        <p:sp>
          <p:nvSpPr>
            <p:cNvPr id="42" name="TextBox 42"/>
            <p:cNvSpPr txBox="1"/>
            <p:nvPr/>
          </p:nvSpPr>
          <p:spPr>
            <a:xfrm>
              <a:off x="8971493" y="2219325"/>
              <a:ext cx="1011765" cy="293370"/>
            </a:xfrm>
            <a:prstGeom prst="rect">
              <a:avLst/>
            </a:prstGeom>
            <a:noFill/>
            <a:ln>
              <a:noFill/>
            </a:ln>
          </p:spPr>
          <p:txBody>
            <a:bodyPr wrap="none" lIns="0" tIns="0" rIns="0" bIns="0" anchor="t" anchorCtr="0">
              <a:spAutoFit/>
            </a:bodyPr>
            <a:lstStyle/>
            <a:p>
              <a:pPr algn="ctr"/>
              <a:r>
                <a:rPr lang="en-US" sz="1500" b="1" dirty="0">
                  <a:solidFill>
                    <a:srgbClr val="2E7D5B"/>
                  </a:solidFill>
                  <a:latin typeface="+mn-lt"/>
                  <a:ea typeface="+mn-ea"/>
                  <a:cs typeface="+mn-cs"/>
                </a:rPr>
                <a:t>artifacts</a:t>
              </a:r>
            </a:p>
          </p:txBody>
        </p:sp>
        <p:sp>
          <p:nvSpPr>
            <p:cNvPr id="43" name="TextBox 43"/>
            <p:cNvSpPr txBox="1"/>
            <p:nvPr/>
          </p:nvSpPr>
          <p:spPr>
            <a:xfrm>
              <a:off x="10191750" y="2171700"/>
              <a:ext cx="1371600" cy="285750"/>
            </a:xfrm>
            <a:prstGeom prst="rect">
              <a:avLst/>
            </a:prstGeom>
            <a:noFill/>
            <a:ln>
              <a:noFill/>
            </a:ln>
          </p:spPr>
          <p:txBody>
            <a:bodyPr wrap="square" lIns="0" tIns="63817" rIns="0" bIns="0" anchor="t" anchorCtr="0">
              <a:noAutofit/>
            </a:bodyPr>
            <a:lstStyle/>
            <a:p>
              <a:pPr algn="ctr"/>
              <a:r>
                <a:rPr lang="en-US" sz="1350" b="1" dirty="0">
                  <a:solidFill>
                    <a:srgbClr val="7562A8"/>
                  </a:solidFill>
                  <a:latin typeface="+mn-lt"/>
                  <a:ea typeface="+mn-ea"/>
                  <a:cs typeface="+mn-cs"/>
                </a:rPr>
                <a:t>RUN</a:t>
              </a:r>
            </a:p>
          </p:txBody>
        </p:sp>
        <p:sp>
          <p:nvSpPr>
            <p:cNvPr id="44" name="TextBox 44"/>
            <p:cNvSpPr txBox="1"/>
            <p:nvPr/>
          </p:nvSpPr>
          <p:spPr>
            <a:xfrm>
              <a:off x="3150443" y="2967990"/>
              <a:ext cx="461863" cy="352044"/>
            </a:xfrm>
            <a:prstGeom prst="rect">
              <a:avLst/>
            </a:prstGeom>
            <a:noFill/>
            <a:ln>
              <a:noFill/>
            </a:ln>
          </p:spPr>
          <p:txBody>
            <a:bodyPr wrap="none" lIns="0" tIns="0" rIns="0" bIns="0" anchor="t" anchorCtr="0">
              <a:spAutoFit/>
            </a:bodyPr>
            <a:lstStyle/>
            <a:p>
              <a:pPr algn="ctr"/>
              <a:r>
                <a:rPr lang="en-US" sz="1800" b="1" dirty="0">
                  <a:solidFill>
                    <a:srgbClr val="2E7D5B"/>
                  </a:solidFill>
                  <a:latin typeface="+mn-lt"/>
                  <a:ea typeface="+mn-ea"/>
                  <a:cs typeface="+mn-cs"/>
                </a:rPr>
                <a:t>YES</a:t>
              </a:r>
            </a:p>
          </p:txBody>
        </p:sp>
        <p:sp>
          <p:nvSpPr>
            <p:cNvPr id="45" name="TextBox 45"/>
            <p:cNvSpPr txBox="1"/>
            <p:nvPr/>
          </p:nvSpPr>
          <p:spPr>
            <a:xfrm>
              <a:off x="4198193" y="2967990"/>
              <a:ext cx="461863" cy="352044"/>
            </a:xfrm>
            <a:prstGeom prst="rect">
              <a:avLst/>
            </a:prstGeom>
            <a:noFill/>
            <a:ln>
              <a:noFill/>
            </a:ln>
          </p:spPr>
          <p:txBody>
            <a:bodyPr wrap="none" lIns="0" tIns="0" rIns="0" bIns="0" anchor="t" anchorCtr="0">
              <a:spAutoFit/>
            </a:bodyPr>
            <a:lstStyle/>
            <a:p>
              <a:pPr algn="ctr"/>
              <a:r>
                <a:rPr lang="en-US" sz="1800" b="1" dirty="0">
                  <a:solidFill>
                    <a:srgbClr val="2E7D5B"/>
                  </a:solidFill>
                  <a:latin typeface="+mn-lt"/>
                  <a:ea typeface="+mn-ea"/>
                  <a:cs typeface="+mn-cs"/>
                </a:rPr>
                <a:t>YES</a:t>
              </a:r>
            </a:p>
          </p:txBody>
        </p:sp>
        <p:sp>
          <p:nvSpPr>
            <p:cNvPr id="46" name="TextBox 46"/>
            <p:cNvSpPr txBox="1"/>
            <p:nvPr/>
          </p:nvSpPr>
          <p:spPr>
            <a:xfrm>
              <a:off x="4883753" y="3016568"/>
              <a:ext cx="1376744" cy="264033"/>
            </a:xfrm>
            <a:prstGeom prst="rect">
              <a:avLst/>
            </a:prstGeom>
            <a:noFill/>
            <a:ln>
              <a:noFill/>
            </a:ln>
          </p:spPr>
          <p:txBody>
            <a:bodyPr wrap="none" lIns="0" tIns="0" rIns="0" bIns="0" anchor="t" anchorCtr="0">
              <a:spAutoFit/>
            </a:bodyPr>
            <a:lstStyle/>
            <a:p>
              <a:pPr algn="ctr"/>
              <a:r>
                <a:rPr lang="en-US" sz="1350" dirty="0">
                  <a:solidFill>
                    <a:srgbClr val="5F6875"/>
                  </a:solidFill>
                  <a:latin typeface="+mn-lt"/>
                  <a:ea typeface="+mn-ea"/>
                  <a:cs typeface="+mn-cs"/>
                </a:rPr>
                <a:t>not established</a:t>
              </a:r>
            </a:p>
          </p:txBody>
        </p:sp>
        <p:sp>
          <p:nvSpPr>
            <p:cNvPr id="47" name="TextBox 47"/>
            <p:cNvSpPr txBox="1"/>
            <p:nvPr/>
          </p:nvSpPr>
          <p:spPr>
            <a:xfrm>
              <a:off x="6546733" y="3016568"/>
              <a:ext cx="622535" cy="264033"/>
            </a:xfrm>
            <a:prstGeom prst="rect">
              <a:avLst/>
            </a:prstGeom>
            <a:noFill/>
            <a:ln>
              <a:noFill/>
            </a:ln>
          </p:spPr>
          <p:txBody>
            <a:bodyPr wrap="none" lIns="0" tIns="0" rIns="0" bIns="0" anchor="t" anchorCtr="0">
              <a:spAutoFit/>
            </a:bodyPr>
            <a:lstStyle/>
            <a:p>
              <a:pPr algn="ctr"/>
              <a:r>
                <a:rPr lang="en-US" sz="1350" dirty="0">
                  <a:solidFill>
                    <a:srgbClr val="5F6875"/>
                  </a:solidFill>
                  <a:latin typeface="+mn-lt"/>
                  <a:ea typeface="+mn-ea"/>
                  <a:cs typeface="+mn-cs"/>
                </a:rPr>
                <a:t>partial</a:t>
              </a:r>
            </a:p>
          </p:txBody>
        </p:sp>
        <p:sp>
          <p:nvSpPr>
            <p:cNvPr id="48" name="TextBox 48"/>
            <p:cNvSpPr txBox="1"/>
            <p:nvPr/>
          </p:nvSpPr>
          <p:spPr>
            <a:xfrm>
              <a:off x="7503128" y="3016568"/>
              <a:ext cx="1376744" cy="264033"/>
            </a:xfrm>
            <a:prstGeom prst="rect">
              <a:avLst/>
            </a:prstGeom>
            <a:noFill/>
            <a:ln>
              <a:noFill/>
            </a:ln>
          </p:spPr>
          <p:txBody>
            <a:bodyPr wrap="none" lIns="0" tIns="0" rIns="0" bIns="0" anchor="t" anchorCtr="0">
              <a:spAutoFit/>
            </a:bodyPr>
            <a:lstStyle/>
            <a:p>
              <a:pPr algn="ctr"/>
              <a:r>
                <a:rPr lang="en-US" sz="1350" dirty="0">
                  <a:solidFill>
                    <a:srgbClr val="5F6875"/>
                  </a:solidFill>
                  <a:latin typeface="+mn-lt"/>
                  <a:ea typeface="+mn-ea"/>
                  <a:cs typeface="+mn-cs"/>
                </a:rPr>
                <a:t>not established</a:t>
              </a:r>
            </a:p>
          </p:txBody>
        </p:sp>
        <p:sp>
          <p:nvSpPr>
            <p:cNvPr id="49" name="TextBox 49"/>
            <p:cNvSpPr txBox="1"/>
            <p:nvPr/>
          </p:nvSpPr>
          <p:spPr>
            <a:xfrm>
              <a:off x="9345701" y="3016568"/>
              <a:ext cx="263347" cy="264033"/>
            </a:xfrm>
            <a:prstGeom prst="rect">
              <a:avLst/>
            </a:prstGeom>
            <a:noFill/>
            <a:ln>
              <a:noFill/>
            </a:ln>
          </p:spPr>
          <p:txBody>
            <a:bodyPr wrap="none" lIns="0" tIns="0" rIns="0" bIns="0" anchor="t" anchorCtr="0">
              <a:spAutoFit/>
            </a:bodyPr>
            <a:lstStyle/>
            <a:p>
              <a:pPr algn="ctr"/>
              <a:r>
                <a:rPr lang="en-US" sz="1350" dirty="0">
                  <a:solidFill>
                    <a:srgbClr val="B45F4A"/>
                  </a:solidFill>
                  <a:latin typeface="+mn-lt"/>
                  <a:ea typeface="+mn-ea"/>
                  <a:cs typeface="+mn-cs"/>
                </a:rPr>
                <a:t>NO</a:t>
              </a:r>
            </a:p>
          </p:txBody>
        </p:sp>
        <p:sp>
          <p:nvSpPr>
            <p:cNvPr id="50" name="TextBox 50"/>
            <p:cNvSpPr txBox="1"/>
            <p:nvPr/>
          </p:nvSpPr>
          <p:spPr>
            <a:xfrm>
              <a:off x="10191750" y="2952750"/>
              <a:ext cx="1371600" cy="285750"/>
            </a:xfrm>
            <a:prstGeom prst="rect">
              <a:avLst/>
            </a:prstGeom>
            <a:noFill/>
            <a:ln>
              <a:noFill/>
            </a:ln>
          </p:spPr>
          <p:txBody>
            <a:bodyPr wrap="square" lIns="0" tIns="63817" rIns="0" bIns="0" anchor="t" anchorCtr="0">
              <a:noAutofit/>
            </a:bodyPr>
            <a:lstStyle/>
            <a:p>
              <a:pPr algn="ctr"/>
              <a:r>
                <a:rPr lang="en-US" sz="1350" b="1" dirty="0">
                  <a:solidFill>
                    <a:srgbClr val="7562A8"/>
                  </a:solidFill>
                  <a:latin typeface="+mn-lt"/>
                  <a:ea typeface="+mn-ea"/>
                  <a:cs typeface="+mn-cs"/>
                </a:rPr>
                <a:t>RUN</a:t>
              </a:r>
            </a:p>
          </p:txBody>
        </p:sp>
        <p:sp>
          <p:nvSpPr>
            <p:cNvPr id="51" name="TextBox 51"/>
            <p:cNvSpPr txBox="1"/>
            <p:nvPr/>
          </p:nvSpPr>
          <p:spPr>
            <a:xfrm>
              <a:off x="3150443" y="3749040"/>
              <a:ext cx="461863" cy="352044"/>
            </a:xfrm>
            <a:prstGeom prst="rect">
              <a:avLst/>
            </a:prstGeom>
            <a:noFill/>
            <a:ln>
              <a:noFill/>
            </a:ln>
          </p:spPr>
          <p:txBody>
            <a:bodyPr wrap="none" lIns="0" tIns="0" rIns="0" bIns="0" anchor="t" anchorCtr="0">
              <a:spAutoFit/>
            </a:bodyPr>
            <a:lstStyle/>
            <a:p>
              <a:pPr algn="ctr"/>
              <a:r>
                <a:rPr lang="en-US" sz="1800" b="1" dirty="0">
                  <a:solidFill>
                    <a:srgbClr val="2E7D5B"/>
                  </a:solidFill>
                  <a:latin typeface="+mn-lt"/>
                  <a:ea typeface="+mn-ea"/>
                  <a:cs typeface="+mn-cs"/>
                </a:rPr>
                <a:t>YES</a:t>
              </a:r>
            </a:p>
          </p:txBody>
        </p:sp>
        <p:sp>
          <p:nvSpPr>
            <p:cNvPr id="52" name="TextBox 52"/>
            <p:cNvSpPr txBox="1"/>
            <p:nvPr/>
          </p:nvSpPr>
          <p:spPr>
            <a:xfrm>
              <a:off x="4245239" y="3749040"/>
              <a:ext cx="367772" cy="352044"/>
            </a:xfrm>
            <a:prstGeom prst="rect">
              <a:avLst/>
            </a:prstGeom>
            <a:noFill/>
            <a:ln>
              <a:noFill/>
            </a:ln>
          </p:spPr>
          <p:txBody>
            <a:bodyPr wrap="none" lIns="0" tIns="0" rIns="0" bIns="0" anchor="t" anchorCtr="0">
              <a:spAutoFit/>
            </a:bodyPr>
            <a:lstStyle/>
            <a:p>
              <a:pPr algn="ctr"/>
              <a:r>
                <a:rPr lang="en-US" sz="1800" b="1" dirty="0">
                  <a:solidFill>
                    <a:srgbClr val="B45F4A"/>
                  </a:solidFill>
                  <a:latin typeface="+mn-lt"/>
                  <a:ea typeface="+mn-ea"/>
                  <a:cs typeface="+mn-cs"/>
                </a:rPr>
                <a:t>NO</a:t>
              </a:r>
            </a:p>
          </p:txBody>
        </p:sp>
        <p:sp>
          <p:nvSpPr>
            <p:cNvPr id="53" name="TextBox 53"/>
            <p:cNvSpPr txBox="1"/>
            <p:nvPr/>
          </p:nvSpPr>
          <p:spPr>
            <a:xfrm>
              <a:off x="4988252" y="3797618"/>
              <a:ext cx="1167746" cy="264033"/>
            </a:xfrm>
            <a:prstGeom prst="rect">
              <a:avLst/>
            </a:prstGeom>
            <a:noFill/>
            <a:ln>
              <a:noFill/>
            </a:ln>
          </p:spPr>
          <p:txBody>
            <a:bodyPr wrap="none" lIns="0" tIns="0" rIns="0" bIns="0" anchor="t" anchorCtr="0">
              <a:spAutoFit/>
            </a:bodyPr>
            <a:lstStyle/>
            <a:p>
              <a:pPr algn="ctr"/>
              <a:r>
                <a:rPr lang="en-US" sz="1350" dirty="0">
                  <a:solidFill>
                    <a:srgbClr val="B45F4A"/>
                  </a:solidFill>
                  <a:latin typeface="+mn-lt"/>
                  <a:ea typeface="+mn-ea"/>
                  <a:cs typeface="+mn-cs"/>
                </a:rPr>
                <a:t>not exported</a:t>
              </a:r>
            </a:p>
          </p:txBody>
        </p:sp>
        <p:sp>
          <p:nvSpPr>
            <p:cNvPr id="54" name="TextBox 54"/>
            <p:cNvSpPr txBox="1"/>
            <p:nvPr/>
          </p:nvSpPr>
          <p:spPr>
            <a:xfrm>
              <a:off x="6169628" y="3797618"/>
              <a:ext cx="1376744" cy="264033"/>
            </a:xfrm>
            <a:prstGeom prst="rect">
              <a:avLst/>
            </a:prstGeom>
            <a:noFill/>
            <a:ln>
              <a:noFill/>
            </a:ln>
          </p:spPr>
          <p:txBody>
            <a:bodyPr wrap="none" lIns="0" tIns="0" rIns="0" bIns="0" anchor="t" anchorCtr="0">
              <a:spAutoFit/>
            </a:bodyPr>
            <a:lstStyle/>
            <a:p>
              <a:pPr algn="ctr"/>
              <a:r>
                <a:rPr lang="en-US" sz="1350" dirty="0">
                  <a:solidFill>
                    <a:srgbClr val="5F6875"/>
                  </a:solidFill>
                  <a:latin typeface="+mn-lt"/>
                  <a:ea typeface="+mn-ea"/>
                  <a:cs typeface="+mn-cs"/>
                </a:rPr>
                <a:t>not established</a:t>
              </a:r>
            </a:p>
          </p:txBody>
        </p:sp>
        <p:sp>
          <p:nvSpPr>
            <p:cNvPr id="55" name="TextBox 55"/>
            <p:cNvSpPr txBox="1"/>
            <p:nvPr/>
          </p:nvSpPr>
          <p:spPr>
            <a:xfrm>
              <a:off x="7503128" y="3797618"/>
              <a:ext cx="1376744" cy="264033"/>
            </a:xfrm>
            <a:prstGeom prst="rect">
              <a:avLst/>
            </a:prstGeom>
            <a:noFill/>
            <a:ln>
              <a:noFill/>
            </a:ln>
          </p:spPr>
          <p:txBody>
            <a:bodyPr wrap="none" lIns="0" tIns="0" rIns="0" bIns="0" anchor="t" anchorCtr="0">
              <a:spAutoFit/>
            </a:bodyPr>
            <a:lstStyle/>
            <a:p>
              <a:pPr algn="ctr"/>
              <a:r>
                <a:rPr lang="en-US" sz="1350" dirty="0">
                  <a:solidFill>
                    <a:srgbClr val="5F6875"/>
                  </a:solidFill>
                  <a:latin typeface="+mn-lt"/>
                  <a:ea typeface="+mn-ea"/>
                  <a:cs typeface="+mn-cs"/>
                </a:rPr>
                <a:t>not established</a:t>
              </a:r>
            </a:p>
          </p:txBody>
        </p:sp>
        <p:sp>
          <p:nvSpPr>
            <p:cNvPr id="56" name="TextBox 56"/>
            <p:cNvSpPr txBox="1"/>
            <p:nvPr/>
          </p:nvSpPr>
          <p:spPr>
            <a:xfrm>
              <a:off x="9345701" y="3797618"/>
              <a:ext cx="263347" cy="264033"/>
            </a:xfrm>
            <a:prstGeom prst="rect">
              <a:avLst/>
            </a:prstGeom>
            <a:noFill/>
            <a:ln>
              <a:noFill/>
            </a:ln>
          </p:spPr>
          <p:txBody>
            <a:bodyPr wrap="none" lIns="0" tIns="0" rIns="0" bIns="0" anchor="t" anchorCtr="0">
              <a:spAutoFit/>
            </a:bodyPr>
            <a:lstStyle/>
            <a:p>
              <a:pPr algn="ctr"/>
              <a:r>
                <a:rPr lang="en-US" sz="1350" dirty="0">
                  <a:solidFill>
                    <a:srgbClr val="B45F4A"/>
                  </a:solidFill>
                  <a:latin typeface="+mn-lt"/>
                  <a:ea typeface="+mn-ea"/>
                  <a:cs typeface="+mn-cs"/>
                </a:rPr>
                <a:t>NO</a:t>
              </a:r>
            </a:p>
          </p:txBody>
        </p:sp>
        <p:sp>
          <p:nvSpPr>
            <p:cNvPr id="57" name="TextBox 57"/>
            <p:cNvSpPr txBox="1"/>
            <p:nvPr/>
          </p:nvSpPr>
          <p:spPr>
            <a:xfrm>
              <a:off x="10191750" y="3733800"/>
              <a:ext cx="1371600" cy="285750"/>
            </a:xfrm>
            <a:prstGeom prst="rect">
              <a:avLst/>
            </a:prstGeom>
            <a:noFill/>
            <a:ln>
              <a:noFill/>
            </a:ln>
          </p:spPr>
          <p:txBody>
            <a:bodyPr wrap="square" lIns="0" tIns="63817" rIns="0" bIns="0" anchor="t" anchorCtr="0">
              <a:noAutofit/>
            </a:bodyPr>
            <a:lstStyle/>
            <a:p>
              <a:pPr algn="ctr"/>
              <a:r>
                <a:rPr lang="en-US" sz="1350" b="1" dirty="0">
                  <a:solidFill>
                    <a:srgbClr val="7562A8"/>
                  </a:solidFill>
                  <a:latin typeface="+mn-lt"/>
                  <a:ea typeface="+mn-ea"/>
                  <a:cs typeface="+mn-cs"/>
                </a:rPr>
                <a:t>RUN</a:t>
              </a:r>
            </a:p>
          </p:txBody>
        </p:sp>
        <p:sp>
          <p:nvSpPr>
            <p:cNvPr id="58" name="TextBox 58"/>
            <p:cNvSpPr txBox="1"/>
            <p:nvPr/>
          </p:nvSpPr>
          <p:spPr>
            <a:xfrm>
              <a:off x="3150443" y="4530090"/>
              <a:ext cx="461863" cy="352044"/>
            </a:xfrm>
            <a:prstGeom prst="rect">
              <a:avLst/>
            </a:prstGeom>
            <a:noFill/>
            <a:ln>
              <a:noFill/>
            </a:ln>
          </p:spPr>
          <p:txBody>
            <a:bodyPr wrap="none" lIns="0" tIns="0" rIns="0" bIns="0" anchor="t" anchorCtr="0">
              <a:spAutoFit/>
            </a:bodyPr>
            <a:lstStyle/>
            <a:p>
              <a:pPr algn="ctr"/>
              <a:r>
                <a:rPr lang="en-US" sz="1800" b="1" dirty="0">
                  <a:solidFill>
                    <a:srgbClr val="2E7D5B"/>
                  </a:solidFill>
                  <a:latin typeface="+mn-lt"/>
                  <a:ea typeface="+mn-ea"/>
                  <a:cs typeface="+mn-cs"/>
                </a:rPr>
                <a:t>YES</a:t>
              </a:r>
            </a:p>
          </p:txBody>
        </p:sp>
        <p:sp>
          <p:nvSpPr>
            <p:cNvPr id="59" name="TextBox 59"/>
            <p:cNvSpPr txBox="1"/>
            <p:nvPr/>
          </p:nvSpPr>
          <p:spPr>
            <a:xfrm>
              <a:off x="4245239" y="4530090"/>
              <a:ext cx="367772" cy="352044"/>
            </a:xfrm>
            <a:prstGeom prst="rect">
              <a:avLst/>
            </a:prstGeom>
            <a:noFill/>
            <a:ln>
              <a:noFill/>
            </a:ln>
          </p:spPr>
          <p:txBody>
            <a:bodyPr wrap="none" lIns="0" tIns="0" rIns="0" bIns="0" anchor="t" anchorCtr="0">
              <a:spAutoFit/>
            </a:bodyPr>
            <a:lstStyle/>
            <a:p>
              <a:pPr algn="ctr"/>
              <a:r>
                <a:rPr lang="en-US" sz="1800" b="1" dirty="0">
                  <a:solidFill>
                    <a:srgbClr val="B45F4A"/>
                  </a:solidFill>
                  <a:latin typeface="+mn-lt"/>
                  <a:ea typeface="+mn-ea"/>
                  <a:cs typeface="+mn-cs"/>
                </a:rPr>
                <a:t>NO</a:t>
              </a:r>
            </a:p>
          </p:txBody>
        </p:sp>
        <p:sp>
          <p:nvSpPr>
            <p:cNvPr id="60" name="TextBox 60"/>
            <p:cNvSpPr txBox="1"/>
            <p:nvPr/>
          </p:nvSpPr>
          <p:spPr>
            <a:xfrm>
              <a:off x="5083664" y="4578668"/>
              <a:ext cx="976922" cy="264033"/>
            </a:xfrm>
            <a:prstGeom prst="rect">
              <a:avLst/>
            </a:prstGeom>
            <a:noFill/>
            <a:ln>
              <a:noFill/>
            </a:ln>
          </p:spPr>
          <p:txBody>
            <a:bodyPr wrap="none" lIns="0" tIns="0" rIns="0" bIns="0" anchor="t" anchorCtr="0">
              <a:spAutoFit/>
            </a:bodyPr>
            <a:lstStyle/>
            <a:p>
              <a:pPr algn="ctr"/>
              <a:r>
                <a:rPr lang="en-US" sz="1350" dirty="0">
                  <a:solidFill>
                    <a:srgbClr val="5F6875"/>
                  </a:solidFill>
                  <a:latin typeface="+mn-lt"/>
                  <a:ea typeface="+mn-ea"/>
                  <a:cs typeface="+mn-cs"/>
                </a:rPr>
                <a:t>logger only</a:t>
              </a:r>
            </a:p>
          </p:txBody>
        </p:sp>
        <p:sp>
          <p:nvSpPr>
            <p:cNvPr id="61" name="TextBox 61"/>
            <p:cNvSpPr txBox="1"/>
            <p:nvPr/>
          </p:nvSpPr>
          <p:spPr>
            <a:xfrm>
              <a:off x="6546733" y="4578668"/>
              <a:ext cx="622535" cy="264033"/>
            </a:xfrm>
            <a:prstGeom prst="rect">
              <a:avLst/>
            </a:prstGeom>
            <a:noFill/>
            <a:ln>
              <a:noFill/>
            </a:ln>
          </p:spPr>
          <p:txBody>
            <a:bodyPr wrap="none" lIns="0" tIns="0" rIns="0" bIns="0" anchor="t" anchorCtr="0">
              <a:spAutoFit/>
            </a:bodyPr>
            <a:lstStyle/>
            <a:p>
              <a:pPr algn="ctr"/>
              <a:r>
                <a:rPr lang="en-US" sz="1350" dirty="0">
                  <a:solidFill>
                    <a:srgbClr val="5F6875"/>
                  </a:solidFill>
                  <a:latin typeface="+mn-lt"/>
                  <a:ea typeface="+mn-ea"/>
                  <a:cs typeface="+mn-cs"/>
                </a:rPr>
                <a:t>partial</a:t>
              </a:r>
            </a:p>
          </p:txBody>
        </p:sp>
        <p:sp>
          <p:nvSpPr>
            <p:cNvPr id="62" name="TextBox 62"/>
            <p:cNvSpPr txBox="1"/>
            <p:nvPr/>
          </p:nvSpPr>
          <p:spPr>
            <a:xfrm>
              <a:off x="7771190" y="4578668"/>
              <a:ext cx="840619" cy="264033"/>
            </a:xfrm>
            <a:prstGeom prst="rect">
              <a:avLst/>
            </a:prstGeom>
            <a:noFill/>
            <a:ln>
              <a:noFill/>
            </a:ln>
          </p:spPr>
          <p:txBody>
            <a:bodyPr wrap="none" lIns="0" tIns="0" rIns="0" bIns="0" anchor="t" anchorCtr="0">
              <a:spAutoFit/>
            </a:bodyPr>
            <a:lstStyle/>
            <a:p>
              <a:pPr algn="ctr"/>
              <a:r>
                <a:rPr lang="en-US" sz="1350" dirty="0">
                  <a:solidFill>
                    <a:srgbClr val="5F6875"/>
                  </a:solidFill>
                  <a:latin typeface="+mn-lt"/>
                  <a:ea typeface="+mn-ea"/>
                  <a:cs typeface="+mn-cs"/>
                </a:rPr>
                <a:t>workflow</a:t>
              </a:r>
            </a:p>
          </p:txBody>
        </p:sp>
        <p:sp>
          <p:nvSpPr>
            <p:cNvPr id="63" name="TextBox 63"/>
            <p:cNvSpPr txBox="1"/>
            <p:nvPr/>
          </p:nvSpPr>
          <p:spPr>
            <a:xfrm>
              <a:off x="9345701" y="4578668"/>
              <a:ext cx="263347" cy="264033"/>
            </a:xfrm>
            <a:prstGeom prst="rect">
              <a:avLst/>
            </a:prstGeom>
            <a:noFill/>
            <a:ln>
              <a:noFill/>
            </a:ln>
          </p:spPr>
          <p:txBody>
            <a:bodyPr wrap="none" lIns="0" tIns="0" rIns="0" bIns="0" anchor="t" anchorCtr="0">
              <a:spAutoFit/>
            </a:bodyPr>
            <a:lstStyle/>
            <a:p>
              <a:pPr algn="ctr"/>
              <a:r>
                <a:rPr lang="en-US" sz="1350" dirty="0">
                  <a:solidFill>
                    <a:srgbClr val="B45F4A"/>
                  </a:solidFill>
                  <a:latin typeface="+mn-lt"/>
                  <a:ea typeface="+mn-ea"/>
                  <a:cs typeface="+mn-cs"/>
                </a:rPr>
                <a:t>NO</a:t>
              </a:r>
            </a:p>
          </p:txBody>
        </p:sp>
        <p:sp>
          <p:nvSpPr>
            <p:cNvPr id="64" name="TextBox 64"/>
            <p:cNvSpPr txBox="1"/>
            <p:nvPr/>
          </p:nvSpPr>
          <p:spPr>
            <a:xfrm>
              <a:off x="10191750" y="4514850"/>
              <a:ext cx="1371600" cy="285750"/>
            </a:xfrm>
            <a:prstGeom prst="rect">
              <a:avLst/>
            </a:prstGeom>
            <a:noFill/>
            <a:ln>
              <a:noFill/>
            </a:ln>
          </p:spPr>
          <p:txBody>
            <a:bodyPr wrap="square" lIns="0" tIns="71914" rIns="0" bIns="0" anchor="t" anchorCtr="0">
              <a:noAutofit/>
            </a:bodyPr>
            <a:lstStyle/>
            <a:p>
              <a:pPr algn="ctr"/>
              <a:r>
                <a:rPr lang="en-US" sz="1280" b="1" dirty="0">
                  <a:solidFill>
                    <a:srgbClr val="5F6875"/>
                  </a:solidFill>
                  <a:latin typeface="+mn-lt"/>
                  <a:ea typeface="+mn-ea"/>
                  <a:cs typeface="+mn-cs"/>
                </a:rPr>
                <a:t>DOCS ONLY</a:t>
              </a:r>
            </a:p>
          </p:txBody>
        </p:sp>
      </p:grpSp>
      <p:grpSp>
        <p:nvGrpSpPr>
          <p:cNvPr id="70" name="Group 70"/>
          <p:cNvGrpSpPr/>
          <p:nvPr/>
        </p:nvGrpSpPr>
        <p:grpSpPr>
          <a:xfrm>
            <a:off x="533400" y="5276850"/>
            <a:ext cx="11125200" cy="897065"/>
            <a:chOff x="533400" y="5276850"/>
            <a:chExt cx="11125200" cy="897065"/>
          </a:xfrm>
        </p:grpSpPr>
        <p:sp>
          <p:nvSpPr>
            <p:cNvPr id="66" name="Rectangle 66"/>
            <p:cNvSpPr/>
            <p:nvPr/>
          </p:nvSpPr>
          <p:spPr>
            <a:xfrm>
              <a:off x="533400" y="5276850"/>
              <a:ext cx="11125200" cy="762000"/>
            </a:xfrm>
            <a:prstGeom prst="roundRect">
              <a:avLst>
                <a:gd name="adj" fmla="val 15000"/>
              </a:avLst>
            </a:prstGeom>
            <a:solidFill>
              <a:schemeClr val="accent5"/>
            </a:solidFill>
            <a:ln>
              <a:noFill/>
            </a:ln>
          </p:spPr>
        </p:sp>
        <p:sp>
          <p:nvSpPr>
            <p:cNvPr id="67" name="TextBox 67"/>
            <p:cNvSpPr txBox="1"/>
            <p:nvPr/>
          </p:nvSpPr>
          <p:spPr>
            <a:xfrm>
              <a:off x="755142" y="5416868"/>
              <a:ext cx="1777937"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LOCAL DISTINCTION</a:t>
              </a:r>
            </a:p>
          </p:txBody>
        </p:sp>
        <p:sp>
          <p:nvSpPr>
            <p:cNvPr id="68" name="TextBox 68"/>
            <p:cNvSpPr txBox="1"/>
            <p:nvPr/>
          </p:nvSpPr>
          <p:spPr>
            <a:xfrm>
              <a:off x="753618" y="5594032"/>
              <a:ext cx="8086329"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Explicit paper profiles + CI/orientation traces + separator provenance</a:t>
              </a:r>
            </a:p>
          </p:txBody>
        </p:sp>
        <p:sp>
          <p:nvSpPr>
            <p:cNvPr id="69" name="TextBox 69"/>
            <p:cNvSpPr txBox="1"/>
            <p:nvPr/>
          </p:nvSpPr>
          <p:spPr>
            <a:xfrm>
              <a:off x="753618" y="5851208"/>
              <a:ext cx="5672571" cy="322707"/>
            </a:xfrm>
            <a:prstGeom prst="rect">
              <a:avLst/>
            </a:prstGeom>
            <a:noFill/>
            <a:ln>
              <a:noFill/>
            </a:ln>
          </p:spPr>
          <p:txBody>
            <a:bodyPr wrap="none" lIns="0" tIns="0" rIns="0" bIns="0" anchor="t" anchorCtr="0">
              <a:spAutoFit/>
            </a:bodyPr>
            <a:lstStyle/>
            <a:p>
              <a:pPr algn="l"/>
              <a:r>
                <a:rPr lang="en-US" sz="1650" b="1" dirty="0">
                  <a:solidFill>
                    <a:schemeClr val="dk1"/>
                  </a:solidFill>
                  <a:latin typeface="+mn-lt"/>
                  <a:ea typeface="+mn-ea"/>
                  <a:cs typeface="+mn-cs"/>
                </a:rPr>
                <a:t>+ stability audits + reproducible artifact exports</a:t>
              </a:r>
            </a:p>
          </p:txBody>
        </p:sp>
      </p:grpSp>
      <p:grpSp>
        <p:nvGrpSpPr>
          <p:cNvPr id="73" name="Group 73"/>
          <p:cNvGrpSpPr/>
          <p:nvPr/>
        </p:nvGrpSpPr>
        <p:grpSpPr>
          <a:xfrm>
            <a:off x="527304" y="6290310"/>
            <a:ext cx="11137392" cy="234696"/>
            <a:chOff x="527304" y="6290310"/>
            <a:chExt cx="11137392" cy="234696"/>
          </a:xfrm>
        </p:grpSpPr>
        <p:sp>
          <p:nvSpPr>
            <p:cNvPr id="71" name="TextBox 71"/>
            <p:cNvSpPr txBox="1"/>
            <p:nvPr/>
          </p:nvSpPr>
          <p:spPr>
            <a:xfrm>
              <a:off x="527304" y="6290310"/>
              <a:ext cx="10338453"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Dated software inventory, 2026-07-26 · Feature availability is not an accuracy ranking · endpoint encodings require normalization</a:t>
              </a:r>
            </a:p>
          </p:txBody>
        </p:sp>
        <p:sp>
          <p:nvSpPr>
            <p:cNvPr id="72" name="TextBox 72"/>
            <p:cNvSpPr txBox="1"/>
            <p:nvPr/>
          </p:nvSpPr>
          <p:spPr>
            <a:xfrm>
              <a:off x="11111332" y="6290310"/>
              <a:ext cx="553364" cy="234696"/>
            </a:xfrm>
            <a:prstGeom prst="rect">
              <a:avLst/>
            </a:prstGeom>
            <a:noFill/>
            <a:ln>
              <a:noFill/>
            </a:ln>
          </p:spPr>
          <p:txBody>
            <a:bodyPr wrap="none" lIns="0" tIns="0" rIns="0" bIns="0" anchor="t" anchorCtr="0">
              <a:spAutoFit/>
            </a:bodyPr>
            <a:lstStyle/>
            <a:p>
              <a:pPr algn="r"/>
              <a:r>
                <a:rPr lang="en-US" sz="1200" dirty="0">
                  <a:solidFill>
                    <a:srgbClr val="5F6875"/>
                  </a:solidFill>
                  <a:latin typeface="Consolas"/>
                  <a:ea typeface="Consolas"/>
                  <a:cs typeface="Consolas"/>
                </a:rPr>
                <a:t>09 / 15</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18160" y="361950"/>
            <a:ext cx="11147298" cy="790575"/>
            <a:chOff x="518160" y="361950"/>
            <a:chExt cx="11147298" cy="790575"/>
          </a:xfrm>
        </p:grpSpPr>
        <p:sp>
          <p:nvSpPr>
            <p:cNvPr id="2" name="TextBox 2"/>
            <p:cNvSpPr txBox="1"/>
            <p:nvPr/>
          </p:nvSpPr>
          <p:spPr>
            <a:xfrm>
              <a:off x="518160" y="361950"/>
              <a:ext cx="10887751"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Matched Benchmark: Trade-offs, Not Dominance</a:t>
              </a:r>
            </a:p>
          </p:txBody>
        </p:sp>
        <p:sp>
          <p:nvSpPr>
            <p:cNvPr id="3" name="TextBox 3"/>
            <p:cNvSpPr txBox="1"/>
            <p:nvPr/>
          </p:nvSpPr>
          <p:spPr>
            <a:xfrm>
              <a:off x="8387334" y="844868"/>
              <a:ext cx="3278124" cy="264033"/>
            </a:xfrm>
            <a:prstGeom prst="rect">
              <a:avLst/>
            </a:prstGeom>
            <a:noFill/>
            <a:ln>
              <a:noFill/>
            </a:ln>
          </p:spPr>
          <p:txBody>
            <a:bodyPr wrap="none" lIns="0" tIns="0" rIns="0" bIns="0" anchor="t" anchorCtr="0">
              <a:spAutoFit/>
            </a:bodyPr>
            <a:lstStyle/>
            <a:p>
              <a:pPr algn="r"/>
              <a:r>
                <a:rPr lang="en-US" sz="1350" dirty="0">
                  <a:solidFill>
                    <a:srgbClr val="7562A8"/>
                  </a:solidFill>
                  <a:latin typeface="Consolas"/>
                  <a:ea typeface="Consolas"/>
                  <a:cs typeface="Consolas"/>
                </a:rPr>
                <a:t>KNOWN-TRUTH SOFTWARE BENCHMARK</a:t>
              </a:r>
            </a:p>
          </p:txBody>
        </p:sp>
        <p:sp>
          <p:nvSpPr>
            <p:cNvPr id="4" name="Line 4"/>
            <p:cNvSpPr/>
            <p:nvPr/>
          </p:nvSpPr>
          <p:spPr>
            <a:xfrm>
              <a:off x="533400" y="1143000"/>
              <a:ext cx="11125200" cy="9525"/>
            </a:xfrm>
            <a:custGeom>
              <a:avLst/>
              <a:gdLst/>
              <a:ahLst/>
              <a:cxnLst/>
              <a:rect l="l" t="t" r="r" b="b"/>
              <a:pathLst>
                <a:path w="11125200" h="9525">
                  <a:moveTo>
                    <a:pt x="0" y="0"/>
                  </a:moveTo>
                  <a:lnTo>
                    <a:pt x="11125200" y="0"/>
                  </a:lnTo>
                </a:path>
              </a:pathLst>
            </a:custGeom>
            <a:noFill/>
            <a:ln w="14288">
              <a:solidFill>
                <a:srgbClr val="CBD2DC"/>
              </a:solidFill>
            </a:ln>
          </p:spPr>
        </p:sp>
      </p:grpSp>
      <p:grpSp>
        <p:nvGrpSpPr>
          <p:cNvPr id="10" name="Group 10"/>
          <p:cNvGrpSpPr/>
          <p:nvPr/>
        </p:nvGrpSpPr>
        <p:grpSpPr>
          <a:xfrm>
            <a:off x="526542" y="1359218"/>
            <a:ext cx="9551651" cy="264033"/>
            <a:chOff x="526542" y="1359218"/>
            <a:chExt cx="9551651" cy="264033"/>
          </a:xfrm>
        </p:grpSpPr>
        <p:sp>
          <p:nvSpPr>
            <p:cNvPr id="6" name="TextBox 6"/>
            <p:cNvSpPr txBox="1"/>
            <p:nvPr/>
          </p:nvSpPr>
          <p:spPr>
            <a:xfrm>
              <a:off x="526542" y="1359218"/>
              <a:ext cx="2026908" cy="264033"/>
            </a:xfrm>
            <a:prstGeom prst="rect">
              <a:avLst/>
            </a:prstGeom>
            <a:noFill/>
            <a:ln>
              <a:noFill/>
            </a:ln>
          </p:spPr>
          <p:txBody>
            <a:bodyPr wrap="none" lIns="0" tIns="0" rIns="0" bIns="0" anchor="t" anchorCtr="0">
              <a:spAutoFit/>
            </a:bodyPr>
            <a:lstStyle/>
            <a:p>
              <a:pPr algn="l"/>
              <a:r>
                <a:rPr lang="en-US" sz="1350" b="1" dirty="0">
                  <a:solidFill>
                    <a:schemeClr val="accent1"/>
                  </a:solidFill>
                  <a:latin typeface="+mn-lt"/>
                  <a:ea typeface="+mn-ea"/>
                  <a:cs typeface="+mn-cs"/>
                </a:rPr>
                <a:t>5 families × 3 repeats</a:t>
              </a:r>
            </a:p>
          </p:txBody>
        </p:sp>
        <p:sp>
          <p:nvSpPr>
            <p:cNvPr id="7" name="TextBox 7"/>
            <p:cNvSpPr txBox="1"/>
            <p:nvPr/>
          </p:nvSpPr>
          <p:spPr>
            <a:xfrm>
              <a:off x="2850642" y="1359218"/>
              <a:ext cx="868223" cy="264033"/>
            </a:xfrm>
            <a:prstGeom prst="rect">
              <a:avLst/>
            </a:prstGeom>
            <a:noFill/>
            <a:ln>
              <a:noFill/>
            </a:ln>
          </p:spPr>
          <p:txBody>
            <a:bodyPr wrap="none" lIns="0" tIns="0" rIns="0" bIns="0" anchor="t" anchorCtr="0">
              <a:spAutoFit/>
            </a:bodyPr>
            <a:lstStyle/>
            <a:p>
              <a:pPr algn="l"/>
              <a:r>
                <a:rPr lang="en-US" sz="1350" dirty="0">
                  <a:solidFill>
                    <a:srgbClr val="5F6875"/>
                  </a:solidFill>
                  <a:latin typeface="+mn-lt"/>
                  <a:ea typeface="+mn-ea"/>
                  <a:cs typeface="+mn-cs"/>
                </a:rPr>
                <a:t>N = 2,500</a:t>
              </a:r>
            </a:p>
          </p:txBody>
        </p:sp>
        <p:sp>
          <p:nvSpPr>
            <p:cNvPr id="8" name="TextBox 8"/>
            <p:cNvSpPr txBox="1"/>
            <p:nvPr/>
          </p:nvSpPr>
          <p:spPr>
            <a:xfrm>
              <a:off x="4184142" y="1359218"/>
              <a:ext cx="1076877" cy="264033"/>
            </a:xfrm>
            <a:prstGeom prst="rect">
              <a:avLst/>
            </a:prstGeom>
            <a:noFill/>
            <a:ln>
              <a:noFill/>
            </a:ln>
          </p:spPr>
          <p:txBody>
            <a:bodyPr wrap="none" lIns="0" tIns="0" rIns="0" bIns="0" anchor="t" anchorCtr="0">
              <a:spAutoFit/>
            </a:bodyPr>
            <a:lstStyle/>
            <a:p>
              <a:pPr algn="l"/>
              <a:r>
                <a:rPr lang="en-US" sz="1350" dirty="0">
                  <a:solidFill>
                    <a:srgbClr val="5F6875"/>
                  </a:solidFill>
                  <a:latin typeface="+mn-lt"/>
                  <a:ea typeface="+mn-ea"/>
                  <a:cs typeface="+mn-cs"/>
                </a:rPr>
                <a:t>75 / 75 runs</a:t>
              </a:r>
            </a:p>
          </p:txBody>
        </p:sp>
        <p:sp>
          <p:nvSpPr>
            <p:cNvPr id="9" name="TextBox 9"/>
            <p:cNvSpPr txBox="1"/>
            <p:nvPr/>
          </p:nvSpPr>
          <p:spPr>
            <a:xfrm>
              <a:off x="6184392" y="1359218"/>
              <a:ext cx="3893801" cy="264033"/>
            </a:xfrm>
            <a:prstGeom prst="rect">
              <a:avLst/>
            </a:prstGeom>
            <a:noFill/>
            <a:ln>
              <a:noFill/>
            </a:ln>
          </p:spPr>
          <p:txBody>
            <a:bodyPr wrap="none" lIns="0" tIns="0" rIns="0" bIns="0" anchor="t" anchorCtr="0">
              <a:spAutoFit/>
            </a:bodyPr>
            <a:lstStyle/>
            <a:p>
              <a:pPr algn="l"/>
              <a:r>
                <a:rPr lang="en-US" sz="1350" dirty="0">
                  <a:solidFill>
                    <a:srgbClr val="5F6875"/>
                  </a:solidFill>
                  <a:latin typeface="+mn-lt"/>
                  <a:ea typeface="+mn-ea"/>
                  <a:cs typeface="+mn-cs"/>
                </a:rPr>
                <a:t>α = .001 paper/reference · .01 robust auto</a:t>
              </a:r>
            </a:p>
          </p:txBody>
        </p:sp>
      </p:grpSp>
      <p:grpSp>
        <p:nvGrpSpPr>
          <p:cNvPr id="45" name="Group 45"/>
          <p:cNvGrpSpPr/>
          <p:nvPr/>
        </p:nvGrpSpPr>
        <p:grpSpPr>
          <a:xfrm>
            <a:off x="533400" y="1790700"/>
            <a:ext cx="11125200" cy="3248406"/>
            <a:chOff x="533400" y="1790700"/>
            <a:chExt cx="11125200" cy="3248406"/>
          </a:xfrm>
        </p:grpSpPr>
        <p:sp>
          <p:nvSpPr>
            <p:cNvPr id="11" name="Rectangle 11"/>
            <p:cNvSpPr/>
            <p:nvPr/>
          </p:nvSpPr>
          <p:spPr>
            <a:xfrm>
              <a:off x="533400" y="1790700"/>
              <a:ext cx="11125200" cy="3238500"/>
            </a:xfrm>
            <a:prstGeom prst="roundRect">
              <a:avLst>
                <a:gd name="adj" fmla="val 4118"/>
              </a:avLst>
            </a:prstGeom>
            <a:solidFill>
              <a:srgbClr val="FFFFFF"/>
            </a:solidFill>
            <a:ln w="14288">
              <a:solidFill>
                <a:srgbClr val="CBD2DC"/>
              </a:solidFill>
            </a:ln>
          </p:spPr>
        </p:sp>
        <p:sp>
          <p:nvSpPr>
            <p:cNvPr id="12" name="TextBox 12"/>
            <p:cNvSpPr txBox="1"/>
            <p:nvPr/>
          </p:nvSpPr>
          <p:spPr>
            <a:xfrm>
              <a:off x="736092" y="1987868"/>
              <a:ext cx="2040049" cy="264033"/>
            </a:xfrm>
            <a:prstGeom prst="rect">
              <a:avLst/>
            </a:prstGeom>
            <a:noFill/>
            <a:ln>
              <a:noFill/>
            </a:ln>
          </p:spPr>
          <p:txBody>
            <a:bodyPr wrap="none" lIns="0" tIns="0" rIns="0" bIns="0" anchor="t" anchorCtr="0">
              <a:spAutoFit/>
            </a:bodyPr>
            <a:lstStyle/>
            <a:p>
              <a:pPr algn="l"/>
              <a:r>
                <a:rPr lang="en-US" sz="1350" b="1" dirty="0">
                  <a:solidFill>
                    <a:srgbClr val="5F6875"/>
                  </a:solidFill>
                  <a:latin typeface="+mn-lt"/>
                  <a:ea typeface="+mn-ea"/>
                  <a:cs typeface="+mn-cs"/>
                </a:rPr>
                <a:t>ALGORITHM / PROFILE</a:t>
              </a:r>
            </a:p>
          </p:txBody>
        </p:sp>
        <p:sp>
          <p:nvSpPr>
            <p:cNvPr id="13" name="TextBox 13"/>
            <p:cNvSpPr txBox="1"/>
            <p:nvPr/>
          </p:nvSpPr>
          <p:spPr>
            <a:xfrm>
              <a:off x="4088892" y="1987868"/>
              <a:ext cx="328575" cy="264033"/>
            </a:xfrm>
            <a:prstGeom prst="rect">
              <a:avLst/>
            </a:prstGeom>
            <a:noFill/>
            <a:ln>
              <a:noFill/>
            </a:ln>
          </p:spPr>
          <p:txBody>
            <a:bodyPr wrap="none" lIns="0" tIns="0" rIns="0" bIns="0" anchor="t" anchorCtr="0">
              <a:spAutoFit/>
            </a:bodyPr>
            <a:lstStyle/>
            <a:p>
              <a:pPr algn="l"/>
              <a:r>
                <a:rPr lang="en-US" sz="1350" b="1" dirty="0">
                  <a:solidFill>
                    <a:srgbClr val="5F6875"/>
                  </a:solidFill>
                  <a:latin typeface="+mn-lt"/>
                  <a:ea typeface="+mn-ea"/>
                  <a:cs typeface="+mn-cs"/>
                </a:rPr>
                <a:t>.70</a:t>
              </a:r>
            </a:p>
          </p:txBody>
        </p:sp>
        <p:sp>
          <p:nvSpPr>
            <p:cNvPr id="14" name="TextBox 14"/>
            <p:cNvSpPr txBox="1"/>
            <p:nvPr/>
          </p:nvSpPr>
          <p:spPr>
            <a:xfrm>
              <a:off x="5774817" y="1987868"/>
              <a:ext cx="328575" cy="264033"/>
            </a:xfrm>
            <a:prstGeom prst="rect">
              <a:avLst/>
            </a:prstGeom>
            <a:noFill/>
            <a:ln>
              <a:noFill/>
            </a:ln>
          </p:spPr>
          <p:txBody>
            <a:bodyPr wrap="none" lIns="0" tIns="0" rIns="0" bIns="0" anchor="t" anchorCtr="0">
              <a:spAutoFit/>
            </a:bodyPr>
            <a:lstStyle/>
            <a:p>
              <a:pPr algn="l"/>
              <a:r>
                <a:rPr lang="en-US" sz="1350" b="1" dirty="0">
                  <a:solidFill>
                    <a:srgbClr val="5F6875"/>
                  </a:solidFill>
                  <a:latin typeface="+mn-lt"/>
                  <a:ea typeface="+mn-ea"/>
                  <a:cs typeface="+mn-cs"/>
                </a:rPr>
                <a:t>.80</a:t>
              </a:r>
            </a:p>
          </p:txBody>
        </p:sp>
        <p:sp>
          <p:nvSpPr>
            <p:cNvPr id="15" name="TextBox 15"/>
            <p:cNvSpPr txBox="1"/>
            <p:nvPr/>
          </p:nvSpPr>
          <p:spPr>
            <a:xfrm>
              <a:off x="7451217" y="1987868"/>
              <a:ext cx="328575" cy="264033"/>
            </a:xfrm>
            <a:prstGeom prst="rect">
              <a:avLst/>
            </a:prstGeom>
            <a:noFill/>
            <a:ln>
              <a:noFill/>
            </a:ln>
          </p:spPr>
          <p:txBody>
            <a:bodyPr wrap="none" lIns="0" tIns="0" rIns="0" bIns="0" anchor="t" anchorCtr="0">
              <a:spAutoFit/>
            </a:bodyPr>
            <a:lstStyle/>
            <a:p>
              <a:pPr algn="l"/>
              <a:r>
                <a:rPr lang="en-US" sz="1350" b="1" dirty="0">
                  <a:solidFill>
                    <a:srgbClr val="5F6875"/>
                  </a:solidFill>
                  <a:latin typeface="+mn-lt"/>
                  <a:ea typeface="+mn-ea"/>
                  <a:cs typeface="+mn-cs"/>
                </a:rPr>
                <a:t>.90</a:t>
              </a:r>
            </a:p>
          </p:txBody>
        </p:sp>
        <p:sp>
          <p:nvSpPr>
            <p:cNvPr id="16" name="TextBox 16"/>
            <p:cNvSpPr txBox="1"/>
            <p:nvPr/>
          </p:nvSpPr>
          <p:spPr>
            <a:xfrm>
              <a:off x="9137142" y="1987868"/>
              <a:ext cx="433528" cy="264033"/>
            </a:xfrm>
            <a:prstGeom prst="rect">
              <a:avLst/>
            </a:prstGeom>
            <a:noFill/>
            <a:ln>
              <a:noFill/>
            </a:ln>
          </p:spPr>
          <p:txBody>
            <a:bodyPr wrap="none" lIns="0" tIns="0" rIns="0" bIns="0" anchor="t" anchorCtr="0">
              <a:spAutoFit/>
            </a:bodyPr>
            <a:lstStyle/>
            <a:p>
              <a:pPr algn="l"/>
              <a:r>
                <a:rPr lang="en-US" sz="1350" b="1" dirty="0">
                  <a:solidFill>
                    <a:srgbClr val="5F6875"/>
                  </a:solidFill>
                  <a:latin typeface="+mn-lt"/>
                  <a:ea typeface="+mn-ea"/>
                  <a:cs typeface="+mn-cs"/>
                </a:rPr>
                <a:t>1.00</a:t>
              </a:r>
            </a:p>
          </p:txBody>
        </p:sp>
        <p:sp>
          <p:nvSpPr>
            <p:cNvPr id="17" name="TextBox 17"/>
            <p:cNvSpPr txBox="1"/>
            <p:nvPr/>
          </p:nvSpPr>
          <p:spPr>
            <a:xfrm>
              <a:off x="9994392" y="1987868"/>
              <a:ext cx="673010" cy="264033"/>
            </a:xfrm>
            <a:prstGeom prst="rect">
              <a:avLst/>
            </a:prstGeom>
            <a:noFill/>
            <a:ln>
              <a:noFill/>
            </a:ln>
          </p:spPr>
          <p:txBody>
            <a:bodyPr wrap="none" lIns="0" tIns="0" rIns="0" bIns="0" anchor="t" anchorCtr="0">
              <a:spAutoFit/>
            </a:bodyPr>
            <a:lstStyle/>
            <a:p>
              <a:pPr algn="l"/>
              <a:r>
                <a:rPr lang="en-US" sz="1350" b="1" dirty="0">
                  <a:solidFill>
                    <a:srgbClr val="5F6875"/>
                  </a:solidFill>
                  <a:latin typeface="+mn-lt"/>
                  <a:ea typeface="+mn-ea"/>
                  <a:cs typeface="+mn-cs"/>
                </a:rPr>
                <a:t>CI calls</a:t>
              </a:r>
            </a:p>
          </p:txBody>
        </p:sp>
        <p:grpSp>
          <p:nvGrpSpPr>
            <p:cNvPr id="33" name="Group 33"/>
            <p:cNvGrpSpPr/>
            <p:nvPr/>
          </p:nvGrpSpPr>
          <p:grpSpPr>
            <a:xfrm>
              <a:off x="4095750" y="2266950"/>
              <a:ext cx="5057775" cy="2476500"/>
              <a:chOff x="4095750" y="2266950"/>
              <a:chExt cx="5057775" cy="2476500"/>
            </a:xfrm>
          </p:grpSpPr>
          <p:sp>
            <p:nvSpPr>
              <p:cNvPr id="18" name="Line 18"/>
              <p:cNvSpPr/>
              <p:nvPr/>
            </p:nvSpPr>
            <p:spPr>
              <a:xfrm>
                <a:off x="4095750" y="2266950"/>
                <a:ext cx="5048250" cy="9525"/>
              </a:xfrm>
              <a:custGeom>
                <a:avLst/>
                <a:gdLst/>
                <a:ahLst/>
                <a:cxnLst/>
                <a:rect l="l" t="t" r="r" b="b"/>
                <a:pathLst>
                  <a:path w="5048250" h="9525">
                    <a:moveTo>
                      <a:pt x="0" y="0"/>
                    </a:moveTo>
                    <a:lnTo>
                      <a:pt x="5048250" y="0"/>
                    </a:lnTo>
                  </a:path>
                </a:pathLst>
              </a:custGeom>
              <a:noFill/>
              <a:ln w="14288">
                <a:solidFill>
                  <a:srgbClr val="CBD2DC"/>
                </a:solidFill>
              </a:ln>
            </p:spPr>
          </p:sp>
          <p:sp>
            <p:nvSpPr>
              <p:cNvPr id="19" name="Line 19"/>
              <p:cNvSpPr/>
              <p:nvPr/>
            </p:nvSpPr>
            <p:spPr>
              <a:xfrm>
                <a:off x="4095750" y="2266950"/>
                <a:ext cx="9525" cy="2476500"/>
              </a:xfrm>
              <a:custGeom>
                <a:avLst/>
                <a:gdLst/>
                <a:ahLst/>
                <a:cxnLst/>
                <a:rect l="l" t="t" r="r" b="b"/>
                <a:pathLst>
                  <a:path w="9525" h="2476500">
                    <a:moveTo>
                      <a:pt x="0" y="0"/>
                    </a:moveTo>
                    <a:lnTo>
                      <a:pt x="0" y="2476500"/>
                    </a:lnTo>
                  </a:path>
                </a:pathLst>
              </a:custGeom>
              <a:noFill/>
              <a:ln w="14288">
                <a:solidFill>
                  <a:srgbClr val="CBD2DC"/>
                </a:solidFill>
              </a:ln>
            </p:spPr>
          </p:sp>
          <p:sp>
            <p:nvSpPr>
              <p:cNvPr id="20" name="Line 20"/>
              <p:cNvSpPr/>
              <p:nvPr/>
            </p:nvSpPr>
            <p:spPr>
              <a:xfrm>
                <a:off x="5781675" y="2266950"/>
                <a:ext cx="9525" cy="2476500"/>
              </a:xfrm>
              <a:custGeom>
                <a:avLst/>
                <a:gdLst/>
                <a:ahLst/>
                <a:cxnLst/>
                <a:rect l="l" t="t" r="r" b="b"/>
                <a:pathLst>
                  <a:path w="9525" h="2476500">
                    <a:moveTo>
                      <a:pt x="0" y="0"/>
                    </a:moveTo>
                    <a:lnTo>
                      <a:pt x="0" y="2476500"/>
                    </a:lnTo>
                  </a:path>
                </a:pathLst>
              </a:custGeom>
              <a:noFill/>
              <a:ln w="14288">
                <a:solidFill>
                  <a:srgbClr val="E9EDF5"/>
                </a:solidFill>
              </a:ln>
            </p:spPr>
          </p:sp>
          <p:sp>
            <p:nvSpPr>
              <p:cNvPr id="21" name="Line 21"/>
              <p:cNvSpPr/>
              <p:nvPr/>
            </p:nvSpPr>
            <p:spPr>
              <a:xfrm>
                <a:off x="7458075" y="2266950"/>
                <a:ext cx="9525" cy="2476500"/>
              </a:xfrm>
              <a:custGeom>
                <a:avLst/>
                <a:gdLst/>
                <a:ahLst/>
                <a:cxnLst/>
                <a:rect l="l" t="t" r="r" b="b"/>
                <a:pathLst>
                  <a:path w="9525" h="2476500">
                    <a:moveTo>
                      <a:pt x="0" y="0"/>
                    </a:moveTo>
                    <a:lnTo>
                      <a:pt x="0" y="2476500"/>
                    </a:lnTo>
                  </a:path>
                </a:pathLst>
              </a:custGeom>
              <a:noFill/>
              <a:ln w="14288">
                <a:solidFill>
                  <a:srgbClr val="E9EDF5"/>
                </a:solidFill>
              </a:ln>
            </p:spPr>
          </p:sp>
          <p:sp>
            <p:nvSpPr>
              <p:cNvPr id="22" name="Line 22"/>
              <p:cNvSpPr/>
              <p:nvPr/>
            </p:nvSpPr>
            <p:spPr>
              <a:xfrm>
                <a:off x="9144000" y="2266950"/>
                <a:ext cx="9525" cy="2476500"/>
              </a:xfrm>
              <a:custGeom>
                <a:avLst/>
                <a:gdLst/>
                <a:ahLst/>
                <a:cxnLst/>
                <a:rect l="l" t="t" r="r" b="b"/>
                <a:pathLst>
                  <a:path w="9525" h="2476500">
                    <a:moveTo>
                      <a:pt x="0" y="0"/>
                    </a:moveTo>
                    <a:lnTo>
                      <a:pt x="0" y="2476500"/>
                    </a:lnTo>
                  </a:path>
                </a:pathLst>
              </a:custGeom>
              <a:noFill/>
              <a:ln w="14288">
                <a:solidFill>
                  <a:srgbClr val="CBD2DC"/>
                </a:solidFill>
              </a:ln>
            </p:spPr>
          </p:sp>
          <p:sp>
            <p:nvSpPr>
              <p:cNvPr id="23" name="Ellipse 23"/>
              <p:cNvSpPr/>
              <p:nvPr/>
            </p:nvSpPr>
            <p:spPr>
              <a:xfrm>
                <a:off x="8077200" y="2543175"/>
                <a:ext cx="190500" cy="190500"/>
              </a:xfrm>
              <a:prstGeom prst="ellipse">
                <a:avLst/>
              </a:prstGeom>
              <a:solidFill>
                <a:schemeClr val="accent2"/>
              </a:solidFill>
              <a:ln>
                <a:noFill/>
              </a:ln>
            </p:spPr>
          </p:sp>
          <p:sp>
            <p:nvSpPr>
              <p:cNvPr id="24" name="Ellipse 24"/>
              <p:cNvSpPr/>
              <p:nvPr/>
            </p:nvSpPr>
            <p:spPr>
              <a:xfrm>
                <a:off x="4619625" y="2543175"/>
                <a:ext cx="190500" cy="190500"/>
              </a:xfrm>
              <a:prstGeom prst="ellipse">
                <a:avLst/>
              </a:prstGeom>
              <a:solidFill>
                <a:schemeClr val="accent1"/>
              </a:solidFill>
              <a:ln>
                <a:noFill/>
              </a:ln>
            </p:spPr>
          </p:sp>
          <p:sp>
            <p:nvSpPr>
              <p:cNvPr id="25" name="Ellipse 25"/>
              <p:cNvSpPr/>
              <p:nvPr/>
            </p:nvSpPr>
            <p:spPr>
              <a:xfrm>
                <a:off x="8220075" y="3019425"/>
                <a:ext cx="190500" cy="190500"/>
              </a:xfrm>
              <a:prstGeom prst="ellipse">
                <a:avLst/>
              </a:prstGeom>
              <a:solidFill>
                <a:schemeClr val="accent3"/>
              </a:solidFill>
              <a:ln>
                <a:noFill/>
              </a:ln>
            </p:spPr>
          </p:sp>
          <p:sp>
            <p:nvSpPr>
              <p:cNvPr id="26" name="Ellipse 26"/>
              <p:cNvSpPr/>
              <p:nvPr/>
            </p:nvSpPr>
            <p:spPr>
              <a:xfrm>
                <a:off x="4743450" y="3019425"/>
                <a:ext cx="190500" cy="190500"/>
              </a:xfrm>
              <a:prstGeom prst="ellipse">
                <a:avLst/>
              </a:prstGeom>
              <a:solidFill>
                <a:srgbClr val="8A4D13"/>
              </a:solidFill>
              <a:ln>
                <a:noFill/>
              </a:ln>
            </p:spPr>
          </p:sp>
          <p:sp>
            <p:nvSpPr>
              <p:cNvPr id="27" name="Ellipse 27"/>
              <p:cNvSpPr/>
              <p:nvPr/>
            </p:nvSpPr>
            <p:spPr>
              <a:xfrm>
                <a:off x="8791575" y="3495675"/>
                <a:ext cx="190500" cy="190500"/>
              </a:xfrm>
              <a:prstGeom prst="ellipse">
                <a:avLst/>
              </a:prstGeom>
              <a:solidFill>
                <a:schemeClr val="accent6"/>
              </a:solidFill>
              <a:ln>
                <a:noFill/>
              </a:ln>
            </p:spPr>
          </p:sp>
          <p:sp>
            <p:nvSpPr>
              <p:cNvPr id="28" name="Ellipse 28"/>
              <p:cNvSpPr/>
              <p:nvPr/>
            </p:nvSpPr>
            <p:spPr>
              <a:xfrm>
                <a:off x="6353175" y="3495675"/>
                <a:ext cx="190500" cy="190500"/>
              </a:xfrm>
              <a:prstGeom prst="ellipse">
                <a:avLst/>
              </a:prstGeom>
              <a:solidFill>
                <a:srgbClr val="0F665B"/>
              </a:solidFill>
              <a:ln>
                <a:noFill/>
              </a:ln>
            </p:spPr>
          </p:sp>
          <p:sp>
            <p:nvSpPr>
              <p:cNvPr id="29" name="Ellipse 29"/>
              <p:cNvSpPr/>
              <p:nvPr/>
            </p:nvSpPr>
            <p:spPr>
              <a:xfrm>
                <a:off x="8220075" y="3971925"/>
                <a:ext cx="190500" cy="190500"/>
              </a:xfrm>
              <a:prstGeom prst="ellipse">
                <a:avLst/>
              </a:prstGeom>
              <a:solidFill>
                <a:srgbClr val="7562A8"/>
              </a:solidFill>
              <a:ln>
                <a:noFill/>
              </a:ln>
            </p:spPr>
          </p:sp>
          <p:sp>
            <p:nvSpPr>
              <p:cNvPr id="30" name="Ellipse 30"/>
              <p:cNvSpPr/>
              <p:nvPr/>
            </p:nvSpPr>
            <p:spPr>
              <a:xfrm>
                <a:off x="4743450" y="3971925"/>
                <a:ext cx="190500" cy="190500"/>
              </a:xfrm>
              <a:prstGeom prst="ellipse">
                <a:avLst/>
              </a:prstGeom>
              <a:solidFill>
                <a:srgbClr val="44366C"/>
              </a:solidFill>
              <a:ln>
                <a:noFill/>
              </a:ln>
            </p:spPr>
          </p:sp>
          <p:sp>
            <p:nvSpPr>
              <p:cNvPr id="31" name="Ellipse 31"/>
              <p:cNvSpPr/>
              <p:nvPr/>
            </p:nvSpPr>
            <p:spPr>
              <a:xfrm>
                <a:off x="8220075" y="4448175"/>
                <a:ext cx="190500" cy="190500"/>
              </a:xfrm>
              <a:prstGeom prst="ellipse">
                <a:avLst/>
              </a:prstGeom>
              <a:solidFill>
                <a:srgbClr val="7562A8"/>
              </a:solidFill>
              <a:ln>
                <a:noFill/>
              </a:ln>
            </p:spPr>
          </p:sp>
          <p:sp>
            <p:nvSpPr>
              <p:cNvPr id="32" name="Ellipse 32"/>
              <p:cNvSpPr/>
              <p:nvPr/>
            </p:nvSpPr>
            <p:spPr>
              <a:xfrm>
                <a:off x="4743450" y="4448175"/>
                <a:ext cx="190500" cy="190500"/>
              </a:xfrm>
              <a:prstGeom prst="ellipse">
                <a:avLst/>
              </a:prstGeom>
              <a:solidFill>
                <a:srgbClr val="44366C"/>
              </a:solidFill>
              <a:ln>
                <a:noFill/>
              </a:ln>
            </p:spPr>
          </p:sp>
        </p:grpSp>
        <p:sp>
          <p:nvSpPr>
            <p:cNvPr id="34" name="TextBox 34"/>
            <p:cNvSpPr txBox="1"/>
            <p:nvPr/>
          </p:nvSpPr>
          <p:spPr>
            <a:xfrm>
              <a:off x="735330" y="2543175"/>
              <a:ext cx="2721142" cy="293370"/>
            </a:xfrm>
            <a:prstGeom prst="rect">
              <a:avLst/>
            </a:prstGeom>
            <a:noFill/>
            <a:ln>
              <a:noFill/>
            </a:ln>
          </p:spPr>
          <p:txBody>
            <a:bodyPr wrap="none" lIns="0" tIns="0" rIns="0" bIns="0" anchor="t" anchorCtr="0">
              <a:spAutoFit/>
            </a:bodyPr>
            <a:lstStyle/>
            <a:p>
              <a:pPr algn="l"/>
              <a:r>
                <a:rPr lang="en-US" sz="1500" b="1" dirty="0">
                  <a:solidFill>
                    <a:schemeClr val="accent2"/>
                  </a:solidFill>
                  <a:latin typeface="+mn-lt"/>
                  <a:ea typeface="+mn-ea"/>
                  <a:cs typeface="+mn-cs"/>
                </a:rPr>
                <a:t>Local FCI · Spirtes profile</a:t>
              </a:r>
            </a:p>
          </p:txBody>
        </p:sp>
        <p:sp>
          <p:nvSpPr>
            <p:cNvPr id="35" name="TextBox 35"/>
            <p:cNvSpPr txBox="1"/>
            <p:nvPr/>
          </p:nvSpPr>
          <p:spPr>
            <a:xfrm>
              <a:off x="735330" y="3019425"/>
              <a:ext cx="3321520" cy="293370"/>
            </a:xfrm>
            <a:prstGeom prst="rect">
              <a:avLst/>
            </a:prstGeom>
            <a:noFill/>
            <a:ln>
              <a:noFill/>
            </a:ln>
          </p:spPr>
          <p:txBody>
            <a:bodyPr wrap="none" lIns="0" tIns="0" rIns="0" bIns="0" anchor="t" anchorCtr="0">
              <a:spAutoFit/>
            </a:bodyPr>
            <a:lstStyle/>
            <a:p>
              <a:pPr algn="l"/>
              <a:r>
                <a:rPr lang="en-US" sz="1500" b="1" dirty="0">
                  <a:solidFill>
                    <a:schemeClr val="accent3"/>
                  </a:solidFill>
                  <a:latin typeface="+mn-lt"/>
                  <a:ea typeface="+mn-ea"/>
                  <a:cs typeface="+mn-cs"/>
                </a:rPr>
                <a:t>Local FCI Plus · Claassen profile</a:t>
              </a:r>
            </a:p>
          </p:txBody>
        </p:sp>
        <p:sp>
          <p:nvSpPr>
            <p:cNvPr id="36" name="TextBox 36"/>
            <p:cNvSpPr txBox="1"/>
            <p:nvPr/>
          </p:nvSpPr>
          <p:spPr>
            <a:xfrm>
              <a:off x="735330" y="3495675"/>
              <a:ext cx="3391008" cy="293370"/>
            </a:xfrm>
            <a:prstGeom prst="rect">
              <a:avLst/>
            </a:prstGeom>
            <a:noFill/>
            <a:ln>
              <a:noFill/>
            </a:ln>
          </p:spPr>
          <p:txBody>
            <a:bodyPr wrap="none" lIns="0" tIns="0" rIns="0" bIns="0" anchor="t" anchorCtr="0">
              <a:spAutoFit/>
            </a:bodyPr>
            <a:lstStyle/>
            <a:p>
              <a:pPr algn="l"/>
              <a:r>
                <a:rPr lang="en-US" sz="1500" b="1" dirty="0">
                  <a:solidFill>
                    <a:schemeClr val="accent6"/>
                  </a:solidFill>
                  <a:latin typeface="+mn-lt"/>
                  <a:ea typeface="+mn-ea"/>
                  <a:cs typeface="+mn-cs"/>
                </a:rPr>
                <a:t>Local FCI Plus · robust workflow</a:t>
              </a:r>
            </a:p>
          </p:txBody>
        </p:sp>
        <p:sp>
          <p:nvSpPr>
            <p:cNvPr id="37" name="TextBox 37"/>
            <p:cNvSpPr txBox="1"/>
            <p:nvPr/>
          </p:nvSpPr>
          <p:spPr>
            <a:xfrm>
              <a:off x="735330" y="3971925"/>
              <a:ext cx="2762098" cy="293370"/>
            </a:xfrm>
            <a:prstGeom prst="rect">
              <a:avLst/>
            </a:prstGeom>
            <a:noFill/>
            <a:ln>
              <a:noFill/>
            </a:ln>
          </p:spPr>
          <p:txBody>
            <a:bodyPr wrap="none" lIns="0" tIns="0" rIns="0" bIns="0" anchor="t" anchorCtr="0">
              <a:spAutoFit/>
            </a:bodyPr>
            <a:lstStyle/>
            <a:p>
              <a:pPr algn="l"/>
              <a:r>
                <a:rPr lang="en-US" sz="1500" b="1" dirty="0">
                  <a:solidFill>
                    <a:srgbClr val="7562A8"/>
                  </a:solidFill>
                  <a:latin typeface="+mn-lt"/>
                  <a:ea typeface="+mn-ea"/>
                  <a:cs typeface="+mn-cs"/>
                </a:rPr>
                <a:t>causal-learn FCI · 0.1.4.7</a:t>
              </a:r>
            </a:p>
          </p:txBody>
        </p:sp>
        <p:sp>
          <p:nvSpPr>
            <p:cNvPr id="38" name="TextBox 38"/>
            <p:cNvSpPr txBox="1"/>
            <p:nvPr/>
          </p:nvSpPr>
          <p:spPr>
            <a:xfrm>
              <a:off x="735330" y="4448175"/>
              <a:ext cx="2369934" cy="293370"/>
            </a:xfrm>
            <a:prstGeom prst="rect">
              <a:avLst/>
            </a:prstGeom>
            <a:noFill/>
            <a:ln>
              <a:noFill/>
            </a:ln>
          </p:spPr>
          <p:txBody>
            <a:bodyPr wrap="none" lIns="0" tIns="0" rIns="0" bIns="0" anchor="t" anchorCtr="0">
              <a:spAutoFit/>
            </a:bodyPr>
            <a:lstStyle/>
            <a:p>
              <a:pPr algn="l"/>
              <a:r>
                <a:rPr lang="en-US" sz="1500" b="1" dirty="0">
                  <a:solidFill>
                    <a:srgbClr val="7562A8"/>
                  </a:solidFill>
                  <a:latin typeface="+mn-lt"/>
                  <a:ea typeface="+mn-ea"/>
                  <a:cs typeface="+mn-cs"/>
                </a:rPr>
                <a:t>pcalg FCI Plus · 2.7-12</a:t>
              </a:r>
            </a:p>
          </p:txBody>
        </p:sp>
        <p:sp>
          <p:nvSpPr>
            <p:cNvPr id="39" name="TextBox 39"/>
            <p:cNvSpPr txBox="1"/>
            <p:nvPr/>
          </p:nvSpPr>
          <p:spPr>
            <a:xfrm>
              <a:off x="9345930" y="2543175"/>
              <a:ext cx="57054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Consolas"/>
                  <a:ea typeface="Consolas"/>
                  <a:cs typeface="Consolas"/>
                </a:rPr>
                <a:t>449.7</a:t>
              </a:r>
            </a:p>
          </p:txBody>
        </p:sp>
        <p:sp>
          <p:nvSpPr>
            <p:cNvPr id="40" name="TextBox 40"/>
            <p:cNvSpPr txBox="1"/>
            <p:nvPr/>
          </p:nvSpPr>
          <p:spPr>
            <a:xfrm>
              <a:off x="9345930" y="3019425"/>
              <a:ext cx="57054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Consolas"/>
                  <a:ea typeface="Consolas"/>
                  <a:cs typeface="Consolas"/>
                </a:rPr>
                <a:t>197.1</a:t>
              </a:r>
            </a:p>
          </p:txBody>
        </p:sp>
        <p:sp>
          <p:nvSpPr>
            <p:cNvPr id="41" name="TextBox 41"/>
            <p:cNvSpPr txBox="1"/>
            <p:nvPr/>
          </p:nvSpPr>
          <p:spPr>
            <a:xfrm>
              <a:off x="9345930" y="3495675"/>
              <a:ext cx="570548" cy="293370"/>
            </a:xfrm>
            <a:prstGeom prst="rect">
              <a:avLst/>
            </a:prstGeom>
            <a:noFill/>
            <a:ln>
              <a:noFill/>
            </a:ln>
          </p:spPr>
          <p:txBody>
            <a:bodyPr wrap="none" lIns="0" tIns="0" rIns="0" bIns="0" anchor="t" anchorCtr="0">
              <a:spAutoFit/>
            </a:bodyPr>
            <a:lstStyle/>
            <a:p>
              <a:pPr algn="l"/>
              <a:r>
                <a:rPr lang="en-US" sz="1500" dirty="0">
                  <a:solidFill>
                    <a:schemeClr val="dk1"/>
                  </a:solidFill>
                  <a:latin typeface="Consolas"/>
                  <a:ea typeface="Consolas"/>
                  <a:cs typeface="Consolas"/>
                </a:rPr>
                <a:t>401.9</a:t>
              </a:r>
            </a:p>
          </p:txBody>
        </p:sp>
        <p:sp>
          <p:nvSpPr>
            <p:cNvPr id="42" name="TextBox 42"/>
            <p:cNvSpPr txBox="1"/>
            <p:nvPr/>
          </p:nvSpPr>
          <p:spPr>
            <a:xfrm>
              <a:off x="9345930" y="3971925"/>
              <a:ext cx="1186434" cy="293370"/>
            </a:xfrm>
            <a:prstGeom prst="rect">
              <a:avLst/>
            </a:prstGeom>
            <a:noFill/>
            <a:ln>
              <a:noFill/>
            </a:ln>
          </p:spPr>
          <p:txBody>
            <a:bodyPr wrap="none" lIns="0" tIns="0" rIns="0" bIns="0" anchor="t" anchorCtr="0">
              <a:spAutoFit/>
            </a:bodyPr>
            <a:lstStyle/>
            <a:p>
              <a:pPr algn="l"/>
              <a:r>
                <a:rPr lang="en-US" sz="1500" dirty="0">
                  <a:solidFill>
                    <a:srgbClr val="5F6875"/>
                  </a:solidFill>
                  <a:latin typeface="Consolas"/>
                  <a:ea typeface="Consolas"/>
                  <a:cs typeface="Consolas"/>
                </a:rPr>
                <a:t>not exposed</a:t>
              </a:r>
            </a:p>
          </p:txBody>
        </p:sp>
        <p:sp>
          <p:nvSpPr>
            <p:cNvPr id="43" name="TextBox 43"/>
            <p:cNvSpPr txBox="1"/>
            <p:nvPr/>
          </p:nvSpPr>
          <p:spPr>
            <a:xfrm>
              <a:off x="9345930" y="4448175"/>
              <a:ext cx="1186434" cy="293370"/>
            </a:xfrm>
            <a:prstGeom prst="rect">
              <a:avLst/>
            </a:prstGeom>
            <a:noFill/>
            <a:ln>
              <a:noFill/>
            </a:ln>
          </p:spPr>
          <p:txBody>
            <a:bodyPr wrap="none" lIns="0" tIns="0" rIns="0" bIns="0" anchor="t" anchorCtr="0">
              <a:spAutoFit/>
            </a:bodyPr>
            <a:lstStyle/>
            <a:p>
              <a:pPr algn="l"/>
              <a:r>
                <a:rPr lang="en-US" sz="1500" dirty="0">
                  <a:solidFill>
                    <a:srgbClr val="5F6875"/>
                  </a:solidFill>
                  <a:latin typeface="Consolas"/>
                  <a:ea typeface="Consolas"/>
                  <a:cs typeface="Consolas"/>
                </a:rPr>
                <a:t>not exposed</a:t>
              </a:r>
            </a:p>
          </p:txBody>
        </p:sp>
        <p:sp>
          <p:nvSpPr>
            <p:cNvPr id="44" name="TextBox 44"/>
            <p:cNvSpPr txBox="1"/>
            <p:nvPr/>
          </p:nvSpPr>
          <p:spPr>
            <a:xfrm>
              <a:off x="4089654" y="4804410"/>
              <a:ext cx="4673689" cy="234696"/>
            </a:xfrm>
            <a:prstGeom prst="rect">
              <a:avLst/>
            </a:prstGeom>
            <a:noFill/>
            <a:ln>
              <a:noFill/>
            </a:ln>
          </p:spPr>
          <p:txBody>
            <a:bodyPr wrap="none" lIns="0" tIns="0" rIns="0" bIns="0" anchor="t" anchorCtr="0">
              <a:spAutoFit/>
            </a:bodyPr>
            <a:lstStyle/>
            <a:p>
              <a:pPr algn="l"/>
              <a:r>
                <a:rPr lang="en-US" sz="1200" b="1" dirty="0">
                  <a:solidFill>
                    <a:schemeClr val="accent1"/>
                  </a:solidFill>
                  <a:latin typeface="+mn-lt"/>
                  <a:ea typeface="+mn-ea"/>
                  <a:cs typeface="+mn-cs"/>
                </a:rPr>
                <a:t>dark dots</a:t>
              </a:r>
              <a:r>
                <a:rPr lang="en-US" sz="1200" dirty="0">
                  <a:solidFill>
                    <a:srgbClr val="5F6875"/>
                  </a:solidFill>
                  <a:latin typeface="+mn-lt"/>
                  <a:ea typeface="+mn-ea"/>
                  <a:cs typeface="+mn-cs"/>
                </a:rPr>
                <a:t xml:space="preserve"> = endpoint accuracy · </a:t>
              </a:r>
              <a:r>
                <a:rPr lang="en-US" sz="1200" b="1" dirty="0">
                  <a:solidFill>
                    <a:schemeClr val="accent2"/>
                  </a:solidFill>
                  <a:latin typeface="+mn-lt"/>
                  <a:ea typeface="+mn-ea"/>
                  <a:cs typeface="+mn-cs"/>
                </a:rPr>
                <a:t>bright dots</a:t>
              </a:r>
              <a:r>
                <a:rPr lang="en-US" sz="1200" dirty="0">
                  <a:solidFill>
                    <a:srgbClr val="5F6875"/>
                  </a:solidFill>
                  <a:latin typeface="+mn-lt"/>
                  <a:ea typeface="+mn-ea"/>
                  <a:cs typeface="+mn-cs"/>
                </a:rPr>
                <a:t xml:space="preserve"> = semantic F1</a:t>
              </a:r>
            </a:p>
          </p:txBody>
        </p:sp>
      </p:grpSp>
      <p:grpSp>
        <p:nvGrpSpPr>
          <p:cNvPr id="53" name="Group 53"/>
          <p:cNvGrpSpPr/>
          <p:nvPr/>
        </p:nvGrpSpPr>
        <p:grpSpPr>
          <a:xfrm>
            <a:off x="533400" y="5238750"/>
            <a:ext cx="11125200" cy="775525"/>
            <a:chOff x="533400" y="5238750"/>
            <a:chExt cx="11125200" cy="775525"/>
          </a:xfrm>
        </p:grpSpPr>
        <p:sp>
          <p:nvSpPr>
            <p:cNvPr id="46" name="Rectangle 46"/>
            <p:cNvSpPr/>
            <p:nvPr/>
          </p:nvSpPr>
          <p:spPr>
            <a:xfrm>
              <a:off x="533400" y="5238750"/>
              <a:ext cx="5334000" cy="752475"/>
            </a:xfrm>
            <a:prstGeom prst="roundRect">
              <a:avLst>
                <a:gd name="adj" fmla="val 15190"/>
              </a:avLst>
            </a:prstGeom>
            <a:solidFill>
              <a:srgbClr val="DDF3EF"/>
            </a:solidFill>
            <a:ln>
              <a:noFill/>
            </a:ln>
          </p:spPr>
        </p:sp>
        <p:sp>
          <p:nvSpPr>
            <p:cNvPr id="47" name="TextBox 47"/>
            <p:cNvSpPr txBox="1"/>
            <p:nvPr/>
          </p:nvSpPr>
          <p:spPr>
            <a:xfrm>
              <a:off x="755142" y="5369242"/>
              <a:ext cx="1828343"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ROBUST WORKFLOW</a:t>
              </a:r>
            </a:p>
          </p:txBody>
        </p:sp>
        <p:sp>
          <p:nvSpPr>
            <p:cNvPr id="48" name="TextBox 48"/>
            <p:cNvSpPr txBox="1"/>
            <p:nvPr/>
          </p:nvSpPr>
          <p:spPr>
            <a:xfrm>
              <a:off x="752856" y="5615940"/>
              <a:ext cx="530970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semantic F1 .985 · endpoint accuracy .840</a:t>
              </a:r>
            </a:p>
          </p:txBody>
        </p:sp>
        <p:sp>
          <p:nvSpPr>
            <p:cNvPr id="49" name="Rectangle 49"/>
            <p:cNvSpPr/>
            <p:nvPr/>
          </p:nvSpPr>
          <p:spPr>
            <a:xfrm>
              <a:off x="6096000" y="5238750"/>
              <a:ext cx="5562600" cy="752475"/>
            </a:xfrm>
            <a:prstGeom prst="roundRect">
              <a:avLst>
                <a:gd name="adj" fmla="val 15190"/>
              </a:avLst>
            </a:prstGeom>
            <a:solidFill>
              <a:srgbClr val="FFF1E9"/>
            </a:solidFill>
            <a:ln>
              <a:noFill/>
            </a:ln>
          </p:spPr>
        </p:sp>
        <p:sp>
          <p:nvSpPr>
            <p:cNvPr id="50" name="TextBox 50"/>
            <p:cNvSpPr txBox="1"/>
            <p:nvPr/>
          </p:nvSpPr>
          <p:spPr>
            <a:xfrm>
              <a:off x="6317742" y="5369242"/>
              <a:ext cx="2060212" cy="264033"/>
            </a:xfrm>
            <a:prstGeom prst="rect">
              <a:avLst/>
            </a:prstGeom>
            <a:noFill/>
            <a:ln>
              <a:noFill/>
            </a:ln>
          </p:spPr>
          <p:txBody>
            <a:bodyPr wrap="none" lIns="0" tIns="0" rIns="0" bIns="0" anchor="t" anchorCtr="0">
              <a:spAutoFit/>
            </a:bodyPr>
            <a:lstStyle/>
            <a:p>
              <a:pPr algn="l"/>
              <a:r>
                <a:rPr lang="en-US" sz="1350" b="1" dirty="0">
                  <a:solidFill>
                    <a:srgbClr val="B45F4A"/>
                  </a:solidFill>
                  <a:latin typeface="+mn-lt"/>
                  <a:ea typeface="+mn-ea"/>
                  <a:cs typeface="+mn-cs"/>
                </a:rPr>
                <a:t>INTERPRETATION LIMIT</a:t>
              </a:r>
            </a:p>
          </p:txBody>
        </p:sp>
        <p:sp>
          <p:nvSpPr>
            <p:cNvPr id="51" name="TextBox 51"/>
            <p:cNvSpPr txBox="1"/>
            <p:nvPr/>
          </p:nvSpPr>
          <p:spPr>
            <a:xfrm>
              <a:off x="6317742" y="5531168"/>
              <a:ext cx="348193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Different α policy: workflow evidence,</a:t>
              </a:r>
            </a:p>
          </p:txBody>
        </p:sp>
        <p:sp>
          <p:nvSpPr>
            <p:cNvPr id="52" name="TextBox 52"/>
            <p:cNvSpPr txBox="1"/>
            <p:nvPr/>
          </p:nvSpPr>
          <p:spPr>
            <a:xfrm>
              <a:off x="6317742" y="5750242"/>
              <a:ext cx="3139592"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not isolated algorithm superiority.</a:t>
              </a:r>
            </a:p>
          </p:txBody>
        </p:sp>
      </p:grpSp>
      <p:grpSp>
        <p:nvGrpSpPr>
          <p:cNvPr id="56" name="Group 56"/>
          <p:cNvGrpSpPr/>
          <p:nvPr/>
        </p:nvGrpSpPr>
        <p:grpSpPr>
          <a:xfrm>
            <a:off x="527304" y="6290310"/>
            <a:ext cx="11137392" cy="234696"/>
            <a:chOff x="527304" y="6290310"/>
            <a:chExt cx="11137392" cy="234696"/>
          </a:xfrm>
        </p:grpSpPr>
        <p:sp>
          <p:nvSpPr>
            <p:cNvPr id="54" name="TextBox 54"/>
            <p:cNvSpPr txBox="1"/>
            <p:nvPr/>
          </p:nvSpPr>
          <p:spPr>
            <a:xfrm>
              <a:off x="527304" y="6290310"/>
              <a:ext cx="10025565"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reports/data/software_benchmark_summary.csv · pcalg timing includes R startup · wall time is not a cross-language contest</a:t>
              </a:r>
            </a:p>
          </p:txBody>
        </p:sp>
        <p:sp>
          <p:nvSpPr>
            <p:cNvPr id="55" name="TextBox 55"/>
            <p:cNvSpPr txBox="1"/>
            <p:nvPr/>
          </p:nvSpPr>
          <p:spPr>
            <a:xfrm>
              <a:off x="11111332" y="6290310"/>
              <a:ext cx="553364" cy="234696"/>
            </a:xfrm>
            <a:prstGeom prst="rect">
              <a:avLst/>
            </a:prstGeom>
            <a:noFill/>
            <a:ln>
              <a:noFill/>
            </a:ln>
          </p:spPr>
          <p:txBody>
            <a:bodyPr wrap="none" lIns="0" tIns="0" rIns="0" bIns="0" anchor="t" anchorCtr="0">
              <a:spAutoFit/>
            </a:bodyPr>
            <a:lstStyle/>
            <a:p>
              <a:pPr algn="r"/>
              <a:r>
                <a:rPr lang="en-US" sz="1200" dirty="0">
                  <a:solidFill>
                    <a:srgbClr val="5F6875"/>
                  </a:solidFill>
                  <a:latin typeface="Consolas"/>
                  <a:ea typeface="Consolas"/>
                  <a:cs typeface="Consolas"/>
                </a:rPr>
                <a:t>10 / 15</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18160" y="361950"/>
            <a:ext cx="11147298" cy="790575"/>
            <a:chOff x="518160" y="361950"/>
            <a:chExt cx="11147298" cy="790575"/>
          </a:xfrm>
        </p:grpSpPr>
        <p:sp>
          <p:nvSpPr>
            <p:cNvPr id="2" name="TextBox 2"/>
            <p:cNvSpPr txBox="1"/>
            <p:nvPr/>
          </p:nvSpPr>
          <p:spPr>
            <a:xfrm>
              <a:off x="518160" y="361950"/>
              <a:ext cx="10649954"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STAR Supplies Randomization—and Selection Risk</a:t>
              </a:r>
            </a:p>
          </p:txBody>
        </p:sp>
        <p:sp>
          <p:nvSpPr>
            <p:cNvPr id="3" name="TextBox 3"/>
            <p:cNvSpPr txBox="1"/>
            <p:nvPr/>
          </p:nvSpPr>
          <p:spPr>
            <a:xfrm>
              <a:off x="9606686" y="844868"/>
              <a:ext cx="2058772" cy="264033"/>
            </a:xfrm>
            <a:prstGeom prst="rect">
              <a:avLst/>
            </a:prstGeom>
            <a:noFill/>
            <a:ln>
              <a:noFill/>
            </a:ln>
          </p:spPr>
          <p:txBody>
            <a:bodyPr wrap="none" lIns="0" tIns="0" rIns="0" bIns="0" anchor="t" anchorCtr="0">
              <a:spAutoFit/>
            </a:bodyPr>
            <a:lstStyle/>
            <a:p>
              <a:pPr algn="r"/>
              <a:r>
                <a:rPr lang="en-US" sz="1350" dirty="0">
                  <a:solidFill>
                    <a:schemeClr val="accent6"/>
                  </a:solidFill>
                  <a:latin typeface="Consolas"/>
                  <a:ea typeface="Consolas"/>
                  <a:cs typeface="Consolas"/>
                </a:rPr>
                <a:t>APPLICATION BOUNDARY</a:t>
              </a:r>
            </a:p>
          </p:txBody>
        </p:sp>
        <p:sp>
          <p:nvSpPr>
            <p:cNvPr id="4" name="Line 4"/>
            <p:cNvSpPr/>
            <p:nvPr/>
          </p:nvSpPr>
          <p:spPr>
            <a:xfrm>
              <a:off x="533400" y="1143000"/>
              <a:ext cx="11125200" cy="9525"/>
            </a:xfrm>
            <a:custGeom>
              <a:avLst/>
              <a:gdLst/>
              <a:ahLst/>
              <a:cxnLst/>
              <a:rect l="l" t="t" r="r" b="b"/>
              <a:pathLst>
                <a:path w="11125200" h="9525">
                  <a:moveTo>
                    <a:pt x="0" y="0"/>
                  </a:moveTo>
                  <a:lnTo>
                    <a:pt x="11125200" y="0"/>
                  </a:lnTo>
                </a:path>
              </a:pathLst>
            </a:custGeom>
            <a:noFill/>
            <a:ln w="14288">
              <a:solidFill>
                <a:srgbClr val="CBD2DC"/>
              </a:solidFill>
            </a:ln>
          </p:spPr>
        </p:sp>
      </p:grpSp>
      <p:grpSp>
        <p:nvGrpSpPr>
          <p:cNvPr id="10" name="Group 10"/>
          <p:cNvGrpSpPr/>
          <p:nvPr/>
        </p:nvGrpSpPr>
        <p:grpSpPr>
          <a:xfrm>
            <a:off x="533400" y="1133475"/>
            <a:ext cx="4619625" cy="228600"/>
            <a:chOff x="533400" y="1133475"/>
            <a:chExt cx="4619625" cy="228600"/>
          </a:xfrm>
        </p:grpSpPr>
        <p:sp>
          <p:nvSpPr>
            <p:cNvPr id="6" name="Rectangle 6"/>
            <p:cNvSpPr/>
            <p:nvPr/>
          </p:nvSpPr>
          <p:spPr>
            <a:xfrm>
              <a:off x="533400" y="1162050"/>
              <a:ext cx="152400" cy="152400"/>
            </a:xfrm>
            <a:prstGeom prst="roundRect">
              <a:avLst>
                <a:gd name="adj" fmla="val 18750"/>
              </a:avLst>
            </a:prstGeom>
            <a:solidFill>
              <a:srgbClr val="2E7D5B"/>
            </a:solidFill>
            <a:ln>
              <a:noFill/>
            </a:ln>
          </p:spPr>
        </p:sp>
        <p:sp>
          <p:nvSpPr>
            <p:cNvPr id="7" name="TextBox 7"/>
            <p:cNvSpPr txBox="1"/>
            <p:nvPr/>
          </p:nvSpPr>
          <p:spPr>
            <a:xfrm>
              <a:off x="781050" y="1133475"/>
              <a:ext cx="1809750" cy="228600"/>
            </a:xfrm>
            <a:prstGeom prst="rect">
              <a:avLst/>
            </a:prstGeom>
            <a:noFill/>
            <a:ln>
              <a:noFill/>
            </a:ln>
          </p:spPr>
          <p:txBody>
            <a:bodyPr wrap="square" lIns="0" tIns="50006" rIns="0" bIns="0" anchor="t" anchorCtr="0">
              <a:noAutofit/>
            </a:bodyPr>
            <a:lstStyle/>
            <a:p>
              <a:pPr algn="l"/>
              <a:r>
                <a:rPr lang="en-US" sz="1120" b="1" dirty="0">
                  <a:solidFill>
                    <a:srgbClr val="2E7D5B"/>
                  </a:solidFill>
                  <a:latin typeface="+mn-lt"/>
                  <a:ea typeface="+mn-ea"/>
                  <a:cs typeface="+mn-cs"/>
                </a:rPr>
                <a:t>DESIGN-BASED</a:t>
              </a:r>
            </a:p>
          </p:txBody>
        </p:sp>
        <p:sp>
          <p:nvSpPr>
            <p:cNvPr id="8" name="Rectangle 8"/>
            <p:cNvSpPr/>
            <p:nvPr/>
          </p:nvSpPr>
          <p:spPr>
            <a:xfrm>
              <a:off x="2905125" y="1162050"/>
              <a:ext cx="152400" cy="152400"/>
            </a:xfrm>
            <a:prstGeom prst="roundRect">
              <a:avLst>
                <a:gd name="adj" fmla="val 18750"/>
              </a:avLst>
            </a:prstGeom>
            <a:solidFill>
              <a:schemeClr val="accent2"/>
            </a:solidFill>
            <a:ln>
              <a:noFill/>
            </a:ln>
          </p:spPr>
        </p:sp>
        <p:sp>
          <p:nvSpPr>
            <p:cNvPr id="9" name="TextBox 9"/>
            <p:cNvSpPr txBox="1"/>
            <p:nvPr/>
          </p:nvSpPr>
          <p:spPr>
            <a:xfrm>
              <a:off x="3152775" y="1133475"/>
              <a:ext cx="2000250" cy="228600"/>
            </a:xfrm>
            <a:prstGeom prst="rect">
              <a:avLst/>
            </a:prstGeom>
            <a:noFill/>
            <a:ln>
              <a:noFill/>
            </a:ln>
          </p:spPr>
          <p:txBody>
            <a:bodyPr wrap="square" lIns="0" tIns="50006" rIns="0" bIns="0" anchor="t" anchorCtr="0">
              <a:noAutofit/>
            </a:bodyPr>
            <a:lstStyle/>
            <a:p>
              <a:pPr algn="l"/>
              <a:r>
                <a:rPr lang="en-US" sz="1120" b="1" dirty="0">
                  <a:solidFill>
                    <a:schemeClr val="accent2"/>
                  </a:solidFill>
                  <a:latin typeface="+mn-lt"/>
                  <a:ea typeface="+mn-ea"/>
                  <a:cs typeface="+mn-cs"/>
                </a:rPr>
                <a:t>EXPLORATORY PAG</a:t>
              </a:r>
            </a:p>
          </p:txBody>
        </p:sp>
      </p:grpSp>
      <p:grpSp>
        <p:nvGrpSpPr>
          <p:cNvPr id="28" name="Group 28"/>
          <p:cNvGrpSpPr/>
          <p:nvPr/>
        </p:nvGrpSpPr>
        <p:grpSpPr>
          <a:xfrm>
            <a:off x="526542" y="1702118"/>
            <a:ext cx="6560058" cy="3489007"/>
            <a:chOff x="526542" y="1702118"/>
            <a:chExt cx="6560058" cy="3489007"/>
          </a:xfrm>
        </p:grpSpPr>
        <p:sp>
          <p:nvSpPr>
            <p:cNvPr id="11" name="TextBox 11"/>
            <p:cNvSpPr txBox="1"/>
            <p:nvPr/>
          </p:nvSpPr>
          <p:spPr>
            <a:xfrm>
              <a:off x="526542" y="1702118"/>
              <a:ext cx="2181187" cy="264033"/>
            </a:xfrm>
            <a:prstGeom prst="rect">
              <a:avLst/>
            </a:prstGeom>
            <a:noFill/>
            <a:ln>
              <a:noFill/>
            </a:ln>
          </p:spPr>
          <p:txBody>
            <a:bodyPr wrap="none" lIns="0" tIns="0" rIns="0" bIns="0" anchor="t" anchorCtr="0">
              <a:spAutoFit/>
            </a:bodyPr>
            <a:lstStyle/>
            <a:p>
              <a:pPr algn="l"/>
              <a:r>
                <a:rPr lang="en-US" sz="1350" b="1" dirty="0">
                  <a:solidFill>
                    <a:srgbClr val="5F6875"/>
                  </a:solidFill>
                  <a:latin typeface="+mn-lt"/>
                  <a:ea typeface="+mn-ea"/>
                  <a:cs typeface="+mn-cs"/>
                </a:rPr>
                <a:t>COHORT CONSTRUCTION</a:t>
              </a:r>
            </a:p>
          </p:txBody>
        </p:sp>
        <p:grpSp>
          <p:nvGrpSpPr>
            <p:cNvPr id="18" name="Group 18"/>
            <p:cNvGrpSpPr/>
            <p:nvPr/>
          </p:nvGrpSpPr>
          <p:grpSpPr>
            <a:xfrm>
              <a:off x="685800" y="2038350"/>
              <a:ext cx="6400800" cy="3152775"/>
              <a:chOff x="685800" y="2038350"/>
              <a:chExt cx="6400800" cy="3152775"/>
            </a:xfrm>
          </p:grpSpPr>
          <p:sp>
            <p:nvSpPr>
              <p:cNvPr id="12" name="Line 12"/>
              <p:cNvSpPr/>
              <p:nvPr/>
            </p:nvSpPr>
            <p:spPr>
              <a:xfrm>
                <a:off x="685800" y="5181600"/>
                <a:ext cx="6400800" cy="9525"/>
              </a:xfrm>
              <a:custGeom>
                <a:avLst/>
                <a:gdLst/>
                <a:ahLst/>
                <a:cxnLst/>
                <a:rect l="l" t="t" r="r" b="b"/>
                <a:pathLst>
                  <a:path w="6400800" h="9525">
                    <a:moveTo>
                      <a:pt x="0" y="0"/>
                    </a:moveTo>
                    <a:lnTo>
                      <a:pt x="6400800" y="0"/>
                    </a:lnTo>
                  </a:path>
                </a:pathLst>
              </a:custGeom>
              <a:noFill/>
              <a:ln w="14288">
                <a:solidFill>
                  <a:srgbClr val="CBD2DC"/>
                </a:solidFill>
              </a:ln>
            </p:spPr>
          </p:sp>
          <p:sp>
            <p:nvSpPr>
              <p:cNvPr id="13" name="Polygon 13"/>
              <p:cNvSpPr/>
              <p:nvPr/>
            </p:nvSpPr>
            <p:spPr>
              <a:xfrm>
                <a:off x="685800" y="2038350"/>
                <a:ext cx="6400800" cy="838200"/>
              </a:xfrm>
              <a:custGeom>
                <a:avLst/>
                <a:gdLst/>
                <a:ahLst/>
                <a:cxnLst/>
                <a:rect l="l" t="t" r="r" b="b"/>
                <a:pathLst>
                  <a:path w="6400800" h="838200">
                    <a:moveTo>
                      <a:pt x="0" y="0"/>
                    </a:moveTo>
                    <a:lnTo>
                      <a:pt x="6400800" y="0"/>
                    </a:lnTo>
                    <a:lnTo>
                      <a:pt x="4943475" y="838200"/>
                    </a:lnTo>
                    <a:lnTo>
                      <a:pt x="1457325" y="838200"/>
                    </a:lnTo>
                    <a:close/>
                  </a:path>
                </a:pathLst>
              </a:custGeom>
              <a:solidFill>
                <a:schemeClr val="accent5"/>
              </a:solidFill>
              <a:ln w="14288">
                <a:solidFill>
                  <a:srgbClr val="CBD2DC"/>
                </a:solidFill>
              </a:ln>
            </p:spPr>
          </p:sp>
          <p:sp>
            <p:nvSpPr>
              <p:cNvPr id="14" name="Rectangle 14"/>
              <p:cNvSpPr/>
              <p:nvPr/>
            </p:nvSpPr>
            <p:spPr>
              <a:xfrm>
                <a:off x="2143125" y="3009900"/>
                <a:ext cx="3486150" cy="838200"/>
              </a:xfrm>
              <a:prstGeom prst="roundRect">
                <a:avLst>
                  <a:gd name="adj" fmla="val 13636"/>
                </a:avLst>
              </a:prstGeom>
              <a:solidFill>
                <a:srgbClr val="DDF3EF"/>
              </a:solidFill>
              <a:ln w="19050">
                <a:solidFill>
                  <a:schemeClr val="accent6"/>
                </a:solidFill>
              </a:ln>
            </p:spPr>
          </p:sp>
          <p:sp>
            <p:nvSpPr>
              <p:cNvPr id="15" name="Rectangle 15"/>
              <p:cNvSpPr/>
              <p:nvPr/>
            </p:nvSpPr>
            <p:spPr>
              <a:xfrm>
                <a:off x="685800" y="4171950"/>
                <a:ext cx="1981200" cy="933450"/>
              </a:xfrm>
              <a:prstGeom prst="roundRect">
                <a:avLst>
                  <a:gd name="adj" fmla="val 12245"/>
                </a:avLst>
              </a:prstGeom>
              <a:solidFill>
                <a:srgbClr val="E8F0FF"/>
              </a:solidFill>
              <a:ln w="19050">
                <a:solidFill>
                  <a:schemeClr val="accent2"/>
                </a:solidFill>
              </a:ln>
            </p:spPr>
          </p:sp>
          <p:sp>
            <p:nvSpPr>
              <p:cNvPr id="16" name="Rectangle 16"/>
              <p:cNvSpPr/>
              <p:nvPr/>
            </p:nvSpPr>
            <p:spPr>
              <a:xfrm>
                <a:off x="2895600" y="4171950"/>
                <a:ext cx="1981200" cy="933450"/>
              </a:xfrm>
              <a:prstGeom prst="roundRect">
                <a:avLst>
                  <a:gd name="adj" fmla="val 12245"/>
                </a:avLst>
              </a:prstGeom>
              <a:solidFill>
                <a:srgbClr val="E8F0FF"/>
              </a:solidFill>
              <a:ln w="19050">
                <a:solidFill>
                  <a:schemeClr val="accent2"/>
                </a:solidFill>
              </a:ln>
            </p:spPr>
          </p:sp>
          <p:sp>
            <p:nvSpPr>
              <p:cNvPr id="17" name="Rectangle 17"/>
              <p:cNvSpPr/>
              <p:nvPr/>
            </p:nvSpPr>
            <p:spPr>
              <a:xfrm>
                <a:off x="5105400" y="4171950"/>
                <a:ext cx="1981200" cy="933450"/>
              </a:xfrm>
              <a:prstGeom prst="roundRect">
                <a:avLst>
                  <a:gd name="adj" fmla="val 12245"/>
                </a:avLst>
              </a:prstGeom>
              <a:solidFill>
                <a:srgbClr val="E8F0FF"/>
              </a:solidFill>
              <a:ln w="19050">
                <a:solidFill>
                  <a:schemeClr val="accent2"/>
                </a:solidFill>
              </a:ln>
            </p:spPr>
          </p:sp>
        </p:grpSp>
        <p:sp>
          <p:nvSpPr>
            <p:cNvPr id="19" name="TextBox 19"/>
            <p:cNvSpPr txBox="1"/>
            <p:nvPr/>
          </p:nvSpPr>
          <p:spPr>
            <a:xfrm>
              <a:off x="1759839" y="2215515"/>
              <a:ext cx="4252723" cy="352044"/>
            </a:xfrm>
            <a:prstGeom prst="rect">
              <a:avLst/>
            </a:prstGeom>
            <a:noFill/>
            <a:ln>
              <a:noFill/>
            </a:ln>
          </p:spPr>
          <p:txBody>
            <a:bodyPr wrap="none" lIns="0" tIns="0" rIns="0" bIns="0" anchor="t" anchorCtr="0">
              <a:spAutoFit/>
            </a:bodyPr>
            <a:lstStyle/>
            <a:p>
              <a:pPr algn="ctr"/>
              <a:r>
                <a:rPr lang="en-US" sz="1800" b="1" dirty="0">
                  <a:solidFill>
                    <a:schemeClr val="accent1"/>
                  </a:solidFill>
                  <a:latin typeface="+mn-lt"/>
                  <a:ea typeface="+mn-ea"/>
                  <a:cs typeface="+mn-cs"/>
                </a:rPr>
                <a:t>Official record · 11,601 students</a:t>
              </a:r>
            </a:p>
          </p:txBody>
        </p:sp>
        <p:sp>
          <p:nvSpPr>
            <p:cNvPr id="20" name="TextBox 20"/>
            <p:cNvSpPr txBox="1"/>
            <p:nvPr/>
          </p:nvSpPr>
          <p:spPr>
            <a:xfrm>
              <a:off x="2210807" y="3152775"/>
              <a:ext cx="3350785" cy="293370"/>
            </a:xfrm>
            <a:prstGeom prst="rect">
              <a:avLst/>
            </a:prstGeom>
            <a:noFill/>
            <a:ln>
              <a:noFill/>
            </a:ln>
          </p:spPr>
          <p:txBody>
            <a:bodyPr wrap="none" lIns="0" tIns="0" rIns="0" bIns="0" anchor="t" anchorCtr="0">
              <a:spAutoFit/>
            </a:bodyPr>
            <a:lstStyle/>
            <a:p>
              <a:pPr algn="ctr"/>
              <a:r>
                <a:rPr lang="en-US" sz="1500" b="1" dirty="0">
                  <a:solidFill>
                    <a:schemeClr val="accent6"/>
                  </a:solidFill>
                  <a:latin typeface="+mn-lt"/>
                  <a:ea typeface="+mn-ea"/>
                  <a:cs typeface="+mn-cs"/>
                </a:rPr>
                <a:t>Kindergarten assignment cohort</a:t>
              </a:r>
            </a:p>
          </p:txBody>
        </p:sp>
        <p:sp>
          <p:nvSpPr>
            <p:cNvPr id="21" name="TextBox 21"/>
            <p:cNvSpPr txBox="1"/>
            <p:nvPr/>
          </p:nvSpPr>
          <p:spPr>
            <a:xfrm>
              <a:off x="2505456" y="3448050"/>
              <a:ext cx="2761488"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Consolas"/>
                  <a:ea typeface="Consolas"/>
                  <a:cs typeface="Consolas"/>
                </a:rPr>
                <a:t>6,325 students · 79 schools</a:t>
              </a:r>
            </a:p>
          </p:txBody>
        </p:sp>
        <p:sp>
          <p:nvSpPr>
            <p:cNvPr id="22" name="TextBox 22"/>
            <p:cNvSpPr txBox="1"/>
            <p:nvPr/>
          </p:nvSpPr>
          <p:spPr>
            <a:xfrm>
              <a:off x="1194054" y="4333875"/>
              <a:ext cx="964692"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mn-lt"/>
                  <a:ea typeface="+mn-ea"/>
                  <a:cs typeface="+mn-cs"/>
                </a:rPr>
                <a:t>Attrition</a:t>
              </a:r>
            </a:p>
          </p:txBody>
        </p:sp>
        <p:sp>
          <p:nvSpPr>
            <p:cNvPr id="23" name="TextBox 23"/>
            <p:cNvSpPr txBox="1"/>
            <p:nvPr/>
          </p:nvSpPr>
          <p:spPr>
            <a:xfrm>
              <a:off x="911542" y="4667250"/>
              <a:ext cx="1529715"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Consolas"/>
                  <a:ea typeface="Consolas"/>
                  <a:cs typeface="Consolas"/>
                </a:rPr>
                <a:t>5,744 · 9 nodes</a:t>
              </a:r>
            </a:p>
          </p:txBody>
        </p:sp>
        <p:sp>
          <p:nvSpPr>
            <p:cNvPr id="24" name="TextBox 24"/>
            <p:cNvSpPr txBox="1"/>
            <p:nvPr/>
          </p:nvSpPr>
          <p:spPr>
            <a:xfrm>
              <a:off x="3255477" y="4333875"/>
              <a:ext cx="1261446"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mn-lt"/>
                  <a:ea typeface="+mn-ea"/>
                  <a:cs typeface="+mn-cs"/>
                </a:rPr>
                <a:t>Longitudinal</a:t>
              </a:r>
            </a:p>
          </p:txBody>
        </p:sp>
        <p:sp>
          <p:nvSpPr>
            <p:cNvPr id="25" name="TextBox 25"/>
            <p:cNvSpPr txBox="1"/>
            <p:nvPr/>
          </p:nvSpPr>
          <p:spPr>
            <a:xfrm>
              <a:off x="3121342" y="4667250"/>
              <a:ext cx="1529715"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Consolas"/>
                  <a:ea typeface="Consolas"/>
                  <a:cs typeface="Consolas"/>
                </a:rPr>
                <a:t>2,787 · 9 nodes</a:t>
              </a:r>
            </a:p>
          </p:txBody>
        </p:sp>
        <p:sp>
          <p:nvSpPr>
            <p:cNvPr id="26" name="TextBox 26"/>
            <p:cNvSpPr txBox="1"/>
            <p:nvPr/>
          </p:nvSpPr>
          <p:spPr>
            <a:xfrm>
              <a:off x="5676929" y="4333875"/>
              <a:ext cx="838143"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mn-lt"/>
                  <a:ea typeface="+mn-ea"/>
                  <a:cs typeface="+mn-cs"/>
                </a:rPr>
                <a:t>Focused</a:t>
              </a:r>
            </a:p>
          </p:txBody>
        </p:sp>
        <p:sp>
          <p:nvSpPr>
            <p:cNvPr id="27" name="TextBox 27"/>
            <p:cNvSpPr txBox="1"/>
            <p:nvPr/>
          </p:nvSpPr>
          <p:spPr>
            <a:xfrm>
              <a:off x="5331142" y="4667250"/>
              <a:ext cx="1529715" cy="293370"/>
            </a:xfrm>
            <a:prstGeom prst="rect">
              <a:avLst/>
            </a:prstGeom>
            <a:noFill/>
            <a:ln>
              <a:noFill/>
            </a:ln>
          </p:spPr>
          <p:txBody>
            <a:bodyPr wrap="none" lIns="0" tIns="0" rIns="0" bIns="0" anchor="t" anchorCtr="0">
              <a:spAutoFit/>
            </a:bodyPr>
            <a:lstStyle/>
            <a:p>
              <a:pPr algn="ctr"/>
              <a:r>
                <a:rPr lang="en-US" sz="1500" dirty="0">
                  <a:solidFill>
                    <a:schemeClr val="accent1"/>
                  </a:solidFill>
                  <a:latin typeface="Consolas"/>
                  <a:ea typeface="Consolas"/>
                  <a:cs typeface="Consolas"/>
                </a:rPr>
                <a:t>2,976 · 8 nodes</a:t>
              </a:r>
            </a:p>
          </p:txBody>
        </p:sp>
      </p:grpSp>
      <p:grpSp>
        <p:nvGrpSpPr>
          <p:cNvPr id="41" name="Group 41"/>
          <p:cNvGrpSpPr/>
          <p:nvPr/>
        </p:nvGrpSpPr>
        <p:grpSpPr>
          <a:xfrm>
            <a:off x="7810500" y="1619250"/>
            <a:ext cx="4187398" cy="3810000"/>
            <a:chOff x="7810500" y="1619250"/>
            <a:chExt cx="4187398" cy="3810000"/>
          </a:xfrm>
        </p:grpSpPr>
        <p:sp>
          <p:nvSpPr>
            <p:cNvPr id="29" name="Rectangle 29"/>
            <p:cNvSpPr/>
            <p:nvPr/>
          </p:nvSpPr>
          <p:spPr>
            <a:xfrm>
              <a:off x="7810500" y="1619250"/>
              <a:ext cx="3848100" cy="3810000"/>
            </a:xfrm>
            <a:prstGeom prst="roundRect">
              <a:avLst>
                <a:gd name="adj" fmla="val 4000"/>
              </a:avLst>
            </a:prstGeom>
            <a:solidFill>
              <a:schemeClr val="accent1"/>
            </a:solidFill>
            <a:ln>
              <a:noFill/>
            </a:ln>
          </p:spPr>
        </p:sp>
        <p:sp>
          <p:nvSpPr>
            <p:cNvPr id="30" name="TextBox 30"/>
            <p:cNvSpPr txBox="1"/>
            <p:nvPr/>
          </p:nvSpPr>
          <p:spPr>
            <a:xfrm>
              <a:off x="8089392" y="1825942"/>
              <a:ext cx="2392893" cy="264033"/>
            </a:xfrm>
            <a:prstGeom prst="rect">
              <a:avLst/>
            </a:prstGeom>
            <a:noFill/>
            <a:ln>
              <a:noFill/>
            </a:ln>
          </p:spPr>
          <p:txBody>
            <a:bodyPr wrap="none" lIns="0" tIns="0" rIns="0" bIns="0" anchor="t" anchorCtr="0">
              <a:spAutoFit/>
            </a:bodyPr>
            <a:lstStyle/>
            <a:p>
              <a:pPr algn="l"/>
              <a:r>
                <a:rPr lang="en-US" sz="1350" b="1" dirty="0">
                  <a:solidFill>
                    <a:srgbClr val="A7E8DF"/>
                  </a:solidFill>
                  <a:latin typeface="+mn-lt"/>
                  <a:ea typeface="+mn-ea"/>
                  <a:cs typeface="+mn-cs"/>
                </a:rPr>
                <a:t>IDENTIFICATION BOUNDARY</a:t>
              </a:r>
            </a:p>
          </p:txBody>
        </p:sp>
        <p:sp>
          <p:nvSpPr>
            <p:cNvPr id="31" name="TextBox 31"/>
            <p:cNvSpPr txBox="1"/>
            <p:nvPr/>
          </p:nvSpPr>
          <p:spPr>
            <a:xfrm>
              <a:off x="8084820" y="2157412"/>
              <a:ext cx="2834811"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j-lt"/>
                  <a:ea typeface="+mj-ea"/>
                  <a:cs typeface="+mj-cs"/>
                </a:rPr>
                <a:t>Experiment first</a:t>
              </a:r>
            </a:p>
          </p:txBody>
        </p:sp>
        <p:sp>
          <p:nvSpPr>
            <p:cNvPr id="32" name="TextBox 32"/>
            <p:cNvSpPr txBox="1"/>
            <p:nvPr/>
          </p:nvSpPr>
          <p:spPr>
            <a:xfrm>
              <a:off x="8088630" y="2590800"/>
              <a:ext cx="3747239" cy="293370"/>
            </a:xfrm>
            <a:prstGeom prst="rect">
              <a:avLst/>
            </a:prstGeom>
            <a:noFill/>
            <a:ln>
              <a:noFill/>
            </a:ln>
          </p:spPr>
          <p:txBody>
            <a:bodyPr wrap="none" lIns="0" tIns="0" rIns="0" bIns="0" anchor="t" anchorCtr="0">
              <a:spAutoFit/>
            </a:bodyPr>
            <a:lstStyle/>
            <a:p>
              <a:pPr algn="l"/>
              <a:r>
                <a:rPr lang="en-US" sz="1500" dirty="0">
                  <a:solidFill>
                    <a:srgbClr val="E9EDF5"/>
                  </a:solidFill>
                  <a:latin typeface="+mn-lt"/>
                  <a:ea typeface="+mn-ea"/>
                  <a:cs typeface="+mn-cs"/>
                </a:rPr>
                <a:t>Kindergarten arm assignment supplies</a:t>
              </a:r>
            </a:p>
          </p:txBody>
        </p:sp>
        <p:sp>
          <p:nvSpPr>
            <p:cNvPr id="33" name="TextBox 33"/>
            <p:cNvSpPr txBox="1"/>
            <p:nvPr/>
          </p:nvSpPr>
          <p:spPr>
            <a:xfrm>
              <a:off x="8088630" y="2847975"/>
              <a:ext cx="2761488" cy="293370"/>
            </a:xfrm>
            <a:prstGeom prst="rect">
              <a:avLst/>
            </a:prstGeom>
            <a:noFill/>
            <a:ln>
              <a:noFill/>
            </a:ln>
          </p:spPr>
          <p:txBody>
            <a:bodyPr wrap="none" lIns="0" tIns="0" rIns="0" bIns="0" anchor="t" anchorCtr="0">
              <a:spAutoFit/>
            </a:bodyPr>
            <a:lstStyle/>
            <a:p>
              <a:pPr algn="l"/>
              <a:r>
                <a:rPr lang="en-US" sz="1500" dirty="0">
                  <a:solidFill>
                    <a:srgbClr val="E9EDF5"/>
                  </a:solidFill>
                  <a:latin typeface="+mn-lt"/>
                  <a:ea typeface="+mn-ea"/>
                  <a:cs typeface="+mn-cs"/>
                </a:rPr>
                <a:t>the strongest design basis.</a:t>
              </a:r>
            </a:p>
          </p:txBody>
        </p:sp>
        <p:sp>
          <p:nvSpPr>
            <p:cNvPr id="34" name="Line 34"/>
            <p:cNvSpPr/>
            <p:nvPr/>
          </p:nvSpPr>
          <p:spPr>
            <a:xfrm>
              <a:off x="8096250" y="3314700"/>
              <a:ext cx="3276600" cy="9525"/>
            </a:xfrm>
            <a:custGeom>
              <a:avLst/>
              <a:gdLst/>
              <a:ahLst/>
              <a:cxnLst/>
              <a:rect l="l" t="t" r="r" b="b"/>
              <a:pathLst>
                <a:path w="3276600" h="9525">
                  <a:moveTo>
                    <a:pt x="0" y="0"/>
                  </a:moveTo>
                  <a:lnTo>
                    <a:pt x="3276600" y="0"/>
                  </a:lnTo>
                </a:path>
              </a:pathLst>
            </a:custGeom>
            <a:noFill/>
            <a:ln w="14288">
              <a:solidFill>
                <a:srgbClr val="5C7190"/>
              </a:solidFill>
            </a:ln>
          </p:spPr>
        </p:sp>
        <p:sp>
          <p:nvSpPr>
            <p:cNvPr id="35" name="TextBox 35"/>
            <p:cNvSpPr txBox="1"/>
            <p:nvPr/>
          </p:nvSpPr>
          <p:spPr>
            <a:xfrm>
              <a:off x="8084820" y="3424238"/>
              <a:ext cx="1913096" cy="440055"/>
            </a:xfrm>
            <a:prstGeom prst="rect">
              <a:avLst/>
            </a:prstGeom>
            <a:noFill/>
            <a:ln>
              <a:noFill/>
            </a:ln>
          </p:spPr>
          <p:txBody>
            <a:bodyPr wrap="none" lIns="0" tIns="0" rIns="0" bIns="0" anchor="t" anchorCtr="0">
              <a:spAutoFit/>
            </a:bodyPr>
            <a:lstStyle/>
            <a:p>
              <a:pPr algn="l"/>
              <a:r>
                <a:rPr lang="en-US" sz="2250" b="1" dirty="0">
                  <a:solidFill>
                    <a:srgbClr val="FFFFFF"/>
                  </a:solidFill>
                  <a:latin typeface="+mj-lt"/>
                  <a:ea typeface="+mj-ea"/>
                  <a:cs typeface="+mj-cs"/>
                </a:rPr>
                <a:t>PAG second</a:t>
              </a:r>
            </a:p>
          </p:txBody>
        </p:sp>
        <p:sp>
          <p:nvSpPr>
            <p:cNvPr id="36" name="TextBox 36"/>
            <p:cNvSpPr txBox="1"/>
            <p:nvPr/>
          </p:nvSpPr>
          <p:spPr>
            <a:xfrm>
              <a:off x="8088630" y="3857625"/>
              <a:ext cx="3909268" cy="293370"/>
            </a:xfrm>
            <a:prstGeom prst="rect">
              <a:avLst/>
            </a:prstGeom>
            <a:noFill/>
            <a:ln>
              <a:noFill/>
            </a:ln>
          </p:spPr>
          <p:txBody>
            <a:bodyPr wrap="none" lIns="0" tIns="0" rIns="0" bIns="0" anchor="t" anchorCtr="0">
              <a:spAutoFit/>
            </a:bodyPr>
            <a:lstStyle/>
            <a:p>
              <a:pPr algn="l"/>
              <a:r>
                <a:rPr lang="en-US" sz="1500" dirty="0">
                  <a:solidFill>
                    <a:srgbClr val="E9EDF5"/>
                  </a:solidFill>
                  <a:latin typeface="+mn-lt"/>
                  <a:ea typeface="+mn-ea"/>
                  <a:cs typeface="+mn-cs"/>
                </a:rPr>
                <a:t>Later complete-case panels may encode</a:t>
              </a:r>
            </a:p>
          </p:txBody>
        </p:sp>
        <p:sp>
          <p:nvSpPr>
            <p:cNvPr id="37" name="TextBox 37"/>
            <p:cNvSpPr txBox="1"/>
            <p:nvPr/>
          </p:nvSpPr>
          <p:spPr>
            <a:xfrm>
              <a:off x="8088630" y="4114800"/>
              <a:ext cx="3498533" cy="293370"/>
            </a:xfrm>
            <a:prstGeom prst="rect">
              <a:avLst/>
            </a:prstGeom>
            <a:noFill/>
            <a:ln>
              <a:noFill/>
            </a:ln>
          </p:spPr>
          <p:txBody>
            <a:bodyPr wrap="none" lIns="0" tIns="0" rIns="0" bIns="0" anchor="t" anchorCtr="0">
              <a:spAutoFit/>
            </a:bodyPr>
            <a:lstStyle/>
            <a:p>
              <a:pPr algn="l"/>
              <a:r>
                <a:rPr lang="en-US" sz="1500" dirty="0">
                  <a:solidFill>
                    <a:srgbClr val="E9EDF5"/>
                  </a:solidFill>
                  <a:latin typeface="+mn-lt"/>
                  <a:ea typeface="+mn-ea"/>
                  <a:cs typeface="+mn-cs"/>
                </a:rPr>
                <a:t>attrition and conditioning effects.</a:t>
              </a:r>
            </a:p>
          </p:txBody>
        </p:sp>
        <p:sp>
          <p:nvSpPr>
            <p:cNvPr id="38" name="Rectangle 38"/>
            <p:cNvSpPr/>
            <p:nvPr/>
          </p:nvSpPr>
          <p:spPr>
            <a:xfrm>
              <a:off x="8096250" y="4667250"/>
              <a:ext cx="3276600" cy="514350"/>
            </a:xfrm>
            <a:prstGeom prst="roundRect">
              <a:avLst>
                <a:gd name="adj" fmla="val 18519"/>
              </a:avLst>
            </a:prstGeom>
            <a:solidFill>
              <a:srgbClr val="B45F4A"/>
            </a:solidFill>
            <a:ln>
              <a:noFill/>
            </a:ln>
          </p:spPr>
        </p:sp>
        <p:sp>
          <p:nvSpPr>
            <p:cNvPr id="39" name="TextBox 39"/>
            <p:cNvSpPr txBox="1"/>
            <p:nvPr/>
          </p:nvSpPr>
          <p:spPr>
            <a:xfrm>
              <a:off x="8193342" y="4740592"/>
              <a:ext cx="3082417"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No temporal constraints supplied</a:t>
              </a:r>
            </a:p>
          </p:txBody>
        </p:sp>
        <p:sp>
          <p:nvSpPr>
            <p:cNvPr id="40" name="TextBox 40"/>
            <p:cNvSpPr txBox="1"/>
            <p:nvPr/>
          </p:nvSpPr>
          <p:spPr>
            <a:xfrm>
              <a:off x="8434860" y="4950142"/>
              <a:ext cx="259937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to the discovery algorithms</a:t>
              </a:r>
            </a:p>
          </p:txBody>
        </p:sp>
      </p:grpSp>
      <p:grpSp>
        <p:nvGrpSpPr>
          <p:cNvPr id="43" name="Group 43"/>
          <p:cNvGrpSpPr/>
          <p:nvPr/>
        </p:nvGrpSpPr>
        <p:grpSpPr>
          <a:xfrm>
            <a:off x="525780" y="5762625"/>
            <a:ext cx="10354418" cy="293370"/>
            <a:chOff x="525780" y="5762625"/>
            <a:chExt cx="10354418" cy="293370"/>
          </a:xfrm>
        </p:grpSpPr>
        <p:sp>
          <p:nvSpPr>
            <p:cNvPr id="42" name="TextBox 42"/>
            <p:cNvSpPr txBox="1"/>
            <p:nvPr/>
          </p:nvSpPr>
          <p:spPr>
            <a:xfrm>
              <a:off x="525780" y="5762625"/>
              <a:ext cx="10354418" cy="293370"/>
            </a:xfrm>
            <a:prstGeom prst="rect">
              <a:avLst/>
            </a:prstGeom>
            <a:noFill/>
            <a:ln>
              <a:noFill/>
            </a:ln>
          </p:spPr>
          <p:txBody>
            <a:bodyPr wrap="none" lIns="0" tIns="0" rIns="0" bIns="0" anchor="t" anchorCtr="0">
              <a:spAutoFit/>
            </a:bodyPr>
            <a:lstStyle/>
            <a:p>
              <a:pPr algn="l"/>
              <a:r>
                <a:rPr lang="en-US" sz="1500" b="1" dirty="0">
                  <a:solidFill>
                    <a:srgbClr val="2E7D5B"/>
                  </a:solidFill>
                  <a:latin typeface="+mn-lt"/>
                  <a:ea typeface="+mn-ea"/>
                  <a:cs typeface="+mn-cs"/>
                </a:rPr>
                <a:t>1,000 school-cluster resamples</a:t>
              </a:r>
              <a:r>
                <a:rPr lang="en-US" sz="1500" dirty="0">
                  <a:solidFill>
                    <a:schemeClr val="dk1"/>
                  </a:solidFill>
                  <a:latin typeface="+mn-lt"/>
                  <a:ea typeface="+mn-ea"/>
                  <a:cs typeface="+mn-cs"/>
                </a:rPr>
                <a:t xml:space="preserve"> for arm contrasts · </a:t>
              </a:r>
              <a:r>
                <a:rPr lang="en-US" sz="1500" b="1" dirty="0">
                  <a:solidFill>
                    <a:schemeClr val="accent2"/>
                  </a:solidFill>
                  <a:latin typeface="+mn-lt"/>
                  <a:ea typeface="+mn-ea"/>
                  <a:cs typeface="+mn-cs"/>
                </a:rPr>
                <a:t>12 school resamples</a:t>
              </a:r>
              <a:r>
                <a:rPr lang="en-US" sz="1500" dirty="0">
                  <a:solidFill>
                    <a:schemeClr val="dk1"/>
                  </a:solidFill>
                  <a:latin typeface="+mn-lt"/>
                  <a:ea typeface="+mn-ea"/>
                  <a:cs typeface="+mn-cs"/>
                </a:rPr>
                <a:t xml:space="preserve"> for coarse PAG stability only</a:t>
              </a:r>
            </a:p>
          </p:txBody>
        </p:sp>
      </p:grpSp>
      <p:grpSp>
        <p:nvGrpSpPr>
          <p:cNvPr id="46" name="Group 46"/>
          <p:cNvGrpSpPr/>
          <p:nvPr/>
        </p:nvGrpSpPr>
        <p:grpSpPr>
          <a:xfrm>
            <a:off x="527304" y="6309360"/>
            <a:ext cx="11137392" cy="234696"/>
            <a:chOff x="527304" y="6309360"/>
            <a:chExt cx="11137392" cy="234696"/>
          </a:xfrm>
        </p:grpSpPr>
        <p:sp>
          <p:nvSpPr>
            <p:cNvPr id="44" name="TextBox 44"/>
            <p:cNvSpPr txBox="1"/>
            <p:nvPr/>
          </p:nvSpPr>
          <p:spPr>
            <a:xfrm>
              <a:off x="527304" y="6309360"/>
              <a:ext cx="7268303"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Tennessee STAR DOI 10.7910/DVN/SIWH9F · committed cohort and preprocessing provenance</a:t>
              </a:r>
            </a:p>
          </p:txBody>
        </p:sp>
        <p:sp>
          <p:nvSpPr>
            <p:cNvPr id="45" name="TextBox 45"/>
            <p:cNvSpPr txBox="1"/>
            <p:nvPr/>
          </p:nvSpPr>
          <p:spPr>
            <a:xfrm>
              <a:off x="11111332" y="6309360"/>
              <a:ext cx="553364" cy="234696"/>
            </a:xfrm>
            <a:prstGeom prst="rect">
              <a:avLst/>
            </a:prstGeom>
            <a:noFill/>
            <a:ln>
              <a:noFill/>
            </a:ln>
          </p:spPr>
          <p:txBody>
            <a:bodyPr wrap="none" lIns="0" tIns="0" rIns="0" bIns="0" anchor="t" anchorCtr="0">
              <a:spAutoFit/>
            </a:bodyPr>
            <a:lstStyle/>
            <a:p>
              <a:pPr algn="r"/>
              <a:r>
                <a:rPr lang="en-US" sz="1200" dirty="0">
                  <a:solidFill>
                    <a:srgbClr val="5F6875"/>
                  </a:solidFill>
                  <a:latin typeface="Consolas"/>
                  <a:ea typeface="Consolas"/>
                  <a:cs typeface="Consolas"/>
                </a:rPr>
                <a:t>11 / 15</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18160" y="361950"/>
            <a:ext cx="11147298" cy="752475"/>
            <a:chOff x="518160" y="361950"/>
            <a:chExt cx="11147298" cy="752475"/>
          </a:xfrm>
        </p:grpSpPr>
        <p:sp>
          <p:nvSpPr>
            <p:cNvPr id="2" name="TextBox 2"/>
            <p:cNvSpPr txBox="1"/>
            <p:nvPr/>
          </p:nvSpPr>
          <p:spPr>
            <a:xfrm>
              <a:off x="518160" y="361950"/>
              <a:ext cx="10657808"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The Strongest Signal Comes from Randomization</a:t>
              </a:r>
            </a:p>
          </p:txBody>
        </p:sp>
        <p:sp>
          <p:nvSpPr>
            <p:cNvPr id="3" name="TextBox 3"/>
            <p:cNvSpPr txBox="1"/>
            <p:nvPr/>
          </p:nvSpPr>
          <p:spPr>
            <a:xfrm>
              <a:off x="9769907" y="844868"/>
              <a:ext cx="1895551" cy="264033"/>
            </a:xfrm>
            <a:prstGeom prst="rect">
              <a:avLst/>
            </a:prstGeom>
            <a:noFill/>
            <a:ln>
              <a:noFill/>
            </a:ln>
          </p:spPr>
          <p:txBody>
            <a:bodyPr wrap="none" lIns="0" tIns="0" rIns="0" bIns="0" anchor="t" anchorCtr="0">
              <a:spAutoFit/>
            </a:bodyPr>
            <a:lstStyle/>
            <a:p>
              <a:pPr algn="r"/>
              <a:r>
                <a:rPr lang="en-US" sz="1350" dirty="0">
                  <a:solidFill>
                    <a:srgbClr val="2E7D5B"/>
                  </a:solidFill>
                  <a:latin typeface="Consolas"/>
                  <a:ea typeface="Consolas"/>
                  <a:cs typeface="Consolas"/>
                </a:rPr>
                <a:t>STAR ARM CONTRASTS</a:t>
              </a:r>
            </a:p>
          </p:txBody>
        </p:sp>
        <p:sp>
          <p:nvSpPr>
            <p:cNvPr id="4" name="Line 4"/>
            <p:cNvSpPr/>
            <p:nvPr/>
          </p:nvSpPr>
          <p:spPr>
            <a:xfrm>
              <a:off x="533400" y="1104900"/>
              <a:ext cx="11125200" cy="9525"/>
            </a:xfrm>
            <a:custGeom>
              <a:avLst/>
              <a:gdLst/>
              <a:ahLst/>
              <a:cxnLst/>
              <a:rect l="l" t="t" r="r" b="b"/>
              <a:pathLst>
                <a:path w="11125200" h="9525">
                  <a:moveTo>
                    <a:pt x="0" y="0"/>
                  </a:moveTo>
                  <a:lnTo>
                    <a:pt x="11125200" y="0"/>
                  </a:lnTo>
                </a:path>
              </a:pathLst>
            </a:custGeom>
            <a:noFill/>
            <a:ln w="14288">
              <a:solidFill>
                <a:srgbClr val="CBD2DC"/>
              </a:solidFill>
            </a:ln>
          </p:spPr>
        </p:sp>
      </p:grpSp>
      <p:grpSp>
        <p:nvGrpSpPr>
          <p:cNvPr id="10" name="Group 10"/>
          <p:cNvGrpSpPr/>
          <p:nvPr/>
        </p:nvGrpSpPr>
        <p:grpSpPr>
          <a:xfrm>
            <a:off x="533400" y="1133475"/>
            <a:ext cx="7239000" cy="228600"/>
            <a:chOff x="533400" y="1133475"/>
            <a:chExt cx="7239000" cy="228600"/>
          </a:xfrm>
        </p:grpSpPr>
        <p:sp>
          <p:nvSpPr>
            <p:cNvPr id="6" name="Rectangle 6"/>
            <p:cNvSpPr/>
            <p:nvPr/>
          </p:nvSpPr>
          <p:spPr>
            <a:xfrm>
              <a:off x="533400" y="1162050"/>
              <a:ext cx="152400" cy="152400"/>
            </a:xfrm>
            <a:prstGeom prst="roundRect">
              <a:avLst>
                <a:gd name="adj" fmla="val 18750"/>
              </a:avLst>
            </a:prstGeom>
            <a:solidFill>
              <a:srgbClr val="2E7D5B"/>
            </a:solidFill>
            <a:ln>
              <a:noFill/>
            </a:ln>
          </p:spPr>
        </p:sp>
        <p:sp>
          <p:nvSpPr>
            <p:cNvPr id="7" name="TextBox 7"/>
            <p:cNvSpPr txBox="1"/>
            <p:nvPr/>
          </p:nvSpPr>
          <p:spPr>
            <a:xfrm>
              <a:off x="781050" y="1133475"/>
              <a:ext cx="2667000" cy="228600"/>
            </a:xfrm>
            <a:prstGeom prst="rect">
              <a:avLst/>
            </a:prstGeom>
            <a:noFill/>
            <a:ln>
              <a:noFill/>
            </a:ln>
          </p:spPr>
          <p:txBody>
            <a:bodyPr wrap="square" lIns="0" tIns="50006" rIns="0" bIns="0" anchor="t" anchorCtr="0">
              <a:noAutofit/>
            </a:bodyPr>
            <a:lstStyle/>
            <a:p>
              <a:pPr algn="l"/>
              <a:r>
                <a:rPr lang="en-US" sz="1120" b="1" dirty="0">
                  <a:solidFill>
                    <a:srgbClr val="2E7D5B"/>
                  </a:solidFill>
                  <a:latin typeface="+mn-lt"/>
                  <a:ea typeface="+mn-ea"/>
                  <a:cs typeface="+mn-cs"/>
                </a:rPr>
                <a:t>RANDOMIZED K CONTRAST</a:t>
              </a:r>
            </a:p>
          </p:txBody>
        </p:sp>
        <p:sp>
          <p:nvSpPr>
            <p:cNvPr id="8" name="Rectangle 8"/>
            <p:cNvSpPr/>
            <p:nvPr/>
          </p:nvSpPr>
          <p:spPr>
            <a:xfrm>
              <a:off x="4572000" y="1162050"/>
              <a:ext cx="152400" cy="152400"/>
            </a:xfrm>
            <a:prstGeom prst="roundRect">
              <a:avLst>
                <a:gd name="adj" fmla="val 18750"/>
              </a:avLst>
            </a:prstGeom>
            <a:solidFill>
              <a:schemeClr val="accent3"/>
            </a:solidFill>
            <a:ln>
              <a:noFill/>
            </a:ln>
          </p:spPr>
        </p:sp>
        <p:sp>
          <p:nvSpPr>
            <p:cNvPr id="9" name="TextBox 9"/>
            <p:cNvSpPr txBox="1"/>
            <p:nvPr/>
          </p:nvSpPr>
          <p:spPr>
            <a:xfrm>
              <a:off x="4819650" y="1133475"/>
              <a:ext cx="2952750" cy="228600"/>
            </a:xfrm>
            <a:prstGeom prst="rect">
              <a:avLst/>
            </a:prstGeom>
            <a:noFill/>
            <a:ln>
              <a:noFill/>
            </a:ln>
          </p:spPr>
          <p:txBody>
            <a:bodyPr wrap="square" lIns="0" tIns="50006" rIns="0" bIns="0" anchor="t" anchorCtr="0">
              <a:noAutofit/>
            </a:bodyPr>
            <a:lstStyle/>
            <a:p>
              <a:pPr algn="l"/>
              <a:r>
                <a:rPr lang="en-US" sz="1120" b="1" dirty="0">
                  <a:solidFill>
                    <a:schemeClr val="accent3"/>
                  </a:solidFill>
                  <a:latin typeface="+mn-lt"/>
                  <a:ea typeface="+mn-ea"/>
                  <a:cs typeface="+mn-cs"/>
                </a:rPr>
                <a:t>OBSERVED GRADE-3 FOLLOW-UP</a:t>
              </a:r>
            </a:p>
          </p:txBody>
        </p:sp>
      </p:grpSp>
      <p:grpSp>
        <p:nvGrpSpPr>
          <p:cNvPr id="38" name="Group 38"/>
          <p:cNvGrpSpPr/>
          <p:nvPr/>
        </p:nvGrpSpPr>
        <p:grpSpPr>
          <a:xfrm>
            <a:off x="533400" y="1619250"/>
            <a:ext cx="7620000" cy="3857625"/>
            <a:chOff x="533400" y="1619250"/>
            <a:chExt cx="7620000" cy="3857625"/>
          </a:xfrm>
        </p:grpSpPr>
        <p:sp>
          <p:nvSpPr>
            <p:cNvPr id="11" name="Rectangle 11"/>
            <p:cNvSpPr/>
            <p:nvPr/>
          </p:nvSpPr>
          <p:spPr>
            <a:xfrm>
              <a:off x="533400" y="1619250"/>
              <a:ext cx="7620000" cy="3857625"/>
            </a:xfrm>
            <a:prstGeom prst="roundRect">
              <a:avLst>
                <a:gd name="adj" fmla="val 3457"/>
              </a:avLst>
            </a:prstGeom>
            <a:solidFill>
              <a:srgbClr val="FFFFFF"/>
            </a:solidFill>
            <a:ln w="14288">
              <a:solidFill>
                <a:srgbClr val="CBD2DC"/>
              </a:solidFill>
            </a:ln>
          </p:spPr>
        </p:sp>
        <p:sp>
          <p:nvSpPr>
            <p:cNvPr id="12" name="TextBox 12"/>
            <p:cNvSpPr txBox="1"/>
            <p:nvPr/>
          </p:nvSpPr>
          <p:spPr>
            <a:xfrm>
              <a:off x="755142" y="1787842"/>
              <a:ext cx="6163285" cy="264033"/>
            </a:xfrm>
            <a:prstGeom prst="rect">
              <a:avLst/>
            </a:prstGeom>
            <a:noFill/>
            <a:ln>
              <a:noFill/>
            </a:ln>
          </p:spPr>
          <p:txBody>
            <a:bodyPr wrap="none" lIns="0" tIns="0" rIns="0" bIns="0" anchor="t" anchorCtr="0">
              <a:spAutoFit/>
            </a:bodyPr>
            <a:lstStyle/>
            <a:p>
              <a:pPr algn="l"/>
              <a:r>
                <a:rPr lang="en-US" sz="1350" b="1" dirty="0">
                  <a:solidFill>
                    <a:srgbClr val="5F6875"/>
                  </a:solidFill>
                  <a:latin typeface="+mn-lt"/>
                  <a:ea typeface="+mn-ea"/>
                  <a:cs typeface="+mn-cs"/>
                </a:rPr>
                <a:t>ARM MINUS REGULAR · SCHOOL-CLUSTER BOOTSTRAP 95% INTERVAL</a:t>
              </a:r>
            </a:p>
          </p:txBody>
        </p:sp>
        <p:sp>
          <p:nvSpPr>
            <p:cNvPr id="13" name="TextBox 13"/>
            <p:cNvSpPr txBox="1"/>
            <p:nvPr/>
          </p:nvSpPr>
          <p:spPr>
            <a:xfrm>
              <a:off x="3384804" y="2137410"/>
              <a:ext cx="278740"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−10</a:t>
              </a:r>
            </a:p>
          </p:txBody>
        </p:sp>
        <p:sp>
          <p:nvSpPr>
            <p:cNvPr id="14" name="TextBox 14"/>
            <p:cNvSpPr txBox="1"/>
            <p:nvPr/>
          </p:nvSpPr>
          <p:spPr>
            <a:xfrm>
              <a:off x="4584954" y="2137410"/>
              <a:ext cx="101041"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0</a:t>
              </a:r>
            </a:p>
          </p:txBody>
        </p:sp>
        <p:sp>
          <p:nvSpPr>
            <p:cNvPr id="15" name="TextBox 15"/>
            <p:cNvSpPr txBox="1"/>
            <p:nvPr/>
          </p:nvSpPr>
          <p:spPr>
            <a:xfrm>
              <a:off x="5775579" y="2137410"/>
              <a:ext cx="278740"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+10</a:t>
              </a:r>
            </a:p>
          </p:txBody>
        </p:sp>
        <p:sp>
          <p:nvSpPr>
            <p:cNvPr id="16" name="TextBox 16"/>
            <p:cNvSpPr txBox="1"/>
            <p:nvPr/>
          </p:nvSpPr>
          <p:spPr>
            <a:xfrm>
              <a:off x="6975729" y="2137410"/>
              <a:ext cx="278740"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+20</a:t>
              </a:r>
            </a:p>
          </p:txBody>
        </p:sp>
        <p:sp>
          <p:nvSpPr>
            <p:cNvPr id="17" name="TextBox 17"/>
            <p:cNvSpPr txBox="1"/>
            <p:nvPr/>
          </p:nvSpPr>
          <p:spPr>
            <a:xfrm>
              <a:off x="7575804" y="2137410"/>
              <a:ext cx="278740"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+25</a:t>
              </a:r>
            </a:p>
          </p:txBody>
        </p:sp>
        <p:grpSp>
          <p:nvGrpSpPr>
            <p:cNvPr id="32" name="Group 32"/>
            <p:cNvGrpSpPr/>
            <p:nvPr/>
          </p:nvGrpSpPr>
          <p:grpSpPr>
            <a:xfrm>
              <a:off x="3476625" y="2381250"/>
              <a:ext cx="4200525" cy="2714625"/>
              <a:chOff x="3476625" y="2381250"/>
              <a:chExt cx="4200525" cy="2714625"/>
            </a:xfrm>
          </p:grpSpPr>
          <p:sp>
            <p:nvSpPr>
              <p:cNvPr id="18" name="Line 18"/>
              <p:cNvSpPr/>
              <p:nvPr/>
            </p:nvSpPr>
            <p:spPr>
              <a:xfrm>
                <a:off x="3476625" y="2381250"/>
                <a:ext cx="4191000" cy="9525"/>
              </a:xfrm>
              <a:custGeom>
                <a:avLst/>
                <a:gdLst/>
                <a:ahLst/>
                <a:cxnLst/>
                <a:rect l="l" t="t" r="r" b="b"/>
                <a:pathLst>
                  <a:path w="4191000" h="9525">
                    <a:moveTo>
                      <a:pt x="0" y="0"/>
                    </a:moveTo>
                    <a:lnTo>
                      <a:pt x="4191000" y="0"/>
                    </a:lnTo>
                  </a:path>
                </a:pathLst>
              </a:custGeom>
              <a:noFill/>
              <a:ln w="14288">
                <a:solidFill>
                  <a:srgbClr val="CBD2DC"/>
                </a:solidFill>
              </a:ln>
            </p:spPr>
          </p:sp>
          <p:sp>
            <p:nvSpPr>
              <p:cNvPr id="19" name="Line 19"/>
              <p:cNvSpPr/>
              <p:nvPr/>
            </p:nvSpPr>
            <p:spPr>
              <a:xfrm>
                <a:off x="4676775" y="2381250"/>
                <a:ext cx="9525" cy="2714625"/>
              </a:xfrm>
              <a:custGeom>
                <a:avLst/>
                <a:gdLst/>
                <a:ahLst/>
                <a:cxnLst/>
                <a:rect l="l" t="t" r="r" b="b"/>
                <a:pathLst>
                  <a:path w="9525" h="2714625">
                    <a:moveTo>
                      <a:pt x="0" y="0"/>
                    </a:moveTo>
                    <a:lnTo>
                      <a:pt x="0" y="2714625"/>
                    </a:lnTo>
                  </a:path>
                </a:pathLst>
              </a:custGeom>
              <a:noFill/>
              <a:ln w="19050">
                <a:solidFill>
                  <a:srgbClr val="5F6875"/>
                </a:solidFill>
              </a:ln>
            </p:spPr>
          </p:sp>
          <p:sp>
            <p:nvSpPr>
              <p:cNvPr id="20" name="Line 20"/>
              <p:cNvSpPr/>
              <p:nvPr/>
            </p:nvSpPr>
            <p:spPr>
              <a:xfrm>
                <a:off x="3476625" y="2381250"/>
                <a:ext cx="9525" cy="2714625"/>
              </a:xfrm>
              <a:custGeom>
                <a:avLst/>
                <a:gdLst/>
                <a:ahLst/>
                <a:cxnLst/>
                <a:rect l="l" t="t" r="r" b="b"/>
                <a:pathLst>
                  <a:path w="9525" h="2714625">
                    <a:moveTo>
                      <a:pt x="0" y="0"/>
                    </a:moveTo>
                    <a:lnTo>
                      <a:pt x="0" y="2714625"/>
                    </a:lnTo>
                  </a:path>
                </a:pathLst>
              </a:custGeom>
              <a:noFill/>
              <a:ln w="14288">
                <a:solidFill>
                  <a:srgbClr val="E9EDF5"/>
                </a:solidFill>
              </a:ln>
            </p:spPr>
          </p:sp>
          <p:sp>
            <p:nvSpPr>
              <p:cNvPr id="21" name="Line 21"/>
              <p:cNvSpPr/>
              <p:nvPr/>
            </p:nvSpPr>
            <p:spPr>
              <a:xfrm>
                <a:off x="5867400" y="2381250"/>
                <a:ext cx="9525" cy="2714625"/>
              </a:xfrm>
              <a:custGeom>
                <a:avLst/>
                <a:gdLst/>
                <a:ahLst/>
                <a:cxnLst/>
                <a:rect l="l" t="t" r="r" b="b"/>
                <a:pathLst>
                  <a:path w="9525" h="2714625">
                    <a:moveTo>
                      <a:pt x="0" y="0"/>
                    </a:moveTo>
                    <a:lnTo>
                      <a:pt x="0" y="2714625"/>
                    </a:lnTo>
                  </a:path>
                </a:pathLst>
              </a:custGeom>
              <a:noFill/>
              <a:ln w="14288">
                <a:solidFill>
                  <a:srgbClr val="E9EDF5"/>
                </a:solidFill>
              </a:ln>
            </p:spPr>
          </p:sp>
          <p:sp>
            <p:nvSpPr>
              <p:cNvPr id="22" name="Line 22"/>
              <p:cNvSpPr/>
              <p:nvPr/>
            </p:nvSpPr>
            <p:spPr>
              <a:xfrm>
                <a:off x="7067550" y="2381250"/>
                <a:ext cx="9525" cy="2714625"/>
              </a:xfrm>
              <a:custGeom>
                <a:avLst/>
                <a:gdLst/>
                <a:ahLst/>
                <a:cxnLst/>
                <a:rect l="l" t="t" r="r" b="b"/>
                <a:pathLst>
                  <a:path w="9525" h="2714625">
                    <a:moveTo>
                      <a:pt x="0" y="0"/>
                    </a:moveTo>
                    <a:lnTo>
                      <a:pt x="0" y="2714625"/>
                    </a:lnTo>
                  </a:path>
                </a:pathLst>
              </a:custGeom>
              <a:noFill/>
              <a:ln w="14288">
                <a:solidFill>
                  <a:srgbClr val="E9EDF5"/>
                </a:solidFill>
              </a:ln>
            </p:spPr>
          </p:sp>
          <p:sp>
            <p:nvSpPr>
              <p:cNvPr id="23" name="Line 23"/>
              <p:cNvSpPr/>
              <p:nvPr/>
            </p:nvSpPr>
            <p:spPr>
              <a:xfrm>
                <a:off x="7667625" y="2381250"/>
                <a:ext cx="9525" cy="2714625"/>
              </a:xfrm>
              <a:custGeom>
                <a:avLst/>
                <a:gdLst/>
                <a:ahLst/>
                <a:cxnLst/>
                <a:rect l="l" t="t" r="r" b="b"/>
                <a:pathLst>
                  <a:path w="9525" h="2714625">
                    <a:moveTo>
                      <a:pt x="0" y="0"/>
                    </a:moveTo>
                    <a:lnTo>
                      <a:pt x="0" y="2714625"/>
                    </a:lnTo>
                  </a:path>
                </a:pathLst>
              </a:custGeom>
              <a:noFill/>
              <a:ln w="14288">
                <a:solidFill>
                  <a:srgbClr val="E9EDF5"/>
                </a:solidFill>
              </a:ln>
            </p:spPr>
          </p:sp>
          <p:sp>
            <p:nvSpPr>
              <p:cNvPr id="24" name="Line 24"/>
              <p:cNvSpPr/>
              <p:nvPr/>
            </p:nvSpPr>
            <p:spPr>
              <a:xfrm>
                <a:off x="5295900" y="2838450"/>
                <a:ext cx="2019300" cy="9525"/>
              </a:xfrm>
              <a:custGeom>
                <a:avLst/>
                <a:gdLst/>
                <a:ahLst/>
                <a:cxnLst/>
                <a:rect l="l" t="t" r="r" b="b"/>
                <a:pathLst>
                  <a:path w="2019300" h="9525">
                    <a:moveTo>
                      <a:pt x="0" y="0"/>
                    </a:moveTo>
                    <a:lnTo>
                      <a:pt x="2019300" y="0"/>
                    </a:lnTo>
                  </a:path>
                </a:pathLst>
              </a:custGeom>
              <a:noFill/>
              <a:ln w="47625">
                <a:solidFill>
                  <a:srgbClr val="2E7D5B"/>
                </a:solidFill>
              </a:ln>
            </p:spPr>
          </p:sp>
          <p:sp>
            <p:nvSpPr>
              <p:cNvPr id="25" name="Ellipse 25"/>
              <p:cNvSpPr/>
              <p:nvPr/>
            </p:nvSpPr>
            <p:spPr>
              <a:xfrm>
                <a:off x="6238875" y="2743200"/>
                <a:ext cx="190500" cy="190500"/>
              </a:xfrm>
              <a:prstGeom prst="ellipse">
                <a:avLst/>
              </a:prstGeom>
              <a:solidFill>
                <a:srgbClr val="2E7D5B"/>
              </a:solidFill>
              <a:ln>
                <a:noFill/>
              </a:ln>
            </p:spPr>
          </p:sp>
          <p:sp>
            <p:nvSpPr>
              <p:cNvPr id="26" name="Line 26"/>
              <p:cNvSpPr/>
              <p:nvPr/>
            </p:nvSpPr>
            <p:spPr>
              <a:xfrm>
                <a:off x="3790950" y="3409950"/>
                <a:ext cx="1771650" cy="9525"/>
              </a:xfrm>
              <a:custGeom>
                <a:avLst/>
                <a:gdLst/>
                <a:ahLst/>
                <a:cxnLst/>
                <a:rect l="l" t="t" r="r" b="b"/>
                <a:pathLst>
                  <a:path w="1771650" h="9525">
                    <a:moveTo>
                      <a:pt x="0" y="0"/>
                    </a:moveTo>
                    <a:lnTo>
                      <a:pt x="1771650" y="0"/>
                    </a:lnTo>
                  </a:path>
                </a:pathLst>
              </a:custGeom>
              <a:noFill/>
              <a:ln w="38100">
                <a:solidFill>
                  <a:srgbClr val="5F6875"/>
                </a:solidFill>
              </a:ln>
            </p:spPr>
          </p:sp>
          <p:sp>
            <p:nvSpPr>
              <p:cNvPr id="27" name="Ellipse 27"/>
              <p:cNvSpPr/>
              <p:nvPr/>
            </p:nvSpPr>
            <p:spPr>
              <a:xfrm>
                <a:off x="4629150" y="3324225"/>
                <a:ext cx="171450" cy="171450"/>
              </a:xfrm>
              <a:prstGeom prst="ellipse">
                <a:avLst/>
              </a:prstGeom>
              <a:solidFill>
                <a:srgbClr val="5F6875"/>
              </a:solidFill>
              <a:ln>
                <a:noFill/>
              </a:ln>
            </p:spPr>
          </p:sp>
          <p:sp>
            <p:nvSpPr>
              <p:cNvPr id="28" name="Line 28"/>
              <p:cNvSpPr/>
              <p:nvPr/>
            </p:nvSpPr>
            <p:spPr>
              <a:xfrm>
                <a:off x="5124450" y="4171950"/>
                <a:ext cx="1866900" cy="9525"/>
              </a:xfrm>
              <a:custGeom>
                <a:avLst/>
                <a:gdLst/>
                <a:ahLst/>
                <a:cxnLst/>
                <a:rect l="l" t="t" r="r" b="b"/>
                <a:pathLst>
                  <a:path w="1866900" h="9525">
                    <a:moveTo>
                      <a:pt x="0" y="0"/>
                    </a:moveTo>
                    <a:lnTo>
                      <a:pt x="1866900" y="0"/>
                    </a:lnTo>
                  </a:path>
                </a:pathLst>
              </a:custGeom>
              <a:noFill/>
              <a:ln w="47625">
                <a:solidFill>
                  <a:schemeClr val="accent3"/>
                </a:solidFill>
              </a:ln>
            </p:spPr>
          </p:sp>
          <p:sp>
            <p:nvSpPr>
              <p:cNvPr id="29" name="Ellipse 29"/>
              <p:cNvSpPr/>
              <p:nvPr/>
            </p:nvSpPr>
            <p:spPr>
              <a:xfrm>
                <a:off x="5981700" y="4076700"/>
                <a:ext cx="190500" cy="190500"/>
              </a:xfrm>
              <a:prstGeom prst="ellipse">
                <a:avLst/>
              </a:prstGeom>
              <a:solidFill>
                <a:schemeClr val="accent3"/>
              </a:solidFill>
              <a:ln>
                <a:noFill/>
              </a:ln>
            </p:spPr>
          </p:sp>
          <p:sp>
            <p:nvSpPr>
              <p:cNvPr id="30" name="Line 30"/>
              <p:cNvSpPr/>
              <p:nvPr/>
            </p:nvSpPr>
            <p:spPr>
              <a:xfrm>
                <a:off x="3990975" y="4743450"/>
                <a:ext cx="1552575" cy="9525"/>
              </a:xfrm>
              <a:custGeom>
                <a:avLst/>
                <a:gdLst/>
                <a:ahLst/>
                <a:cxnLst/>
                <a:rect l="l" t="t" r="r" b="b"/>
                <a:pathLst>
                  <a:path w="1552575" h="9525">
                    <a:moveTo>
                      <a:pt x="0" y="0"/>
                    </a:moveTo>
                    <a:lnTo>
                      <a:pt x="1552575" y="0"/>
                    </a:lnTo>
                  </a:path>
                </a:pathLst>
              </a:custGeom>
              <a:noFill/>
              <a:ln w="38100">
                <a:solidFill>
                  <a:srgbClr val="5F6875"/>
                </a:solidFill>
              </a:ln>
            </p:spPr>
          </p:sp>
          <p:sp>
            <p:nvSpPr>
              <p:cNvPr id="31" name="Ellipse 31"/>
              <p:cNvSpPr/>
              <p:nvPr/>
            </p:nvSpPr>
            <p:spPr>
              <a:xfrm>
                <a:off x="4648200" y="4657725"/>
                <a:ext cx="171450" cy="171450"/>
              </a:xfrm>
              <a:prstGeom prst="ellipse">
                <a:avLst/>
              </a:prstGeom>
              <a:solidFill>
                <a:srgbClr val="5F6875"/>
              </a:solidFill>
              <a:ln>
                <a:noFill/>
              </a:ln>
            </p:spPr>
          </p:sp>
        </p:grpSp>
        <p:sp>
          <p:nvSpPr>
            <p:cNvPr id="33" name="TextBox 33"/>
            <p:cNvSpPr txBox="1"/>
            <p:nvPr/>
          </p:nvSpPr>
          <p:spPr>
            <a:xfrm>
              <a:off x="754380" y="2581275"/>
              <a:ext cx="1557542" cy="293370"/>
            </a:xfrm>
            <a:prstGeom prst="rect">
              <a:avLst/>
            </a:prstGeom>
            <a:noFill/>
            <a:ln>
              <a:noFill/>
            </a:ln>
          </p:spPr>
          <p:txBody>
            <a:bodyPr wrap="none" lIns="0" tIns="0" rIns="0" bIns="0" anchor="t" anchorCtr="0">
              <a:spAutoFit/>
            </a:bodyPr>
            <a:lstStyle/>
            <a:p>
              <a:pPr algn="l"/>
              <a:r>
                <a:rPr lang="en-US" sz="1500" b="1" dirty="0">
                  <a:solidFill>
                    <a:srgbClr val="2E7D5B"/>
                  </a:solidFill>
                  <a:latin typeface="+mn-lt"/>
                  <a:ea typeface="+mn-ea"/>
                  <a:cs typeface="+mn-cs"/>
                </a:rPr>
                <a:t>K score · Small</a:t>
              </a:r>
            </a:p>
          </p:txBody>
        </p:sp>
        <p:sp>
          <p:nvSpPr>
            <p:cNvPr id="34" name="TextBox 34"/>
            <p:cNvSpPr txBox="1"/>
            <p:nvPr/>
          </p:nvSpPr>
          <p:spPr>
            <a:xfrm>
              <a:off x="754380" y="3152775"/>
              <a:ext cx="1383487"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K score · Aide</a:t>
              </a:r>
            </a:p>
          </p:txBody>
        </p:sp>
        <p:sp>
          <p:nvSpPr>
            <p:cNvPr id="35" name="TextBox 35"/>
            <p:cNvSpPr txBox="1"/>
            <p:nvPr/>
          </p:nvSpPr>
          <p:spPr>
            <a:xfrm>
              <a:off x="754380" y="3914775"/>
              <a:ext cx="1559113" cy="293370"/>
            </a:xfrm>
            <a:prstGeom prst="rect">
              <a:avLst/>
            </a:prstGeom>
            <a:noFill/>
            <a:ln>
              <a:noFill/>
            </a:ln>
          </p:spPr>
          <p:txBody>
            <a:bodyPr wrap="none" lIns="0" tIns="0" rIns="0" bIns="0" anchor="t" anchorCtr="0">
              <a:spAutoFit/>
            </a:bodyPr>
            <a:lstStyle/>
            <a:p>
              <a:pPr algn="l"/>
              <a:r>
                <a:rPr lang="en-US" sz="1500" b="1" dirty="0">
                  <a:solidFill>
                    <a:schemeClr val="accent3"/>
                  </a:solidFill>
                  <a:latin typeface="+mn-lt"/>
                  <a:ea typeface="+mn-ea"/>
                  <a:cs typeface="+mn-cs"/>
                </a:rPr>
                <a:t>Grade 3 · Small</a:t>
              </a:r>
            </a:p>
          </p:txBody>
        </p:sp>
        <p:sp>
          <p:nvSpPr>
            <p:cNvPr id="36" name="TextBox 36"/>
            <p:cNvSpPr txBox="1"/>
            <p:nvPr/>
          </p:nvSpPr>
          <p:spPr>
            <a:xfrm>
              <a:off x="754380" y="4486275"/>
              <a:ext cx="1385189" cy="293370"/>
            </a:xfrm>
            <a:prstGeom prst="rect">
              <a:avLst/>
            </a:prstGeom>
            <a:noFill/>
            <a:ln>
              <a:noFill/>
            </a:ln>
          </p:spPr>
          <p:txBody>
            <a:bodyPr wrap="none" lIns="0" tIns="0" rIns="0" bIns="0" anchor="t" anchorCtr="0">
              <a:spAutoFit/>
            </a:bodyPr>
            <a:lstStyle/>
            <a:p>
              <a:pPr algn="l"/>
              <a:r>
                <a:rPr lang="en-US" sz="1500" dirty="0">
                  <a:solidFill>
                    <a:schemeClr val="dk1"/>
                  </a:solidFill>
                  <a:latin typeface="+mn-lt"/>
                  <a:ea typeface="+mn-ea"/>
                  <a:cs typeface="+mn-cs"/>
                </a:rPr>
                <a:t>Grade 3 · Aide</a:t>
              </a:r>
            </a:p>
          </p:txBody>
        </p:sp>
        <p:sp>
          <p:nvSpPr>
            <p:cNvPr id="37" name="TextBox 37"/>
            <p:cNvSpPr txBox="1"/>
            <p:nvPr/>
          </p:nvSpPr>
          <p:spPr>
            <a:xfrm>
              <a:off x="755904" y="4918710"/>
              <a:ext cx="4791566"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Score points; grade-3 rows include only observed outcomes.</a:t>
              </a:r>
            </a:p>
          </p:txBody>
        </p:sp>
      </p:grpSp>
      <p:grpSp>
        <p:nvGrpSpPr>
          <p:cNvPr id="51" name="Group 51"/>
          <p:cNvGrpSpPr/>
          <p:nvPr/>
        </p:nvGrpSpPr>
        <p:grpSpPr>
          <a:xfrm>
            <a:off x="8458200" y="1619250"/>
            <a:ext cx="3208020" cy="3857625"/>
            <a:chOff x="8458200" y="1619250"/>
            <a:chExt cx="3208020" cy="3857625"/>
          </a:xfrm>
        </p:grpSpPr>
        <p:sp>
          <p:nvSpPr>
            <p:cNvPr id="39" name="Rectangle 39"/>
            <p:cNvSpPr/>
            <p:nvPr/>
          </p:nvSpPr>
          <p:spPr>
            <a:xfrm>
              <a:off x="8458200" y="1619250"/>
              <a:ext cx="3200400" cy="3857625"/>
            </a:xfrm>
            <a:prstGeom prst="roundRect">
              <a:avLst>
                <a:gd name="adj" fmla="val 4762"/>
              </a:avLst>
            </a:prstGeom>
            <a:solidFill>
              <a:schemeClr val="accent1"/>
            </a:solidFill>
            <a:ln>
              <a:noFill/>
            </a:ln>
          </p:spPr>
        </p:sp>
        <p:sp>
          <p:nvSpPr>
            <p:cNvPr id="40" name="TextBox 40"/>
            <p:cNvSpPr txBox="1"/>
            <p:nvPr/>
          </p:nvSpPr>
          <p:spPr>
            <a:xfrm>
              <a:off x="8743950" y="1752600"/>
              <a:ext cx="2533650" cy="285750"/>
            </a:xfrm>
            <a:prstGeom prst="rect">
              <a:avLst/>
            </a:prstGeom>
            <a:noFill/>
            <a:ln>
              <a:noFill/>
            </a:ln>
          </p:spPr>
          <p:txBody>
            <a:bodyPr wrap="square" lIns="0" tIns="73342" rIns="0" bIns="0" anchor="t" anchorCtr="0">
              <a:noAutofit/>
            </a:bodyPr>
            <a:lstStyle/>
            <a:p>
              <a:pPr algn="l"/>
              <a:r>
                <a:rPr lang="en-US" sz="1350" b="1" dirty="0">
                  <a:solidFill>
                    <a:srgbClr val="A7E8DF"/>
                  </a:solidFill>
                  <a:latin typeface="+mn-lt"/>
                  <a:ea typeface="+mn-ea"/>
                  <a:cs typeface="+mn-cs"/>
                </a:rPr>
                <a:t>DESIGN-BASED READOUT</a:t>
              </a:r>
            </a:p>
          </p:txBody>
        </p:sp>
        <p:sp>
          <p:nvSpPr>
            <p:cNvPr id="41" name="TextBox 41"/>
            <p:cNvSpPr txBox="1"/>
            <p:nvPr/>
          </p:nvSpPr>
          <p:spPr>
            <a:xfrm>
              <a:off x="8743950" y="2095500"/>
              <a:ext cx="2628900" cy="419100"/>
            </a:xfrm>
            <a:prstGeom prst="rect">
              <a:avLst/>
            </a:prstGeom>
            <a:noFill/>
            <a:ln>
              <a:noFill/>
            </a:ln>
          </p:spPr>
          <p:txBody>
            <a:bodyPr wrap="square" lIns="0" tIns="90488" rIns="0" bIns="0" anchor="t" anchorCtr="0">
              <a:noAutofit/>
            </a:bodyPr>
            <a:lstStyle/>
            <a:p>
              <a:pPr algn="l"/>
              <a:r>
                <a:rPr lang="en-US" sz="2250" b="1" dirty="0">
                  <a:solidFill>
                    <a:srgbClr val="FFFFFF"/>
                  </a:solidFill>
                  <a:latin typeface="+mj-lt"/>
                  <a:ea typeface="+mj-ea"/>
                  <a:cs typeface="+mj-cs"/>
                </a:rPr>
                <a:t>13.90 points</a:t>
              </a:r>
            </a:p>
          </p:txBody>
        </p:sp>
        <p:sp>
          <p:nvSpPr>
            <p:cNvPr id="42" name="TextBox 42"/>
            <p:cNvSpPr txBox="1"/>
            <p:nvPr/>
          </p:nvSpPr>
          <p:spPr>
            <a:xfrm>
              <a:off x="8736330" y="2590800"/>
              <a:ext cx="2929890" cy="293370"/>
            </a:xfrm>
            <a:prstGeom prst="rect">
              <a:avLst/>
            </a:prstGeom>
            <a:noFill/>
            <a:ln>
              <a:noFill/>
            </a:ln>
          </p:spPr>
          <p:txBody>
            <a:bodyPr wrap="none" lIns="0" tIns="0" rIns="0" bIns="0" anchor="t" anchorCtr="0">
              <a:spAutoFit/>
            </a:bodyPr>
            <a:lstStyle/>
            <a:p>
              <a:pPr algn="l"/>
              <a:r>
                <a:rPr lang="en-US" sz="1500" dirty="0">
                  <a:solidFill>
                    <a:srgbClr val="E9EDF5"/>
                  </a:solidFill>
                  <a:latin typeface="+mn-lt"/>
                  <a:ea typeface="+mn-ea"/>
                  <a:cs typeface="+mn-cs"/>
                </a:rPr>
                <a:t>Small − regular, kindergarten</a:t>
              </a:r>
            </a:p>
          </p:txBody>
        </p:sp>
        <p:sp>
          <p:nvSpPr>
            <p:cNvPr id="43" name="TextBox 43"/>
            <p:cNvSpPr txBox="1"/>
            <p:nvPr/>
          </p:nvSpPr>
          <p:spPr>
            <a:xfrm>
              <a:off x="8736330" y="2847975"/>
              <a:ext cx="2690813" cy="293370"/>
            </a:xfrm>
            <a:prstGeom prst="rect">
              <a:avLst/>
            </a:prstGeom>
            <a:noFill/>
            <a:ln>
              <a:noFill/>
            </a:ln>
          </p:spPr>
          <p:txBody>
            <a:bodyPr wrap="none" lIns="0" tIns="0" rIns="0" bIns="0" anchor="t" anchorCtr="0">
              <a:spAutoFit/>
            </a:bodyPr>
            <a:lstStyle/>
            <a:p>
              <a:pPr algn="l"/>
              <a:r>
                <a:rPr lang="en-US" sz="1500" dirty="0">
                  <a:solidFill>
                    <a:srgbClr val="E9EDF5"/>
                  </a:solidFill>
                  <a:latin typeface="+mn-lt"/>
                  <a:ea typeface="+mn-ea"/>
                  <a:cs typeface="+mn-cs"/>
                </a:rPr>
                <a:t>95% interval [5.21, 22.07]</a:t>
              </a:r>
            </a:p>
          </p:txBody>
        </p:sp>
        <p:sp>
          <p:nvSpPr>
            <p:cNvPr id="44" name="Line 44"/>
            <p:cNvSpPr/>
            <p:nvPr/>
          </p:nvSpPr>
          <p:spPr>
            <a:xfrm>
              <a:off x="8743950" y="3400425"/>
              <a:ext cx="2628900" cy="9525"/>
            </a:xfrm>
            <a:custGeom>
              <a:avLst/>
              <a:gdLst/>
              <a:ahLst/>
              <a:cxnLst/>
              <a:rect l="l" t="t" r="r" b="b"/>
              <a:pathLst>
                <a:path w="2628900" h="9525">
                  <a:moveTo>
                    <a:pt x="0" y="0"/>
                  </a:moveTo>
                  <a:lnTo>
                    <a:pt x="2628900" y="0"/>
                  </a:lnTo>
                </a:path>
              </a:pathLst>
            </a:custGeom>
            <a:noFill/>
            <a:ln w="14288">
              <a:solidFill>
                <a:srgbClr val="5C7190"/>
              </a:solidFill>
            </a:ln>
          </p:spPr>
        </p:sp>
        <p:sp>
          <p:nvSpPr>
            <p:cNvPr id="45" name="TextBox 45"/>
            <p:cNvSpPr txBox="1"/>
            <p:nvPr/>
          </p:nvSpPr>
          <p:spPr>
            <a:xfrm>
              <a:off x="8743950" y="3467100"/>
              <a:ext cx="2628900" cy="400050"/>
            </a:xfrm>
            <a:prstGeom prst="rect">
              <a:avLst/>
            </a:prstGeom>
            <a:noFill/>
            <a:ln>
              <a:noFill/>
            </a:ln>
          </p:spPr>
          <p:txBody>
            <a:bodyPr wrap="square" lIns="0" tIns="87630" rIns="0" bIns="0" anchor="t" anchorCtr="0">
              <a:noAutofit/>
            </a:bodyPr>
            <a:lstStyle/>
            <a:p>
              <a:pPr algn="l"/>
              <a:r>
                <a:rPr lang="en-US" sz="2100" b="1" dirty="0">
                  <a:solidFill>
                    <a:srgbClr val="FFFFFF"/>
                  </a:solidFill>
                  <a:latin typeface="+mj-lt"/>
                  <a:ea typeface="+mj-ea"/>
                  <a:cs typeface="+mj-cs"/>
                </a:rPr>
                <a:t>0.31 points</a:t>
              </a:r>
            </a:p>
          </p:txBody>
        </p:sp>
        <p:sp>
          <p:nvSpPr>
            <p:cNvPr id="46" name="TextBox 46"/>
            <p:cNvSpPr txBox="1"/>
            <p:nvPr/>
          </p:nvSpPr>
          <p:spPr>
            <a:xfrm>
              <a:off x="8736330" y="3943350"/>
              <a:ext cx="2828975" cy="293370"/>
            </a:xfrm>
            <a:prstGeom prst="rect">
              <a:avLst/>
            </a:prstGeom>
            <a:noFill/>
            <a:ln>
              <a:noFill/>
            </a:ln>
          </p:spPr>
          <p:txBody>
            <a:bodyPr wrap="none" lIns="0" tIns="0" rIns="0" bIns="0" anchor="t" anchorCtr="0">
              <a:spAutoFit/>
            </a:bodyPr>
            <a:lstStyle/>
            <a:p>
              <a:pPr algn="l"/>
              <a:r>
                <a:rPr lang="en-US" sz="1500" dirty="0">
                  <a:solidFill>
                    <a:srgbClr val="E9EDF5"/>
                  </a:solidFill>
                  <a:latin typeface="+mn-lt"/>
                  <a:ea typeface="+mn-ea"/>
                  <a:cs typeface="+mn-cs"/>
                </a:rPr>
                <a:t>Aide − regular, kindergarten</a:t>
              </a:r>
            </a:p>
          </p:txBody>
        </p:sp>
        <p:sp>
          <p:nvSpPr>
            <p:cNvPr id="47" name="TextBox 47"/>
            <p:cNvSpPr txBox="1"/>
            <p:nvPr/>
          </p:nvSpPr>
          <p:spPr>
            <a:xfrm>
              <a:off x="8736330" y="4200525"/>
              <a:ext cx="2690813" cy="293370"/>
            </a:xfrm>
            <a:prstGeom prst="rect">
              <a:avLst/>
            </a:prstGeom>
            <a:noFill/>
            <a:ln>
              <a:noFill/>
            </a:ln>
          </p:spPr>
          <p:txBody>
            <a:bodyPr wrap="none" lIns="0" tIns="0" rIns="0" bIns="0" anchor="t" anchorCtr="0">
              <a:spAutoFit/>
            </a:bodyPr>
            <a:lstStyle/>
            <a:p>
              <a:pPr algn="l"/>
              <a:r>
                <a:rPr lang="en-US" sz="1500" dirty="0">
                  <a:solidFill>
                    <a:srgbClr val="E9EDF5"/>
                  </a:solidFill>
                  <a:latin typeface="+mn-lt"/>
                  <a:ea typeface="+mn-ea"/>
                  <a:cs typeface="+mn-cs"/>
                </a:rPr>
                <a:t>95% interval [−7.40, 7.38]</a:t>
              </a:r>
            </a:p>
          </p:txBody>
        </p:sp>
        <p:sp>
          <p:nvSpPr>
            <p:cNvPr id="48" name="Rectangle 48"/>
            <p:cNvSpPr/>
            <p:nvPr/>
          </p:nvSpPr>
          <p:spPr>
            <a:xfrm>
              <a:off x="8743950" y="4724400"/>
              <a:ext cx="2628900" cy="514350"/>
            </a:xfrm>
            <a:prstGeom prst="roundRect">
              <a:avLst>
                <a:gd name="adj" fmla="val 18519"/>
              </a:avLst>
            </a:prstGeom>
            <a:solidFill>
              <a:srgbClr val="2E7D5B"/>
            </a:solidFill>
            <a:ln>
              <a:noFill/>
            </a:ln>
          </p:spPr>
        </p:sp>
        <p:sp>
          <p:nvSpPr>
            <p:cNvPr id="49" name="TextBox 49"/>
            <p:cNvSpPr txBox="1"/>
            <p:nvPr/>
          </p:nvSpPr>
          <p:spPr>
            <a:xfrm>
              <a:off x="8483506" y="4797742"/>
              <a:ext cx="3149788"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Observed-arm contrast supports</a:t>
              </a:r>
            </a:p>
          </p:txBody>
        </p:sp>
        <p:sp>
          <p:nvSpPr>
            <p:cNvPr id="50" name="TextBox 50"/>
            <p:cNvSpPr txBox="1"/>
            <p:nvPr/>
          </p:nvSpPr>
          <p:spPr>
            <a:xfrm>
              <a:off x="8672840" y="5007292"/>
              <a:ext cx="2771121"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a possible small-class benefit</a:t>
              </a:r>
            </a:p>
          </p:txBody>
        </p:sp>
      </p:grpSp>
      <p:grpSp>
        <p:nvGrpSpPr>
          <p:cNvPr id="54" name="Group 54"/>
          <p:cNvGrpSpPr/>
          <p:nvPr/>
        </p:nvGrpSpPr>
        <p:grpSpPr>
          <a:xfrm>
            <a:off x="526542" y="5626418"/>
            <a:ext cx="8710680" cy="517588"/>
            <a:chOff x="526542" y="5626418"/>
            <a:chExt cx="8710680" cy="517588"/>
          </a:xfrm>
        </p:grpSpPr>
        <p:sp>
          <p:nvSpPr>
            <p:cNvPr id="52" name="TextBox 52"/>
            <p:cNvSpPr txBox="1"/>
            <p:nvPr/>
          </p:nvSpPr>
          <p:spPr>
            <a:xfrm>
              <a:off x="526542" y="5626418"/>
              <a:ext cx="8710680"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 xml:space="preserve">Observed grade-3 score, Small − Regular: </a:t>
              </a:r>
              <a:r>
                <a:rPr lang="en-US" sz="1350" b="1" dirty="0">
                  <a:solidFill>
                    <a:schemeClr val="accent3"/>
                  </a:solidFill>
                  <a:latin typeface="+mn-lt"/>
                  <a:ea typeface="+mn-ea"/>
                  <a:cs typeface="+mn-cs"/>
                </a:rPr>
                <a:t>+11.69 [3.74, 19.38]</a:t>
              </a:r>
              <a:r>
                <a:rPr lang="en-US" sz="1350" dirty="0">
                  <a:solidFill>
                    <a:schemeClr val="dk1"/>
                  </a:solidFill>
                  <a:latin typeface="+mn-lt"/>
                  <a:ea typeface="+mn-ea"/>
                  <a:cs typeface="+mn-cs"/>
                </a:rPr>
                <a:t xml:space="preserve"> — descriptive, not long-run ITT.</a:t>
              </a:r>
            </a:p>
          </p:txBody>
        </p:sp>
        <p:sp>
          <p:nvSpPr>
            <p:cNvPr id="53" name="TextBox 53"/>
            <p:cNvSpPr txBox="1"/>
            <p:nvPr/>
          </p:nvSpPr>
          <p:spPr>
            <a:xfrm>
              <a:off x="527304" y="5909310"/>
              <a:ext cx="8570673"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 xml:space="preserve">Grade-3 observation rate: Small − Regular </a:t>
              </a:r>
              <a:r>
                <a:rPr lang="en-US" sz="1200" b="1" dirty="0">
                  <a:solidFill>
                    <a:srgbClr val="5F6875"/>
                  </a:solidFill>
                  <a:latin typeface="+mn-lt"/>
                  <a:ea typeface="+mn-ea"/>
                  <a:cs typeface="+mn-cs"/>
                </a:rPr>
                <a:t>+1.54 pp [−1.73, 4.56]</a:t>
              </a:r>
              <a:r>
                <a:rPr lang="en-US" sz="1200" dirty="0">
                  <a:solidFill>
                    <a:srgbClr val="5F6875"/>
                  </a:solidFill>
                  <a:latin typeface="+mn-lt"/>
                  <a:ea typeface="+mn-ea"/>
                  <a:cs typeface="+mn-cs"/>
                </a:rPr>
                <a:t xml:space="preserve"> · Aide − Regular </a:t>
              </a:r>
              <a:r>
                <a:rPr lang="en-US" sz="1200" b="1" dirty="0">
                  <a:solidFill>
                    <a:srgbClr val="5F6875"/>
                  </a:solidFill>
                  <a:latin typeface="+mn-lt"/>
                  <a:ea typeface="+mn-ea"/>
                  <a:cs typeface="+mn-cs"/>
                </a:rPr>
                <a:t>−2.05 pp [−5.35, 1.41]</a:t>
              </a:r>
            </a:p>
          </p:txBody>
        </p:sp>
      </p:grpSp>
      <p:grpSp>
        <p:nvGrpSpPr>
          <p:cNvPr id="57" name="Group 57"/>
          <p:cNvGrpSpPr/>
          <p:nvPr/>
        </p:nvGrpSpPr>
        <p:grpSpPr>
          <a:xfrm>
            <a:off x="527304" y="6309360"/>
            <a:ext cx="11137392" cy="234696"/>
            <a:chOff x="527304" y="6309360"/>
            <a:chExt cx="11137392" cy="234696"/>
          </a:xfrm>
        </p:grpSpPr>
        <p:sp>
          <p:nvSpPr>
            <p:cNvPr id="55" name="TextBox 55"/>
            <p:cNvSpPr txBox="1"/>
            <p:nvPr/>
          </p:nvSpPr>
          <p:spPr>
            <a:xfrm>
              <a:off x="527304" y="6309360"/>
              <a:ext cx="8533638"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6,325 kindergarten-assignment cohort · 1,000 school-cluster resamples · star_descriptive_contrasts.csv</a:t>
              </a:r>
            </a:p>
          </p:txBody>
        </p:sp>
        <p:sp>
          <p:nvSpPr>
            <p:cNvPr id="56" name="TextBox 56"/>
            <p:cNvSpPr txBox="1"/>
            <p:nvPr/>
          </p:nvSpPr>
          <p:spPr>
            <a:xfrm>
              <a:off x="11111332" y="6309360"/>
              <a:ext cx="553364" cy="234696"/>
            </a:xfrm>
            <a:prstGeom prst="rect">
              <a:avLst/>
            </a:prstGeom>
            <a:noFill/>
            <a:ln>
              <a:noFill/>
            </a:ln>
          </p:spPr>
          <p:txBody>
            <a:bodyPr wrap="none" lIns="0" tIns="0" rIns="0" bIns="0" anchor="t" anchorCtr="0">
              <a:spAutoFit/>
            </a:bodyPr>
            <a:lstStyle/>
            <a:p>
              <a:pPr algn="r"/>
              <a:r>
                <a:rPr lang="en-US" sz="1200" dirty="0">
                  <a:solidFill>
                    <a:srgbClr val="5F6875"/>
                  </a:solidFill>
                  <a:latin typeface="Consolas"/>
                  <a:ea typeface="Consolas"/>
                  <a:cs typeface="Consolas"/>
                </a:rPr>
                <a:t>12 / 15</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18160" y="361950"/>
            <a:ext cx="11147298" cy="657225"/>
            <a:chOff x="518160" y="361950"/>
            <a:chExt cx="11147298" cy="657225"/>
          </a:xfrm>
        </p:grpSpPr>
        <p:sp>
          <p:nvSpPr>
            <p:cNvPr id="2" name="TextBox 2"/>
            <p:cNvSpPr txBox="1"/>
            <p:nvPr/>
          </p:nvSpPr>
          <p:spPr>
            <a:xfrm>
              <a:off x="518160" y="361950"/>
              <a:ext cx="10598658" cy="586740"/>
            </a:xfrm>
            <a:prstGeom prst="rect">
              <a:avLst/>
            </a:prstGeom>
            <a:noFill/>
            <a:ln>
              <a:noFill/>
            </a:ln>
          </p:spPr>
          <p:txBody>
            <a:bodyPr wrap="none" lIns="0" tIns="0" rIns="0" bIns="0" anchor="t" anchorCtr="0">
              <a:spAutoFit/>
            </a:bodyPr>
            <a:lstStyle/>
            <a:p>
              <a:pPr algn="l"/>
              <a:r>
                <a:rPr lang="en-US" sz="3000" b="1" dirty="0">
                  <a:solidFill>
                    <a:schemeClr val="accent1"/>
                  </a:solidFill>
                  <a:latin typeface="+mj-lt"/>
                  <a:ea typeface="+mj-ea"/>
                  <a:cs typeface="+mj-cs"/>
                </a:rPr>
                <a:t>Stable Adjacencies Outrank Endpoint Directions</a:t>
              </a:r>
            </a:p>
          </p:txBody>
        </p:sp>
        <p:sp>
          <p:nvSpPr>
            <p:cNvPr id="3" name="TextBox 3"/>
            <p:cNvSpPr txBox="1"/>
            <p:nvPr/>
          </p:nvSpPr>
          <p:spPr>
            <a:xfrm>
              <a:off x="10317175" y="387668"/>
              <a:ext cx="1348283" cy="264033"/>
            </a:xfrm>
            <a:prstGeom prst="rect">
              <a:avLst/>
            </a:prstGeom>
            <a:noFill/>
            <a:ln>
              <a:noFill/>
            </a:ln>
          </p:spPr>
          <p:txBody>
            <a:bodyPr wrap="none" lIns="0" tIns="0" rIns="0" bIns="0" anchor="t" anchorCtr="0">
              <a:spAutoFit/>
            </a:bodyPr>
            <a:lstStyle/>
            <a:p>
              <a:pPr algn="r"/>
              <a:r>
                <a:rPr lang="en-US" sz="1350" dirty="0">
                  <a:solidFill>
                    <a:schemeClr val="accent6"/>
                  </a:solidFill>
                  <a:latin typeface="Consolas"/>
                  <a:ea typeface="Consolas"/>
                  <a:cs typeface="Consolas"/>
                </a:rPr>
                <a:t>STAR PAG AUDIT</a:t>
              </a:r>
            </a:p>
          </p:txBody>
        </p:sp>
        <p:sp>
          <p:nvSpPr>
            <p:cNvPr id="4" name="Line 4"/>
            <p:cNvSpPr/>
            <p:nvPr/>
          </p:nvSpPr>
          <p:spPr>
            <a:xfrm>
              <a:off x="533400" y="1009650"/>
              <a:ext cx="11125200" cy="9525"/>
            </a:xfrm>
            <a:custGeom>
              <a:avLst/>
              <a:gdLst/>
              <a:ahLst/>
              <a:cxnLst/>
              <a:rect l="l" t="t" r="r" b="b"/>
              <a:pathLst>
                <a:path w="11125200" h="9525">
                  <a:moveTo>
                    <a:pt x="0" y="0"/>
                  </a:moveTo>
                  <a:lnTo>
                    <a:pt x="11125200" y="0"/>
                  </a:lnTo>
                </a:path>
              </a:pathLst>
            </a:custGeom>
            <a:noFill/>
            <a:ln w="14288">
              <a:solidFill>
                <a:srgbClr val="CBD2DC"/>
              </a:solidFill>
            </a:ln>
          </p:spPr>
        </p:sp>
      </p:grpSp>
      <p:grpSp>
        <p:nvGrpSpPr>
          <p:cNvPr id="12" name="Group 12"/>
          <p:cNvGrpSpPr/>
          <p:nvPr/>
        </p:nvGrpSpPr>
        <p:grpSpPr>
          <a:xfrm>
            <a:off x="533400" y="1133475"/>
            <a:ext cx="6429375" cy="228600"/>
            <a:chOff x="533400" y="1133475"/>
            <a:chExt cx="6429375" cy="228600"/>
          </a:xfrm>
        </p:grpSpPr>
        <p:sp>
          <p:nvSpPr>
            <p:cNvPr id="6" name="Rectangle 6"/>
            <p:cNvSpPr/>
            <p:nvPr/>
          </p:nvSpPr>
          <p:spPr>
            <a:xfrm>
              <a:off x="533400" y="1162050"/>
              <a:ext cx="152400" cy="152400"/>
            </a:xfrm>
            <a:prstGeom prst="roundRect">
              <a:avLst>
                <a:gd name="adj" fmla="val 18750"/>
              </a:avLst>
            </a:prstGeom>
            <a:solidFill>
              <a:srgbClr val="2E7D5B"/>
            </a:solidFill>
            <a:ln>
              <a:noFill/>
            </a:ln>
          </p:spPr>
        </p:sp>
        <p:sp>
          <p:nvSpPr>
            <p:cNvPr id="7" name="TextBox 7"/>
            <p:cNvSpPr txBox="1"/>
            <p:nvPr/>
          </p:nvSpPr>
          <p:spPr>
            <a:xfrm>
              <a:off x="781050" y="1133475"/>
              <a:ext cx="1476375" cy="228600"/>
            </a:xfrm>
            <a:prstGeom prst="rect">
              <a:avLst/>
            </a:prstGeom>
            <a:noFill/>
            <a:ln>
              <a:noFill/>
            </a:ln>
          </p:spPr>
          <p:txBody>
            <a:bodyPr wrap="square" lIns="0" tIns="50006" rIns="0" bIns="0" anchor="t" anchorCtr="0">
              <a:noAutofit/>
            </a:bodyPr>
            <a:lstStyle/>
            <a:p>
              <a:pPr algn="l"/>
              <a:r>
                <a:rPr lang="en-US" sz="1120" b="1" dirty="0">
                  <a:solidFill>
                    <a:srgbClr val="2E7D5B"/>
                  </a:solidFill>
                  <a:latin typeface="+mn-lt"/>
                  <a:ea typeface="+mn-ea"/>
                  <a:cs typeface="+mn-cs"/>
                </a:rPr>
                <a:t>STABLE STRUCTURE</a:t>
              </a:r>
            </a:p>
          </p:txBody>
        </p:sp>
        <p:sp>
          <p:nvSpPr>
            <p:cNvPr id="8" name="Rectangle 8"/>
            <p:cNvSpPr/>
            <p:nvPr/>
          </p:nvSpPr>
          <p:spPr>
            <a:xfrm>
              <a:off x="2428875" y="1162050"/>
              <a:ext cx="152400" cy="152400"/>
            </a:xfrm>
            <a:prstGeom prst="roundRect">
              <a:avLst>
                <a:gd name="adj" fmla="val 18750"/>
              </a:avLst>
            </a:prstGeom>
            <a:solidFill>
              <a:srgbClr val="B45F4A"/>
            </a:solidFill>
            <a:ln>
              <a:noFill/>
            </a:ln>
          </p:spPr>
        </p:sp>
        <p:sp>
          <p:nvSpPr>
            <p:cNvPr id="9" name="TextBox 9"/>
            <p:cNvSpPr txBox="1"/>
            <p:nvPr/>
          </p:nvSpPr>
          <p:spPr>
            <a:xfrm>
              <a:off x="2676525" y="1133475"/>
              <a:ext cx="1857375" cy="228600"/>
            </a:xfrm>
            <a:prstGeom prst="rect">
              <a:avLst/>
            </a:prstGeom>
            <a:noFill/>
            <a:ln>
              <a:noFill/>
            </a:ln>
          </p:spPr>
          <p:txBody>
            <a:bodyPr wrap="square" lIns="0" tIns="50006" rIns="0" bIns="0" anchor="t" anchorCtr="0">
              <a:noAutofit/>
            </a:bodyPr>
            <a:lstStyle/>
            <a:p>
              <a:pPr algn="l"/>
              <a:r>
                <a:rPr lang="en-US" sz="1120" b="1" dirty="0">
                  <a:solidFill>
                    <a:srgbClr val="B45F4A"/>
                  </a:solidFill>
                  <a:latin typeface="+mn-lt"/>
                  <a:ea typeface="+mn-ea"/>
                  <a:cs typeface="+mn-cs"/>
                </a:rPr>
                <a:t>DIRECTION CONFLICT</a:t>
              </a:r>
            </a:p>
          </p:txBody>
        </p:sp>
        <p:sp>
          <p:nvSpPr>
            <p:cNvPr id="10" name="Rectangle 10"/>
            <p:cNvSpPr/>
            <p:nvPr/>
          </p:nvSpPr>
          <p:spPr>
            <a:xfrm>
              <a:off x="4953000" y="1162050"/>
              <a:ext cx="152400" cy="152400"/>
            </a:xfrm>
            <a:prstGeom prst="roundRect">
              <a:avLst>
                <a:gd name="adj" fmla="val 50000"/>
              </a:avLst>
            </a:prstGeom>
            <a:solidFill>
              <a:schemeClr val="lt1"/>
            </a:solidFill>
            <a:ln w="28575">
              <a:solidFill>
                <a:schemeClr val="accent6"/>
              </a:solidFill>
            </a:ln>
          </p:spPr>
        </p:sp>
        <p:sp>
          <p:nvSpPr>
            <p:cNvPr id="11" name="TextBox 11"/>
            <p:cNvSpPr txBox="1"/>
            <p:nvPr/>
          </p:nvSpPr>
          <p:spPr>
            <a:xfrm>
              <a:off x="5200650" y="1133475"/>
              <a:ext cx="1762125" cy="228600"/>
            </a:xfrm>
            <a:prstGeom prst="rect">
              <a:avLst/>
            </a:prstGeom>
            <a:noFill/>
            <a:ln>
              <a:noFill/>
            </a:ln>
          </p:spPr>
          <p:txBody>
            <a:bodyPr wrap="square" lIns="0" tIns="50006" rIns="0" bIns="0" anchor="t" anchorCtr="0">
              <a:noAutofit/>
            </a:bodyPr>
            <a:lstStyle/>
            <a:p>
              <a:pPr algn="l"/>
              <a:r>
                <a:rPr lang="en-US" sz="1120" b="1" dirty="0">
                  <a:solidFill>
                    <a:schemeClr val="accent6"/>
                  </a:solidFill>
                  <a:latin typeface="+mn-lt"/>
                  <a:ea typeface="+mn-ea"/>
                  <a:cs typeface="+mn-cs"/>
                </a:rPr>
                <a:t>ROBUST ABSTENTION</a:t>
              </a:r>
            </a:p>
          </p:txBody>
        </p:sp>
      </p:grpSp>
      <p:grpSp>
        <p:nvGrpSpPr>
          <p:cNvPr id="44" name="Group 44"/>
          <p:cNvGrpSpPr/>
          <p:nvPr/>
        </p:nvGrpSpPr>
        <p:grpSpPr>
          <a:xfrm>
            <a:off x="533400" y="1657350"/>
            <a:ext cx="5238750" cy="3505200"/>
            <a:chOff x="533400" y="1657350"/>
            <a:chExt cx="5238750" cy="3505200"/>
          </a:xfrm>
        </p:grpSpPr>
        <p:sp>
          <p:nvSpPr>
            <p:cNvPr id="13" name="Rectangle 13"/>
            <p:cNvSpPr/>
            <p:nvPr/>
          </p:nvSpPr>
          <p:spPr>
            <a:xfrm>
              <a:off x="533400" y="1657350"/>
              <a:ext cx="5238750" cy="3505200"/>
            </a:xfrm>
            <a:prstGeom prst="roundRect">
              <a:avLst>
                <a:gd name="adj" fmla="val 3804"/>
              </a:avLst>
            </a:prstGeom>
            <a:solidFill>
              <a:srgbClr val="FFFFFF"/>
            </a:solidFill>
            <a:ln w="14288">
              <a:solidFill>
                <a:srgbClr val="CBD2DC"/>
              </a:solidFill>
            </a:ln>
          </p:spPr>
        </p:sp>
        <p:sp>
          <p:nvSpPr>
            <p:cNvPr id="14" name="TextBox 14"/>
            <p:cNvSpPr txBox="1"/>
            <p:nvPr/>
          </p:nvSpPr>
          <p:spPr>
            <a:xfrm>
              <a:off x="781050" y="1762125"/>
              <a:ext cx="3429000" cy="285750"/>
            </a:xfrm>
            <a:prstGeom prst="rect">
              <a:avLst/>
            </a:prstGeom>
            <a:noFill/>
            <a:ln>
              <a:noFill/>
            </a:ln>
          </p:spPr>
          <p:txBody>
            <a:bodyPr wrap="square" lIns="0" tIns="73342" rIns="0" bIns="0" anchor="t" anchorCtr="0">
              <a:noAutofit/>
            </a:bodyPr>
            <a:lstStyle/>
            <a:p>
              <a:pPr algn="l"/>
              <a:r>
                <a:rPr lang="en-US" sz="1350" b="1" dirty="0">
                  <a:solidFill>
                    <a:srgbClr val="5F6875"/>
                  </a:solidFill>
                  <a:latin typeface="+mn-lt"/>
                  <a:ea typeface="+mn-ea"/>
                  <a:cs typeface="+mn-cs"/>
                </a:rPr>
                <a:t>ORDER-SHIFT REPRODUCTIONS</a:t>
              </a:r>
            </a:p>
          </p:txBody>
        </p:sp>
        <p:sp>
          <p:nvSpPr>
            <p:cNvPr id="15" name="TextBox 15"/>
            <p:cNvSpPr txBox="1"/>
            <p:nvPr/>
          </p:nvSpPr>
          <p:spPr>
            <a:xfrm>
              <a:off x="774192" y="2216468"/>
              <a:ext cx="1222267" cy="264033"/>
            </a:xfrm>
            <a:prstGeom prst="rect">
              <a:avLst/>
            </a:prstGeom>
            <a:noFill/>
            <a:ln>
              <a:noFill/>
            </a:ln>
          </p:spPr>
          <p:txBody>
            <a:bodyPr wrap="none" lIns="0" tIns="0" rIns="0" bIns="0" anchor="t" anchorCtr="0">
              <a:spAutoFit/>
            </a:bodyPr>
            <a:lstStyle/>
            <a:p>
              <a:pPr algn="l"/>
              <a:r>
                <a:rPr lang="en-US" sz="1350" dirty="0">
                  <a:solidFill>
                    <a:srgbClr val="5F6875"/>
                  </a:solidFill>
                  <a:latin typeface="+mn-lt"/>
                  <a:ea typeface="+mn-ea"/>
                  <a:cs typeface="+mn-cs"/>
                </a:rPr>
                <a:t>tested shifts</a:t>
              </a:r>
            </a:p>
          </p:txBody>
        </p:sp>
        <p:sp>
          <p:nvSpPr>
            <p:cNvPr id="16" name="TextBox 16"/>
            <p:cNvSpPr txBox="1"/>
            <p:nvPr/>
          </p:nvSpPr>
          <p:spPr>
            <a:xfrm>
              <a:off x="2422017" y="2216468"/>
              <a:ext cx="295991" cy="264033"/>
            </a:xfrm>
            <a:prstGeom prst="rect">
              <a:avLst/>
            </a:prstGeom>
            <a:noFill/>
            <a:ln>
              <a:noFill/>
            </a:ln>
          </p:spPr>
          <p:txBody>
            <a:bodyPr wrap="none" lIns="0" tIns="0" rIns="0" bIns="0" anchor="t" anchorCtr="0">
              <a:spAutoFit/>
            </a:bodyPr>
            <a:lstStyle/>
            <a:p>
              <a:pPr algn="l"/>
              <a:r>
                <a:rPr lang="en-US" sz="1350" b="1" dirty="0">
                  <a:solidFill>
                    <a:schemeClr val="accent2"/>
                  </a:solidFill>
                  <a:latin typeface="+mn-lt"/>
                  <a:ea typeface="+mn-ea"/>
                  <a:cs typeface="+mn-cs"/>
                </a:rPr>
                <a:t>FCI</a:t>
              </a:r>
            </a:p>
          </p:txBody>
        </p:sp>
        <p:sp>
          <p:nvSpPr>
            <p:cNvPr id="17" name="TextBox 17"/>
            <p:cNvSpPr txBox="1"/>
            <p:nvPr/>
          </p:nvSpPr>
          <p:spPr>
            <a:xfrm>
              <a:off x="3336417" y="2216468"/>
              <a:ext cx="1316359"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paper FCI Plus</a:t>
              </a:r>
            </a:p>
          </p:txBody>
        </p:sp>
        <p:sp>
          <p:nvSpPr>
            <p:cNvPr id="18" name="TextBox 18"/>
            <p:cNvSpPr txBox="1"/>
            <p:nvPr/>
          </p:nvSpPr>
          <p:spPr>
            <a:xfrm>
              <a:off x="4688967" y="2216468"/>
              <a:ext cx="643435"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robust</a:t>
              </a:r>
            </a:p>
          </p:txBody>
        </p:sp>
        <p:grpSp>
          <p:nvGrpSpPr>
            <p:cNvPr id="30" name="Group 30"/>
            <p:cNvGrpSpPr/>
            <p:nvPr/>
          </p:nvGrpSpPr>
          <p:grpSpPr>
            <a:xfrm>
              <a:off x="781050" y="2533650"/>
              <a:ext cx="4743450" cy="2105025"/>
              <a:chOff x="781050" y="2533650"/>
              <a:chExt cx="4743450" cy="2105025"/>
            </a:xfrm>
          </p:grpSpPr>
          <p:sp>
            <p:nvSpPr>
              <p:cNvPr id="19" name="Line 19"/>
              <p:cNvSpPr/>
              <p:nvPr/>
            </p:nvSpPr>
            <p:spPr>
              <a:xfrm>
                <a:off x="781050" y="2533650"/>
                <a:ext cx="4743450" cy="9525"/>
              </a:xfrm>
              <a:custGeom>
                <a:avLst/>
                <a:gdLst/>
                <a:ahLst/>
                <a:cxnLst/>
                <a:rect l="l" t="t" r="r" b="b"/>
                <a:pathLst>
                  <a:path w="4743450" h="9525">
                    <a:moveTo>
                      <a:pt x="0" y="0"/>
                    </a:moveTo>
                    <a:lnTo>
                      <a:pt x="4743450" y="0"/>
                    </a:lnTo>
                  </a:path>
                </a:pathLst>
              </a:custGeom>
              <a:noFill/>
              <a:ln w="14288">
                <a:solidFill>
                  <a:srgbClr val="CBD2DC"/>
                </a:solidFill>
              </a:ln>
            </p:spPr>
          </p:sp>
          <p:sp>
            <p:nvSpPr>
              <p:cNvPr id="20" name="Line 20"/>
              <p:cNvSpPr/>
              <p:nvPr/>
            </p:nvSpPr>
            <p:spPr>
              <a:xfrm>
                <a:off x="781050" y="4629150"/>
                <a:ext cx="4743450" cy="9525"/>
              </a:xfrm>
              <a:custGeom>
                <a:avLst/>
                <a:gdLst/>
                <a:ahLst/>
                <a:cxnLst/>
                <a:rect l="l" t="t" r="r" b="b"/>
                <a:pathLst>
                  <a:path w="4743450" h="9525">
                    <a:moveTo>
                      <a:pt x="0" y="0"/>
                    </a:moveTo>
                    <a:lnTo>
                      <a:pt x="4743450" y="0"/>
                    </a:lnTo>
                  </a:path>
                </a:pathLst>
              </a:custGeom>
              <a:noFill/>
              <a:ln w="14288">
                <a:solidFill>
                  <a:srgbClr val="CBD2DC"/>
                </a:solidFill>
              </a:ln>
            </p:spPr>
          </p:sp>
          <p:sp>
            <p:nvSpPr>
              <p:cNvPr id="21" name="Rectangle 21"/>
              <p:cNvSpPr/>
              <p:nvPr/>
            </p:nvSpPr>
            <p:spPr>
              <a:xfrm>
                <a:off x="2247900" y="2724150"/>
                <a:ext cx="704850" cy="476250"/>
              </a:xfrm>
              <a:prstGeom prst="roundRect">
                <a:avLst>
                  <a:gd name="adj" fmla="val 16000"/>
                </a:avLst>
              </a:prstGeom>
              <a:solidFill>
                <a:srgbClr val="F5C9C1"/>
              </a:solidFill>
              <a:ln>
                <a:noFill/>
              </a:ln>
            </p:spPr>
          </p:sp>
          <p:sp>
            <p:nvSpPr>
              <p:cNvPr id="22" name="Rectangle 22"/>
              <p:cNvSpPr/>
              <p:nvPr/>
            </p:nvSpPr>
            <p:spPr>
              <a:xfrm>
                <a:off x="3162300" y="2724150"/>
                <a:ext cx="990600" cy="476250"/>
              </a:xfrm>
              <a:prstGeom prst="roundRect">
                <a:avLst>
                  <a:gd name="adj" fmla="val 16000"/>
                </a:avLst>
              </a:prstGeom>
              <a:solidFill>
                <a:srgbClr val="DDF3EF"/>
              </a:solidFill>
              <a:ln>
                <a:noFill/>
              </a:ln>
            </p:spPr>
          </p:sp>
          <p:sp>
            <p:nvSpPr>
              <p:cNvPr id="23" name="Rectangle 23"/>
              <p:cNvSpPr/>
              <p:nvPr/>
            </p:nvSpPr>
            <p:spPr>
              <a:xfrm>
                <a:off x="4514850" y="2724150"/>
                <a:ext cx="990600" cy="476250"/>
              </a:xfrm>
              <a:prstGeom prst="roundRect">
                <a:avLst>
                  <a:gd name="adj" fmla="val 16000"/>
                </a:avLst>
              </a:prstGeom>
              <a:solidFill>
                <a:schemeClr val="accent6"/>
              </a:solidFill>
              <a:ln>
                <a:noFill/>
              </a:ln>
            </p:spPr>
          </p:sp>
          <p:sp>
            <p:nvSpPr>
              <p:cNvPr id="24" name="Rectangle 24"/>
              <p:cNvSpPr/>
              <p:nvPr/>
            </p:nvSpPr>
            <p:spPr>
              <a:xfrm>
                <a:off x="2247900" y="3390900"/>
                <a:ext cx="704850" cy="476250"/>
              </a:xfrm>
              <a:prstGeom prst="roundRect">
                <a:avLst>
                  <a:gd name="adj" fmla="val 16000"/>
                </a:avLst>
              </a:prstGeom>
              <a:solidFill>
                <a:srgbClr val="E8F0FF"/>
              </a:solidFill>
              <a:ln>
                <a:noFill/>
              </a:ln>
            </p:spPr>
          </p:sp>
          <p:sp>
            <p:nvSpPr>
              <p:cNvPr id="25" name="Rectangle 25"/>
              <p:cNvSpPr/>
              <p:nvPr/>
            </p:nvSpPr>
            <p:spPr>
              <a:xfrm>
                <a:off x="3162300" y="3390900"/>
                <a:ext cx="990600" cy="476250"/>
              </a:xfrm>
              <a:prstGeom prst="roundRect">
                <a:avLst>
                  <a:gd name="adj" fmla="val 16000"/>
                </a:avLst>
              </a:prstGeom>
              <a:solidFill>
                <a:srgbClr val="F5C9C1"/>
              </a:solidFill>
              <a:ln>
                <a:noFill/>
              </a:ln>
            </p:spPr>
          </p:sp>
          <p:sp>
            <p:nvSpPr>
              <p:cNvPr id="26" name="Rectangle 26"/>
              <p:cNvSpPr/>
              <p:nvPr/>
            </p:nvSpPr>
            <p:spPr>
              <a:xfrm>
                <a:off x="4514850" y="3390900"/>
                <a:ext cx="990600" cy="476250"/>
              </a:xfrm>
              <a:prstGeom prst="roundRect">
                <a:avLst>
                  <a:gd name="adj" fmla="val 16000"/>
                </a:avLst>
              </a:prstGeom>
              <a:solidFill>
                <a:schemeClr val="accent6"/>
              </a:solidFill>
              <a:ln>
                <a:noFill/>
              </a:ln>
            </p:spPr>
          </p:sp>
          <p:sp>
            <p:nvSpPr>
              <p:cNvPr id="27" name="Rectangle 27"/>
              <p:cNvSpPr/>
              <p:nvPr/>
            </p:nvSpPr>
            <p:spPr>
              <a:xfrm>
                <a:off x="2247900" y="4057650"/>
                <a:ext cx="704850" cy="476250"/>
              </a:xfrm>
              <a:prstGeom prst="roundRect">
                <a:avLst>
                  <a:gd name="adj" fmla="val 16000"/>
                </a:avLst>
              </a:prstGeom>
              <a:solidFill>
                <a:srgbClr val="E8F0FF"/>
              </a:solidFill>
              <a:ln>
                <a:noFill/>
              </a:ln>
            </p:spPr>
          </p:sp>
          <p:sp>
            <p:nvSpPr>
              <p:cNvPr id="28" name="Rectangle 28"/>
              <p:cNvSpPr/>
              <p:nvPr/>
            </p:nvSpPr>
            <p:spPr>
              <a:xfrm>
                <a:off x="3162300" y="4057650"/>
                <a:ext cx="990600" cy="476250"/>
              </a:xfrm>
              <a:prstGeom prst="roundRect">
                <a:avLst>
                  <a:gd name="adj" fmla="val 16000"/>
                </a:avLst>
              </a:prstGeom>
              <a:solidFill>
                <a:srgbClr val="DDF3EF"/>
              </a:solidFill>
              <a:ln>
                <a:noFill/>
              </a:ln>
            </p:spPr>
          </p:sp>
          <p:sp>
            <p:nvSpPr>
              <p:cNvPr id="29" name="Rectangle 29"/>
              <p:cNvSpPr/>
              <p:nvPr/>
            </p:nvSpPr>
            <p:spPr>
              <a:xfrm>
                <a:off x="4514850" y="4057650"/>
                <a:ext cx="990600" cy="476250"/>
              </a:xfrm>
              <a:prstGeom prst="roundRect">
                <a:avLst>
                  <a:gd name="adj" fmla="val 16000"/>
                </a:avLst>
              </a:prstGeom>
              <a:solidFill>
                <a:schemeClr val="accent6"/>
              </a:solidFill>
              <a:ln>
                <a:noFill/>
              </a:ln>
            </p:spPr>
          </p:sp>
        </p:grpSp>
        <p:sp>
          <p:nvSpPr>
            <p:cNvPr id="31" name="TextBox 31"/>
            <p:cNvSpPr txBox="1"/>
            <p:nvPr/>
          </p:nvSpPr>
          <p:spPr>
            <a:xfrm>
              <a:off x="773430" y="2867025"/>
              <a:ext cx="964692"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Attrition</a:t>
              </a:r>
            </a:p>
          </p:txBody>
        </p:sp>
        <p:sp>
          <p:nvSpPr>
            <p:cNvPr id="32" name="TextBox 32"/>
            <p:cNvSpPr txBox="1"/>
            <p:nvPr/>
          </p:nvSpPr>
          <p:spPr>
            <a:xfrm>
              <a:off x="773430" y="3533775"/>
              <a:ext cx="1261446"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Longitudinal</a:t>
              </a:r>
            </a:p>
          </p:txBody>
        </p:sp>
        <p:sp>
          <p:nvSpPr>
            <p:cNvPr id="33" name="TextBox 33"/>
            <p:cNvSpPr txBox="1"/>
            <p:nvPr/>
          </p:nvSpPr>
          <p:spPr>
            <a:xfrm>
              <a:off x="773430" y="4200525"/>
              <a:ext cx="838143" cy="293370"/>
            </a:xfrm>
            <a:prstGeom prst="rect">
              <a:avLst/>
            </a:prstGeom>
            <a:noFill/>
            <a:ln>
              <a:noFill/>
            </a:ln>
          </p:spPr>
          <p:txBody>
            <a:bodyPr wrap="none" lIns="0" tIns="0" rIns="0" bIns="0" anchor="t" anchorCtr="0">
              <a:spAutoFit/>
            </a:bodyPr>
            <a:lstStyle/>
            <a:p>
              <a:pPr algn="l"/>
              <a:r>
                <a:rPr lang="en-US" sz="1500" b="1" dirty="0">
                  <a:solidFill>
                    <a:schemeClr val="dk1"/>
                  </a:solidFill>
                  <a:latin typeface="+mn-lt"/>
                  <a:ea typeface="+mn-ea"/>
                  <a:cs typeface="+mn-cs"/>
                </a:rPr>
                <a:t>Focused</a:t>
              </a:r>
            </a:p>
          </p:txBody>
        </p:sp>
        <p:sp>
          <p:nvSpPr>
            <p:cNvPr id="34" name="TextBox 34"/>
            <p:cNvSpPr txBox="1"/>
            <p:nvPr/>
          </p:nvSpPr>
          <p:spPr>
            <a:xfrm>
              <a:off x="2354175" y="2867025"/>
              <a:ext cx="492300" cy="293370"/>
            </a:xfrm>
            <a:prstGeom prst="rect">
              <a:avLst/>
            </a:prstGeom>
            <a:noFill/>
            <a:ln>
              <a:noFill/>
            </a:ln>
          </p:spPr>
          <p:txBody>
            <a:bodyPr wrap="none" lIns="0" tIns="0" rIns="0" bIns="0" anchor="t" anchorCtr="0">
              <a:spAutoFit/>
            </a:bodyPr>
            <a:lstStyle/>
            <a:p>
              <a:pPr algn="ctr"/>
              <a:r>
                <a:rPr lang="en-US" sz="1500" b="1" dirty="0">
                  <a:solidFill>
                    <a:srgbClr val="B45F4A"/>
                  </a:solidFill>
                  <a:latin typeface="Consolas"/>
                  <a:ea typeface="Consolas"/>
                  <a:cs typeface="Consolas"/>
                </a:rPr>
                <a:t>2 / 9</a:t>
              </a:r>
            </a:p>
          </p:txBody>
        </p:sp>
        <p:sp>
          <p:nvSpPr>
            <p:cNvPr id="35" name="TextBox 35"/>
            <p:cNvSpPr txBox="1"/>
            <p:nvPr/>
          </p:nvSpPr>
          <p:spPr>
            <a:xfrm>
              <a:off x="3411450" y="2867025"/>
              <a:ext cx="492300" cy="293370"/>
            </a:xfrm>
            <a:prstGeom prst="rect">
              <a:avLst/>
            </a:prstGeom>
            <a:noFill/>
            <a:ln>
              <a:noFill/>
            </a:ln>
          </p:spPr>
          <p:txBody>
            <a:bodyPr wrap="none" lIns="0" tIns="0" rIns="0" bIns="0" anchor="t" anchorCtr="0">
              <a:spAutoFit/>
            </a:bodyPr>
            <a:lstStyle/>
            <a:p>
              <a:pPr algn="ctr"/>
              <a:r>
                <a:rPr lang="en-US" sz="1500" b="1" dirty="0">
                  <a:solidFill>
                    <a:schemeClr val="accent6"/>
                  </a:solidFill>
                  <a:latin typeface="Consolas"/>
                  <a:ea typeface="Consolas"/>
                  <a:cs typeface="Consolas"/>
                </a:rPr>
                <a:t>9 / 9</a:t>
              </a:r>
            </a:p>
          </p:txBody>
        </p:sp>
        <p:sp>
          <p:nvSpPr>
            <p:cNvPr id="36" name="TextBox 36"/>
            <p:cNvSpPr txBox="1"/>
            <p:nvPr/>
          </p:nvSpPr>
          <p:spPr>
            <a:xfrm>
              <a:off x="4764000" y="2867025"/>
              <a:ext cx="492300"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Consolas"/>
                  <a:ea typeface="Consolas"/>
                  <a:cs typeface="Consolas"/>
                </a:rPr>
                <a:t>9 / 9</a:t>
              </a:r>
            </a:p>
          </p:txBody>
        </p:sp>
        <p:sp>
          <p:nvSpPr>
            <p:cNvPr id="37" name="TextBox 37"/>
            <p:cNvSpPr txBox="1"/>
            <p:nvPr/>
          </p:nvSpPr>
          <p:spPr>
            <a:xfrm>
              <a:off x="2354175" y="3533775"/>
              <a:ext cx="492300"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Consolas"/>
                  <a:ea typeface="Consolas"/>
                  <a:cs typeface="Consolas"/>
                </a:rPr>
                <a:t>8 / 9</a:t>
              </a:r>
            </a:p>
          </p:txBody>
        </p:sp>
        <p:sp>
          <p:nvSpPr>
            <p:cNvPr id="38" name="TextBox 38"/>
            <p:cNvSpPr txBox="1"/>
            <p:nvPr/>
          </p:nvSpPr>
          <p:spPr>
            <a:xfrm>
              <a:off x="3411450" y="3533775"/>
              <a:ext cx="492300" cy="293370"/>
            </a:xfrm>
            <a:prstGeom prst="rect">
              <a:avLst/>
            </a:prstGeom>
            <a:noFill/>
            <a:ln>
              <a:noFill/>
            </a:ln>
          </p:spPr>
          <p:txBody>
            <a:bodyPr wrap="none" lIns="0" tIns="0" rIns="0" bIns="0" anchor="t" anchorCtr="0">
              <a:spAutoFit/>
            </a:bodyPr>
            <a:lstStyle/>
            <a:p>
              <a:pPr algn="ctr"/>
              <a:r>
                <a:rPr lang="en-US" sz="1500" b="1" dirty="0">
                  <a:solidFill>
                    <a:srgbClr val="B45F4A"/>
                  </a:solidFill>
                  <a:latin typeface="Consolas"/>
                  <a:ea typeface="Consolas"/>
                  <a:cs typeface="Consolas"/>
                </a:rPr>
                <a:t>5 / 9</a:t>
              </a:r>
            </a:p>
          </p:txBody>
        </p:sp>
        <p:sp>
          <p:nvSpPr>
            <p:cNvPr id="39" name="TextBox 39"/>
            <p:cNvSpPr txBox="1"/>
            <p:nvPr/>
          </p:nvSpPr>
          <p:spPr>
            <a:xfrm>
              <a:off x="4764000" y="3533775"/>
              <a:ext cx="492300"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Consolas"/>
                  <a:ea typeface="Consolas"/>
                  <a:cs typeface="Consolas"/>
                </a:rPr>
                <a:t>9 / 9</a:t>
              </a:r>
            </a:p>
          </p:txBody>
        </p:sp>
        <p:sp>
          <p:nvSpPr>
            <p:cNvPr id="40" name="TextBox 40"/>
            <p:cNvSpPr txBox="1"/>
            <p:nvPr/>
          </p:nvSpPr>
          <p:spPr>
            <a:xfrm>
              <a:off x="2354175" y="4200525"/>
              <a:ext cx="492300" cy="293370"/>
            </a:xfrm>
            <a:prstGeom prst="rect">
              <a:avLst/>
            </a:prstGeom>
            <a:noFill/>
            <a:ln>
              <a:noFill/>
            </a:ln>
          </p:spPr>
          <p:txBody>
            <a:bodyPr wrap="none" lIns="0" tIns="0" rIns="0" bIns="0" anchor="t" anchorCtr="0">
              <a:spAutoFit/>
            </a:bodyPr>
            <a:lstStyle/>
            <a:p>
              <a:pPr algn="ctr"/>
              <a:r>
                <a:rPr lang="en-US" sz="1500" b="1" dirty="0">
                  <a:solidFill>
                    <a:schemeClr val="accent2"/>
                  </a:solidFill>
                  <a:latin typeface="Consolas"/>
                  <a:ea typeface="Consolas"/>
                  <a:cs typeface="Consolas"/>
                </a:rPr>
                <a:t>6 / 8</a:t>
              </a:r>
            </a:p>
          </p:txBody>
        </p:sp>
        <p:sp>
          <p:nvSpPr>
            <p:cNvPr id="41" name="TextBox 41"/>
            <p:cNvSpPr txBox="1"/>
            <p:nvPr/>
          </p:nvSpPr>
          <p:spPr>
            <a:xfrm>
              <a:off x="3411450" y="4200525"/>
              <a:ext cx="492300" cy="293370"/>
            </a:xfrm>
            <a:prstGeom prst="rect">
              <a:avLst/>
            </a:prstGeom>
            <a:noFill/>
            <a:ln>
              <a:noFill/>
            </a:ln>
          </p:spPr>
          <p:txBody>
            <a:bodyPr wrap="none" lIns="0" tIns="0" rIns="0" bIns="0" anchor="t" anchorCtr="0">
              <a:spAutoFit/>
            </a:bodyPr>
            <a:lstStyle/>
            <a:p>
              <a:pPr algn="ctr"/>
              <a:r>
                <a:rPr lang="en-US" sz="1500" b="1" dirty="0">
                  <a:solidFill>
                    <a:srgbClr val="B45F4A"/>
                  </a:solidFill>
                  <a:latin typeface="Consolas"/>
                  <a:ea typeface="Consolas"/>
                  <a:cs typeface="Consolas"/>
                </a:rPr>
                <a:t>6 / 8</a:t>
              </a:r>
            </a:p>
          </p:txBody>
        </p:sp>
        <p:sp>
          <p:nvSpPr>
            <p:cNvPr id="42" name="TextBox 42"/>
            <p:cNvSpPr txBox="1"/>
            <p:nvPr/>
          </p:nvSpPr>
          <p:spPr>
            <a:xfrm>
              <a:off x="4764000" y="4200525"/>
              <a:ext cx="492300" cy="293370"/>
            </a:xfrm>
            <a:prstGeom prst="rect">
              <a:avLst/>
            </a:prstGeom>
            <a:noFill/>
            <a:ln>
              <a:noFill/>
            </a:ln>
          </p:spPr>
          <p:txBody>
            <a:bodyPr wrap="none" lIns="0" tIns="0" rIns="0" bIns="0" anchor="t" anchorCtr="0">
              <a:spAutoFit/>
            </a:bodyPr>
            <a:lstStyle/>
            <a:p>
              <a:pPr algn="ctr"/>
              <a:r>
                <a:rPr lang="en-US" sz="1500" b="1" dirty="0">
                  <a:solidFill>
                    <a:srgbClr val="FFFFFF"/>
                  </a:solidFill>
                  <a:latin typeface="Consolas"/>
                  <a:ea typeface="Consolas"/>
                  <a:cs typeface="Consolas"/>
                </a:rPr>
                <a:t>8 / 8</a:t>
              </a:r>
            </a:p>
          </p:txBody>
        </p:sp>
        <p:sp>
          <p:nvSpPr>
            <p:cNvPr id="43" name="TextBox 43"/>
            <p:cNvSpPr txBox="1"/>
            <p:nvPr/>
          </p:nvSpPr>
          <p:spPr>
            <a:xfrm>
              <a:off x="774192" y="4788218"/>
              <a:ext cx="3657028" cy="264033"/>
            </a:xfrm>
            <a:prstGeom prst="rect">
              <a:avLst/>
            </a:prstGeom>
            <a:noFill/>
            <a:ln>
              <a:noFill/>
            </a:ln>
          </p:spPr>
          <p:txBody>
            <a:bodyPr wrap="none" lIns="0" tIns="0" rIns="0" bIns="0" anchor="t" anchorCtr="0">
              <a:spAutoFit/>
            </a:bodyPr>
            <a:lstStyle/>
            <a:p>
              <a:pPr algn="l"/>
              <a:r>
                <a:rPr lang="en-US" sz="1350" dirty="0">
                  <a:solidFill>
                    <a:srgbClr val="5F6875"/>
                  </a:solidFill>
                  <a:latin typeface="+mn-lt"/>
                  <a:ea typeface="+mn-ea"/>
                  <a:cs typeface="+mn-cs"/>
                </a:rPr>
                <a:t>Robust total: 26 / 26 · temporal flags: 0</a:t>
              </a:r>
            </a:p>
          </p:txBody>
        </p:sp>
      </p:grpSp>
      <p:grpSp>
        <p:nvGrpSpPr>
          <p:cNvPr id="66" name="Group 66"/>
          <p:cNvGrpSpPr/>
          <p:nvPr/>
        </p:nvGrpSpPr>
        <p:grpSpPr>
          <a:xfrm>
            <a:off x="6115050" y="1657350"/>
            <a:ext cx="5543550" cy="3512820"/>
            <a:chOff x="6115050" y="1657350"/>
            <a:chExt cx="5543550" cy="3512820"/>
          </a:xfrm>
        </p:grpSpPr>
        <p:sp>
          <p:nvSpPr>
            <p:cNvPr id="45" name="Rectangle 45"/>
            <p:cNvSpPr/>
            <p:nvPr/>
          </p:nvSpPr>
          <p:spPr>
            <a:xfrm>
              <a:off x="6115050" y="1657350"/>
              <a:ext cx="5543550" cy="3505200"/>
            </a:xfrm>
            <a:prstGeom prst="roundRect">
              <a:avLst>
                <a:gd name="adj" fmla="val 3804"/>
              </a:avLst>
            </a:prstGeom>
            <a:solidFill>
              <a:schemeClr val="accent1"/>
            </a:solidFill>
            <a:ln>
              <a:noFill/>
            </a:ln>
          </p:spPr>
        </p:sp>
        <p:sp>
          <p:nvSpPr>
            <p:cNvPr id="46" name="TextBox 46"/>
            <p:cNvSpPr txBox="1"/>
            <p:nvPr/>
          </p:nvSpPr>
          <p:spPr>
            <a:xfrm>
              <a:off x="6393942" y="1835468"/>
              <a:ext cx="3461507" cy="264033"/>
            </a:xfrm>
            <a:prstGeom prst="rect">
              <a:avLst/>
            </a:prstGeom>
            <a:noFill/>
            <a:ln>
              <a:noFill/>
            </a:ln>
          </p:spPr>
          <p:txBody>
            <a:bodyPr wrap="none" lIns="0" tIns="0" rIns="0" bIns="0" anchor="t" anchorCtr="0">
              <a:spAutoFit/>
            </a:bodyPr>
            <a:lstStyle/>
            <a:p>
              <a:pPr algn="l"/>
              <a:r>
                <a:rPr lang="en-US" sz="1350" b="1" dirty="0">
                  <a:solidFill>
                    <a:srgbClr val="E9EDF5"/>
                  </a:solidFill>
                  <a:latin typeface="+mn-lt"/>
                  <a:ea typeface="+mn-ea"/>
                  <a:cs typeface="+mn-cs"/>
                </a:rPr>
                <a:t>LONGITUDINAL ENDPOINT COMPARISON</a:t>
              </a:r>
            </a:p>
          </p:txBody>
        </p:sp>
        <p:sp>
          <p:nvSpPr>
            <p:cNvPr id="47" name="TextBox 47"/>
            <p:cNvSpPr txBox="1"/>
            <p:nvPr/>
          </p:nvSpPr>
          <p:spPr>
            <a:xfrm>
              <a:off x="6393180" y="2228850"/>
              <a:ext cx="1404985" cy="293370"/>
            </a:xfrm>
            <a:prstGeom prst="rect">
              <a:avLst/>
            </a:prstGeom>
            <a:noFill/>
            <a:ln>
              <a:noFill/>
            </a:ln>
          </p:spPr>
          <p:txBody>
            <a:bodyPr wrap="none" lIns="0" tIns="0" rIns="0" bIns="0" anchor="t" anchorCtr="0">
              <a:spAutoFit/>
            </a:bodyPr>
            <a:lstStyle/>
            <a:p>
              <a:pPr algn="l"/>
              <a:r>
                <a:rPr lang="en-US" sz="1500" dirty="0">
                  <a:solidFill>
                    <a:srgbClr val="E9EDF5"/>
                  </a:solidFill>
                  <a:latin typeface="+mn-lt"/>
                  <a:ea typeface="+mn-ea"/>
                  <a:cs typeface="+mn-cs"/>
                </a:rPr>
                <a:t>K achievement</a:t>
              </a:r>
            </a:p>
          </p:txBody>
        </p:sp>
        <p:sp>
          <p:nvSpPr>
            <p:cNvPr id="48" name="TextBox 48"/>
            <p:cNvSpPr txBox="1"/>
            <p:nvPr/>
          </p:nvSpPr>
          <p:spPr>
            <a:xfrm>
              <a:off x="8393990" y="2228850"/>
              <a:ext cx="2072080" cy="293370"/>
            </a:xfrm>
            <a:prstGeom prst="rect">
              <a:avLst/>
            </a:prstGeom>
            <a:noFill/>
            <a:ln>
              <a:noFill/>
            </a:ln>
          </p:spPr>
          <p:txBody>
            <a:bodyPr wrap="none" lIns="0" tIns="0" rIns="0" bIns="0" anchor="t" anchorCtr="0">
              <a:spAutoFit/>
            </a:bodyPr>
            <a:lstStyle/>
            <a:p>
              <a:pPr algn="r"/>
              <a:r>
                <a:rPr lang="en-US" sz="1500" dirty="0">
                  <a:solidFill>
                    <a:srgbClr val="E9EDF5"/>
                  </a:solidFill>
                  <a:latin typeface="+mn-lt"/>
                  <a:ea typeface="+mn-ea"/>
                  <a:cs typeface="+mn-cs"/>
                </a:rPr>
                <a:t>Grade-3 achievement</a:t>
              </a:r>
            </a:p>
          </p:txBody>
        </p:sp>
        <p:sp>
          <p:nvSpPr>
            <p:cNvPr id="49" name="Line 49"/>
            <p:cNvSpPr/>
            <p:nvPr/>
          </p:nvSpPr>
          <p:spPr>
            <a:xfrm>
              <a:off x="7715250" y="2819400"/>
              <a:ext cx="2286000" cy="9525"/>
            </a:xfrm>
            <a:custGeom>
              <a:avLst/>
              <a:gdLst/>
              <a:ahLst/>
              <a:cxnLst/>
              <a:rect l="l" t="t" r="r" b="b"/>
              <a:pathLst>
                <a:path w="2286000" h="9525">
                  <a:moveTo>
                    <a:pt x="0" y="0"/>
                  </a:moveTo>
                  <a:lnTo>
                    <a:pt x="2286000" y="0"/>
                  </a:lnTo>
                </a:path>
              </a:pathLst>
            </a:custGeom>
            <a:noFill/>
            <a:ln w="28575">
              <a:solidFill>
                <a:schemeClr val="accent3"/>
              </a:solidFill>
            </a:ln>
          </p:spPr>
        </p:sp>
        <p:sp>
          <p:nvSpPr>
            <p:cNvPr id="50" name="Polygon 50"/>
            <p:cNvSpPr/>
            <p:nvPr/>
          </p:nvSpPr>
          <p:spPr>
            <a:xfrm>
              <a:off x="7715250" y="2724150"/>
              <a:ext cx="171450" cy="190500"/>
            </a:xfrm>
            <a:custGeom>
              <a:avLst/>
              <a:gdLst/>
              <a:ahLst/>
              <a:cxnLst/>
              <a:rect l="l" t="t" r="r" b="b"/>
              <a:pathLst>
                <a:path w="171450" h="190500">
                  <a:moveTo>
                    <a:pt x="0" y="95250"/>
                  </a:moveTo>
                  <a:lnTo>
                    <a:pt x="171450" y="0"/>
                  </a:lnTo>
                  <a:lnTo>
                    <a:pt x="171450" y="190500"/>
                  </a:lnTo>
                  <a:close/>
                </a:path>
              </a:pathLst>
            </a:custGeom>
            <a:solidFill>
              <a:schemeClr val="accent3"/>
            </a:solidFill>
            <a:ln>
              <a:noFill/>
            </a:ln>
          </p:spPr>
        </p:sp>
        <p:sp>
          <p:nvSpPr>
            <p:cNvPr id="51" name="Ellipse 51"/>
            <p:cNvSpPr/>
            <p:nvPr/>
          </p:nvSpPr>
          <p:spPr>
            <a:xfrm>
              <a:off x="9925050" y="2743200"/>
              <a:ext cx="152400" cy="152400"/>
            </a:xfrm>
            <a:prstGeom prst="ellipse">
              <a:avLst/>
            </a:prstGeom>
            <a:solidFill>
              <a:schemeClr val="accent1"/>
            </a:solidFill>
            <a:ln w="28575">
              <a:solidFill>
                <a:schemeClr val="accent3"/>
              </a:solidFill>
            </a:ln>
          </p:spPr>
        </p:sp>
        <p:sp>
          <p:nvSpPr>
            <p:cNvPr id="52" name="TextBox 52"/>
            <p:cNvSpPr txBox="1"/>
            <p:nvPr/>
          </p:nvSpPr>
          <p:spPr>
            <a:xfrm>
              <a:off x="6393942" y="2730818"/>
              <a:ext cx="1316359"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paper FCI Plus</a:t>
              </a:r>
            </a:p>
          </p:txBody>
        </p:sp>
        <p:sp>
          <p:nvSpPr>
            <p:cNvPr id="53" name="TextBox 53"/>
            <p:cNvSpPr txBox="1"/>
            <p:nvPr/>
          </p:nvSpPr>
          <p:spPr>
            <a:xfrm>
              <a:off x="10261854" y="2747010"/>
              <a:ext cx="722986" cy="234696"/>
            </a:xfrm>
            <a:prstGeom prst="rect">
              <a:avLst/>
            </a:prstGeom>
            <a:noFill/>
            <a:ln>
              <a:noFill/>
            </a:ln>
          </p:spPr>
          <p:txBody>
            <a:bodyPr wrap="none" lIns="0" tIns="0" rIns="0" bIns="0" anchor="t" anchorCtr="0">
              <a:spAutoFit/>
            </a:bodyPr>
            <a:lstStyle/>
            <a:p>
              <a:pPr algn="l"/>
              <a:r>
                <a:rPr lang="en-US" sz="1200" dirty="0">
                  <a:solidFill>
                    <a:srgbClr val="FFC77E"/>
                  </a:solidFill>
                  <a:latin typeface="+mn-lt"/>
                  <a:ea typeface="+mn-ea"/>
                  <a:cs typeface="+mn-cs"/>
                </a:rPr>
                <a:t>reversed</a:t>
              </a:r>
            </a:p>
          </p:txBody>
        </p:sp>
        <p:sp>
          <p:nvSpPr>
            <p:cNvPr id="54" name="Line 54"/>
            <p:cNvSpPr/>
            <p:nvPr/>
          </p:nvSpPr>
          <p:spPr>
            <a:xfrm>
              <a:off x="7715250" y="3467100"/>
              <a:ext cx="2286000" cy="9525"/>
            </a:xfrm>
            <a:custGeom>
              <a:avLst/>
              <a:gdLst/>
              <a:ahLst/>
              <a:cxnLst/>
              <a:rect l="l" t="t" r="r" b="b"/>
              <a:pathLst>
                <a:path w="2286000" h="9525">
                  <a:moveTo>
                    <a:pt x="0" y="0"/>
                  </a:moveTo>
                  <a:lnTo>
                    <a:pt x="2286000" y="0"/>
                  </a:lnTo>
                </a:path>
              </a:pathLst>
            </a:custGeom>
            <a:noFill/>
            <a:ln w="28575">
              <a:solidFill>
                <a:srgbClr val="7562A8"/>
              </a:solidFill>
            </a:ln>
          </p:spPr>
        </p:sp>
        <p:sp>
          <p:nvSpPr>
            <p:cNvPr id="55" name="Polygon 55"/>
            <p:cNvSpPr/>
            <p:nvPr/>
          </p:nvSpPr>
          <p:spPr>
            <a:xfrm>
              <a:off x="7715250" y="3371850"/>
              <a:ext cx="171450" cy="190500"/>
            </a:xfrm>
            <a:custGeom>
              <a:avLst/>
              <a:gdLst/>
              <a:ahLst/>
              <a:cxnLst/>
              <a:rect l="l" t="t" r="r" b="b"/>
              <a:pathLst>
                <a:path w="171450" h="190500">
                  <a:moveTo>
                    <a:pt x="0" y="95250"/>
                  </a:moveTo>
                  <a:lnTo>
                    <a:pt x="171450" y="0"/>
                  </a:lnTo>
                  <a:lnTo>
                    <a:pt x="171450" y="190500"/>
                  </a:lnTo>
                  <a:close/>
                </a:path>
              </a:pathLst>
            </a:custGeom>
            <a:solidFill>
              <a:srgbClr val="7562A8"/>
            </a:solidFill>
            <a:ln>
              <a:noFill/>
            </a:ln>
          </p:spPr>
        </p:sp>
        <p:sp>
          <p:nvSpPr>
            <p:cNvPr id="56" name="Ellipse 56"/>
            <p:cNvSpPr/>
            <p:nvPr/>
          </p:nvSpPr>
          <p:spPr>
            <a:xfrm>
              <a:off x="9925050" y="3390900"/>
              <a:ext cx="152400" cy="152400"/>
            </a:xfrm>
            <a:prstGeom prst="ellipse">
              <a:avLst/>
            </a:prstGeom>
            <a:solidFill>
              <a:schemeClr val="accent1"/>
            </a:solidFill>
            <a:ln w="28575">
              <a:solidFill>
                <a:srgbClr val="7562A8"/>
              </a:solidFill>
            </a:ln>
          </p:spPr>
        </p:sp>
        <p:sp>
          <p:nvSpPr>
            <p:cNvPr id="57" name="TextBox 57"/>
            <p:cNvSpPr txBox="1"/>
            <p:nvPr/>
          </p:nvSpPr>
          <p:spPr>
            <a:xfrm>
              <a:off x="6393942" y="3378518"/>
              <a:ext cx="1437057" cy="264033"/>
            </a:xfrm>
            <a:prstGeom prst="rect">
              <a:avLst/>
            </a:prstGeom>
            <a:noFill/>
            <a:ln>
              <a:noFill/>
            </a:ln>
          </p:spPr>
          <p:txBody>
            <a:bodyPr wrap="none" lIns="0" tIns="0" rIns="0" bIns="0" anchor="t" anchorCtr="0">
              <a:spAutoFit/>
            </a:bodyPr>
            <a:lstStyle/>
            <a:p>
              <a:pPr algn="l"/>
              <a:r>
                <a:rPr lang="en-US" sz="1350" b="1" dirty="0">
                  <a:solidFill>
                    <a:srgbClr val="BBAFE0"/>
                  </a:solidFill>
                  <a:latin typeface="+mn-lt"/>
                  <a:ea typeface="+mn-ea"/>
                  <a:cs typeface="+mn-cs"/>
                </a:rPr>
                <a:t>R pcalg FCI Plus</a:t>
              </a:r>
            </a:p>
          </p:txBody>
        </p:sp>
        <p:sp>
          <p:nvSpPr>
            <p:cNvPr id="58" name="TextBox 58"/>
            <p:cNvSpPr txBox="1"/>
            <p:nvPr/>
          </p:nvSpPr>
          <p:spPr>
            <a:xfrm>
              <a:off x="10261854" y="3394710"/>
              <a:ext cx="722986" cy="234696"/>
            </a:xfrm>
            <a:prstGeom prst="rect">
              <a:avLst/>
            </a:prstGeom>
            <a:noFill/>
            <a:ln>
              <a:noFill/>
            </a:ln>
          </p:spPr>
          <p:txBody>
            <a:bodyPr wrap="none" lIns="0" tIns="0" rIns="0" bIns="0" anchor="t" anchorCtr="0">
              <a:spAutoFit/>
            </a:bodyPr>
            <a:lstStyle/>
            <a:p>
              <a:pPr algn="l"/>
              <a:r>
                <a:rPr lang="en-US" sz="1200" dirty="0">
                  <a:solidFill>
                    <a:srgbClr val="BBAFE0"/>
                  </a:solidFill>
                  <a:latin typeface="+mn-lt"/>
                  <a:ea typeface="+mn-ea"/>
                  <a:cs typeface="+mn-cs"/>
                </a:rPr>
                <a:t>reversed</a:t>
              </a:r>
            </a:p>
          </p:txBody>
        </p:sp>
        <p:sp>
          <p:nvSpPr>
            <p:cNvPr id="59" name="Line 59"/>
            <p:cNvSpPr/>
            <p:nvPr/>
          </p:nvSpPr>
          <p:spPr>
            <a:xfrm>
              <a:off x="7715250" y="4114800"/>
              <a:ext cx="2286000" cy="9525"/>
            </a:xfrm>
            <a:custGeom>
              <a:avLst/>
              <a:gdLst/>
              <a:ahLst/>
              <a:cxnLst/>
              <a:rect l="l" t="t" r="r" b="b"/>
              <a:pathLst>
                <a:path w="2286000" h="9525">
                  <a:moveTo>
                    <a:pt x="0" y="0"/>
                  </a:moveTo>
                  <a:lnTo>
                    <a:pt x="2286000" y="0"/>
                  </a:lnTo>
                </a:path>
              </a:pathLst>
            </a:custGeom>
            <a:noFill/>
            <a:ln w="28575">
              <a:solidFill>
                <a:schemeClr val="accent6"/>
              </a:solidFill>
            </a:ln>
          </p:spPr>
        </p:sp>
        <p:sp>
          <p:nvSpPr>
            <p:cNvPr id="60" name="Ellipse 60"/>
            <p:cNvSpPr/>
            <p:nvPr/>
          </p:nvSpPr>
          <p:spPr>
            <a:xfrm>
              <a:off x="7639050" y="4038600"/>
              <a:ext cx="152400" cy="152400"/>
            </a:xfrm>
            <a:prstGeom prst="ellipse">
              <a:avLst/>
            </a:prstGeom>
            <a:solidFill>
              <a:schemeClr val="accent1"/>
            </a:solidFill>
            <a:ln w="28575">
              <a:solidFill>
                <a:schemeClr val="accent6"/>
              </a:solidFill>
            </a:ln>
          </p:spPr>
        </p:sp>
        <p:sp>
          <p:nvSpPr>
            <p:cNvPr id="61" name="Ellipse 61"/>
            <p:cNvSpPr/>
            <p:nvPr/>
          </p:nvSpPr>
          <p:spPr>
            <a:xfrm>
              <a:off x="9925050" y="4038600"/>
              <a:ext cx="152400" cy="152400"/>
            </a:xfrm>
            <a:prstGeom prst="ellipse">
              <a:avLst/>
            </a:prstGeom>
            <a:solidFill>
              <a:schemeClr val="accent1"/>
            </a:solidFill>
            <a:ln w="28575">
              <a:solidFill>
                <a:schemeClr val="accent6"/>
              </a:solidFill>
            </a:ln>
          </p:spPr>
        </p:sp>
        <p:sp>
          <p:nvSpPr>
            <p:cNvPr id="62" name="TextBox 62"/>
            <p:cNvSpPr txBox="1"/>
            <p:nvPr/>
          </p:nvSpPr>
          <p:spPr>
            <a:xfrm>
              <a:off x="6393942" y="4026218"/>
              <a:ext cx="1421284" cy="264033"/>
            </a:xfrm>
            <a:prstGeom prst="rect">
              <a:avLst/>
            </a:prstGeom>
            <a:noFill/>
            <a:ln>
              <a:noFill/>
            </a:ln>
          </p:spPr>
          <p:txBody>
            <a:bodyPr wrap="none" lIns="0" tIns="0" rIns="0" bIns="0" anchor="t" anchorCtr="0">
              <a:spAutoFit/>
            </a:bodyPr>
            <a:lstStyle/>
            <a:p>
              <a:pPr algn="l"/>
              <a:r>
                <a:rPr lang="en-US" sz="1350" b="1" dirty="0">
                  <a:solidFill>
                    <a:srgbClr val="A7E8DF"/>
                  </a:solidFill>
                  <a:latin typeface="+mn-lt"/>
                  <a:ea typeface="+mn-ea"/>
                  <a:cs typeface="+mn-cs"/>
                </a:rPr>
                <a:t>robust FCI Plus</a:t>
              </a:r>
            </a:p>
          </p:txBody>
        </p:sp>
        <p:sp>
          <p:nvSpPr>
            <p:cNvPr id="63" name="TextBox 63"/>
            <p:cNvSpPr txBox="1"/>
            <p:nvPr/>
          </p:nvSpPr>
          <p:spPr>
            <a:xfrm>
              <a:off x="10261854" y="4042410"/>
              <a:ext cx="860298" cy="234696"/>
            </a:xfrm>
            <a:prstGeom prst="rect">
              <a:avLst/>
            </a:prstGeom>
            <a:noFill/>
            <a:ln>
              <a:noFill/>
            </a:ln>
          </p:spPr>
          <p:txBody>
            <a:bodyPr wrap="none" lIns="0" tIns="0" rIns="0" bIns="0" anchor="t" anchorCtr="0">
              <a:spAutoFit/>
            </a:bodyPr>
            <a:lstStyle/>
            <a:p>
              <a:pPr algn="l"/>
              <a:r>
                <a:rPr lang="en-US" sz="1200" dirty="0">
                  <a:solidFill>
                    <a:srgbClr val="A7E8DF"/>
                  </a:solidFill>
                  <a:latin typeface="+mn-lt"/>
                  <a:ea typeface="+mn-ea"/>
                  <a:cs typeface="+mn-cs"/>
                </a:rPr>
                <a:t>unresolved</a:t>
              </a:r>
            </a:p>
          </p:txBody>
        </p:sp>
        <p:sp>
          <p:nvSpPr>
            <p:cNvPr id="64" name="TextBox 64"/>
            <p:cNvSpPr txBox="1"/>
            <p:nvPr/>
          </p:nvSpPr>
          <p:spPr>
            <a:xfrm>
              <a:off x="6393180" y="4629150"/>
              <a:ext cx="4400285" cy="293370"/>
            </a:xfrm>
            <a:prstGeom prst="rect">
              <a:avLst/>
            </a:prstGeom>
            <a:noFill/>
            <a:ln>
              <a:noFill/>
            </a:ln>
          </p:spPr>
          <p:txBody>
            <a:bodyPr wrap="none" lIns="0" tIns="0" rIns="0" bIns="0" anchor="t" anchorCtr="0">
              <a:spAutoFit/>
            </a:bodyPr>
            <a:lstStyle/>
            <a:p>
              <a:pPr algn="l"/>
              <a:r>
                <a:rPr lang="en-US" sz="1500" b="1" dirty="0">
                  <a:solidFill>
                    <a:srgbClr val="FFFFFF"/>
                  </a:solidFill>
                  <a:latin typeface="+mn-lt"/>
                  <a:ea typeface="+mn-ea"/>
                  <a:cs typeface="+mn-cs"/>
                </a:rPr>
                <a:t>A circle endpoint is calibrated abstention—</a:t>
              </a:r>
            </a:p>
          </p:txBody>
        </p:sp>
        <p:sp>
          <p:nvSpPr>
            <p:cNvPr id="65" name="TextBox 65"/>
            <p:cNvSpPr txBox="1"/>
            <p:nvPr/>
          </p:nvSpPr>
          <p:spPr>
            <a:xfrm>
              <a:off x="6393180" y="4876800"/>
              <a:ext cx="3569208" cy="293370"/>
            </a:xfrm>
            <a:prstGeom prst="rect">
              <a:avLst/>
            </a:prstGeom>
            <a:noFill/>
            <a:ln>
              <a:noFill/>
            </a:ln>
          </p:spPr>
          <p:txBody>
            <a:bodyPr wrap="none" lIns="0" tIns="0" rIns="0" bIns="0" anchor="t" anchorCtr="0">
              <a:spAutoFit/>
            </a:bodyPr>
            <a:lstStyle/>
            <a:p>
              <a:pPr algn="l"/>
              <a:r>
                <a:rPr lang="en-US" sz="1500" dirty="0">
                  <a:solidFill>
                    <a:srgbClr val="E9EDF5"/>
                  </a:solidFill>
                  <a:latin typeface="+mn-lt"/>
                  <a:ea typeface="+mn-ea"/>
                  <a:cs typeface="+mn-cs"/>
                </a:rPr>
                <a:t>not additional causal identification.</a:t>
              </a:r>
            </a:p>
          </p:txBody>
        </p:sp>
      </p:grpSp>
      <p:grpSp>
        <p:nvGrpSpPr>
          <p:cNvPr id="70" name="Group 70"/>
          <p:cNvGrpSpPr/>
          <p:nvPr/>
        </p:nvGrpSpPr>
        <p:grpSpPr>
          <a:xfrm>
            <a:off x="533400" y="5400675"/>
            <a:ext cx="11125200" cy="657225"/>
            <a:chOff x="533400" y="5400675"/>
            <a:chExt cx="11125200" cy="657225"/>
          </a:xfrm>
        </p:grpSpPr>
        <p:sp>
          <p:nvSpPr>
            <p:cNvPr id="67" name="Rectangle 67"/>
            <p:cNvSpPr/>
            <p:nvPr/>
          </p:nvSpPr>
          <p:spPr>
            <a:xfrm>
              <a:off x="533400" y="5400675"/>
              <a:ext cx="11125200" cy="657225"/>
            </a:xfrm>
            <a:prstGeom prst="roundRect">
              <a:avLst>
                <a:gd name="adj" fmla="val 17391"/>
              </a:avLst>
            </a:prstGeom>
            <a:solidFill>
              <a:srgbClr val="DDF3EF"/>
            </a:solidFill>
            <a:ln>
              <a:noFill/>
            </a:ln>
          </p:spPr>
        </p:sp>
        <p:sp>
          <p:nvSpPr>
            <p:cNvPr id="68" name="TextBox 68"/>
            <p:cNvSpPr txBox="1"/>
            <p:nvPr/>
          </p:nvSpPr>
          <p:spPr>
            <a:xfrm>
              <a:off x="762000" y="5476875"/>
              <a:ext cx="2190750" cy="247650"/>
            </a:xfrm>
            <a:prstGeom prst="rect">
              <a:avLst/>
            </a:prstGeom>
            <a:noFill/>
            <a:ln>
              <a:noFill/>
            </a:ln>
          </p:spPr>
          <p:txBody>
            <a:bodyPr wrap="square" lIns="0" tIns="54293" rIns="0" bIns="0" anchor="t" anchorCtr="0">
              <a:noAutofit/>
            </a:bodyPr>
            <a:lstStyle/>
            <a:p>
              <a:pPr algn="l"/>
              <a:r>
                <a:rPr lang="en-US" sz="1350" b="1" dirty="0">
                  <a:solidFill>
                    <a:schemeClr val="accent6"/>
                  </a:solidFill>
                  <a:latin typeface="+mn-lt"/>
                  <a:ea typeface="+mn-ea"/>
                  <a:cs typeface="+mn-cs"/>
                </a:rPr>
                <a:t>STABLE ADJACENCIES</a:t>
              </a:r>
            </a:p>
          </p:txBody>
        </p:sp>
        <p:sp>
          <p:nvSpPr>
            <p:cNvPr id="69" name="TextBox 69"/>
            <p:cNvSpPr txBox="1"/>
            <p:nvPr/>
          </p:nvSpPr>
          <p:spPr>
            <a:xfrm>
              <a:off x="762000" y="5734050"/>
              <a:ext cx="10572750" cy="266700"/>
            </a:xfrm>
            <a:prstGeom prst="rect">
              <a:avLst/>
            </a:prstGeom>
            <a:noFill/>
            <a:ln>
              <a:noFill/>
            </a:ln>
          </p:spPr>
          <p:txBody>
            <a:bodyPr wrap="square" lIns="0" tIns="55721" rIns="0" bIns="0" anchor="t" anchorCtr="0">
              <a:noAutofit/>
            </a:bodyPr>
            <a:lstStyle/>
            <a:p>
              <a:pPr algn="l"/>
              <a:r>
                <a:rPr lang="en-US" sz="1420" dirty="0">
                  <a:solidFill>
                    <a:schemeClr val="dk1"/>
                  </a:solidFill>
                  <a:latin typeface="+mn-lt"/>
                  <a:ea typeface="+mn-ea"/>
                  <a:cs typeface="+mn-cs"/>
                </a:rPr>
                <a:t>Early–later achievement and early achievement–observation: 100% local bootstrap frequency.</a:t>
              </a:r>
            </a:p>
          </p:txBody>
        </p:sp>
      </p:grpSp>
      <p:grpSp>
        <p:nvGrpSpPr>
          <p:cNvPr id="73" name="Group 73"/>
          <p:cNvGrpSpPr/>
          <p:nvPr/>
        </p:nvGrpSpPr>
        <p:grpSpPr>
          <a:xfrm>
            <a:off x="527304" y="6271260"/>
            <a:ext cx="11137392" cy="234696"/>
            <a:chOff x="527304" y="6271260"/>
            <a:chExt cx="11137392" cy="234696"/>
          </a:xfrm>
        </p:grpSpPr>
        <p:sp>
          <p:nvSpPr>
            <p:cNvPr id="71" name="TextBox 71"/>
            <p:cNvSpPr txBox="1"/>
            <p:nvPr/>
          </p:nvSpPr>
          <p:spPr>
            <a:xfrm>
              <a:off x="527304" y="6271260"/>
              <a:ext cx="9615983"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26 finite cyclic column shifts, not a theorem of order invariance · focused class—grade-3 adjacency disappears at α = .01</a:t>
              </a:r>
            </a:p>
          </p:txBody>
        </p:sp>
        <p:sp>
          <p:nvSpPr>
            <p:cNvPr id="72" name="TextBox 72"/>
            <p:cNvSpPr txBox="1"/>
            <p:nvPr/>
          </p:nvSpPr>
          <p:spPr>
            <a:xfrm>
              <a:off x="11111332" y="6271260"/>
              <a:ext cx="553364" cy="234696"/>
            </a:xfrm>
            <a:prstGeom prst="rect">
              <a:avLst/>
            </a:prstGeom>
            <a:noFill/>
            <a:ln>
              <a:noFill/>
            </a:ln>
          </p:spPr>
          <p:txBody>
            <a:bodyPr wrap="none" lIns="0" tIns="0" rIns="0" bIns="0" anchor="t" anchorCtr="0">
              <a:spAutoFit/>
            </a:bodyPr>
            <a:lstStyle/>
            <a:p>
              <a:pPr algn="r"/>
              <a:r>
                <a:rPr lang="en-US" sz="1200" dirty="0">
                  <a:solidFill>
                    <a:srgbClr val="5F6875"/>
                  </a:solidFill>
                  <a:latin typeface="Consolas"/>
                  <a:ea typeface="Consolas"/>
                  <a:cs typeface="Consolas"/>
                </a:rPr>
                <a:t>13 / 15</a:t>
              </a:r>
            </a:p>
          </p:txBody>
        </p:sp>
      </p:gr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18541" y="370046"/>
            <a:ext cx="11146917" cy="649129"/>
            <a:chOff x="518541" y="370046"/>
            <a:chExt cx="11146917" cy="649129"/>
          </a:xfrm>
        </p:grpSpPr>
        <p:sp>
          <p:nvSpPr>
            <p:cNvPr id="2" name="TextBox 2"/>
            <p:cNvSpPr txBox="1"/>
            <p:nvPr/>
          </p:nvSpPr>
          <p:spPr>
            <a:xfrm>
              <a:off x="518541" y="370046"/>
              <a:ext cx="10928364" cy="572072"/>
            </a:xfrm>
            <a:prstGeom prst="rect">
              <a:avLst/>
            </a:prstGeom>
            <a:noFill/>
            <a:ln>
              <a:noFill/>
            </a:ln>
          </p:spPr>
          <p:txBody>
            <a:bodyPr wrap="none" lIns="0" tIns="0" rIns="0" bIns="0" anchor="t" anchorCtr="0">
              <a:spAutoFit/>
            </a:bodyPr>
            <a:lstStyle/>
            <a:p>
              <a:pPr algn="l"/>
              <a:r>
                <a:rPr lang="en-US" sz="2920" b="1" dirty="0">
                  <a:solidFill>
                    <a:schemeClr val="accent1"/>
                  </a:solidFill>
                  <a:latin typeface="+mj-lt"/>
                  <a:ea typeface="+mj-ea"/>
                  <a:cs typeface="+mj-cs"/>
                </a:rPr>
                <a:t>FCI Plus Reduces CI Work, Not Causal Uncertainty</a:t>
              </a:r>
            </a:p>
          </p:txBody>
        </p:sp>
        <p:sp>
          <p:nvSpPr>
            <p:cNvPr id="3" name="TextBox 3"/>
            <p:cNvSpPr txBox="1"/>
            <p:nvPr/>
          </p:nvSpPr>
          <p:spPr>
            <a:xfrm>
              <a:off x="9942728" y="387668"/>
              <a:ext cx="1722730" cy="264033"/>
            </a:xfrm>
            <a:prstGeom prst="rect">
              <a:avLst/>
            </a:prstGeom>
            <a:noFill/>
            <a:ln>
              <a:noFill/>
            </a:ln>
          </p:spPr>
          <p:txBody>
            <a:bodyPr wrap="none" lIns="0" tIns="0" rIns="0" bIns="0" anchor="t" anchorCtr="0">
              <a:spAutoFit/>
            </a:bodyPr>
            <a:lstStyle/>
            <a:p>
              <a:pPr algn="r"/>
              <a:r>
                <a:rPr lang="en-US" sz="1350" dirty="0">
                  <a:solidFill>
                    <a:schemeClr val="accent3"/>
                  </a:solidFill>
                  <a:latin typeface="Consolas"/>
                  <a:ea typeface="Consolas"/>
                  <a:cs typeface="Consolas"/>
                </a:rPr>
                <a:t>STAR COMPUTATION</a:t>
              </a:r>
            </a:p>
          </p:txBody>
        </p:sp>
        <p:sp>
          <p:nvSpPr>
            <p:cNvPr id="4" name="Line 4"/>
            <p:cNvSpPr/>
            <p:nvPr/>
          </p:nvSpPr>
          <p:spPr>
            <a:xfrm>
              <a:off x="533400" y="1009650"/>
              <a:ext cx="11125200" cy="9525"/>
            </a:xfrm>
            <a:custGeom>
              <a:avLst/>
              <a:gdLst/>
              <a:ahLst/>
              <a:cxnLst/>
              <a:rect l="l" t="t" r="r" b="b"/>
              <a:pathLst>
                <a:path w="11125200" h="9525">
                  <a:moveTo>
                    <a:pt x="0" y="0"/>
                  </a:moveTo>
                  <a:lnTo>
                    <a:pt x="11125200" y="0"/>
                  </a:lnTo>
                </a:path>
              </a:pathLst>
            </a:custGeom>
            <a:noFill/>
            <a:ln w="14288">
              <a:solidFill>
                <a:srgbClr val="CBD2DC"/>
              </a:solidFill>
            </a:ln>
          </p:spPr>
        </p:sp>
      </p:grpSp>
      <p:grpSp>
        <p:nvGrpSpPr>
          <p:cNvPr id="47" name="Group 47"/>
          <p:cNvGrpSpPr/>
          <p:nvPr/>
        </p:nvGrpSpPr>
        <p:grpSpPr>
          <a:xfrm>
            <a:off x="533400" y="1352550"/>
            <a:ext cx="11125200" cy="3943731"/>
            <a:chOff x="533400" y="1352550"/>
            <a:chExt cx="11125200" cy="3943731"/>
          </a:xfrm>
        </p:grpSpPr>
        <p:sp>
          <p:nvSpPr>
            <p:cNvPr id="6" name="Rectangle 6"/>
            <p:cNvSpPr/>
            <p:nvPr/>
          </p:nvSpPr>
          <p:spPr>
            <a:xfrm>
              <a:off x="533400" y="1352550"/>
              <a:ext cx="11125200" cy="3886200"/>
            </a:xfrm>
            <a:prstGeom prst="roundRect">
              <a:avLst>
                <a:gd name="adj" fmla="val 3431"/>
              </a:avLst>
            </a:prstGeom>
            <a:solidFill>
              <a:srgbClr val="FFFFFF"/>
            </a:solidFill>
            <a:ln w="14288">
              <a:solidFill>
                <a:srgbClr val="CBD2DC"/>
              </a:solidFill>
            </a:ln>
          </p:spPr>
        </p:sp>
        <p:sp>
          <p:nvSpPr>
            <p:cNvPr id="7" name="TextBox 7"/>
            <p:cNvSpPr txBox="1"/>
            <p:nvPr/>
          </p:nvSpPr>
          <p:spPr>
            <a:xfrm>
              <a:off x="774192" y="1530668"/>
              <a:ext cx="3189313" cy="264033"/>
            </a:xfrm>
            <a:prstGeom prst="rect">
              <a:avLst/>
            </a:prstGeom>
            <a:noFill/>
            <a:ln>
              <a:noFill/>
            </a:ln>
          </p:spPr>
          <p:txBody>
            <a:bodyPr wrap="none" lIns="0" tIns="0" rIns="0" bIns="0" anchor="t" anchorCtr="0">
              <a:spAutoFit/>
            </a:bodyPr>
            <a:lstStyle/>
            <a:p>
              <a:pPr algn="l"/>
              <a:r>
                <a:rPr lang="en-US" sz="1350" b="1" dirty="0">
                  <a:solidFill>
                    <a:srgbClr val="5F6875"/>
                  </a:solidFill>
                  <a:latin typeface="+mn-lt"/>
                  <a:ea typeface="+mn-ea"/>
                  <a:cs typeface="+mn-cs"/>
                </a:rPr>
                <a:t>CI TEST COUNTS · FULL-DATA RUNS</a:t>
              </a:r>
            </a:p>
          </p:txBody>
        </p:sp>
        <p:sp>
          <p:nvSpPr>
            <p:cNvPr id="8" name="TextBox 8"/>
            <p:cNvSpPr txBox="1"/>
            <p:nvPr/>
          </p:nvSpPr>
          <p:spPr>
            <a:xfrm>
              <a:off x="2851404" y="1842135"/>
              <a:ext cx="101041"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0</a:t>
              </a:r>
            </a:p>
          </p:txBody>
        </p:sp>
        <p:sp>
          <p:nvSpPr>
            <p:cNvPr id="9" name="TextBox 9"/>
            <p:cNvSpPr txBox="1"/>
            <p:nvPr/>
          </p:nvSpPr>
          <p:spPr>
            <a:xfrm>
              <a:off x="4946904" y="1842135"/>
              <a:ext cx="278740"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500</a:t>
              </a:r>
            </a:p>
          </p:txBody>
        </p:sp>
        <p:sp>
          <p:nvSpPr>
            <p:cNvPr id="10" name="TextBox 10"/>
            <p:cNvSpPr txBox="1"/>
            <p:nvPr/>
          </p:nvSpPr>
          <p:spPr>
            <a:xfrm>
              <a:off x="7042404" y="1842135"/>
              <a:ext cx="456438"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1,000</a:t>
              </a:r>
            </a:p>
          </p:txBody>
        </p:sp>
        <p:sp>
          <p:nvSpPr>
            <p:cNvPr id="11" name="TextBox 11"/>
            <p:cNvSpPr txBox="1"/>
            <p:nvPr/>
          </p:nvSpPr>
          <p:spPr>
            <a:xfrm>
              <a:off x="9137904" y="1842135"/>
              <a:ext cx="456438"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mn-lt"/>
                  <a:ea typeface="+mn-ea"/>
                  <a:cs typeface="+mn-cs"/>
                </a:rPr>
                <a:t>1,500</a:t>
              </a:r>
            </a:p>
          </p:txBody>
        </p:sp>
        <p:sp>
          <p:nvSpPr>
            <p:cNvPr id="12" name="TextBox 12"/>
            <p:cNvSpPr txBox="1"/>
            <p:nvPr/>
          </p:nvSpPr>
          <p:spPr>
            <a:xfrm>
              <a:off x="10789158" y="1842135"/>
              <a:ext cx="456438" cy="234696"/>
            </a:xfrm>
            <a:prstGeom prst="rect">
              <a:avLst/>
            </a:prstGeom>
            <a:noFill/>
            <a:ln>
              <a:noFill/>
            </a:ln>
          </p:spPr>
          <p:txBody>
            <a:bodyPr wrap="none" lIns="0" tIns="0" rIns="0" bIns="0" anchor="t" anchorCtr="0">
              <a:spAutoFit/>
            </a:bodyPr>
            <a:lstStyle/>
            <a:p>
              <a:pPr algn="r"/>
              <a:r>
                <a:rPr lang="en-US" sz="1200" dirty="0">
                  <a:solidFill>
                    <a:srgbClr val="5F6875"/>
                  </a:solidFill>
                  <a:latin typeface="+mn-lt"/>
                  <a:ea typeface="+mn-ea"/>
                  <a:cs typeface="+mn-cs"/>
                </a:rPr>
                <a:t>2,000</a:t>
              </a:r>
            </a:p>
          </p:txBody>
        </p:sp>
        <p:grpSp>
          <p:nvGrpSpPr>
            <p:cNvPr id="31" name="Group 31"/>
            <p:cNvGrpSpPr/>
            <p:nvPr/>
          </p:nvGrpSpPr>
          <p:grpSpPr>
            <a:xfrm>
              <a:off x="2857500" y="2076450"/>
              <a:ext cx="8391525" cy="3143250"/>
              <a:chOff x="2857500" y="2076450"/>
              <a:chExt cx="8391525" cy="3143250"/>
            </a:xfrm>
          </p:grpSpPr>
          <p:sp>
            <p:nvSpPr>
              <p:cNvPr id="13" name="Line 13"/>
              <p:cNvSpPr/>
              <p:nvPr/>
            </p:nvSpPr>
            <p:spPr>
              <a:xfrm>
                <a:off x="2857500" y="2076450"/>
                <a:ext cx="8382000" cy="9525"/>
              </a:xfrm>
              <a:custGeom>
                <a:avLst/>
                <a:gdLst/>
                <a:ahLst/>
                <a:cxnLst/>
                <a:rect l="l" t="t" r="r" b="b"/>
                <a:pathLst>
                  <a:path w="8382000" h="9525">
                    <a:moveTo>
                      <a:pt x="0" y="0"/>
                    </a:moveTo>
                    <a:lnTo>
                      <a:pt x="8382000" y="0"/>
                    </a:lnTo>
                  </a:path>
                </a:pathLst>
              </a:custGeom>
              <a:noFill/>
              <a:ln w="14288">
                <a:solidFill>
                  <a:srgbClr val="CBD2DC"/>
                </a:solidFill>
              </a:ln>
            </p:spPr>
          </p:sp>
          <p:sp>
            <p:nvSpPr>
              <p:cNvPr id="14" name="Line 14"/>
              <p:cNvSpPr/>
              <p:nvPr/>
            </p:nvSpPr>
            <p:spPr>
              <a:xfrm>
                <a:off x="2857500" y="2076450"/>
                <a:ext cx="9525" cy="3143250"/>
              </a:xfrm>
              <a:custGeom>
                <a:avLst/>
                <a:gdLst/>
                <a:ahLst/>
                <a:cxnLst/>
                <a:rect l="l" t="t" r="r" b="b"/>
                <a:pathLst>
                  <a:path w="9525" h="3143250">
                    <a:moveTo>
                      <a:pt x="0" y="0"/>
                    </a:moveTo>
                    <a:lnTo>
                      <a:pt x="0" y="3143250"/>
                    </a:lnTo>
                  </a:path>
                </a:pathLst>
              </a:custGeom>
              <a:noFill/>
              <a:ln w="14288">
                <a:solidFill>
                  <a:srgbClr val="CBD2DC"/>
                </a:solidFill>
              </a:ln>
            </p:spPr>
          </p:sp>
          <p:sp>
            <p:nvSpPr>
              <p:cNvPr id="15" name="Line 15"/>
              <p:cNvSpPr/>
              <p:nvPr/>
            </p:nvSpPr>
            <p:spPr>
              <a:xfrm>
                <a:off x="4953000" y="2076450"/>
                <a:ext cx="9525" cy="3143250"/>
              </a:xfrm>
              <a:custGeom>
                <a:avLst/>
                <a:gdLst/>
                <a:ahLst/>
                <a:cxnLst/>
                <a:rect l="l" t="t" r="r" b="b"/>
                <a:pathLst>
                  <a:path w="9525" h="3143250">
                    <a:moveTo>
                      <a:pt x="0" y="0"/>
                    </a:moveTo>
                    <a:lnTo>
                      <a:pt x="0" y="3143250"/>
                    </a:lnTo>
                  </a:path>
                </a:pathLst>
              </a:custGeom>
              <a:noFill/>
              <a:ln w="14288">
                <a:solidFill>
                  <a:srgbClr val="E9EDF5"/>
                </a:solidFill>
              </a:ln>
            </p:spPr>
          </p:sp>
          <p:sp>
            <p:nvSpPr>
              <p:cNvPr id="16" name="Line 16"/>
              <p:cNvSpPr/>
              <p:nvPr/>
            </p:nvSpPr>
            <p:spPr>
              <a:xfrm>
                <a:off x="7048500" y="2076450"/>
                <a:ext cx="9525" cy="3143250"/>
              </a:xfrm>
              <a:custGeom>
                <a:avLst/>
                <a:gdLst/>
                <a:ahLst/>
                <a:cxnLst/>
                <a:rect l="l" t="t" r="r" b="b"/>
                <a:pathLst>
                  <a:path w="9525" h="3143250">
                    <a:moveTo>
                      <a:pt x="0" y="0"/>
                    </a:moveTo>
                    <a:lnTo>
                      <a:pt x="0" y="3143250"/>
                    </a:lnTo>
                  </a:path>
                </a:pathLst>
              </a:custGeom>
              <a:noFill/>
              <a:ln w="14288">
                <a:solidFill>
                  <a:srgbClr val="E9EDF5"/>
                </a:solidFill>
              </a:ln>
            </p:spPr>
          </p:sp>
          <p:sp>
            <p:nvSpPr>
              <p:cNvPr id="17" name="Line 17"/>
              <p:cNvSpPr/>
              <p:nvPr/>
            </p:nvSpPr>
            <p:spPr>
              <a:xfrm>
                <a:off x="9144000" y="2076450"/>
                <a:ext cx="9525" cy="3143250"/>
              </a:xfrm>
              <a:custGeom>
                <a:avLst/>
                <a:gdLst/>
                <a:ahLst/>
                <a:cxnLst/>
                <a:rect l="l" t="t" r="r" b="b"/>
                <a:pathLst>
                  <a:path w="9525" h="3143250">
                    <a:moveTo>
                      <a:pt x="0" y="0"/>
                    </a:moveTo>
                    <a:lnTo>
                      <a:pt x="0" y="3143250"/>
                    </a:lnTo>
                  </a:path>
                </a:pathLst>
              </a:custGeom>
              <a:noFill/>
              <a:ln w="14288">
                <a:solidFill>
                  <a:srgbClr val="E9EDF5"/>
                </a:solidFill>
              </a:ln>
            </p:spPr>
          </p:sp>
          <p:sp>
            <p:nvSpPr>
              <p:cNvPr id="18" name="Line 18"/>
              <p:cNvSpPr/>
              <p:nvPr/>
            </p:nvSpPr>
            <p:spPr>
              <a:xfrm>
                <a:off x="11239500" y="2076450"/>
                <a:ext cx="9525" cy="3143250"/>
              </a:xfrm>
              <a:custGeom>
                <a:avLst/>
                <a:gdLst/>
                <a:ahLst/>
                <a:cxnLst/>
                <a:rect l="l" t="t" r="r" b="b"/>
                <a:pathLst>
                  <a:path w="9525" h="3143250">
                    <a:moveTo>
                      <a:pt x="0" y="0"/>
                    </a:moveTo>
                    <a:lnTo>
                      <a:pt x="0" y="3143250"/>
                    </a:lnTo>
                  </a:path>
                </a:pathLst>
              </a:custGeom>
              <a:noFill/>
              <a:ln w="14288">
                <a:solidFill>
                  <a:srgbClr val="CBD2DC"/>
                </a:solidFill>
              </a:ln>
            </p:spPr>
          </p:sp>
          <p:sp>
            <p:nvSpPr>
              <p:cNvPr id="19" name="Rectangle 19"/>
              <p:cNvSpPr/>
              <p:nvPr/>
            </p:nvSpPr>
            <p:spPr>
              <a:xfrm>
                <a:off x="2857500" y="2324100"/>
                <a:ext cx="7143750" cy="171450"/>
              </a:xfrm>
              <a:prstGeom prst="roundRect">
                <a:avLst>
                  <a:gd name="adj" fmla="val 22222"/>
                </a:avLst>
              </a:prstGeom>
              <a:solidFill>
                <a:schemeClr val="accent2"/>
              </a:solidFill>
              <a:ln>
                <a:noFill/>
              </a:ln>
            </p:spPr>
          </p:sp>
          <p:sp>
            <p:nvSpPr>
              <p:cNvPr id="20" name="Rectangle 20"/>
              <p:cNvSpPr/>
              <p:nvPr/>
            </p:nvSpPr>
            <p:spPr>
              <a:xfrm>
                <a:off x="2857500" y="2552700"/>
                <a:ext cx="3324225" cy="171450"/>
              </a:xfrm>
              <a:prstGeom prst="roundRect">
                <a:avLst>
                  <a:gd name="adj" fmla="val 22222"/>
                </a:avLst>
              </a:prstGeom>
              <a:solidFill>
                <a:schemeClr val="accent3"/>
              </a:solidFill>
              <a:ln>
                <a:noFill/>
              </a:ln>
            </p:spPr>
          </p:sp>
          <p:sp>
            <p:nvSpPr>
              <p:cNvPr id="21" name="Rectangle 21"/>
              <p:cNvSpPr/>
              <p:nvPr/>
            </p:nvSpPr>
            <p:spPr>
              <a:xfrm>
                <a:off x="2857500" y="2781300"/>
                <a:ext cx="5467350" cy="171450"/>
              </a:xfrm>
              <a:prstGeom prst="roundRect">
                <a:avLst>
                  <a:gd name="adj" fmla="val 22222"/>
                </a:avLst>
              </a:prstGeom>
              <a:solidFill>
                <a:schemeClr val="accent6"/>
              </a:solidFill>
              <a:ln>
                <a:noFill/>
              </a:ln>
            </p:spPr>
          </p:sp>
          <p:sp>
            <p:nvSpPr>
              <p:cNvPr id="22" name="Rectangle 22"/>
              <p:cNvSpPr/>
              <p:nvPr/>
            </p:nvSpPr>
            <p:spPr>
              <a:xfrm>
                <a:off x="2857500" y="3009900"/>
                <a:ext cx="4991100" cy="171450"/>
              </a:xfrm>
              <a:prstGeom prst="roundRect">
                <a:avLst>
                  <a:gd name="adj" fmla="val 22222"/>
                </a:avLst>
              </a:prstGeom>
              <a:solidFill>
                <a:srgbClr val="7562A8"/>
              </a:solidFill>
              <a:ln>
                <a:noFill/>
              </a:ln>
            </p:spPr>
          </p:sp>
          <p:sp>
            <p:nvSpPr>
              <p:cNvPr id="23" name="Rectangle 23"/>
              <p:cNvSpPr/>
              <p:nvPr/>
            </p:nvSpPr>
            <p:spPr>
              <a:xfrm>
                <a:off x="2857500" y="3543300"/>
                <a:ext cx="4019550" cy="171450"/>
              </a:xfrm>
              <a:prstGeom prst="roundRect">
                <a:avLst>
                  <a:gd name="adj" fmla="val 22222"/>
                </a:avLst>
              </a:prstGeom>
              <a:solidFill>
                <a:schemeClr val="accent2"/>
              </a:solidFill>
              <a:ln>
                <a:noFill/>
              </a:ln>
            </p:spPr>
          </p:sp>
          <p:sp>
            <p:nvSpPr>
              <p:cNvPr id="24" name="Rectangle 24"/>
              <p:cNvSpPr/>
              <p:nvPr/>
            </p:nvSpPr>
            <p:spPr>
              <a:xfrm>
                <a:off x="2857500" y="3771900"/>
                <a:ext cx="1400175" cy="171450"/>
              </a:xfrm>
              <a:prstGeom prst="roundRect">
                <a:avLst>
                  <a:gd name="adj" fmla="val 22222"/>
                </a:avLst>
              </a:prstGeom>
              <a:solidFill>
                <a:schemeClr val="accent3"/>
              </a:solidFill>
              <a:ln>
                <a:noFill/>
              </a:ln>
            </p:spPr>
          </p:sp>
          <p:sp>
            <p:nvSpPr>
              <p:cNvPr id="25" name="Rectangle 25"/>
              <p:cNvSpPr/>
              <p:nvPr/>
            </p:nvSpPr>
            <p:spPr>
              <a:xfrm>
                <a:off x="2857500" y="4000500"/>
                <a:ext cx="2590800" cy="171450"/>
              </a:xfrm>
              <a:prstGeom prst="roundRect">
                <a:avLst>
                  <a:gd name="adj" fmla="val 22222"/>
                </a:avLst>
              </a:prstGeom>
              <a:solidFill>
                <a:schemeClr val="accent6"/>
              </a:solidFill>
              <a:ln>
                <a:noFill/>
              </a:ln>
            </p:spPr>
          </p:sp>
          <p:sp>
            <p:nvSpPr>
              <p:cNvPr id="26" name="Rectangle 26"/>
              <p:cNvSpPr/>
              <p:nvPr/>
            </p:nvSpPr>
            <p:spPr>
              <a:xfrm>
                <a:off x="2857500" y="4229100"/>
                <a:ext cx="1990725" cy="171450"/>
              </a:xfrm>
              <a:prstGeom prst="roundRect">
                <a:avLst>
                  <a:gd name="adj" fmla="val 22222"/>
                </a:avLst>
              </a:prstGeom>
              <a:solidFill>
                <a:srgbClr val="7562A8"/>
              </a:solidFill>
              <a:ln>
                <a:noFill/>
              </a:ln>
            </p:spPr>
          </p:sp>
          <p:sp>
            <p:nvSpPr>
              <p:cNvPr id="27" name="Rectangle 27"/>
              <p:cNvSpPr/>
              <p:nvPr/>
            </p:nvSpPr>
            <p:spPr>
              <a:xfrm>
                <a:off x="2857500" y="4362450"/>
                <a:ext cx="1219200" cy="171450"/>
              </a:xfrm>
              <a:prstGeom prst="roundRect">
                <a:avLst>
                  <a:gd name="adj" fmla="val 22222"/>
                </a:avLst>
              </a:prstGeom>
              <a:solidFill>
                <a:schemeClr val="accent2"/>
              </a:solidFill>
              <a:ln>
                <a:noFill/>
              </a:ln>
            </p:spPr>
          </p:sp>
          <p:sp>
            <p:nvSpPr>
              <p:cNvPr id="28" name="Rectangle 28"/>
              <p:cNvSpPr/>
              <p:nvPr/>
            </p:nvSpPr>
            <p:spPr>
              <a:xfrm>
                <a:off x="2857500" y="4591050"/>
                <a:ext cx="771525" cy="171450"/>
              </a:xfrm>
              <a:prstGeom prst="roundRect">
                <a:avLst>
                  <a:gd name="adj" fmla="val 22222"/>
                </a:avLst>
              </a:prstGeom>
              <a:solidFill>
                <a:schemeClr val="accent3"/>
              </a:solidFill>
              <a:ln>
                <a:noFill/>
              </a:ln>
            </p:spPr>
          </p:sp>
          <p:sp>
            <p:nvSpPr>
              <p:cNvPr id="29" name="Rectangle 29"/>
              <p:cNvSpPr/>
              <p:nvPr/>
            </p:nvSpPr>
            <p:spPr>
              <a:xfrm>
                <a:off x="2857500" y="4819650"/>
                <a:ext cx="1400175" cy="171450"/>
              </a:xfrm>
              <a:prstGeom prst="roundRect">
                <a:avLst>
                  <a:gd name="adj" fmla="val 22222"/>
                </a:avLst>
              </a:prstGeom>
              <a:solidFill>
                <a:schemeClr val="accent6"/>
              </a:solidFill>
              <a:ln>
                <a:noFill/>
              </a:ln>
            </p:spPr>
          </p:sp>
          <p:sp>
            <p:nvSpPr>
              <p:cNvPr id="30" name="Rectangle 30"/>
              <p:cNvSpPr/>
              <p:nvPr/>
            </p:nvSpPr>
            <p:spPr>
              <a:xfrm>
                <a:off x="2857500" y="5048250"/>
                <a:ext cx="1076325" cy="171450"/>
              </a:xfrm>
              <a:prstGeom prst="roundRect">
                <a:avLst>
                  <a:gd name="adj" fmla="val 22222"/>
                </a:avLst>
              </a:prstGeom>
              <a:solidFill>
                <a:srgbClr val="7562A8"/>
              </a:solidFill>
              <a:ln>
                <a:noFill/>
              </a:ln>
            </p:spPr>
          </p:sp>
        </p:grpSp>
        <p:sp>
          <p:nvSpPr>
            <p:cNvPr id="32" name="TextBox 32"/>
            <p:cNvSpPr txBox="1"/>
            <p:nvPr/>
          </p:nvSpPr>
          <p:spPr>
            <a:xfrm>
              <a:off x="771906" y="2463165"/>
              <a:ext cx="1157630"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Attrition</a:t>
              </a:r>
            </a:p>
          </p:txBody>
        </p:sp>
        <p:sp>
          <p:nvSpPr>
            <p:cNvPr id="33" name="TextBox 33"/>
            <p:cNvSpPr txBox="1"/>
            <p:nvPr/>
          </p:nvSpPr>
          <p:spPr>
            <a:xfrm>
              <a:off x="771906" y="3682365"/>
              <a:ext cx="1513735"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Longitudinal</a:t>
              </a:r>
            </a:p>
          </p:txBody>
        </p:sp>
        <p:sp>
          <p:nvSpPr>
            <p:cNvPr id="34" name="TextBox 34"/>
            <p:cNvSpPr txBox="1"/>
            <p:nvPr/>
          </p:nvSpPr>
          <p:spPr>
            <a:xfrm>
              <a:off x="771906" y="4558665"/>
              <a:ext cx="1005771" cy="352044"/>
            </a:xfrm>
            <a:prstGeom prst="rect">
              <a:avLst/>
            </a:prstGeom>
            <a:noFill/>
            <a:ln>
              <a:noFill/>
            </a:ln>
          </p:spPr>
          <p:txBody>
            <a:bodyPr wrap="none" lIns="0" tIns="0" rIns="0" bIns="0" anchor="t" anchorCtr="0">
              <a:spAutoFit/>
            </a:bodyPr>
            <a:lstStyle/>
            <a:p>
              <a:pPr algn="l"/>
              <a:r>
                <a:rPr lang="en-US" sz="1800" b="1" dirty="0">
                  <a:solidFill>
                    <a:schemeClr val="accent1"/>
                  </a:solidFill>
                  <a:latin typeface="+mn-lt"/>
                  <a:ea typeface="+mn-ea"/>
                  <a:cs typeface="+mn-cs"/>
                </a:rPr>
                <a:t>Focused</a:t>
              </a:r>
            </a:p>
          </p:txBody>
        </p:sp>
        <p:sp>
          <p:nvSpPr>
            <p:cNvPr id="35" name="TextBox 35"/>
            <p:cNvSpPr txBox="1"/>
            <p:nvPr/>
          </p:nvSpPr>
          <p:spPr>
            <a:xfrm>
              <a:off x="10089642" y="2302192"/>
              <a:ext cx="868223"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Consolas"/>
                  <a:ea typeface="Consolas"/>
                  <a:cs typeface="Consolas"/>
                </a:rPr>
                <a:t>FCI 1,705</a:t>
              </a:r>
            </a:p>
          </p:txBody>
        </p:sp>
        <p:sp>
          <p:nvSpPr>
            <p:cNvPr id="36" name="TextBox 36"/>
            <p:cNvSpPr txBox="1"/>
            <p:nvPr/>
          </p:nvSpPr>
          <p:spPr>
            <a:xfrm>
              <a:off x="6279642" y="2530792"/>
              <a:ext cx="867880"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paper 793</a:t>
              </a:r>
            </a:p>
          </p:txBody>
        </p:sp>
        <p:sp>
          <p:nvSpPr>
            <p:cNvPr id="37" name="TextBox 37"/>
            <p:cNvSpPr txBox="1"/>
            <p:nvPr/>
          </p:nvSpPr>
          <p:spPr>
            <a:xfrm>
              <a:off x="8394192" y="2759392"/>
              <a:ext cx="1167746" cy="264033"/>
            </a:xfrm>
            <a:prstGeom prst="rect">
              <a:avLst/>
            </a:prstGeom>
            <a:noFill/>
            <a:ln>
              <a:noFill/>
            </a:ln>
          </p:spPr>
          <p:txBody>
            <a:bodyPr wrap="none" lIns="0" tIns="0" rIns="0" bIns="0" anchor="t" anchorCtr="0">
              <a:spAutoFit/>
            </a:bodyPr>
            <a:lstStyle/>
            <a:p>
              <a:pPr algn="l"/>
              <a:r>
                <a:rPr lang="en-US" sz="1350" dirty="0">
                  <a:solidFill>
                    <a:schemeClr val="accent6"/>
                  </a:solidFill>
                  <a:latin typeface="Consolas"/>
                  <a:ea typeface="Consolas"/>
                  <a:cs typeface="Consolas"/>
                </a:rPr>
                <a:t>robust 1,304</a:t>
              </a:r>
            </a:p>
          </p:txBody>
        </p:sp>
        <p:sp>
          <p:nvSpPr>
            <p:cNvPr id="38" name="TextBox 38"/>
            <p:cNvSpPr txBox="1"/>
            <p:nvPr/>
          </p:nvSpPr>
          <p:spPr>
            <a:xfrm>
              <a:off x="7917942" y="2987992"/>
              <a:ext cx="705002" cy="264033"/>
            </a:xfrm>
            <a:prstGeom prst="rect">
              <a:avLst/>
            </a:prstGeom>
            <a:noFill/>
            <a:ln>
              <a:noFill/>
            </a:ln>
          </p:spPr>
          <p:txBody>
            <a:bodyPr wrap="none" lIns="0" tIns="0" rIns="0" bIns="0" anchor="t" anchorCtr="0">
              <a:spAutoFit/>
            </a:bodyPr>
            <a:lstStyle/>
            <a:p>
              <a:pPr algn="l"/>
              <a:r>
                <a:rPr lang="en-US" sz="1350" dirty="0">
                  <a:solidFill>
                    <a:srgbClr val="7562A8"/>
                  </a:solidFill>
                  <a:latin typeface="Consolas"/>
                  <a:ea typeface="Consolas"/>
                  <a:cs typeface="Consolas"/>
                </a:rPr>
                <a:t>R 1,191</a:t>
              </a:r>
            </a:p>
          </p:txBody>
        </p:sp>
        <p:sp>
          <p:nvSpPr>
            <p:cNvPr id="39" name="TextBox 39"/>
            <p:cNvSpPr txBox="1"/>
            <p:nvPr/>
          </p:nvSpPr>
          <p:spPr>
            <a:xfrm>
              <a:off x="6946392" y="3521392"/>
              <a:ext cx="313582" cy="264033"/>
            </a:xfrm>
            <a:prstGeom prst="rect">
              <a:avLst/>
            </a:prstGeom>
            <a:noFill/>
            <a:ln>
              <a:noFill/>
            </a:ln>
          </p:spPr>
          <p:txBody>
            <a:bodyPr wrap="none" lIns="0" tIns="0" rIns="0" bIns="0" anchor="t" anchorCtr="0">
              <a:spAutoFit/>
            </a:bodyPr>
            <a:lstStyle/>
            <a:p>
              <a:pPr algn="l"/>
              <a:r>
                <a:rPr lang="en-US" sz="1350" dirty="0">
                  <a:solidFill>
                    <a:schemeClr val="accent2"/>
                  </a:solidFill>
                  <a:latin typeface="Consolas"/>
                  <a:ea typeface="Consolas"/>
                  <a:cs typeface="Consolas"/>
                </a:rPr>
                <a:t>960</a:t>
              </a:r>
            </a:p>
          </p:txBody>
        </p:sp>
        <p:sp>
          <p:nvSpPr>
            <p:cNvPr id="40" name="TextBox 40"/>
            <p:cNvSpPr txBox="1"/>
            <p:nvPr/>
          </p:nvSpPr>
          <p:spPr>
            <a:xfrm>
              <a:off x="4327017" y="3749992"/>
              <a:ext cx="313582" cy="264033"/>
            </a:xfrm>
            <a:prstGeom prst="rect">
              <a:avLst/>
            </a:prstGeom>
            <a:noFill/>
            <a:ln>
              <a:noFill/>
            </a:ln>
          </p:spPr>
          <p:txBody>
            <a:bodyPr wrap="none" lIns="0" tIns="0" rIns="0" bIns="0" anchor="t" anchorCtr="0">
              <a:spAutoFit/>
            </a:bodyPr>
            <a:lstStyle/>
            <a:p>
              <a:pPr algn="l"/>
              <a:r>
                <a:rPr lang="en-US" sz="1350" dirty="0">
                  <a:solidFill>
                    <a:schemeClr val="accent3"/>
                  </a:solidFill>
                  <a:latin typeface="Consolas"/>
                  <a:ea typeface="Consolas"/>
                  <a:cs typeface="Consolas"/>
                </a:rPr>
                <a:t>335</a:t>
              </a:r>
            </a:p>
          </p:txBody>
        </p:sp>
        <p:sp>
          <p:nvSpPr>
            <p:cNvPr id="41" name="TextBox 41"/>
            <p:cNvSpPr txBox="1"/>
            <p:nvPr/>
          </p:nvSpPr>
          <p:spPr>
            <a:xfrm>
              <a:off x="5517642" y="3978592"/>
              <a:ext cx="313582" cy="264033"/>
            </a:xfrm>
            <a:prstGeom prst="rect">
              <a:avLst/>
            </a:prstGeom>
            <a:noFill/>
            <a:ln>
              <a:noFill/>
            </a:ln>
          </p:spPr>
          <p:txBody>
            <a:bodyPr wrap="none" lIns="0" tIns="0" rIns="0" bIns="0" anchor="t" anchorCtr="0">
              <a:spAutoFit/>
            </a:bodyPr>
            <a:lstStyle/>
            <a:p>
              <a:pPr algn="l"/>
              <a:r>
                <a:rPr lang="en-US" sz="1350" dirty="0">
                  <a:solidFill>
                    <a:schemeClr val="accent6"/>
                  </a:solidFill>
                  <a:latin typeface="Consolas"/>
                  <a:ea typeface="Consolas"/>
                  <a:cs typeface="Consolas"/>
                </a:rPr>
                <a:t>619</a:t>
              </a:r>
            </a:p>
          </p:txBody>
        </p:sp>
        <p:sp>
          <p:nvSpPr>
            <p:cNvPr id="42" name="TextBox 42"/>
            <p:cNvSpPr txBox="1"/>
            <p:nvPr/>
          </p:nvSpPr>
          <p:spPr>
            <a:xfrm>
              <a:off x="4917567" y="4207192"/>
              <a:ext cx="313582" cy="264033"/>
            </a:xfrm>
            <a:prstGeom prst="rect">
              <a:avLst/>
            </a:prstGeom>
            <a:noFill/>
            <a:ln>
              <a:noFill/>
            </a:ln>
          </p:spPr>
          <p:txBody>
            <a:bodyPr wrap="none" lIns="0" tIns="0" rIns="0" bIns="0" anchor="t" anchorCtr="0">
              <a:spAutoFit/>
            </a:bodyPr>
            <a:lstStyle/>
            <a:p>
              <a:pPr algn="l"/>
              <a:r>
                <a:rPr lang="en-US" sz="1350" dirty="0">
                  <a:solidFill>
                    <a:srgbClr val="7562A8"/>
                  </a:solidFill>
                  <a:latin typeface="Consolas"/>
                  <a:ea typeface="Consolas"/>
                  <a:cs typeface="Consolas"/>
                </a:rPr>
                <a:t>475</a:t>
              </a:r>
            </a:p>
          </p:txBody>
        </p:sp>
        <p:sp>
          <p:nvSpPr>
            <p:cNvPr id="43" name="TextBox 43"/>
            <p:cNvSpPr txBox="1"/>
            <p:nvPr/>
          </p:nvSpPr>
          <p:spPr>
            <a:xfrm>
              <a:off x="4165854" y="4375785"/>
              <a:ext cx="278740" cy="234696"/>
            </a:xfrm>
            <a:prstGeom prst="rect">
              <a:avLst/>
            </a:prstGeom>
            <a:noFill/>
            <a:ln>
              <a:noFill/>
            </a:ln>
          </p:spPr>
          <p:txBody>
            <a:bodyPr wrap="none" lIns="0" tIns="0" rIns="0" bIns="0" anchor="t" anchorCtr="0">
              <a:spAutoFit/>
            </a:bodyPr>
            <a:lstStyle/>
            <a:p>
              <a:pPr algn="l"/>
              <a:r>
                <a:rPr lang="en-US" sz="1200" dirty="0">
                  <a:solidFill>
                    <a:schemeClr val="accent2"/>
                  </a:solidFill>
                  <a:latin typeface="Consolas"/>
                  <a:ea typeface="Consolas"/>
                  <a:cs typeface="Consolas"/>
                </a:rPr>
                <a:t>291</a:t>
              </a:r>
            </a:p>
          </p:txBody>
        </p:sp>
        <p:sp>
          <p:nvSpPr>
            <p:cNvPr id="44" name="TextBox 44"/>
            <p:cNvSpPr txBox="1"/>
            <p:nvPr/>
          </p:nvSpPr>
          <p:spPr>
            <a:xfrm>
              <a:off x="3718179" y="4604385"/>
              <a:ext cx="278740" cy="234696"/>
            </a:xfrm>
            <a:prstGeom prst="rect">
              <a:avLst/>
            </a:prstGeom>
            <a:noFill/>
            <a:ln>
              <a:noFill/>
            </a:ln>
          </p:spPr>
          <p:txBody>
            <a:bodyPr wrap="none" lIns="0" tIns="0" rIns="0" bIns="0" anchor="t" anchorCtr="0">
              <a:spAutoFit/>
            </a:bodyPr>
            <a:lstStyle/>
            <a:p>
              <a:pPr algn="l"/>
              <a:r>
                <a:rPr lang="en-US" sz="1200" dirty="0">
                  <a:solidFill>
                    <a:schemeClr val="accent3"/>
                  </a:solidFill>
                  <a:latin typeface="Consolas"/>
                  <a:ea typeface="Consolas"/>
                  <a:cs typeface="Consolas"/>
                </a:rPr>
                <a:t>185</a:t>
              </a:r>
            </a:p>
          </p:txBody>
        </p:sp>
        <p:sp>
          <p:nvSpPr>
            <p:cNvPr id="45" name="TextBox 45"/>
            <p:cNvSpPr txBox="1"/>
            <p:nvPr/>
          </p:nvSpPr>
          <p:spPr>
            <a:xfrm>
              <a:off x="4346829" y="4832985"/>
              <a:ext cx="278740" cy="234696"/>
            </a:xfrm>
            <a:prstGeom prst="rect">
              <a:avLst/>
            </a:prstGeom>
            <a:noFill/>
            <a:ln>
              <a:noFill/>
            </a:ln>
          </p:spPr>
          <p:txBody>
            <a:bodyPr wrap="none" lIns="0" tIns="0" rIns="0" bIns="0" anchor="t" anchorCtr="0">
              <a:spAutoFit/>
            </a:bodyPr>
            <a:lstStyle/>
            <a:p>
              <a:pPr algn="l"/>
              <a:r>
                <a:rPr lang="en-US" sz="1200" dirty="0">
                  <a:solidFill>
                    <a:schemeClr val="accent6"/>
                  </a:solidFill>
                  <a:latin typeface="Consolas"/>
                  <a:ea typeface="Consolas"/>
                  <a:cs typeface="Consolas"/>
                </a:rPr>
                <a:t>334</a:t>
              </a:r>
            </a:p>
          </p:txBody>
        </p:sp>
        <p:sp>
          <p:nvSpPr>
            <p:cNvPr id="46" name="TextBox 46"/>
            <p:cNvSpPr txBox="1"/>
            <p:nvPr/>
          </p:nvSpPr>
          <p:spPr>
            <a:xfrm>
              <a:off x="4022979" y="5061585"/>
              <a:ext cx="278740" cy="234696"/>
            </a:xfrm>
            <a:prstGeom prst="rect">
              <a:avLst/>
            </a:prstGeom>
            <a:noFill/>
            <a:ln>
              <a:noFill/>
            </a:ln>
          </p:spPr>
          <p:txBody>
            <a:bodyPr wrap="none" lIns="0" tIns="0" rIns="0" bIns="0" anchor="t" anchorCtr="0">
              <a:spAutoFit/>
            </a:bodyPr>
            <a:lstStyle/>
            <a:p>
              <a:pPr algn="l"/>
              <a:r>
                <a:rPr lang="en-US" sz="1200" dirty="0">
                  <a:solidFill>
                    <a:srgbClr val="7562A8"/>
                  </a:solidFill>
                  <a:latin typeface="Consolas"/>
                  <a:ea typeface="Consolas"/>
                  <a:cs typeface="Consolas"/>
                </a:rPr>
                <a:t>256</a:t>
              </a:r>
            </a:p>
          </p:txBody>
        </p:sp>
      </p:grpSp>
      <p:grpSp>
        <p:nvGrpSpPr>
          <p:cNvPr id="52" name="Group 52"/>
          <p:cNvGrpSpPr/>
          <p:nvPr/>
        </p:nvGrpSpPr>
        <p:grpSpPr>
          <a:xfrm>
            <a:off x="533400" y="5391150"/>
            <a:ext cx="11125200" cy="685800"/>
            <a:chOff x="533400" y="5391150"/>
            <a:chExt cx="11125200" cy="685800"/>
          </a:xfrm>
        </p:grpSpPr>
        <p:sp>
          <p:nvSpPr>
            <p:cNvPr id="48" name="Rectangle 48"/>
            <p:cNvSpPr/>
            <p:nvPr/>
          </p:nvSpPr>
          <p:spPr>
            <a:xfrm>
              <a:off x="533400" y="5391150"/>
              <a:ext cx="11125200" cy="685800"/>
            </a:xfrm>
            <a:prstGeom prst="roundRect">
              <a:avLst>
                <a:gd name="adj" fmla="val 16667"/>
              </a:avLst>
            </a:prstGeom>
            <a:solidFill>
              <a:srgbClr val="FFF3E3"/>
            </a:solidFill>
            <a:ln>
              <a:noFill/>
            </a:ln>
          </p:spPr>
        </p:sp>
        <p:sp>
          <p:nvSpPr>
            <p:cNvPr id="49" name="TextBox 49"/>
            <p:cNvSpPr txBox="1"/>
            <p:nvPr/>
          </p:nvSpPr>
          <p:spPr>
            <a:xfrm>
              <a:off x="754380" y="5457825"/>
              <a:ext cx="2987411" cy="293370"/>
            </a:xfrm>
            <a:prstGeom prst="rect">
              <a:avLst/>
            </a:prstGeom>
            <a:noFill/>
            <a:ln>
              <a:noFill/>
            </a:ln>
          </p:spPr>
          <p:txBody>
            <a:bodyPr wrap="none" lIns="0" tIns="0" rIns="0" bIns="0" anchor="t" anchorCtr="0">
              <a:spAutoFit/>
            </a:bodyPr>
            <a:lstStyle/>
            <a:p>
              <a:pPr algn="l"/>
              <a:r>
                <a:rPr lang="en-US" sz="1500" b="1" dirty="0">
                  <a:solidFill>
                    <a:schemeClr val="accent3"/>
                  </a:solidFill>
                  <a:latin typeface="+mn-lt"/>
                  <a:ea typeface="+mn-ea"/>
                  <a:cs typeface="+mn-cs"/>
                </a:rPr>
                <a:t>Paper FCI Plus / FCI CI work:</a:t>
              </a:r>
            </a:p>
          </p:txBody>
        </p:sp>
        <p:sp>
          <p:nvSpPr>
            <p:cNvPr id="50" name="TextBox 50"/>
            <p:cNvSpPr txBox="1"/>
            <p:nvPr/>
          </p:nvSpPr>
          <p:spPr>
            <a:xfrm>
              <a:off x="3497580" y="5457825"/>
              <a:ext cx="4817640" cy="293370"/>
            </a:xfrm>
            <a:prstGeom prst="rect">
              <a:avLst/>
            </a:prstGeom>
            <a:noFill/>
            <a:ln>
              <a:noFill/>
            </a:ln>
          </p:spPr>
          <p:txBody>
            <a:bodyPr wrap="none" lIns="0" tIns="0" rIns="0" bIns="0" anchor="t" anchorCtr="0">
              <a:spAutoFit/>
            </a:bodyPr>
            <a:lstStyle/>
            <a:p>
              <a:pPr algn="l"/>
              <a:r>
                <a:rPr lang="en-US" sz="1500" b="1" dirty="0">
                  <a:solidFill>
                    <a:schemeClr val="accent1"/>
                  </a:solidFill>
                  <a:latin typeface="Consolas"/>
                  <a:ea typeface="Consolas"/>
                  <a:cs typeface="Consolas"/>
                </a:rPr>
                <a:t>47% attrition · 35% longitudinal · 64% focused</a:t>
              </a:r>
            </a:p>
          </p:txBody>
        </p:sp>
        <p:sp>
          <p:nvSpPr>
            <p:cNvPr id="51" name="TextBox 51"/>
            <p:cNvSpPr txBox="1"/>
            <p:nvPr/>
          </p:nvSpPr>
          <p:spPr>
            <a:xfrm>
              <a:off x="755904" y="5775960"/>
              <a:ext cx="9272753" cy="234696"/>
            </a:xfrm>
            <a:prstGeom prst="rect">
              <a:avLst/>
            </a:prstGeom>
            <a:noFill/>
            <a:ln>
              <a:noFill/>
            </a:ln>
          </p:spPr>
          <p:txBody>
            <a:bodyPr wrap="none" lIns="0" tIns="0" rIns="0" bIns="0" anchor="t" anchorCtr="0">
              <a:spAutoFit/>
            </a:bodyPr>
            <a:lstStyle/>
            <a:p>
              <a:pPr algn="l"/>
              <a:r>
                <a:rPr lang="en-US" sz="1200" dirty="0">
                  <a:solidFill>
                    <a:srgbClr val="5F6875"/>
                  </a:solidFill>
                  <a:latin typeface="Consolas"/>
                  <a:ea typeface="Consolas"/>
                  <a:cs typeface="Consolas"/>
                </a:rPr>
                <a:t>Median seconds [FCI / paper / robust / R] — A: 5.44/1.79/2.84/10.39 · L: 2.15/.34/.56/1.65 · F: .32/.16/.25/.88</a:t>
              </a:r>
            </a:p>
          </p:txBody>
        </p:sp>
      </p:grpSp>
      <p:grpSp>
        <p:nvGrpSpPr>
          <p:cNvPr id="55" name="Group 55"/>
          <p:cNvGrpSpPr/>
          <p:nvPr/>
        </p:nvGrpSpPr>
        <p:grpSpPr>
          <a:xfrm>
            <a:off x="528066" y="6290310"/>
            <a:ext cx="11136630" cy="234696"/>
            <a:chOff x="528066" y="6290310"/>
            <a:chExt cx="11136630" cy="234696"/>
          </a:xfrm>
        </p:grpSpPr>
        <p:sp>
          <p:nvSpPr>
            <p:cNvPr id="53" name="TextBox 53"/>
            <p:cNvSpPr txBox="1"/>
            <p:nvPr/>
          </p:nvSpPr>
          <p:spPr>
            <a:xfrm>
              <a:off x="528066" y="6306502"/>
              <a:ext cx="8633079" cy="205359"/>
            </a:xfrm>
            <a:prstGeom prst="rect">
              <a:avLst/>
            </a:prstGeom>
            <a:noFill/>
            <a:ln>
              <a:noFill/>
            </a:ln>
          </p:spPr>
          <p:txBody>
            <a:bodyPr wrap="none" lIns="0" tIns="0" rIns="0" bIns="0" anchor="t" anchorCtr="0">
              <a:spAutoFit/>
            </a:bodyPr>
            <a:lstStyle/>
            <a:p>
              <a:pPr algn="l"/>
              <a:r>
                <a:rPr lang="en-US" sz="1050" dirty="0">
                  <a:solidFill>
                    <a:srgbClr val="5F6875"/>
                  </a:solidFill>
                  <a:latin typeface="+mn-lt"/>
                  <a:ea typeface="+mn-ea"/>
                  <a:cs typeface="+mn-cs"/>
                </a:rPr>
                <a:t>star_benchmark.csv · three-run timing is not a cross-language speed contest · efficiency does not identify a causal effect</a:t>
              </a:r>
            </a:p>
          </p:txBody>
        </p:sp>
        <p:sp>
          <p:nvSpPr>
            <p:cNvPr id="54" name="TextBox 54"/>
            <p:cNvSpPr txBox="1"/>
            <p:nvPr/>
          </p:nvSpPr>
          <p:spPr>
            <a:xfrm>
              <a:off x="11111332" y="6290310"/>
              <a:ext cx="553364" cy="234696"/>
            </a:xfrm>
            <a:prstGeom prst="rect">
              <a:avLst/>
            </a:prstGeom>
            <a:noFill/>
            <a:ln>
              <a:noFill/>
            </a:ln>
          </p:spPr>
          <p:txBody>
            <a:bodyPr wrap="none" lIns="0" tIns="0" rIns="0" bIns="0" anchor="t" anchorCtr="0">
              <a:spAutoFit/>
            </a:bodyPr>
            <a:lstStyle/>
            <a:p>
              <a:pPr algn="r"/>
              <a:r>
                <a:rPr lang="en-US" sz="1200" dirty="0">
                  <a:solidFill>
                    <a:srgbClr val="5F6875"/>
                  </a:solidFill>
                  <a:latin typeface="Consolas"/>
                  <a:ea typeface="Consolas"/>
                  <a:cs typeface="Consolas"/>
                </a:rPr>
                <a:t>14 / 15</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4" name="Group 4"/>
          <p:cNvGrpSpPr/>
          <p:nvPr/>
        </p:nvGrpSpPr>
        <p:grpSpPr>
          <a:xfrm>
            <a:off x="518160" y="419100"/>
            <a:ext cx="8793265" cy="849439"/>
            <a:chOff x="518160" y="419100"/>
            <a:chExt cx="8793265" cy="849439"/>
          </a:xfrm>
        </p:grpSpPr>
        <p:sp>
          <p:nvSpPr>
            <p:cNvPr id="2" name="TextBox 2"/>
            <p:cNvSpPr txBox="1"/>
            <p:nvPr/>
          </p:nvSpPr>
          <p:spPr>
            <a:xfrm>
              <a:off x="518160" y="419100"/>
              <a:ext cx="8735968" cy="586740"/>
            </a:xfrm>
            <a:prstGeom prst="rect">
              <a:avLst/>
            </a:prstGeom>
            <a:noFill/>
            <a:ln>
              <a:noFill/>
            </a:ln>
          </p:spPr>
          <p:txBody>
            <a:bodyPr wrap="none" lIns="0" tIns="0" rIns="0" bIns="0" anchor="t" anchorCtr="0">
              <a:spAutoFit/>
            </a:bodyPr>
            <a:lstStyle/>
            <a:p>
              <a:pPr algn="l"/>
              <a:r>
                <a:rPr lang="en-US" sz="3000" b="1" dirty="0">
                  <a:solidFill>
                    <a:srgbClr val="FFFFFF"/>
                  </a:solidFill>
                  <a:latin typeface="+mj-lt"/>
                  <a:ea typeface="+mj-ea"/>
                  <a:cs typeface="+mj-cs"/>
                </a:rPr>
                <a:t>From Source Text to Cautious Evidence</a:t>
              </a:r>
            </a:p>
          </p:txBody>
        </p:sp>
        <p:sp>
          <p:nvSpPr>
            <p:cNvPr id="3" name="TextBox 3"/>
            <p:cNvSpPr txBox="1"/>
            <p:nvPr/>
          </p:nvSpPr>
          <p:spPr>
            <a:xfrm>
              <a:off x="525018" y="945832"/>
              <a:ext cx="8786407" cy="322707"/>
            </a:xfrm>
            <a:prstGeom prst="rect">
              <a:avLst/>
            </a:prstGeom>
            <a:noFill/>
            <a:ln>
              <a:noFill/>
            </a:ln>
          </p:spPr>
          <p:txBody>
            <a:bodyPr wrap="none" lIns="0" tIns="0" rIns="0" bIns="0" anchor="t" anchorCtr="0">
              <a:spAutoFit/>
            </a:bodyPr>
            <a:lstStyle/>
            <a:p>
              <a:pPr algn="l"/>
              <a:r>
                <a:rPr lang="en-US" sz="1650" dirty="0">
                  <a:solidFill>
                    <a:srgbClr val="E9EDF5"/>
                  </a:solidFill>
                  <a:latin typeface="+mn-lt"/>
                  <a:ea typeface="+mn-ea"/>
                  <a:cs typeface="+mn-cs"/>
                </a:rPr>
                <a:t>Randomized evidence remains primary; the PAG is a disciplined uncertainty audit.</a:t>
              </a:r>
            </a:p>
          </p:txBody>
        </p:sp>
      </p:grpSp>
      <p:grpSp>
        <p:nvGrpSpPr>
          <p:cNvPr id="18" name="Group 18"/>
          <p:cNvGrpSpPr/>
          <p:nvPr/>
        </p:nvGrpSpPr>
        <p:grpSpPr>
          <a:xfrm>
            <a:off x="533400" y="1590675"/>
            <a:ext cx="5181600" cy="3419475"/>
            <a:chOff x="533400" y="1590675"/>
            <a:chExt cx="5181600" cy="3419475"/>
          </a:xfrm>
        </p:grpSpPr>
        <p:sp>
          <p:nvSpPr>
            <p:cNvPr id="5" name="TextBox 5"/>
            <p:cNvSpPr txBox="1"/>
            <p:nvPr/>
          </p:nvSpPr>
          <p:spPr>
            <a:xfrm>
              <a:off x="533400" y="1590675"/>
              <a:ext cx="3714750" cy="285750"/>
            </a:xfrm>
            <a:prstGeom prst="rect">
              <a:avLst/>
            </a:prstGeom>
            <a:noFill/>
            <a:ln>
              <a:noFill/>
            </a:ln>
          </p:spPr>
          <p:txBody>
            <a:bodyPr wrap="square" lIns="0" tIns="73342" rIns="0" bIns="0" anchor="t" anchorCtr="0">
              <a:noAutofit/>
            </a:bodyPr>
            <a:lstStyle/>
            <a:p>
              <a:pPr algn="l"/>
              <a:r>
                <a:rPr lang="en-US" sz="1350" b="1" dirty="0">
                  <a:solidFill>
                    <a:srgbClr val="AFC7FF"/>
                  </a:solidFill>
                  <a:latin typeface="+mn-lt"/>
                  <a:ea typeface="+mn-ea"/>
                  <a:cs typeface="+mn-cs"/>
                </a:rPr>
                <a:t>DEFENSIBLE STAR EVIDENCE HIERARCHY</a:t>
              </a:r>
            </a:p>
          </p:txBody>
        </p:sp>
        <p:sp>
          <p:nvSpPr>
            <p:cNvPr id="6" name="Polygon 6"/>
            <p:cNvSpPr/>
            <p:nvPr/>
          </p:nvSpPr>
          <p:spPr>
            <a:xfrm>
              <a:off x="533400" y="2095500"/>
              <a:ext cx="5181600" cy="628650"/>
            </a:xfrm>
            <a:custGeom>
              <a:avLst/>
              <a:gdLst/>
              <a:ahLst/>
              <a:cxnLst/>
              <a:rect l="l" t="t" r="r" b="b"/>
              <a:pathLst>
                <a:path w="5181600" h="628650">
                  <a:moveTo>
                    <a:pt x="0" y="0"/>
                  </a:moveTo>
                  <a:lnTo>
                    <a:pt x="5181600" y="0"/>
                  </a:lnTo>
                  <a:lnTo>
                    <a:pt x="4724400" y="628650"/>
                  </a:lnTo>
                  <a:lnTo>
                    <a:pt x="457200" y="628650"/>
                  </a:lnTo>
                  <a:close/>
                </a:path>
              </a:pathLst>
            </a:custGeom>
            <a:solidFill>
              <a:srgbClr val="2E7D5B"/>
            </a:solidFill>
            <a:ln>
              <a:noFill/>
            </a:ln>
          </p:spPr>
        </p:sp>
        <p:sp>
          <p:nvSpPr>
            <p:cNvPr id="7" name="TextBox 7"/>
            <p:cNvSpPr txBox="1"/>
            <p:nvPr/>
          </p:nvSpPr>
          <p:spPr>
            <a:xfrm>
              <a:off x="990600" y="2152650"/>
              <a:ext cx="4267200" cy="266700"/>
            </a:xfrm>
            <a:prstGeom prst="rect">
              <a:avLst/>
            </a:prstGeom>
            <a:noFill/>
            <a:ln>
              <a:noFill/>
            </a:ln>
          </p:spPr>
          <p:txBody>
            <a:bodyPr wrap="square" lIns="0" tIns="47625" rIns="0" bIns="0" anchor="t" anchorCtr="0">
              <a:noAutofit/>
            </a:bodyPr>
            <a:lstStyle/>
            <a:p>
              <a:pPr algn="ctr"/>
              <a:r>
                <a:rPr lang="en-US" sz="1500" b="1" dirty="0">
                  <a:solidFill>
                    <a:srgbClr val="FFFFFF"/>
                  </a:solidFill>
                  <a:latin typeface="+mn-lt"/>
                  <a:ea typeface="+mn-ea"/>
                  <a:cs typeface="+mn-cs"/>
                </a:rPr>
                <a:t>DESIGN-BASED</a:t>
              </a:r>
            </a:p>
          </p:txBody>
        </p:sp>
        <p:sp>
          <p:nvSpPr>
            <p:cNvPr id="8" name="TextBox 8"/>
            <p:cNvSpPr txBox="1"/>
            <p:nvPr/>
          </p:nvSpPr>
          <p:spPr>
            <a:xfrm>
              <a:off x="1047750" y="2390775"/>
              <a:ext cx="4152900" cy="247650"/>
            </a:xfrm>
            <a:prstGeom prst="rect">
              <a:avLst/>
            </a:prstGeom>
            <a:noFill/>
            <a:ln>
              <a:noFill/>
            </a:ln>
          </p:spPr>
          <p:txBody>
            <a:bodyPr wrap="square" lIns="0" tIns="88106" rIns="0" bIns="0" anchor="t" anchorCtr="0">
              <a:noAutofit/>
            </a:bodyPr>
            <a:lstStyle/>
            <a:p>
              <a:pPr algn="ctr"/>
              <a:r>
                <a:rPr lang="en-US" sz="1120" dirty="0">
                  <a:solidFill>
                    <a:srgbClr val="FFFFFF"/>
                  </a:solidFill>
                  <a:latin typeface="+mn-lt"/>
                  <a:ea typeface="+mn-ea"/>
                  <a:cs typeface="+mn-cs"/>
                </a:rPr>
                <a:t>Observed K contrast favors small classes</a:t>
              </a:r>
            </a:p>
          </p:txBody>
        </p:sp>
        <p:sp>
          <p:nvSpPr>
            <p:cNvPr id="9" name="Polygon 9"/>
            <p:cNvSpPr/>
            <p:nvPr/>
          </p:nvSpPr>
          <p:spPr>
            <a:xfrm>
              <a:off x="990600" y="2857500"/>
              <a:ext cx="4267200" cy="628650"/>
            </a:xfrm>
            <a:custGeom>
              <a:avLst/>
              <a:gdLst/>
              <a:ahLst/>
              <a:cxnLst/>
              <a:rect l="l" t="t" r="r" b="b"/>
              <a:pathLst>
                <a:path w="4267200" h="628650">
                  <a:moveTo>
                    <a:pt x="0" y="0"/>
                  </a:moveTo>
                  <a:lnTo>
                    <a:pt x="4267200" y="0"/>
                  </a:lnTo>
                  <a:lnTo>
                    <a:pt x="3886200" y="628650"/>
                  </a:lnTo>
                  <a:lnTo>
                    <a:pt x="381000" y="628650"/>
                  </a:lnTo>
                  <a:close/>
                </a:path>
              </a:pathLst>
            </a:custGeom>
            <a:solidFill>
              <a:schemeClr val="accent2"/>
            </a:solidFill>
            <a:ln>
              <a:noFill/>
            </a:ln>
          </p:spPr>
        </p:sp>
        <p:sp>
          <p:nvSpPr>
            <p:cNvPr id="10" name="TextBox 10"/>
            <p:cNvSpPr txBox="1"/>
            <p:nvPr/>
          </p:nvSpPr>
          <p:spPr>
            <a:xfrm>
              <a:off x="1371600" y="2914650"/>
              <a:ext cx="3505200" cy="266700"/>
            </a:xfrm>
            <a:prstGeom prst="rect">
              <a:avLst/>
            </a:prstGeom>
            <a:noFill/>
            <a:ln>
              <a:noFill/>
            </a:ln>
          </p:spPr>
          <p:txBody>
            <a:bodyPr wrap="square" lIns="0" tIns="47625" rIns="0" bIns="0" anchor="t" anchorCtr="0">
              <a:noAutofit/>
            </a:bodyPr>
            <a:lstStyle/>
            <a:p>
              <a:pPr algn="ctr"/>
              <a:r>
                <a:rPr lang="en-US" sz="1500" b="1" dirty="0">
                  <a:solidFill>
                    <a:srgbClr val="FFFFFF"/>
                  </a:solidFill>
                  <a:latin typeface="+mn-lt"/>
                  <a:ea typeface="+mn-ea"/>
                  <a:cs typeface="+mn-cs"/>
                </a:rPr>
                <a:t>STRUCTURAL</a:t>
              </a:r>
            </a:p>
          </p:txBody>
        </p:sp>
        <p:sp>
          <p:nvSpPr>
            <p:cNvPr id="11" name="TextBox 11"/>
            <p:cNvSpPr txBox="1"/>
            <p:nvPr/>
          </p:nvSpPr>
          <p:spPr>
            <a:xfrm>
              <a:off x="1428750" y="3152775"/>
              <a:ext cx="3390900" cy="247650"/>
            </a:xfrm>
            <a:prstGeom prst="rect">
              <a:avLst/>
            </a:prstGeom>
            <a:noFill/>
            <a:ln>
              <a:noFill/>
            </a:ln>
          </p:spPr>
          <p:txBody>
            <a:bodyPr wrap="square" lIns="0" tIns="88106" rIns="0" bIns="0" anchor="t" anchorCtr="0">
              <a:noAutofit/>
            </a:bodyPr>
            <a:lstStyle/>
            <a:p>
              <a:pPr algn="ctr"/>
              <a:r>
                <a:rPr lang="en-US" sz="1120" dirty="0">
                  <a:solidFill>
                    <a:srgbClr val="FFFFFF"/>
                  </a:solidFill>
                  <a:latin typeface="+mn-lt"/>
                  <a:ea typeface="+mn-ea"/>
                  <a:cs typeface="+mn-cs"/>
                </a:rPr>
                <a:t>Early achievement has stable adjacencies</a:t>
              </a:r>
            </a:p>
          </p:txBody>
        </p:sp>
        <p:sp>
          <p:nvSpPr>
            <p:cNvPr id="12" name="Polygon 12"/>
            <p:cNvSpPr/>
            <p:nvPr/>
          </p:nvSpPr>
          <p:spPr>
            <a:xfrm>
              <a:off x="1371600" y="3619500"/>
              <a:ext cx="3505200" cy="628650"/>
            </a:xfrm>
            <a:custGeom>
              <a:avLst/>
              <a:gdLst/>
              <a:ahLst/>
              <a:cxnLst/>
              <a:rect l="l" t="t" r="r" b="b"/>
              <a:pathLst>
                <a:path w="3505200" h="628650">
                  <a:moveTo>
                    <a:pt x="0" y="0"/>
                  </a:moveTo>
                  <a:lnTo>
                    <a:pt x="3505200" y="0"/>
                  </a:lnTo>
                  <a:lnTo>
                    <a:pt x="3124200" y="628650"/>
                  </a:lnTo>
                  <a:lnTo>
                    <a:pt x="381000" y="628650"/>
                  </a:lnTo>
                  <a:close/>
                </a:path>
              </a:pathLst>
            </a:custGeom>
            <a:solidFill>
              <a:schemeClr val="accent3"/>
            </a:solidFill>
            <a:ln>
              <a:noFill/>
            </a:ln>
          </p:spPr>
        </p:sp>
        <p:sp>
          <p:nvSpPr>
            <p:cNvPr id="13" name="TextBox 13"/>
            <p:cNvSpPr txBox="1"/>
            <p:nvPr/>
          </p:nvSpPr>
          <p:spPr>
            <a:xfrm>
              <a:off x="1752600" y="3676650"/>
              <a:ext cx="2743200" cy="266700"/>
            </a:xfrm>
            <a:prstGeom prst="rect">
              <a:avLst/>
            </a:prstGeom>
            <a:noFill/>
            <a:ln>
              <a:noFill/>
            </a:ln>
          </p:spPr>
          <p:txBody>
            <a:bodyPr wrap="square" lIns="0" tIns="47625" rIns="0" bIns="0" anchor="t" anchorCtr="0">
              <a:noAutofit/>
            </a:bodyPr>
            <a:lstStyle/>
            <a:p>
              <a:pPr algn="ctr"/>
              <a:r>
                <a:rPr lang="en-US" sz="1500" b="1" dirty="0">
                  <a:solidFill>
                    <a:srgbClr val="FFFFFF"/>
                  </a:solidFill>
                  <a:latin typeface="+mn-lt"/>
                  <a:ea typeface="+mn-ea"/>
                  <a:cs typeface="+mn-cs"/>
                </a:rPr>
                <a:t>UNCERTAIN</a:t>
              </a:r>
            </a:p>
          </p:txBody>
        </p:sp>
        <p:sp>
          <p:nvSpPr>
            <p:cNvPr id="14" name="TextBox 14"/>
            <p:cNvSpPr txBox="1"/>
            <p:nvPr/>
          </p:nvSpPr>
          <p:spPr>
            <a:xfrm>
              <a:off x="1809750" y="3914775"/>
              <a:ext cx="2628900" cy="247650"/>
            </a:xfrm>
            <a:prstGeom prst="rect">
              <a:avLst/>
            </a:prstGeom>
            <a:noFill/>
            <a:ln>
              <a:noFill/>
            </a:ln>
          </p:spPr>
          <p:txBody>
            <a:bodyPr wrap="square" lIns="0" tIns="88106" rIns="0" bIns="0" anchor="t" anchorCtr="0">
              <a:noAutofit/>
            </a:bodyPr>
            <a:lstStyle/>
            <a:p>
              <a:pPr algn="ctr"/>
              <a:r>
                <a:rPr lang="en-US" sz="1120" dirty="0">
                  <a:solidFill>
                    <a:srgbClr val="FFFFFF"/>
                  </a:solidFill>
                  <a:latin typeface="+mn-lt"/>
                  <a:ea typeface="+mn-ea"/>
                  <a:cs typeface="+mn-cs"/>
                </a:rPr>
                <a:t>Later directions vary by specification</a:t>
              </a:r>
            </a:p>
          </p:txBody>
        </p:sp>
        <p:sp>
          <p:nvSpPr>
            <p:cNvPr id="15" name="Polygon 15"/>
            <p:cNvSpPr/>
            <p:nvPr/>
          </p:nvSpPr>
          <p:spPr>
            <a:xfrm>
              <a:off x="1562100" y="4381500"/>
              <a:ext cx="3124200" cy="628650"/>
            </a:xfrm>
            <a:custGeom>
              <a:avLst/>
              <a:gdLst/>
              <a:ahLst/>
              <a:cxnLst/>
              <a:rect l="l" t="t" r="r" b="b"/>
              <a:pathLst>
                <a:path w="3124200" h="628650">
                  <a:moveTo>
                    <a:pt x="0" y="0"/>
                  </a:moveTo>
                  <a:lnTo>
                    <a:pt x="3124200" y="0"/>
                  </a:lnTo>
                  <a:lnTo>
                    <a:pt x="2743200" y="628650"/>
                  </a:lnTo>
                  <a:lnTo>
                    <a:pt x="381000" y="628650"/>
                  </a:lnTo>
                  <a:close/>
                </a:path>
              </a:pathLst>
            </a:custGeom>
            <a:solidFill>
              <a:srgbClr val="5F6875"/>
            </a:solidFill>
            <a:ln>
              <a:noFill/>
            </a:ln>
          </p:spPr>
        </p:sp>
        <p:sp>
          <p:nvSpPr>
            <p:cNvPr id="16" name="TextBox 16"/>
            <p:cNvSpPr txBox="1"/>
            <p:nvPr/>
          </p:nvSpPr>
          <p:spPr>
            <a:xfrm>
              <a:off x="1657350" y="4438650"/>
              <a:ext cx="2933700" cy="247650"/>
            </a:xfrm>
            <a:prstGeom prst="rect">
              <a:avLst/>
            </a:prstGeom>
            <a:noFill/>
            <a:ln>
              <a:noFill/>
            </a:ln>
          </p:spPr>
          <p:txBody>
            <a:bodyPr wrap="square" lIns="0" tIns="63817" rIns="0" bIns="0" anchor="t" anchorCtr="0">
              <a:noAutofit/>
            </a:bodyPr>
            <a:lstStyle/>
            <a:p>
              <a:pPr algn="ctr"/>
              <a:r>
                <a:rPr lang="en-US" sz="1350" b="1" dirty="0">
                  <a:solidFill>
                    <a:srgbClr val="FFFFFF"/>
                  </a:solidFill>
                  <a:latin typeface="+mn-lt"/>
                  <a:ea typeface="+mn-ea"/>
                  <a:cs typeface="+mn-cs"/>
                </a:rPr>
                <a:t>NOT IDENTIFIED</a:t>
              </a:r>
            </a:p>
          </p:txBody>
        </p:sp>
        <p:sp>
          <p:nvSpPr>
            <p:cNvPr id="17" name="TextBox 17"/>
            <p:cNvSpPr txBox="1"/>
            <p:nvPr/>
          </p:nvSpPr>
          <p:spPr>
            <a:xfrm>
              <a:off x="1809750" y="4695825"/>
              <a:ext cx="2628900" cy="266700"/>
            </a:xfrm>
            <a:prstGeom prst="rect">
              <a:avLst/>
            </a:prstGeom>
            <a:noFill/>
            <a:ln>
              <a:noFill/>
            </a:ln>
          </p:spPr>
          <p:txBody>
            <a:bodyPr wrap="square" lIns="0" tIns="96203" rIns="0" bIns="0" anchor="t" anchorCtr="0">
              <a:noAutofit/>
            </a:bodyPr>
            <a:lstStyle/>
            <a:p>
              <a:pPr algn="ctr"/>
              <a:r>
                <a:rPr lang="en-US" sz="1050" dirty="0">
                  <a:solidFill>
                    <a:srgbClr val="FFFFFF"/>
                  </a:solidFill>
                  <a:latin typeface="+mn-lt"/>
                  <a:ea typeface="+mn-ea"/>
                  <a:cs typeface="+mn-cs"/>
                </a:rPr>
                <a:t>PAG yields no unique DAG or effect</a:t>
              </a:r>
            </a:p>
          </p:txBody>
        </p:sp>
      </p:grpSp>
      <p:grpSp>
        <p:nvGrpSpPr>
          <p:cNvPr id="32" name="Group 32"/>
          <p:cNvGrpSpPr/>
          <p:nvPr/>
        </p:nvGrpSpPr>
        <p:grpSpPr>
          <a:xfrm>
            <a:off x="6553200" y="1590675"/>
            <a:ext cx="5105400" cy="3438525"/>
            <a:chOff x="6553200" y="1590675"/>
            <a:chExt cx="5105400" cy="3438525"/>
          </a:xfrm>
        </p:grpSpPr>
        <p:sp>
          <p:nvSpPr>
            <p:cNvPr id="19" name="TextBox 19"/>
            <p:cNvSpPr txBox="1"/>
            <p:nvPr/>
          </p:nvSpPr>
          <p:spPr>
            <a:xfrm>
              <a:off x="6553200" y="1590675"/>
              <a:ext cx="2857500" cy="285750"/>
            </a:xfrm>
            <a:prstGeom prst="rect">
              <a:avLst/>
            </a:prstGeom>
            <a:noFill/>
            <a:ln>
              <a:noFill/>
            </a:ln>
          </p:spPr>
          <p:txBody>
            <a:bodyPr wrap="square" lIns="0" tIns="73342" rIns="0" bIns="0" anchor="t" anchorCtr="0">
              <a:noAutofit/>
            </a:bodyPr>
            <a:lstStyle/>
            <a:p>
              <a:pPr algn="l"/>
              <a:r>
                <a:rPr lang="en-US" sz="1350" b="1" dirty="0">
                  <a:solidFill>
                    <a:srgbClr val="FFC77E"/>
                  </a:solidFill>
                  <a:latin typeface="+mn-lt"/>
                  <a:ea typeface="+mn-ea"/>
                  <a:cs typeface="+mn-cs"/>
                </a:rPr>
                <a:t>COMPLETED DELIVERABLES</a:t>
              </a:r>
            </a:p>
          </p:txBody>
        </p:sp>
        <p:sp>
          <p:nvSpPr>
            <p:cNvPr id="20" name="Rectangle 20"/>
            <p:cNvSpPr/>
            <p:nvPr/>
          </p:nvSpPr>
          <p:spPr>
            <a:xfrm>
              <a:off x="6553200" y="2095500"/>
              <a:ext cx="5105400" cy="838200"/>
            </a:xfrm>
            <a:prstGeom prst="roundRect">
              <a:avLst>
                <a:gd name="adj" fmla="val 13636"/>
              </a:avLst>
            </a:prstGeom>
            <a:solidFill>
              <a:srgbClr val="FFFFFF"/>
            </a:solidFill>
            <a:ln>
              <a:noFill/>
            </a:ln>
          </p:spPr>
        </p:sp>
        <p:sp>
          <p:nvSpPr>
            <p:cNvPr id="21" name="Rectangle 21"/>
            <p:cNvSpPr/>
            <p:nvPr/>
          </p:nvSpPr>
          <p:spPr>
            <a:xfrm>
              <a:off x="6553200" y="2095500"/>
              <a:ext cx="95250" cy="838200"/>
            </a:xfrm>
            <a:prstGeom prst="roundRect">
              <a:avLst>
                <a:gd name="adj" fmla="val 50000"/>
              </a:avLst>
            </a:prstGeom>
            <a:solidFill>
              <a:schemeClr val="accent2"/>
            </a:solidFill>
            <a:ln>
              <a:noFill/>
            </a:ln>
          </p:spPr>
        </p:sp>
        <p:sp>
          <p:nvSpPr>
            <p:cNvPr id="22" name="TextBox 22"/>
            <p:cNvSpPr txBox="1"/>
            <p:nvPr/>
          </p:nvSpPr>
          <p:spPr>
            <a:xfrm>
              <a:off x="6858000" y="2181225"/>
              <a:ext cx="4476750" cy="304800"/>
            </a:xfrm>
            <a:prstGeom prst="rect">
              <a:avLst/>
            </a:prstGeom>
            <a:noFill/>
            <a:ln>
              <a:noFill/>
            </a:ln>
          </p:spPr>
          <p:txBody>
            <a:bodyPr wrap="square" lIns="0" tIns="34290" rIns="0" bIns="0" anchor="t" anchorCtr="0">
              <a:noAutofit/>
            </a:bodyPr>
            <a:lstStyle/>
            <a:p>
              <a:pPr algn="l"/>
              <a:r>
                <a:rPr lang="en-US" sz="1800" b="1" dirty="0">
                  <a:solidFill>
                    <a:schemeClr val="accent1"/>
                  </a:solidFill>
                  <a:latin typeface="+mn-lt"/>
                  <a:ea typeface="+mn-ea"/>
                  <a:cs typeface="+mn-cs"/>
                </a:rPr>
                <a:t>Paper profiles + source map</a:t>
              </a:r>
            </a:p>
          </p:txBody>
        </p:sp>
        <p:sp>
          <p:nvSpPr>
            <p:cNvPr id="23" name="TextBox 23"/>
            <p:cNvSpPr txBox="1"/>
            <p:nvPr/>
          </p:nvSpPr>
          <p:spPr>
            <a:xfrm>
              <a:off x="6858000" y="2505075"/>
              <a:ext cx="4476750" cy="266700"/>
            </a:xfrm>
            <a:prstGeom prst="rect">
              <a:avLst/>
            </a:prstGeom>
            <a:noFill/>
            <a:ln>
              <a:noFill/>
            </a:ln>
          </p:spPr>
          <p:txBody>
            <a:bodyPr wrap="square" lIns="0" tIns="54292" rIns="0" bIns="0" anchor="t" anchorCtr="0">
              <a:noAutofit/>
            </a:bodyPr>
            <a:lstStyle/>
            <a:p>
              <a:pPr algn="l"/>
              <a:r>
                <a:rPr lang="en-US" sz="1350" dirty="0">
                  <a:solidFill>
                    <a:srgbClr val="5F6875"/>
                  </a:solidFill>
                  <a:latin typeface="+mn-lt"/>
                  <a:ea typeface="+mn-ea"/>
                  <a:cs typeface="+mn-cs"/>
                </a:rPr>
                <a:t>FCI and FCI Plus stages traced to code and tests</a:t>
              </a:r>
            </a:p>
          </p:txBody>
        </p:sp>
        <p:sp>
          <p:nvSpPr>
            <p:cNvPr id="24" name="Rectangle 24"/>
            <p:cNvSpPr/>
            <p:nvPr/>
          </p:nvSpPr>
          <p:spPr>
            <a:xfrm>
              <a:off x="6553200" y="3143250"/>
              <a:ext cx="5105400" cy="838200"/>
            </a:xfrm>
            <a:prstGeom prst="roundRect">
              <a:avLst>
                <a:gd name="adj" fmla="val 13636"/>
              </a:avLst>
            </a:prstGeom>
            <a:solidFill>
              <a:srgbClr val="FFFFFF"/>
            </a:solidFill>
            <a:ln>
              <a:noFill/>
            </a:ln>
          </p:spPr>
        </p:sp>
        <p:sp>
          <p:nvSpPr>
            <p:cNvPr id="25" name="Rectangle 25"/>
            <p:cNvSpPr/>
            <p:nvPr/>
          </p:nvSpPr>
          <p:spPr>
            <a:xfrm>
              <a:off x="6553200" y="3143250"/>
              <a:ext cx="95250" cy="838200"/>
            </a:xfrm>
            <a:prstGeom prst="roundRect">
              <a:avLst>
                <a:gd name="adj" fmla="val 50000"/>
              </a:avLst>
            </a:prstGeom>
            <a:solidFill>
              <a:schemeClr val="accent3"/>
            </a:solidFill>
            <a:ln>
              <a:noFill/>
            </a:ln>
          </p:spPr>
        </p:sp>
        <p:sp>
          <p:nvSpPr>
            <p:cNvPr id="26" name="TextBox 26"/>
            <p:cNvSpPr txBox="1"/>
            <p:nvPr/>
          </p:nvSpPr>
          <p:spPr>
            <a:xfrm>
              <a:off x="6858000" y="3228975"/>
              <a:ext cx="4476750" cy="304800"/>
            </a:xfrm>
            <a:prstGeom prst="rect">
              <a:avLst/>
            </a:prstGeom>
            <a:noFill/>
            <a:ln>
              <a:noFill/>
            </a:ln>
          </p:spPr>
          <p:txBody>
            <a:bodyPr wrap="square" lIns="0" tIns="34290" rIns="0" bIns="0" anchor="t" anchorCtr="0">
              <a:noAutofit/>
            </a:bodyPr>
            <a:lstStyle/>
            <a:p>
              <a:pPr algn="l"/>
              <a:r>
                <a:rPr lang="en-US" sz="1800" b="1" dirty="0">
                  <a:solidFill>
                    <a:schemeClr val="accent1"/>
                  </a:solidFill>
                  <a:latin typeface="+mn-lt"/>
                  <a:ea typeface="+mn-ea"/>
                  <a:cs typeface="+mn-cs"/>
                </a:rPr>
                <a:t>Known-truth + software audits</a:t>
              </a:r>
            </a:p>
          </p:txBody>
        </p:sp>
        <p:sp>
          <p:nvSpPr>
            <p:cNvPr id="27" name="TextBox 27"/>
            <p:cNvSpPr txBox="1"/>
            <p:nvPr/>
          </p:nvSpPr>
          <p:spPr>
            <a:xfrm>
              <a:off x="6858000" y="3552825"/>
              <a:ext cx="4476750" cy="266700"/>
            </a:xfrm>
            <a:prstGeom prst="rect">
              <a:avLst/>
            </a:prstGeom>
            <a:noFill/>
            <a:ln>
              <a:noFill/>
            </a:ln>
          </p:spPr>
          <p:txBody>
            <a:bodyPr wrap="square" lIns="0" tIns="54292" rIns="0" bIns="0" anchor="t" anchorCtr="0">
              <a:noAutofit/>
            </a:bodyPr>
            <a:lstStyle/>
            <a:p>
              <a:pPr algn="l"/>
              <a:r>
                <a:rPr lang="en-US" sz="1350" dirty="0">
                  <a:solidFill>
                    <a:srgbClr val="5F6875"/>
                  </a:solidFill>
                  <a:latin typeface="+mn-lt"/>
                  <a:ea typeface="+mn-ea"/>
                  <a:cs typeface="+mn-cs"/>
                </a:rPr>
                <a:t>Exact oracle, simulation, pcalg, causal-learn</a:t>
              </a:r>
            </a:p>
          </p:txBody>
        </p:sp>
        <p:sp>
          <p:nvSpPr>
            <p:cNvPr id="28" name="Rectangle 28"/>
            <p:cNvSpPr/>
            <p:nvPr/>
          </p:nvSpPr>
          <p:spPr>
            <a:xfrm>
              <a:off x="6553200" y="4191000"/>
              <a:ext cx="5105400" cy="838200"/>
            </a:xfrm>
            <a:prstGeom prst="roundRect">
              <a:avLst>
                <a:gd name="adj" fmla="val 13636"/>
              </a:avLst>
            </a:prstGeom>
            <a:solidFill>
              <a:srgbClr val="FFFFFF"/>
            </a:solidFill>
            <a:ln>
              <a:noFill/>
            </a:ln>
          </p:spPr>
        </p:sp>
        <p:sp>
          <p:nvSpPr>
            <p:cNvPr id="29" name="Rectangle 29"/>
            <p:cNvSpPr/>
            <p:nvPr/>
          </p:nvSpPr>
          <p:spPr>
            <a:xfrm>
              <a:off x="6553200" y="4191000"/>
              <a:ext cx="95250" cy="838200"/>
            </a:xfrm>
            <a:prstGeom prst="roundRect">
              <a:avLst>
                <a:gd name="adj" fmla="val 50000"/>
              </a:avLst>
            </a:prstGeom>
            <a:solidFill>
              <a:schemeClr val="accent6"/>
            </a:solidFill>
            <a:ln>
              <a:noFill/>
            </a:ln>
          </p:spPr>
        </p:sp>
        <p:sp>
          <p:nvSpPr>
            <p:cNvPr id="30" name="TextBox 30"/>
            <p:cNvSpPr txBox="1"/>
            <p:nvPr/>
          </p:nvSpPr>
          <p:spPr>
            <a:xfrm>
              <a:off x="6858000" y="4276725"/>
              <a:ext cx="4476750" cy="304800"/>
            </a:xfrm>
            <a:prstGeom prst="rect">
              <a:avLst/>
            </a:prstGeom>
            <a:noFill/>
            <a:ln>
              <a:noFill/>
            </a:ln>
          </p:spPr>
          <p:txBody>
            <a:bodyPr wrap="square" lIns="0" tIns="34290" rIns="0" bIns="0" anchor="t" anchorCtr="0">
              <a:noAutofit/>
            </a:bodyPr>
            <a:lstStyle/>
            <a:p>
              <a:pPr algn="l"/>
              <a:r>
                <a:rPr lang="en-US" sz="1800" b="1" dirty="0">
                  <a:solidFill>
                    <a:schemeClr val="accent1"/>
                  </a:solidFill>
                  <a:latin typeface="+mn-lt"/>
                  <a:ea typeface="+mn-ea"/>
                  <a:cs typeface="+mn-cs"/>
                </a:rPr>
                <a:t>STAR report + reproducible artifacts</a:t>
              </a:r>
            </a:p>
          </p:txBody>
        </p:sp>
        <p:sp>
          <p:nvSpPr>
            <p:cNvPr id="31" name="TextBox 31"/>
            <p:cNvSpPr txBox="1"/>
            <p:nvPr/>
          </p:nvSpPr>
          <p:spPr>
            <a:xfrm>
              <a:off x="6858000" y="4600575"/>
              <a:ext cx="4476750" cy="266700"/>
            </a:xfrm>
            <a:prstGeom prst="rect">
              <a:avLst/>
            </a:prstGeom>
            <a:noFill/>
            <a:ln>
              <a:noFill/>
            </a:ln>
          </p:spPr>
          <p:txBody>
            <a:bodyPr wrap="square" lIns="0" tIns="54292" rIns="0" bIns="0" anchor="t" anchorCtr="0">
              <a:noAutofit/>
            </a:bodyPr>
            <a:lstStyle/>
            <a:p>
              <a:pPr algn="l"/>
              <a:r>
                <a:rPr lang="en-US" sz="1350" dirty="0">
                  <a:solidFill>
                    <a:srgbClr val="5F6875"/>
                  </a:solidFill>
                  <a:latin typeface="+mn-lt"/>
                  <a:ea typeface="+mn-ea"/>
                  <a:cs typeface="+mn-cs"/>
                </a:rPr>
                <a:t>Data, figures, LaTeX report, deck, and notes</a:t>
              </a:r>
            </a:p>
          </p:txBody>
        </p:sp>
      </p:grpSp>
      <p:grpSp>
        <p:nvGrpSpPr>
          <p:cNvPr id="36" name="Group 36"/>
          <p:cNvGrpSpPr/>
          <p:nvPr/>
        </p:nvGrpSpPr>
        <p:grpSpPr>
          <a:xfrm>
            <a:off x="533400" y="5562600"/>
            <a:ext cx="11125200" cy="419100"/>
            <a:chOff x="533400" y="5562600"/>
            <a:chExt cx="11125200" cy="419100"/>
          </a:xfrm>
        </p:grpSpPr>
        <p:sp>
          <p:nvSpPr>
            <p:cNvPr id="33" name="Line 33"/>
            <p:cNvSpPr/>
            <p:nvPr/>
          </p:nvSpPr>
          <p:spPr>
            <a:xfrm>
              <a:off x="533400" y="5562600"/>
              <a:ext cx="11125200" cy="9525"/>
            </a:xfrm>
            <a:custGeom>
              <a:avLst/>
              <a:gdLst/>
              <a:ahLst/>
              <a:cxnLst/>
              <a:rect l="l" t="t" r="r" b="b"/>
              <a:pathLst>
                <a:path w="11125200" h="9525">
                  <a:moveTo>
                    <a:pt x="0" y="0"/>
                  </a:moveTo>
                  <a:lnTo>
                    <a:pt x="11125200" y="0"/>
                  </a:lnTo>
                </a:path>
              </a:pathLst>
            </a:custGeom>
            <a:noFill/>
            <a:ln w="14288">
              <a:solidFill>
                <a:srgbClr val="5C7190"/>
              </a:solidFill>
            </a:ln>
          </p:spPr>
        </p:sp>
        <p:sp>
          <p:nvSpPr>
            <p:cNvPr id="34" name="TextBox 34"/>
            <p:cNvSpPr txBox="1"/>
            <p:nvPr/>
          </p:nvSpPr>
          <p:spPr>
            <a:xfrm>
              <a:off x="533400" y="5676900"/>
              <a:ext cx="1524000" cy="285750"/>
            </a:xfrm>
            <a:prstGeom prst="rect">
              <a:avLst/>
            </a:prstGeom>
            <a:noFill/>
            <a:ln>
              <a:noFill/>
            </a:ln>
          </p:spPr>
          <p:txBody>
            <a:bodyPr wrap="square" lIns="0" tIns="82868" rIns="0" bIns="0" anchor="t" anchorCtr="0">
              <a:noAutofit/>
            </a:bodyPr>
            <a:lstStyle/>
            <a:p>
              <a:pPr algn="l"/>
              <a:r>
                <a:rPr lang="en-US" sz="1350" b="1" dirty="0">
                  <a:solidFill>
                    <a:srgbClr val="A7E8DF"/>
                  </a:solidFill>
                  <a:latin typeface="+mn-lt"/>
                  <a:ea typeface="+mn-ea"/>
                  <a:cs typeface="+mn-cs"/>
                </a:rPr>
                <a:t>NEXT VALIDATION</a:t>
              </a:r>
            </a:p>
          </p:txBody>
        </p:sp>
        <p:sp>
          <p:nvSpPr>
            <p:cNvPr id="35" name="TextBox 35"/>
            <p:cNvSpPr txBox="1"/>
            <p:nvPr/>
          </p:nvSpPr>
          <p:spPr>
            <a:xfrm>
              <a:off x="2209800" y="5657850"/>
              <a:ext cx="9239250" cy="323850"/>
            </a:xfrm>
            <a:prstGeom prst="rect">
              <a:avLst/>
            </a:prstGeom>
            <a:noFill/>
            <a:ln>
              <a:noFill/>
            </a:ln>
          </p:spPr>
          <p:txBody>
            <a:bodyPr wrap="square" lIns="0" tIns="85725" rIns="0" bIns="0" anchor="t" anchorCtr="0">
              <a:noAutofit/>
            </a:bodyPr>
            <a:lstStyle/>
            <a:p>
              <a:pPr algn="l"/>
              <a:r>
                <a:rPr lang="en-US" sz="1500" dirty="0">
                  <a:solidFill>
                    <a:srgbClr val="FFFFFF"/>
                  </a:solidFill>
                  <a:latin typeface="+mn-lt"/>
                  <a:ea typeface="+mn-ea"/>
                  <a:cs typeface="+mn-cs"/>
                </a:rPr>
                <a:t>More CI regimes → larger benchmarks → formal randomized analysis → external replication</a:t>
              </a:r>
            </a:p>
          </p:txBody>
        </p:sp>
      </p:grpSp>
      <p:grpSp>
        <p:nvGrpSpPr>
          <p:cNvPr id="39" name="Group 39"/>
          <p:cNvGrpSpPr/>
          <p:nvPr/>
        </p:nvGrpSpPr>
        <p:grpSpPr>
          <a:xfrm>
            <a:off x="524256" y="6263640"/>
            <a:ext cx="11140440" cy="352044"/>
            <a:chOff x="524256" y="6263640"/>
            <a:chExt cx="11140440" cy="352044"/>
          </a:xfrm>
        </p:grpSpPr>
        <p:sp>
          <p:nvSpPr>
            <p:cNvPr id="37" name="TextBox 37"/>
            <p:cNvSpPr txBox="1"/>
            <p:nvPr/>
          </p:nvSpPr>
          <p:spPr>
            <a:xfrm>
              <a:off x="524256" y="6263640"/>
              <a:ext cx="1391260" cy="352044"/>
            </a:xfrm>
            <a:prstGeom prst="rect">
              <a:avLst/>
            </a:prstGeom>
            <a:noFill/>
            <a:ln>
              <a:noFill/>
            </a:ln>
          </p:spPr>
          <p:txBody>
            <a:bodyPr wrap="none" lIns="0" tIns="0" rIns="0" bIns="0" anchor="t" anchorCtr="0">
              <a:spAutoFit/>
            </a:bodyPr>
            <a:lstStyle/>
            <a:p>
              <a:pPr algn="l"/>
              <a:r>
                <a:rPr lang="en-US" sz="1800" b="1" dirty="0">
                  <a:solidFill>
                    <a:srgbClr val="FFFFFF"/>
                  </a:solidFill>
                  <a:latin typeface="+mj-lt"/>
                  <a:ea typeface="+mj-ea"/>
                  <a:cs typeface="+mj-cs"/>
                </a:rPr>
                <a:t>Discussion</a:t>
              </a:r>
            </a:p>
          </p:txBody>
        </p:sp>
        <p:sp>
          <p:nvSpPr>
            <p:cNvPr id="38" name="TextBox 38"/>
            <p:cNvSpPr txBox="1"/>
            <p:nvPr/>
          </p:nvSpPr>
          <p:spPr>
            <a:xfrm>
              <a:off x="11111332" y="6328410"/>
              <a:ext cx="553364" cy="234696"/>
            </a:xfrm>
            <a:prstGeom prst="rect">
              <a:avLst/>
            </a:prstGeom>
            <a:noFill/>
            <a:ln>
              <a:noFill/>
            </a:ln>
          </p:spPr>
          <p:txBody>
            <a:bodyPr wrap="none" lIns="0" tIns="0" rIns="0" bIns="0" anchor="t" anchorCtr="0">
              <a:spAutoFit/>
            </a:bodyPr>
            <a:lstStyle/>
            <a:p>
              <a:pPr algn="r"/>
              <a:r>
                <a:rPr lang="en-US" sz="1200" dirty="0">
                  <a:solidFill>
                    <a:srgbClr val="E9EDF5"/>
                  </a:solidFill>
                  <a:latin typeface="Consolas"/>
                  <a:ea typeface="Consolas"/>
                  <a:cs typeface="Consolas"/>
                </a:rPr>
                <a:t>15 / 15</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fci_plus_star_advisor_deck">
  <a:themeElements>
    <a:clrScheme name="fci_plus_star_advisor_deck">
      <a:dk1>
        <a:srgbClr val="1A2433"/>
      </a:dk1>
      <a:lt1>
        <a:srgbClr val="F7F5EF"/>
      </a:lt1>
      <a:dk2>
        <a:srgbClr val="1F497D"/>
      </a:dk2>
      <a:lt2>
        <a:srgbClr val="F7F5EF"/>
      </a:lt2>
      <a:accent1>
        <a:srgbClr val="183153"/>
      </a:accent1>
      <a:accent2>
        <a:srgbClr val="2F6BFF"/>
      </a:accent2>
      <a:accent3>
        <a:srgbClr val="E58A2B"/>
      </a:accent3>
      <a:accent4>
        <a:srgbClr val="183153"/>
      </a:accent4>
      <a:accent5>
        <a:srgbClr val="E9EDF5"/>
      </a:accent5>
      <a:accent6>
        <a:srgbClr val="1C9A8A"/>
      </a:accent6>
      <a:hlink>
        <a:srgbClr val="2F6BFF"/>
      </a:hlink>
      <a:folHlink>
        <a:srgbClr val="E58A2B"/>
      </a:folHlink>
    </a:clrScheme>
    <a:fontScheme name="fci_plus_star_advisor_deck">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ci_plus_star_advisor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fci_plus_star_advisor_deck">
  <a:themeElements>
    <a:clrScheme name="fci_plus_star_advisor_deck">
      <a:dk1>
        <a:srgbClr val="1A2433"/>
      </a:dk1>
      <a:lt1>
        <a:srgbClr val="F7F5EF"/>
      </a:lt1>
      <a:dk2>
        <a:srgbClr val="1F497D"/>
      </a:dk2>
      <a:lt2>
        <a:srgbClr val="F7F5EF"/>
      </a:lt2>
      <a:accent1>
        <a:srgbClr val="183153"/>
      </a:accent1>
      <a:accent2>
        <a:srgbClr val="2F6BFF"/>
      </a:accent2>
      <a:accent3>
        <a:srgbClr val="E58A2B"/>
      </a:accent3>
      <a:accent4>
        <a:srgbClr val="183153"/>
      </a:accent4>
      <a:accent5>
        <a:srgbClr val="E9EDF5"/>
      </a:accent5>
      <a:accent6>
        <a:srgbClr val="1C9A8A"/>
      </a:accent6>
      <a:hlink>
        <a:srgbClr val="2F6BFF"/>
      </a:hlink>
      <a:folHlink>
        <a:srgbClr val="E58A2B"/>
      </a:folHlink>
    </a:clrScheme>
    <a:fontScheme name="fci_plus_star_advisor_deck">
      <a:majorFont>
        <a:latin typeface="Georgia"/>
        <a:ea typeface="SimSun"/>
        <a:cs typeface="Georgia"/>
        <a:font script="Jpan" typeface="SimSun"/>
        <a:font script="Hang" typeface="SimSun"/>
        <a:font script="Hans" typeface="SimSun"/>
        <a:font script="Hant" typeface="SimSun"/>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ci_plus_star_advisor_de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2026-07-26T17:35:03Z</dcterms:created>
  <dcterms:modified xsi:type="dcterms:W3CDTF">2026-07-26T17:35:03Z</dcterms:modified>
  <cp:category/>
  <cp:contentStatus/>
</cp:coreProperties>
</file>